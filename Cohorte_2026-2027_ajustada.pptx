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3</c:v>
                </c:pt>
              </c:strCache>
            </c:strRef>
          </c:tx>
          <c:spPr>
            <a:solidFill>
              <a:srgbClr val="1F4D3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E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8B1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Estilo de vida</c:v>
                  </c:pt>
                  <c:pt idx="1">
                    <c:v>Seguridad y estabilidad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</c:v>
                </c:pt>
                <c:pt idx="1">
                  <c:v>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E2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A2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1F4D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D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553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5533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Saber técnico y Desafío</c:v>
                  </c:pt>
                  <c:pt idx="1">
                    <c:v>Seguridad y Estilo de vida</c:v>
                  </c:pt>
                  <c:pt idx="2">
                    <c:v>Autonomía y Emprendedurismo</c:v>
                  </c:pt>
                  <c:pt idx="3">
                    <c:v>Autonomía y Desafío</c:v>
                  </c:pt>
                  <c:pt idx="4">
                    <c:v>Dirección general y Estilo de vida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0.45</c:v>
                </c:pt>
                <c:pt idx="2">
                  <c:v>0.31</c:v>
                </c:pt>
                <c:pt idx="3">
                  <c:v>-0.44</c:v>
                </c:pt>
                <c:pt idx="4">
                  <c:v>-0.49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2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Decisional (cómo piensa)</c:v>
                </c:pt>
              </c:strCache>
            </c:strRef>
          </c:tx>
          <c:spPr>
            <a:solidFill>
              <a:srgbClr val="1F4D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Hechos</c:v>
                  </c:pt>
                  <c:pt idx="1">
                    <c:v>B Formas</c:v>
                  </c:pt>
                  <c:pt idx="2">
                    <c:v>C Sentimientos</c:v>
                  </c:pt>
                  <c:pt idx="3">
                    <c:v>D Futuro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</c:v>
                </c:pt>
                <c:pt idx="1">
                  <c:v>75</c:v>
                </c:pt>
                <c:pt idx="2">
                  <c:v>69</c:v>
                </c:pt>
                <c:pt idx="3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Relacional (cómo se muestra)</c:v>
                </c:pt>
              </c:strCache>
            </c:strRef>
          </c:tx>
          <c:spPr>
            <a:solidFill>
              <a:srgbClr val="C98B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 Hechos</c:v>
                  </c:pt>
                  <c:pt idx="1">
                    <c:v>B Formas</c:v>
                  </c:pt>
                  <c:pt idx="2">
                    <c:v>C Sentimientos</c:v>
                  </c:pt>
                  <c:pt idx="3">
                    <c:v>D Futuro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79</c:v>
                </c:pt>
                <c:pt idx="1">
                  <c:v>67</c:v>
                </c:pt>
                <c:pt idx="2">
                  <c:v>76</c:v>
                </c:pt>
                <c:pt idx="3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A2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Perfil de la cohorte 2026-2027 a partir de la actividad GPS Personal, las Anclas de Carrera de Schein y el HBDI de Herrmann. El objetivo de la actividad fue reflexionar sobre el desarrollo profesional, no evaluar a las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central. Cohorte actual: 33 participantes. Los datos cuantitativos provienen del relevamiento original de 34 personas, por eso los porcentajes se presentan tal como fueron calculados allí.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Más que abandonar lo técnico, buscan sumarle una mirada de conjunto. La dependencia del dueño o fundador aparece como una de las tensiones que empuja el deseo de autonomía.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ancla es aquello que la persona no negociaría si tuviera que elegir. El 73% pone Estilo de vida en su Top 3 y para el 29% es la número uno. Solo el 8% pone Seguridad entre sus tres principales.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Emprendedurismo es la ancla con mayor dispersión: conviven quienes quieren fundar algo propio y quienes prefieren optimizar desde adentro. Por eso conviene no apoyar la propuesta solo en llegar a gerente o en un puesto 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correlaciones son moderadas y describen tendencias, no reglas individuales. Explican por qué el grupo no es uniforme. Quien busca conducción tiende a resignar estilo de vida; para un subgrupo la autonomía es un fin en sí mismo y no un medio para competir.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Herrmann. A: hechos y análisis. B: formas y procedimientos. C: sentimientos y personas. D: futuro y visión global. La base son tres perfiles individuales revisados: es una muestra ilustrativa y no permite describir al grupo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 perfil individual usado como ejemplo de lectura, no el promedio del grupo. Su desafío para pasar a la dirección podría ser desarrollar el cuadrante D. Pendiente: confirmar si este perfil representa al promedio grupal antes de presentarlo como 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perfiles individuales y no se nombran para cuidar la información personal. Conviene tenerlos presentes durante el cursado.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Piden herramientas que complementen su base técnica. También valoran la autonomía, el aprendizaje continuo y las redes profesionales. El networking aparece como un espacio de oxigenación.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desafío pedagógico central es ayudarlos a ampliar la mirada: desarrollar criterio para decidir en contextos complejos e integrar las distintas perspectivas del negocio. Las cuatro ideas de la derecha son propuestas que se desprenden de los datos y no figuran en los informes originales.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Aclarar el límite de n: 33 actuales frente a 34 del relevamiento.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2E6B50">
              <a:alpha val="60000"/>
            </a:srgbClr>
          </a:solidFill>
          <a:ln w="12700">
            <a:solidFill>
              <a:srgbClr val="2E6B5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377440"/>
            <a:ext cx="3291840" cy="3291840"/>
          </a:xfrm>
          <a:prstGeom prst="ellipse">
            <a:avLst/>
          </a:prstGeom>
          <a:solidFill>
            <a:srgbClr val="C98B1E">
              <a:alpha val="45000"/>
            </a:srgbClr>
          </a:solidFill>
          <a:ln w="12700">
            <a:solidFill>
              <a:srgbClr val="C98B1E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B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PERSONAL · RESIDENCIA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Cohorte 2026-2027: profesionales que empiezan a dirigir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son, qué buscan y qué implica para cómo enseñamos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para el equipo docente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 Juan F. Daraio y Fernando Preumayr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cohorte en una mirada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 que ya ejecutan bien y ahora buscan ampliar su impacto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2026-2027 · Equipo docente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B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del sector agropecuario y agroindustrial. Muchos, en PyMEs y empresas familiares que se profesionalizan.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204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Transición: del saber técnico a generar dirección y coordinar personas.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141732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77640" y="141732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141732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Estilo de vida entre sus 3 anclas principales. Para el 29% es la primera.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246888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77640" y="24688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24688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Seguridad y estabilidad entre sus 3 anclas principales: la menos elegida.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0" y="352044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77640" y="35204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grupos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35204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vocación emprendedora: uno con valores muy altos y otro con valores bajos (desvío 8,6).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Hacia dónde se mueven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transiciones que aparecen con frecuencia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2026-2027 · Equipo docente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4904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Operativo, técnico, analista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536192"/>
            <a:ext cx="384048" cy="384048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7852" y="1632204"/>
            <a:ext cx="192024" cy="1920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840480" y="14904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Estratégico, dirección general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9659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ejecución puntual a la visión integral de la cadena.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40080" y="25420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 familiar del agro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91840" y="2587752"/>
            <a:ext cx="384048" cy="384048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852" y="2683764"/>
            <a:ext cx="192024" cy="19202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840480" y="25420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 estructurada o propia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30175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resolver urgencias a pensar cómo escalar el negocio.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40080" y="35935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directa del dueño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291840" y="3639312"/>
            <a:ext cx="384048" cy="384048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852" y="3735324"/>
            <a:ext cx="192024" cy="19202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840480" y="35935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Autonomía, consultoría, dirección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40080" y="40690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implementar lo que otro decide a decidir con impacto propio.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los motiva y qué priorizan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que ubica cada ancla entre sus 3 principales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2026-2027 · Equipo docente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46304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más elegido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189280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de vida: integrar trabajo, familia y proyecto personal. Para el 29% es la ancla número uno.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301752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0" y="3127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menos elegido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344728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estabilidad: pocos la ubican entre sus prioridades. El grupo prioriza crecer y moverse.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mapa de anclas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2026-2027 · Equipo docente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07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88720" y="1097280"/>
            <a:ext cx="7498080" cy="768096"/>
          </a:xfrm>
          <a:prstGeom prst="roundRect">
            <a:avLst>
              <a:gd name="adj" fmla="val 11905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161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ELEGIDA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Estilo de vida · media 19,9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15214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prioridad más compartida y la de menor dispersión.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75688"/>
            <a:ext cx="548640" cy="548640"/>
          </a:xfrm>
          <a:prstGeom prst="ellipse">
            <a:avLst/>
          </a:prstGeom>
          <a:solidFill>
            <a:srgbClr val="2E6B50"/>
          </a:solidFill>
          <a:ln w="12700">
            <a:solidFill>
              <a:srgbClr val="2E6B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88720" y="1965960"/>
            <a:ext cx="7498080" cy="768096"/>
          </a:xfrm>
          <a:prstGeom prst="roundRect">
            <a:avLst>
              <a:gd name="adj" fmla="val 11905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DIVIDIDA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Emprendedurismo · media 18,1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02082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alta con desvío de 8,6: hay quienes quieren fundar algo propio y quienes prefieren aportar desde adentro.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44368"/>
            <a:ext cx="548640" cy="548640"/>
          </a:xfrm>
          <a:prstGeom prst="ellipse">
            <a:avLst/>
          </a:prstGeom>
          <a:solidFill>
            <a:srgbClr val="5E8E74"/>
          </a:solidFill>
          <a:ln w="12700">
            <a:solidFill>
              <a:srgbClr val="5E8E7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2834640"/>
            <a:ext cx="7498080" cy="768096"/>
          </a:xfrm>
          <a:prstGeom prst="roundRect">
            <a:avLst>
              <a:gd name="adj" fmla="val 11905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1600" y="2898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INTERMEDIA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Desafío · Dirección general · Autonomía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288950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Compiten de cerca; cada persona se inclina hacia una distinta.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13048"/>
            <a:ext cx="548640" cy="548640"/>
          </a:xfrm>
          <a:prstGeom prst="ellipse">
            <a:avLst/>
          </a:prstGeom>
          <a:solidFill>
            <a:srgbClr val="C98B1E"/>
          </a:solidFill>
          <a:ln w="12700">
            <a:solidFill>
              <a:srgbClr val="C98B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188720" y="3703320"/>
            <a:ext cx="7498080" cy="768096"/>
          </a:xfrm>
          <a:prstGeom prst="roundRect">
            <a:avLst>
              <a:gd name="adj" fmla="val 11905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71600" y="3767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ELEGIDA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· media 12,0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375818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ancla con menor valoración del grupo.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Anclas que se suman o chocan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correlación (r) entre anclas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2026-2027 · Equipo docente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46304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6480" y="1664208"/>
            <a:ext cx="164592" cy="164592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82512" y="1609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Verde: se refuerzan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2029968"/>
            <a:ext cx="164592" cy="164592"/>
          </a:xfrm>
          <a:prstGeom prst="ellipse">
            <a:avLst/>
          </a:prstGeom>
          <a:solidFill>
            <a:srgbClr val="B5533C"/>
          </a:solidFill>
          <a:ln w="12700">
            <a:solidFill>
              <a:srgbClr val="B553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2512" y="1975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Naranja: se tensionan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246888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 puntúan alto en Dirección general tienden a puntuar más bajo en Estilo de vida. Autonomía y Desafío también se alejan: para algunos la autonomía es un fin en sí mismo.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piensan (HBDI)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perfiles individuales revisados; no son el promedio de la cohorte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2026-2027 · Equipo docente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3957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Lógico, analítico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3957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Imaginativo, holístico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C98B1E"/>
          </a:solidFill>
          <a:ln w="12700">
            <a:solidFill>
              <a:srgbClr val="C98B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950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Organizado, detallista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301752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39502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Interpersonal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comparten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1783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perfiles combinan lógica técnica (A) con sensibilidad interpersonal (C). Eso les sirve para traducir datos en acuerdos.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se diferencian: B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2004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perfiles tienen B como preferencia primaria: siguen planes y normas. El tercero lo tiene en baja preferencia (38) y puede saltarse procedimientos si encuentra una vía más lógica.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ejemplo: el perfil 1122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piensa (decisional) y cómo se muestra (relacional)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2026-2027 · Equipo docente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71600"/>
          <a:ext cx="53035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46304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72200" y="15179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Hemisferios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737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Izq. 58% · der. 42%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219456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22494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2468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Cog. 55% · visceral 45%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33375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analítico y ordenado, con capacidad interpersonal disponible (C = 69). Ante el entorno social baja su apertura al futuro (de 65 a 57) y se muestra más rígido de lo que 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que se alejan del patrón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individuales, sin nombre en este informe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2026-2027 · Equipo docente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863090"/>
            <a:ext cx="342900" cy="342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Vocación de mando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01752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participante con Dirección general en 41, el valor más alto hacia la conducción.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691640"/>
            <a:ext cx="685800" cy="68580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186309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previsibilidad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01752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participante con Seguridad en 33, el único con un valor alto. Puede rendir mejor con reglas claras y garantías.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35040" y="14630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5E0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691640"/>
            <a:ext cx="685800" cy="68580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186309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en proceso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301752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participantes con perfil plano: su autoconcepto profesional aún no se definió. Puede ser una etapa de definición.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necesitan aprender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más mencionados en las conversaciones y ejercicios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2026-2027 · Equipo docente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627632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64792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21792" y="22677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y conducción de equipos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14630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24912" y="1627632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7647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24912" y="22677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dirección de empresas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63440" y="14630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28032" y="1627632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76479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28032" y="22677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Profesionalización de empresas familiares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766560" y="14630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31152" y="1627632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76479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31152" y="22677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 y gestión económica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30632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21792" y="3227832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364992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21792" y="38679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Comercialización y desarrollo de negocios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2560320" y="30632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724912" y="3227832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3364992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2724912" y="38679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crecimiento organizacional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4663440" y="306324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4828032" y="3227832"/>
            <a:ext cx="548640" cy="548640"/>
          </a:xfrm>
          <a:prstGeom prst="ellipse">
            <a:avLst/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3364992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4828032" y="38679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y transición generacional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6766560" y="30632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690372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B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valoran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6903720" y="3456432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Autonomía, aprendizaje continuo y redes profesionales.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implica para los docentes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2026-2027 · Equipo docente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funciona con este perfil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del relevamiento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Propuestas para el cursado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898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del equipo docente a partir de los datos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79222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integradores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048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crucen finanzas, personas y estrategia.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5054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real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aplicados a sus propias empresas.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21868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 entre pares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para pensar situaciones reales.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77056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EAF1EC"/>
          </a:solidFill>
          <a:ln w="12700">
            <a:solidFill>
              <a:srgbClr val="EAF1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393192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útiles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que puedan usar el lunes siguiente.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173736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19472" y="179222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 camino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19472" y="2048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Dirigir, fundar o ser experto autónomo.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450592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19472" y="25054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y tiempos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919472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la dedicación que se pide fuera de clase.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54880" y="3163824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19472" y="321868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el cuadrante 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919472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y preguntas abiertas.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3877056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19472" y="393192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profesional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919472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Acompañar a quienes aún la están definiendo.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371600"/>
            <a:ext cx="4114800" cy="4114800"/>
          </a:xfrm>
          <a:prstGeom prst="ellipse">
            <a:avLst/>
          </a:prstGeom>
          <a:solidFill>
            <a:srgbClr val="2E6B50">
              <a:alpha val="60000"/>
            </a:srgbClr>
          </a:solidFill>
          <a:ln w="12700">
            <a:solidFill>
              <a:srgbClr val="2E6B5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expertos que resuelven problemas a líderes que generan dirección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7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muchos, el programa es una oportunidad de ampliar su capacidad de impacto, fortalecer su autonomía y prepararse para conducir organizaciones más complejas.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2E6B50">
              <a:alpha val="70000"/>
            </a:srgbClr>
          </a:solidFill>
          <a:ln w="12700">
            <a:solidFill>
              <a:srgbClr val="2E6B5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B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y límites.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Cohorte actual: 33 participantes. Anclas y estilos de pensamiento relevados sobre 34 (porcentajes y correlaciones sin recalcular). Los estilos de pensamiento corresponden a perfiles individuales. Fuentes: Síntesis para el Equipo Docente, Informe de Síntesis de Perfiles, Análisis de Proyección Profesional y Análisis del perfil 1122.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Cohorte 2026-2027: perfil para el equipo docente</dc:title>
  <dc:subject>PptxGenJS Presentation</dc:subject>
  <dc:creator>Juan F. Daraio · Fernando Preumayr</dc:creator>
  <cp:lastModifiedBy>Juan F. Daraio · Fernando Preumayr</cp:lastModifiedBy>
  <cp:revision>1</cp:revision>
  <dcterms:created xsi:type="dcterms:W3CDTF">2026-09-30T22:37:55Z</dcterms:created>
  <dcterms:modified xsi:type="dcterms:W3CDTF">2026-09-30T22:37:55Z</dcterms:modified>
</cp:coreProperties>
</file>