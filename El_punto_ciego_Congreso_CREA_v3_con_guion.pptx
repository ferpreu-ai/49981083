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20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81" r:id="rId19"/>
    <p:sldId id="282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3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Resto del país (96)</c:v>
                </c:pt>
              </c:strCache>
            </c:strRef>
          </c:tx>
          <c:spPr>
            <a:solidFill>
              <a:srgbClr val="BDB2A2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2.65</c:v>
                </c:pt>
                <c:pt idx="1">
                  <c:v>2.98</c:v>
                </c:pt>
                <c:pt idx="2">
                  <c:v>3.14</c:v>
                </c:pt>
                <c:pt idx="3">
                  <c:v>3.23</c:v>
                </c:pt>
                <c:pt idx="4">
                  <c:v>3.28</c:v>
                </c:pt>
                <c:pt idx="5">
                  <c:v>3.25</c:v>
                </c:pt>
                <c:pt idx="6">
                  <c:v>3.31</c:v>
                </c:pt>
                <c:pt idx="7">
                  <c:v>3.42</c:v>
                </c:pt>
                <c:pt idx="8">
                  <c:v>3.39</c:v>
                </c:pt>
                <c:pt idx="9">
                  <c:v>3.36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AE-9C4D-9B77-5BEF64DAC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 18 de la región</c:v>
                </c:pt>
              </c:strCache>
            </c:strRef>
          </c:tx>
          <c:spPr>
            <a:solidFill>
              <a:srgbClr val="B4552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1.83</c:v>
                </c:pt>
                <c:pt idx="1">
                  <c:v>2.44</c:v>
                </c:pt>
                <c:pt idx="2">
                  <c:v>2.56</c:v>
                </c:pt>
                <c:pt idx="3">
                  <c:v>2.72</c:v>
                </c:pt>
                <c:pt idx="4">
                  <c:v>2.78</c:v>
                </c:pt>
                <c:pt idx="5">
                  <c:v>2.67</c:v>
                </c:pt>
                <c:pt idx="6">
                  <c:v>3.22</c:v>
                </c:pt>
                <c:pt idx="7">
                  <c:v>3.33</c:v>
                </c:pt>
                <c:pt idx="8">
                  <c:v>3.33</c:v>
                </c:pt>
                <c:pt idx="9">
                  <c:v>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4AE-9C4D-9B77-5BEF64DAC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7DCC6"/>
            </a:solidFill>
          </a:ln>
        </c:spPr>
        <c:txPr>
          <a:bodyPr/>
          <a:lstStyle/>
          <a:p>
            <a:pPr>
              <a:defRPr sz="1600">
                <a:solidFill>
                  <a:srgbClr val="16120E"/>
                </a:solidFill>
                <a:latin typeface="Arial"/>
              </a:defRPr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"/>
          <c:min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4A423A"/>
              </a:solidFill>
              <a:latin typeface="Arial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75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1:30</a:t>
            </a:r>
          </a:p>
          <a:p/>
          <a:p>
            <a:r>
              <a:t>Buenas tardes. Gracias a CREA por la invitación y gracias a las 18 empresas que nos abrieron la puerta, el cuaderno y, en algunos casos, el mate.</a:t>
            </a:r>
          </a:p>
          <a:p>
            <a:r>
              <a:t>Vengo a hablarles de algo que todos conocemos de memoria y casi nadie mide: el punto ciego.</a:t>
            </a:r>
          </a:p>
          <a:p>
            <a:r>
              <a:t>No es una metáfora. Es, literalmente, lo que no medimos. Y en el campo, lo que no se mide, se supone.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4:00</a:t>
            </a:r>
          </a:p>
          <a:p/>
          <a:p>
            <a:r>
              <a:t>[INTERACCIÓN. Leer solo tres frases en voz alta.]</a:t>
            </a:r>
          </a:p>
          <a:p>
            <a:r>
              <a:t>Quiero empezar escuchándolos a ustedes. Estas son frases que escuchamos una y otra vez, caminando la chacra y en la cocina, mate de por medio. "No se consigue buena gente." "Los que hay, no se quedan." "Hay que repetir todo."</a:t>
            </a:r>
          </a:p>
          <a:p>
            <a:r>
              <a:t>¿Les suena familiar? Levanten la mano quienes dijeron alguna de estas esta semana. [Pausa. Mirar la sala.]</a:t>
            </a:r>
          </a:p>
          <a:p>
            <a:r>
              <a:t>Miren cuántas manos. Y ahora una pregunta incómoda: ¿y si el problema no fuera la gente? ¿Y si fuera algo que nunca nos tomamos el trabajo de mirar?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6:30</a:t>
            </a:r>
          </a:p>
          <a:p/>
          <a:p>
            <a:r>
              <a:t>Los que trabajamos en el agro sabemos medir: hectáreas, rinde, adopción de tecnología, fierros. Hay una curva de inversión que sube y sube.</a:t>
            </a:r>
          </a:p>
          <a:p>
            <a:r>
              <a:t>Pero hay otra curva, la de la capacidad de las personas que operan todo eso, que sube mucho más despacio.</a:t>
            </a:r>
          </a:p>
          <a:p>
            <a:r>
              <a:t>La brecha entre las dos curvas es el punto ciego. Invertimos en lo que se ve y se factura; lo otro lo damos por hecho.</a:t>
            </a:r>
          </a:p>
          <a:p>
            <a:r>
              <a:t>Una inversión sin gente capaz que la opere es plata inmovilizada. Ahí se rompe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8:00</a:t>
            </a:r>
          </a:p>
          <a:p/>
          <a:p>
            <a:r>
              <a:t>Para mirar esa brecha usamos un modelo con cuatro dimensiones.</a:t>
            </a:r>
          </a:p>
          <a:p>
            <a:r>
              <a:t>Uno, Estructura: roles, objetivos, quién decide qué. Dos, Procesos: cómo traemos gente y cómo se guarda lo que sabemos. Tres, Desarrollo: liderazgo, capacitación, delegación. Cuatro, Proyección y cultura: retención, incentivos, reconocimiento.</a:t>
            </a:r>
          </a:p>
          <a:p>
            <a:r>
              <a:t>Cuatro ventanas, un mismo instrumento para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8:45</a:t>
            </a:r>
          </a:p>
          <a:p/>
          <a:p>
            <a:r>
              <a:t>Se lo aplicamos a 18 empresas de la región: distintas actividades, distintas escalas, y respondieron distintos roles, no solo el dueño.</a:t>
            </a:r>
          </a:p>
          <a:p>
            <a:r>
              <a:t>Confidencialidad absoluta. Los datos son reales y los vamos a mirar de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1:15 | acumulado 10:00</a:t>
            </a:r>
          </a:p>
          <a:p/>
          <a:p>
            <a:r>
              <a:t>Acá están las 18, de punta a punta, en una escala de 1 a 5. Van de 1,7 a 3,8.</a:t>
            </a:r>
          </a:p>
          <a:p>
            <a:r>
              <a:t>Fíjense que no hay un tipo de empresa que gane: hay ganaderas abajo y arriba, agrícolas abajo y arriba.</a:t>
            </a:r>
          </a:p>
          <a:p>
            <a:r>
              <a:t>Ninguna llegó abajo por descuido ni arriba por suerte. Guarden esa frase, porque vuelve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11:45</a:t>
            </a:r>
          </a:p>
          <a:p/>
          <a:p>
            <a:r>
              <a:t>Si las agrupamos: 22% reactivo, donde manda la urgencia. 67% definido: hay un piso, pero falta diseño. Y 11% estratégico, donde la gestión de personas está integrada al negocio y se decide con datos.</a:t>
            </a:r>
          </a:p>
          <a:p>
            <a:r>
              <a:t>Dicho de otro modo: 16 de las 18, nueve de cada diez, todavía no diseñaron su forma de gestionar personas.</a:t>
            </a:r>
          </a:p>
          <a:p>
            <a:r>
              <a:t>[Cuidado: el 89% es la suma de reactivo + definido (22% + 67%). Si preguntan, esa es la cuenta.]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1:15 | acumulado 13:00</a:t>
            </a:r>
          </a:p>
          <a:p/>
          <a:p>
            <a:r>
              <a:t>Este gráfico muestra algo muy claro: casi toda la nube se junta de un lado. Cultura fuerte, estructura débil.</a:t>
            </a:r>
          </a:p>
          <a:p>
            <a:r>
              <a:t>En 12 de las 18, lo más fuerte es el vínculo y la cultura. Y en 12 de las 18, la mayor brecha son los roles, los procesos y la evaluación.</a:t>
            </a:r>
          </a:p>
          <a:p>
            <a:r>
              <a:t>Los roles y la evaluación quedan últimos en la lista del dueño.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14:30</a:t>
            </a:r>
          </a:p>
          <a:p/>
          <a:p>
            <a:r>
              <a:t>Lo ponemos en dos números. 4,3 en mística e intención: buen clima, esfuerzo, identidad. El motor del campo sigue siendo la mística, y eso es una enorme riqueza.</a:t>
            </a:r>
          </a:p>
          <a:p>
            <a:r>
              <a:t>Del otro lado, 2,8 en estructura y procesos: hacemos las cosas bien, pero sin saber si es lo que más conviene y sin dejarlo escrito.</a:t>
            </a:r>
          </a:p>
          <a:p>
            <a:r>
              <a:t>Lo vimos lote por lote. La cultura corre más rápido que la estructura que la sostiene.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15:15</a:t>
            </a:r>
          </a:p>
          <a:p/>
          <a:p>
            <a:r>
              <a:t>[PAUSA. Pasar la lámina y callarse cuatro segundos. Después, despacio.]</a:t>
            </a:r>
          </a:p>
          <a:p>
            <a:r>
              <a:t>La mística no escala. Y la biología no es un sistema.</a:t>
            </a:r>
          </a:p>
          <a:p>
            <a:r>
              <a:t>[Otros cuatro segundos. No explicar la frase.]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15:45</a:t>
            </a:r>
          </a:p>
          <a:p/>
          <a:p>
            <a:r>
              <a:t>Bajemos a lo concreto. Encontramos tres patrones. Cada uno tiene un síntoma que se ve en la operación y una causa que no se ve, que está en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17:30</a:t>
            </a:r>
          </a:p>
          <a:p/>
          <a:p>
            <a:r>
              <a:t>Dueño-dependencia: 6 de 18, un tercio. Es la empresa de una sola cabeza. Todo pasa por una mente: quién va al potrero, qué se compra, a quién se llama.</a:t>
            </a:r>
          </a:p>
          <a:p>
            <a:r>
              <a:t>Mientras el patrón está, funciona de maravilla. El día que se enferma o se va de viaje, tambalea.</a:t>
            </a:r>
          </a:p>
          <a:p>
            <a:r>
              <a:t>[INTERACCIÓN, pausa.] ¿Cuánto depende hoy de que usted esté presente? ¿Cuántas decisiones esperan su llamado? ¿Qué pasa la semana que no atiende el teléfono?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19:15</a:t>
            </a:r>
          </a:p>
          <a:p/>
          <a:p>
            <a:r>
              <a:t>Entrenar para el vecino: 4 de 18, el 22%. Capacitamos, invertimos, mandamos a hacer el curso, y no ofrecemos un horizonte.</a:t>
            </a:r>
          </a:p>
          <a:p>
            <a:r>
              <a:t>El resultado: formamos al mejor tractorista para que se lo lleve el campo de al lado.</a:t>
            </a:r>
          </a:p>
          <a:p>
            <a:r>
              <a:t>Capacitación alta, retención baja. Es sembrar sin cosechar.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21:00</a:t>
            </a:r>
          </a:p>
          <a:p/>
          <a:p>
            <a:r>
              <a:t>Incentivos a ciegas: otros 4 de 18, el 22%. Premiamos resultados que no medimos. Entonces, ¿qué premio es? Un derecho adquirido.</a:t>
            </a:r>
          </a:p>
          <a:p>
            <a:r>
              <a:t>El que cobra el bono porque "siempre se cobró" no está motivado: está acostumbrado.</a:t>
            </a:r>
          </a:p>
          <a:p>
            <a:r>
              <a:t>Operación prolija, rumbo difuso.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21:30</a:t>
            </a:r>
          </a:p>
          <a:p/>
          <a:p>
            <a:r>
              <a:t>Hasta acá miramos dimensiones. Ahora vamos pregunta por pregunta y nos comparamos con 96 diagnósticos del resto del país: qué nos distingue y por dónde empezar.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23:30</a:t>
            </a:r>
          </a:p>
          <a:p/>
          <a:p>
            <a:r>
              <a:t>Dos mensajes. Primero, la noticia buena: en cultura, estrategia, coordinación y capacitación somos iguales al resto. La voluntad está.</a:t>
            </a:r>
          </a:p>
          <a:p>
            <a:r>
              <a:t>Segundo, en las seis de abajo estamos por debajo: medir, evaluar, documentar, comunicar, dar horizonte.</a:t>
            </a:r>
          </a:p>
          <a:p>
            <a:r>
              <a:t>Fíjense algo: todas dependen de quien conduce. No de la gente ni del clima. De quien conduce.</a:t>
            </a:r>
          </a:p>
          <a:p>
            <a:r>
              <a:t>Y productividad por puesto es el valor más bajo de toda la base nacional.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26:00</a:t>
            </a:r>
          </a:p>
          <a:p/>
          <a:p>
            <a:r>
              <a:t>Tres datos, un mismo lugar: el mando medio. El encargado, el capataz, el que está en el frente de batalla.</a:t>
            </a:r>
          </a:p>
          <a:p>
            <a:r>
              <a:t>0 de 18 llega a un liderazgo de mandos medios de nivel 4 o 5. En el resto del país, 4 de cada 10.</a:t>
            </a:r>
          </a:p>
          <a:p>
            <a:r>
              <a:t>13 de 18 no sabe qué rinde cada puesto.</a:t>
            </a:r>
          </a:p>
          <a:p>
            <a:r>
              <a:t>Solo 3 de 18 le muestra a su mejor gente un futuro en la empresa. En el resto del país, casi la mitad.</a:t>
            </a:r>
          </a:p>
          <a:p>
            <a:r>
              <a:t>Y un dato del país que lo explica todo: cuando el liderazgo es fuerte, el 77% conecta a su gente con la estrategia. Cuando es débil, el 19%.</a:t>
            </a:r>
          </a:p>
          <a:p>
            <a:r>
              <a:t>Ahí se corta la cadena entre lo que el dueño quiere y lo que pasa en el lote.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27:30</a:t>
            </a:r>
          </a:p>
          <a:p/>
          <a:p>
            <a:r>
              <a:t>Pero no todo es brecha. Entre los que reconocen comunicar poco con su equipo, en el resto del país la mitad igual dice tener una cultura fuerte: es cultura de discurso.</a:t>
            </a:r>
          </a:p>
          <a:p>
            <a:r>
              <a:t>Acá, 1 de 6. Cuando alguien dice "mi cultura está viva", hay conversación diaria que lo respalda.</a:t>
            </a:r>
          </a:p>
          <a:p>
            <a:r>
              <a:t>Es el mejor punto de apoyo para construir la estructura que falta.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30:00</a:t>
            </a:r>
          </a:p>
          <a:p/>
          <a:p>
            <a:r>
              <a:t>¿Por dónde empezamos? Cinco palancas, ordenadas por cuánto arrastran al resto. Ninguna requiere presupuesto. Todas requieren decisión.</a:t>
            </a:r>
          </a:p>
          <a:p>
            <a:r>
              <a:t>Uno: una reunión corta y fija por semana. Cómo venimos y qué sigue.</a:t>
            </a:r>
          </a:p>
          <a:p>
            <a:r>
              <a:t>Dos: un responsable de la gente, con nombre y horas, aunque sea part-time.</a:t>
            </a:r>
          </a:p>
          <a:p>
            <a:r>
              <a:t>Tres: reconocer en voz alta lo que salió bien, cuando pasa.</a:t>
            </a:r>
          </a:p>
          <a:p>
            <a:r>
              <a:t>Cuatro: la tarea que se rompe cuando falta el dueño, escrita en media página.</a:t>
            </a:r>
          </a:p>
          <a:p>
            <a:r>
              <a:t>Cinco: una conversación por año con cada uno de los mejores sobre hacia dónde puede crecer.</a:t>
            </a:r>
          </a:p>
          <a:p>
            <a:r>
              <a:t>[La 2 y la 4 reaparecen en la hoja de ruta.]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31:00</a:t>
            </a:r>
          </a:p>
          <a:p/>
          <a:p>
            <a:r>
              <a:t>[Ir ágil: esta y la siguiente suman 2 minutos.]</a:t>
            </a:r>
          </a:p>
          <a:p>
            <a:r>
              <a:t>Acá aparece el miedo natural: "si profesionalizo, lleno el campo de planillas". No.</a:t>
            </a:r>
          </a:p>
          <a:p>
            <a:r>
              <a:t>La sobredocumentación en equipos chicos se abandona a las pocas semanas. Antes de profesionalizar, hay que simplificar. No copiemos la estructura de una empresa grande.</a:t>
            </a:r>
          </a:p>
          <a:p>
            <a:r>
              <a:t>La solución no es burocracia. Es diseño intencional.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32:00</a:t>
            </a:r>
          </a:p>
          <a:p/>
          <a:p>
            <a:r>
              <a:t>El avance real corre en dos planos.</a:t>
            </a:r>
          </a:p>
          <a:p>
            <a:r>
              <a:t>Plano persona: se ejercita, no se instala. Es una habilidad, un hábito del líder. La señal: lo hace hoy con naturalidad, aunque meses atrás le costaba.</a:t>
            </a:r>
          </a:p>
          <a:p>
            <a:r>
              <a:t>Plano sistema: se pone por escrito, no se supone. La señal: la práctica sigue funcionando aunque quien la sostenía esté de vacaciones o enfermo.</a:t>
            </a:r>
          </a:p>
          <a:p>
            <a:r>
              <a:t>Persona y sistema avanzan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34:00</a:t>
            </a:r>
          </a:p>
          <a:p/>
          <a:p>
            <a:r>
              <a:t>La hoja de ruta para equipos de 5 a 15 personas: tres acciones para el lunes.</a:t>
            </a:r>
          </a:p>
          <a:p>
            <a:r>
              <a:t>Estructura: designar un responsable, aunque sea part-time. Sin un doliente, la gestión queda enterrada bajo la urgencia de la cosecha. Dibujá el organigrama real de hoy, no el ideal de un libro.</a:t>
            </a:r>
          </a:p>
          <a:p>
            <a:r>
              <a:t>Procesos: documentar la supervivencia. No hagas un manual entero: la única tarea que se rompe cuando el dueño no está, en media página.</a:t>
            </a:r>
          </a:p>
          <a:p>
            <a:r>
              <a:t>Desarrollo: delegar con criterio escrito. No delegás la tarea, delegás el criterio. Elegí una decisión cotidiana y escribí tres criterios objetivos para resolverla.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36:00</a:t>
            </a:r>
          </a:p>
          <a:p/>
          <a:p>
            <a:r>
              <a:t>[SILENCIO. Contar cuatro segundos después de cada pregunta.]</a:t>
            </a:r>
          </a:p>
          <a:p>
            <a:r>
              <a:t>Les dejo tres preguntas. No las contesten en voz alta; contéstenlas adentro.</a:t>
            </a:r>
          </a:p>
          <a:p>
            <a:r>
              <a:t>¿Cuánto de lo que hoy funciona en el campo depende exclusivamente de tu presencia física? [Cuatro.]</a:t>
            </a:r>
          </a:p>
          <a:p>
            <a:r>
              <a:t>Si tuvieras que ausentarte un mes de imprevisto, ¿qué decisiones críticas quedarían sin tomar? [Cuatro.]</a:t>
            </a:r>
          </a:p>
          <a:p>
            <a:r>
              <a:t>¿Los valores que sostienen hoy a tu empresa sobrevivirían intactos a un recambio generacional? [Cuatro.]</a:t>
            </a:r>
          </a:p>
          <a:p>
            <a:r>
              <a:t>[Acá abrir a preguntas del público, 2 minutos si hay. Si no hay, seguir.]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36:45</a:t>
            </a:r>
          </a:p>
          <a:p/>
          <a:p>
            <a:r>
              <a:t>[Corta: va junto con la siguiente.]</a:t>
            </a:r>
          </a:p>
          <a:p>
            <a:r>
              <a:t>Vuelvo a lo que dejé pendiente en la lámina 6: ninguna llegó abajo por descuido, y ninguna llegó arriba por suerte.</a:t>
            </a:r>
          </a:p>
          <a:p>
            <a:r>
              <a:t>Las dos que hoy están arriba tienen la misma informalidad de origen que las demás, pero en algún momento alguien se sentó a diseñar un proceso en vez de dejar que "se diera así".</a:t>
            </a:r>
          </a:p>
          <a:p>
            <a:r>
              <a:t>Y las 12 que están en el medio están justo en el punto donde ese salto se puede decidir a conciencia.</a:t>
            </a:r>
          </a:p>
          <a:p>
            <a:r>
              <a:t>No alcanza con sostener lo que ya funciona: hay que hacer crecer la parte que nadie diseñó.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37:30</a:t>
            </a:r>
          </a:p>
          <a:p/>
          <a:p>
            <a:r>
              <a:t>[Leer la frase despacio. Después bajar la voz.]</a:t>
            </a:r>
          </a:p>
          <a:p>
            <a:r>
              <a:t>"La empresa no fracasa por falta de procesos, sino por no desarrollar a las personas que los sostienen."</a:t>
            </a:r>
          </a:p>
          <a:p>
            <a:r>
              <a:t>Tu legado no es el campo. Es el sistema que construís para operarlo.</a:t>
            </a:r>
          </a:p>
          <a:p>
            <a:r>
              <a:t>[Pausa larga.]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38:00</a:t>
            </a:r>
          </a:p>
          <a:p/>
          <a:p>
            <a:r>
              <a:t>Gracias. A CREA, y sobre todo a las 18 empresas que pusieron los datos, sin los cuales nada de esto existiría.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39:00</a:t>
            </a:r>
          </a:p>
          <a:p/>
          <a:p>
            <a:r>
              <a:t>Para seguir trabajándolo, está el Grupo Digital CREA, "Liderando personas en el agro": reuniones virtuales entre pares, facilitación de especialistas y casos reales de aplicación práctica.</a:t>
            </a:r>
          </a:p>
          <a:p>
            <a:r>
              <a:t>Escaneen el QR y les cuentan cómo sumarse.</a:t>
            </a:r>
          </a:p>
          <a:p>
            <a:r>
              <a:t>[Cierre.] La diferencia está en la gente.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26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e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6463" b="20122"/>
          <a:stretch/>
        </p:blipFill>
        <p:spPr>
          <a:xfrm>
            <a:off x="12001471" y="0"/>
            <a:ext cx="6286469" cy="102869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40" cy="10286935"/>
          </a:xfrm>
          <a:prstGeom prst="rect">
            <a:avLst/>
          </a:prstGeom>
          <a:gradFill rotWithShape="1">
            <a:gsLst>
              <a:gs pos="0">
                <a:srgbClr val="16120E">
                  <a:alpha val="100000"/>
                </a:srgbClr>
              </a:gs>
              <a:gs pos="63000">
                <a:srgbClr val="16120E">
                  <a:alpha val="100000"/>
                </a:srgbClr>
              </a:gs>
              <a:gs pos="70000">
                <a:srgbClr val="16120E">
                  <a:alpha val="80000"/>
                </a:srgbClr>
              </a:gs>
              <a:gs pos="88000">
                <a:srgbClr val="16120E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1047733" y="0"/>
            <a:ext cx="38065" cy="10286935"/>
          </a:xfrm>
          <a:prstGeom prst="rect">
            <a:avLst/>
          </a:prstGeom>
          <a:gradFill rotWithShape="1">
            <a:gsLst>
              <a:gs pos="0">
                <a:srgbClr val="E0A32E">
                  <a:alpha val="100000"/>
                </a:srgbClr>
              </a:gs>
              <a:gs pos="100000">
                <a:srgbClr val="E0A32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13138584" y="666733"/>
            <a:ext cx="4101623" cy="12762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0913" y="780998"/>
            <a:ext cx="3796963" cy="10477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866" y="1567113"/>
            <a:ext cx="17329775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CONGRESO CREA REGIÓN CHACO SANTIAGUEÑO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485866" y="2235178"/>
            <a:ext cx="11576655" cy="3052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988"/>
              </a:lnSpc>
              <a:buNone/>
            </a:pPr>
            <a:r>
              <a:rPr lang="en-US" sz="12900" b="1" kern="0" spc="-45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CIEGO</a:t>
            </a:r>
            <a:endParaRPr lang="en-US" sz="12900" dirty="0"/>
          </a:p>
        </p:txBody>
      </p:sp>
      <p:sp>
        <p:nvSpPr>
          <p:cNvPr id="9" name="Text 5"/>
          <p:cNvSpPr/>
          <p:nvPr/>
        </p:nvSpPr>
        <p:spPr>
          <a:xfrm>
            <a:off x="1485866" y="5592396"/>
            <a:ext cx="10595543" cy="1127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64"/>
              </a:lnSpc>
              <a:buNone/>
            </a:pPr>
            <a:r>
              <a:rPr lang="en-US" sz="33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capital humano en PyMEs agropecuarias — y las preguntas que deja.</a:t>
            </a:r>
            <a:endParaRPr lang="en-US" sz="3300" dirty="0"/>
          </a:p>
        </p:txBody>
      </p:sp>
      <p:sp>
        <p:nvSpPr>
          <p:cNvPr id="10" name="Shape 6"/>
          <p:cNvSpPr/>
          <p:nvPr/>
        </p:nvSpPr>
        <p:spPr>
          <a:xfrm>
            <a:off x="1485866" y="7215240"/>
            <a:ext cx="10286935" cy="17946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866" y="7576050"/>
            <a:ext cx="2171246" cy="14287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5866" y="9157114"/>
            <a:ext cx="3726946" cy="405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está en la gente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ESCUCHAMOS EN EL CAMPO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se consigue buena gente.”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572201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que hay, no se quedan.”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096669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jóvenes no se comprometen.”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33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 que repetir todo.”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572201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tienen autogestión.”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096669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me alcanza el día.”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47733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hay herramientas que sirvan.”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572201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cursos no aterrizan en la realidad.”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96669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“Las decisiones de gente se toman a las apuradas.”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47733" y="8825114"/>
            <a:ext cx="17811721" cy="73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¿Les suena familiar?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éxito no es solo biológico o tecnológico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8309380"/>
            <a:ext cx="8294238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1047733" y="3356447"/>
            <a:ext cx="26919" cy="4979851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652" y="3356447"/>
            <a:ext cx="8267319" cy="4952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0385" y="3680245"/>
            <a:ext cx="3237495" cy="7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1"/>
              </a:lnSpc>
              <a:buNone/>
            </a:pPr>
            <a:r>
              <a:rPr lang="en-US" sz="21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tecnología, tierra y escala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60385" y="6728386"/>
            <a:ext cx="3237495" cy="7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1"/>
              </a:lnSpc>
              <a:buNone/>
            </a:pPr>
            <a:r>
              <a:rPr lang="en-US" sz="21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capacidad organizacional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 rot="-5400000">
            <a:off x="-430246" y="5709088"/>
            <a:ext cx="198120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83814" y="8553402"/>
            <a:ext cx="1125195" cy="28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42167" y="4062507"/>
            <a:ext cx="6047767" cy="54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ciego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11742167" y="4812590"/>
            <a:ext cx="5662909" cy="285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Medimos el éxito en hectáreas, adopción biotecnológica y maquinaria. Pero estas inversiones resultan estériles sin una evolución equivalente en la capacidad de las personas que operan el sistema.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666733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MODELO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1182398"/>
            <a:ext cx="17811721" cy="63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11"/>
              </a:lnSpc>
              <a:buNone/>
            </a:pPr>
            <a:r>
              <a:rPr lang="en-US" sz="4500" b="1" kern="0" spc="-90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mirada integral a la gestión humana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33" y="2163324"/>
            <a:ext cx="3762403" cy="71784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7733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33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Resultados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Roles, objetivos, métricas y autoridad de decisión.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91066" y="2163324"/>
            <a:ext cx="3762403" cy="71784"/>
          </a:xfrm>
          <a:prstGeom prst="rect">
            <a:avLst/>
          </a:prstGeom>
          <a:solidFill>
            <a:srgbClr val="4F9C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191066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4F9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191066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Procesos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191066" y="3832575"/>
            <a:ext cx="3875275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Atracción, incorporación y documentación del conocimiento.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400" y="2163324"/>
            <a:ext cx="3762403" cy="71784"/>
          </a:xfrm>
          <a:prstGeom prst="rect">
            <a:avLst/>
          </a:prstGeom>
          <a:solidFill>
            <a:srgbClr val="D93A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334400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334400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Equipo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334400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Liderazgo, capacitación, clima y delegación.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77733" y="2163324"/>
            <a:ext cx="3762474" cy="71784"/>
          </a:xfrm>
          <a:prstGeom prst="rect">
            <a:avLst/>
          </a:prstGeom>
          <a:solidFill>
            <a:srgbClr val="EFB01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3477733" y="2501773"/>
            <a:ext cx="4138721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477733" y="3249753"/>
            <a:ext cx="4138721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y Cultura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477733" y="3832575"/>
            <a:ext cx="3875348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Retención, incentivos, reconocimiento y valores.</a:t>
            </a:r>
            <a:endParaRPr lang="en-US" sz="2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22939" r="-22939"/>
          <a:stretch/>
        </p:blipFill>
        <p:spPr>
          <a:xfrm>
            <a:off x="3524199" y="5375433"/>
            <a:ext cx="11239471" cy="4340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205074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2756941"/>
            <a:ext cx="17811721" cy="127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5"/>
              </a:lnSpc>
              <a:buNone/>
            </a:pPr>
            <a:r>
              <a:rPr lang="en-US" sz="9750" b="1" kern="0" spc="-292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empresas de la región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33" y="4528540"/>
            <a:ext cx="3581206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actividades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65305" y="4528540"/>
            <a:ext cx="2918279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escalas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80216" y="4528540"/>
            <a:ext cx="4386634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roles responden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5532950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mismo instrumento, 4 dimensiones, confidencialidad absoluta.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7894" b="11841"/>
          <a:stretch/>
        </p:blipFill>
        <p:spPr>
          <a:xfrm>
            <a:off x="0" y="7620004"/>
            <a:ext cx="18287940" cy="26669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762806"/>
            <a:ext cx="18287940" cy="85719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0" y="7591473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18, de punta a punta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3" y="1592420"/>
            <a:ext cx="17811721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Ordenadas de menor a mayor madurez global (escala 1 a 5).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47733" y="252743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3428932" y="2605453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58137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33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25 colab.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428932" y="3393811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058137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33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428932" y="4018413"/>
            <a:ext cx="1805948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058137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33" y="4564992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428932" y="4643015"/>
            <a:ext cx="1986529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058137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33" y="5353351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428932" y="5431374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058137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33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428932" y="6055976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058137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7733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Tambo / Lechería · 3 colab.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428932" y="6680578"/>
            <a:ext cx="252834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058137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7733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75 colab.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428932" y="7305180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058137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47733" y="768800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3 colab.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3428932" y="7929782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058137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486800" y="2363673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867999" y="2605453"/>
            <a:ext cx="270899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16497274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86800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867999" y="3393811"/>
            <a:ext cx="279928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6497274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486800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Otra · 25 colab.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1867999" y="4018413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16497274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486800" y="4401236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867999" y="4643015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6497274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486800" y="5189594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867999" y="5431374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16497274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486800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1867999" y="6055976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6497274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9486800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867999" y="6680578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16497274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486800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1867999" y="7305180"/>
            <a:ext cx="334109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16497274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486800" y="7851759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867999" y="7929782"/>
            <a:ext cx="343138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16497274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radiografía de 18 empresas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05876"/>
            <a:ext cx="5092714" cy="44865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47733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33" y="4176211"/>
            <a:ext cx="5245496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urgencia manda. Operan en emergencia.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97578" y="2205876"/>
            <a:ext cx="5092714" cy="44865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597578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97578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97578" y="4176211"/>
            <a:ext cx="5245496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piso, falta diseño. Salieron de la urgencia pura, pero operan en una zona de indefinición estructural.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147422" y="2205876"/>
            <a:ext cx="5092784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2147422" y="2536473"/>
            <a:ext cx="560206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147422" y="3527003"/>
            <a:ext cx="5602063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147422" y="4176211"/>
            <a:ext cx="5245568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integrada al negocio. Decisiones basadas en datos.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33" y="8999246"/>
            <a:ext cx="17811721" cy="563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36"/>
              </a:lnSpc>
              <a:buNone/>
            </a:pPr>
            <a:r>
              <a:rPr lang="en-US" sz="34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89% de las empresas (16 de 18) aún no diseñó su forma de gestionar personas.</a:t>
            </a:r>
            <a:endParaRPr lang="en-US" sz="3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desnivel estructural</a:t>
            </a:r>
            <a:endParaRPr lang="en-US" sz="4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33" y="3101279"/>
            <a:ext cx="8572470" cy="5333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 rot="-5400000">
            <a:off x="-1000125" y="5421472"/>
            <a:ext cx="331603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Vínculo, cultura e incentivos →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7226" y="8280288"/>
            <a:ext cx="3647984" cy="307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procesos y resultados 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382133" y="3714735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10382133" y="4667200"/>
            <a:ext cx="7063744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estructura como su mayor brecha. Los roles y la evaluación quedan últimos en la lista del dueño.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382133" y="6442584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0382133" y="7395049"/>
            <a:ext cx="7543804" cy="464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cultura como su punto más fuerte.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ve y lo que sostiene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44011"/>
            <a:ext cx="7791472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93605"/>
            <a:ext cx="8570619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Mística e intención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47733" y="3067980"/>
            <a:ext cx="8570619" cy="118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1"/>
              </a:lnSpc>
              <a:buNone/>
            </a:pPr>
            <a:r>
              <a:rPr lang="en-US" sz="90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47733" y="4439511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 clima, esfuerzo, identidad. El motor del campo sigue siendo la mística.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33" y="5475677"/>
            <a:ext cx="8570619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de 18 la tienen como su punto más fuerte.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35" y="2244011"/>
            <a:ext cx="7791472" cy="44865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448735" y="2593605"/>
            <a:ext cx="8570619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Estructura, procesos y roles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448735" y="3067980"/>
            <a:ext cx="8570619" cy="118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1"/>
              </a:lnSpc>
              <a:buNone/>
            </a:pPr>
            <a:r>
              <a:rPr lang="en-US" sz="90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448735" y="4439511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Hacemos las cosas bien, sin saber si es lo que más conviene, ni documentar cómo se hace.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735" y="5475677"/>
            <a:ext cx="8570619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de 18 la tienen como su mayor brecha.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33" y="8547794"/>
            <a:ext cx="13734985" cy="1015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383"/>
              </a:lnSpc>
              <a:buNone/>
            </a:pPr>
            <a:r>
              <a:rPr lang="en-US" sz="2850" i="1" dirty="0">
                <a:solidFill>
                  <a:srgbClr val="E0A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hallazgo se repite lote por lote: la cultura corre más rápido que la estructura que la sostiene.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553" b="5958"/>
          <a:stretch/>
        </p:blipFill>
        <p:spPr>
          <a:xfrm>
            <a:off x="0" y="7429469"/>
            <a:ext cx="18287940" cy="28574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72271"/>
            <a:ext cx="18287940" cy="857198"/>
          </a:xfrm>
          <a:prstGeom prst="rect">
            <a:avLst/>
          </a:prstGeom>
          <a:gradFill rotWithShape="1">
            <a:gsLst>
              <a:gs pos="0">
                <a:srgbClr val="16120E">
                  <a:alpha val="100000"/>
                </a:srgbClr>
              </a:gs>
              <a:gs pos="100000">
                <a:srgbClr val="16120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0" y="7400938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759768" y="2871206"/>
            <a:ext cx="16768405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 mística no escala.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4726534" y="4642805"/>
            <a:ext cx="8834803" cy="715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biología no es un sistema.</a:t>
            </a:r>
            <a:endParaRPr lang="en-US" sz="4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patrones. Tres vulnerabilidades.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uno tiene un síntoma visible en la operación y una causa invisible en el diseño.</a:t>
            </a:r>
            <a:endParaRPr lang="en-US" sz="2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Dueño-dependencia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302199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 tercio de los casos evaluados (6 de 18), el carisma del líder sostiene la operación. Todo pasa por una sola mente. Si el líder falta o se enferma, la empresa tambalea.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88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34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8232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 de una sola cabeza.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28597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57956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698432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 fuerte sin estructura.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para el vecino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551685"/>
            <a:ext cx="8501114" cy="191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Formamos talento técnico pero no ofrecemos un horizonte claro. El resultado es un gasto ciego: terminamos capacitando gente para que se vaya a trabajar a la empresa de al lado.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183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27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7531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alta (nivel 4 o 5), retención baja (nivel 1 a 3).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75635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7049941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454705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sin andamiaje.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a ciegas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78645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Premiamos económicamente resultados que no estamos midiendo. El incentivo corre a ciegas y genera derechos adquiridos en lugar de verdadero rendimiento.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61434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4907928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312692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Incentivos y premios en nivel 4 a 5; indicadores y métricas en nivel 1 a 2.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521518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81510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21986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prolija, rumbo difuso.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por pregunta.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18 empresas frente a 96 diagnósticos del resto del país: qué nos distingue y por dónde empezar.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Mismo corazón, otra conducción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Promedio por pregunta, escala 1 a 5. Las 18 de la región frente a 96 diagnósticos del resto del país.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68880"/>
          <a:ext cx="11155680" cy="740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0" y="32004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4F7A3A"/>
                </a:solidFill>
                <a:latin typeface="Arial"/>
              </a:rPr>
              <a:t>Iguales al resto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379476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Cultura, estrategia, coordinación y capacitación. La voluntad está.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5715000"/>
            <a:ext cx="4206240" cy="36576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0" y="59893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B4552F"/>
                </a:solidFill>
                <a:latin typeface="Arial"/>
              </a:rPr>
              <a:t>Por debajo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6583680"/>
            <a:ext cx="4480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En todo lo que depende de quien conduce: medir, evaluar, documentar, comunicar y dar horizonte.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El eslabón que falta: el mando 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331720"/>
            <a:ext cx="5093208" cy="4572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B4552F"/>
                </a:solidFill>
                <a:latin typeface="Arial"/>
              </a:rPr>
              <a:t>0 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Liderazgo de mandos medios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Ninguna empresa llega a nivel 4 o 5. En el resto del país, 4 de cada 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2331720"/>
            <a:ext cx="5093208" cy="45720"/>
          </a:xfrm>
          <a:prstGeom prst="rect">
            <a:avLst/>
          </a:prstGeom>
          <a:solidFill>
            <a:srgbClr val="E0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E0A32E"/>
                </a:solidFill>
                <a:latin typeface="Arial"/>
              </a:rPr>
              <a:t>13 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Productividad por 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No sabe qué rinde cada puesto. En el resto del país, 4 de cada 10.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52376" y="2331720"/>
            <a:ext cx="5093208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52376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D6CBB9"/>
                </a:solidFill>
                <a:latin typeface="Arial"/>
              </a:rPr>
              <a:t>3 de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52376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Horizonte para los mejores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2376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Muestra a su mejor gente un futuro en la empresa. En el resto del país, casi la mitad.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7040880"/>
            <a:ext cx="1618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En el país, cuando el liderazgo es fuerte, el 77% conecta a su gente con la estrategia.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Cuando es débil, el 19%.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Una buena noticia: acá la cultura no es discurso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874519"/>
            <a:ext cx="1572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9C9086"/>
                </a:solidFill>
                <a:latin typeface="Georgia"/>
              </a:rPr>
              <a:t>Entre las empresas que reconocen comunicar poco con su equipo, ¿cuántas dicen igual que su cultura está viva?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017520"/>
            <a:ext cx="6949440" cy="45720"/>
          </a:xfrm>
          <a:prstGeom prst="rect">
            <a:avLst/>
          </a:prstGeom>
          <a:solidFill>
            <a:srgbClr val="7F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7FA85C"/>
                </a:solidFill>
                <a:latin typeface="Arial"/>
              </a:rPr>
              <a:t>1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la región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cultura se sostiene en la conversación diaria. Si no hay conversación, lo reconocen.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3017520"/>
            <a:ext cx="6949440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D6CBB9"/>
                </a:solidFill>
                <a:latin typeface="Arial"/>
              </a:rPr>
              <a:t>1 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el resto del país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mitad declara una cultura fuerte que no se comunica. Es cultura de discurso.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406640"/>
            <a:ext cx="1618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Acá, cuando se habla de cultura, hay con qué respaldarla.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Es el mejor punto de apoyo para construir la estructura que falta.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Por dónde empezar: cinco palancas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Preguntas con puntaje bajo en la región que, cuando se mueven, arrastran al resto del diagnóstico.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606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718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Comunicación con el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9718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reunión corta y fija por semana: cómo venimos y qué sigue.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977639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3434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Un responsable de la 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434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Alguien con nombre y horas asignadas, aunque sea part-time.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3492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150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Reconocimiento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7150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Decir en voz alta lo que salió bien, en el momento en que pasa.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7208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9494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0866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Conocimiento documentado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70866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La tarea que se rompe cuando falta el dueño, escrita en media página.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80924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83210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4F7A3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84582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Horizonte para los mejores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84582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conversación por año con cada uno sobre hacia dónde puede crecer.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9464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2758554"/>
            <a:ext cx="16678247" cy="2133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40"/>
              </a:lnSpc>
              <a:buNone/>
            </a:pPr>
            <a:r>
              <a:rPr lang="en-US" sz="8250" b="1" kern="0" spc="-247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no es burocracia. Es diseño intencional.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1047733" y="5273085"/>
            <a:ext cx="13244502" cy="1066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90"/>
              </a:lnSpc>
              <a:buNone/>
            </a:pPr>
            <a:r>
              <a:rPr lang="en-US" sz="30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miedo natural a profesionalizar los recursos humanos es llenar el campo de planillas irrelevantes.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33" y="6758880"/>
            <a:ext cx="53838" cy="959966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425421" y="6758880"/>
            <a:ext cx="13255778" cy="9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profesionalizar, hay que simplificar. </a:t>
            </a:r>
            <a:r>
              <a:rPr lang="en-US" sz="27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copies la estructura de una empresa grande; la sobredocumentación en equipos chicos se abandona a las pocas semanas.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progreso real exige avanzar en dos planos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44011"/>
            <a:ext cx="7791472" cy="44865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93605"/>
            <a:ext cx="8570619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PERSONA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33" y="3093638"/>
            <a:ext cx="8570619" cy="61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43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ejercita, no se instala.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33" y="3902255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líder desarrolla en sí mismo: una habilidad, un hábito.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33" y="5090822"/>
            <a:ext cx="8025216" cy="8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67"/>
              </a:lnSpc>
              <a:buNone/>
            </a:pPr>
            <a:r>
              <a:rPr lang="en-US" sz="2250" b="1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 de éxito: </a:t>
            </a: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hace hoy con naturalidad, aunque meses atrás le costaba.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35" y="2244011"/>
            <a:ext cx="7791472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448735" y="2593605"/>
            <a:ext cx="8570619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SISTEMA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48735" y="3093638"/>
            <a:ext cx="8025216" cy="119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43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pone por escrito, no se supone.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9448735" y="4482343"/>
            <a:ext cx="8570619" cy="480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empresa instala como práctica documentada.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735" y="5228991"/>
            <a:ext cx="8025216" cy="8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67"/>
              </a:lnSpc>
              <a:buNone/>
            </a:pPr>
            <a:r>
              <a:rPr lang="en-US" sz="2250" b="1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 de éxito: </a:t>
            </a: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práctica sigue funcionando aunque quien la sostenía esté de vacaciones o enfermo.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de ruta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3" y="1611487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punto de partida para equipos de 5 a 15 personas.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33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33" y="2826552"/>
            <a:ext cx="1428733" cy="1428733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33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047733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Estructura. Designar a un responsable.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47733" y="6388746"/>
            <a:ext cx="5193148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Aunque sea part-time. Sin un doliente, la gestión queda enterrada bajo la urgencia de la cosecha.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33" y="7855404"/>
            <a:ext cx="5041891" cy="1142790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257283" y="8026854"/>
            <a:ext cx="4774048" cy="83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dibujá el organigrama real de hoy, no el ideal de un libro.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6622954" y="2523995"/>
            <a:ext cx="504196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2954" y="2826552"/>
            <a:ext cx="1428733" cy="1428733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2954" y="4464818"/>
            <a:ext cx="55461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C9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6622954" y="5322016"/>
            <a:ext cx="5193220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Procesos. Documentar la supervivencia.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622954" y="6388746"/>
            <a:ext cx="5546158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hagas un manual entero.</a:t>
            </a:r>
            <a:endParaRPr lang="en-US" sz="2250" dirty="0"/>
          </a:p>
        </p:txBody>
      </p:sp>
      <p:sp>
        <p:nvSpPr>
          <p:cNvPr id="16" name="Shape 12"/>
          <p:cNvSpPr/>
          <p:nvPr/>
        </p:nvSpPr>
        <p:spPr>
          <a:xfrm>
            <a:off x="6622954" y="7055409"/>
            <a:ext cx="504196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6832504" y="7226859"/>
            <a:ext cx="4774120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identificá la única tarea que se rompe cuando el dueño no está y escribila en media página.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12198246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8246" y="2826552"/>
            <a:ext cx="1428733" cy="1428733"/>
          </a:xfrm>
          <a:prstGeom prst="ellipse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198246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6"/>
          <p:cNvSpPr/>
          <p:nvPr/>
        </p:nvSpPr>
        <p:spPr>
          <a:xfrm>
            <a:off x="12198246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Desarrollo. Delegar con criterio escrito.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12198246" y="6388746"/>
            <a:ext cx="5546080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delegás la tarea: delegás el criterio.</a:t>
            </a:r>
            <a:endParaRPr lang="en-US" sz="2250" dirty="0"/>
          </a:p>
        </p:txBody>
      </p:sp>
      <p:sp>
        <p:nvSpPr>
          <p:cNvPr id="23" name="Shape 18"/>
          <p:cNvSpPr/>
          <p:nvPr/>
        </p:nvSpPr>
        <p:spPr>
          <a:xfrm>
            <a:off x="12198246" y="7055409"/>
            <a:ext cx="504189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19"/>
          <p:cNvSpPr/>
          <p:nvPr/>
        </p:nvSpPr>
        <p:spPr>
          <a:xfrm>
            <a:off x="12407796" y="7226859"/>
            <a:ext cx="4774048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elegí una sola decisión cotidiana y escribí 3 criterios objetivos para resolverla.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1953161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preguntas que deja el diagnóstico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47733" y="3358971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400196" y="3735835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de lo que hoy funciona en el campo depende exclusivamente de tu presencia física?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33" y="5233127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00196" y="5609991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tuvieras que ausentarte un mes de imprevisto, ¿qué decisiones críticas quedarían sin tomar?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33" y="7107284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400196" y="7484148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¿Los valores que sostienen hoy a tu empresa sobrevivirían intactos a un recambio generacional?</a:t>
            </a:r>
            <a:endParaRPr lang="en-US" sz="3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1194018"/>
            <a:ext cx="9641079" cy="6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19"/>
              </a:lnSpc>
              <a:buNone/>
            </a:pPr>
            <a:r>
              <a:rPr lang="en-US" sz="495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esto nos dice</a:t>
            </a:r>
            <a:endParaRPr lang="en-US" sz="4950" dirty="0"/>
          </a:p>
        </p:txBody>
      </p:sp>
      <p:sp>
        <p:nvSpPr>
          <p:cNvPr id="3" name="Text 1"/>
          <p:cNvSpPr/>
          <p:nvPr/>
        </p:nvSpPr>
        <p:spPr>
          <a:xfrm>
            <a:off x="672176" y="2225501"/>
            <a:ext cx="9027556" cy="291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Ninguna de las 18 empresas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reactivo 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descuido, y ninguna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estratégico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por suerte.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16120E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dos que hoy están arriba de la escala tienen la misma informalidad de origen, pero en algún momento alguien se sentó a diseñar un proceso en vez de dejar que “se diera así”.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2176" y="5476810"/>
            <a:ext cx="9027556" cy="2584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12 empresas en </a:t>
            </a:r>
            <a:r>
              <a:rPr lang="en-US" sz="28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definido 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 exactamente en el punto donde ese salto todavía se puede decidir a conciencia.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4A423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30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alcanza con sostener lo que ya funciona: hay que hacer crecer la parte que nadie diseñó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18956" r="18956"/>
          <a:stretch/>
        </p:blipFill>
        <p:spPr>
          <a:xfrm>
            <a:off x="10230846" y="1747157"/>
            <a:ext cx="7624468" cy="66783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66" y="2150686"/>
            <a:ext cx="14716096" cy="1638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524"/>
              </a:lnSpc>
              <a:buNone/>
            </a:pPr>
            <a:r>
              <a:rPr lang="en-US" sz="52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 empresa no fracasa por falta de procesos, sino por no desarrollar a las personas que los sostienen.”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1480424" y="4552984"/>
            <a:ext cx="12753946" cy="1181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legado no es el campo. </a:t>
            </a:r>
          </a:p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sistema que construís para operarlo.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33466" y="6961964"/>
            <a:ext cx="17183109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ESTÁ EN LA GENTE · CONGRESO CREA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696" b="17957"/>
          <a:stretch/>
        </p:blipFill>
        <p:spPr>
          <a:xfrm>
            <a:off x="1047733" y="1619268"/>
            <a:ext cx="6815662" cy="7238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20593" y="2321823"/>
            <a:ext cx="9371498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1250" dirty="0"/>
          </a:p>
        </p:txBody>
      </p:sp>
      <p:sp>
        <p:nvSpPr>
          <p:cNvPr id="4" name="Text 1"/>
          <p:cNvSpPr/>
          <p:nvPr/>
        </p:nvSpPr>
        <p:spPr>
          <a:xfrm>
            <a:off x="8720593" y="4093421"/>
            <a:ext cx="8775130" cy="1066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90"/>
              </a:lnSpc>
              <a:buNone/>
            </a:pPr>
            <a:r>
              <a:rPr lang="en-US" sz="30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el tiempo y por los datos que hicieron posible este diagnóstico.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720593" y="5655417"/>
            <a:ext cx="8519543" cy="17946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593" y="6016228"/>
            <a:ext cx="2460693" cy="1619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20593" y="7787757"/>
            <a:ext cx="3726946" cy="405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está en la gente</a:t>
            </a:r>
            <a:endParaRPr lang="en-US" sz="2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7747D44-B5FF-72DF-1774-8A2251095213}"/>
              </a:ext>
            </a:extLst>
          </p:cNvPr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161AB832-48FA-25ED-5E0B-D838AAE8D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0722" b="50125"/>
          <a:stretch/>
        </p:blipFill>
        <p:spPr>
          <a:xfrm>
            <a:off x="0" y="0"/>
            <a:ext cx="18287940" cy="190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4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3436573"/>
            <a:ext cx="13411284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TRABAJÁNDOLO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3990372"/>
            <a:ext cx="13411284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97"/>
              </a:lnSpc>
              <a:buNone/>
            </a:pPr>
            <a:r>
              <a:rPr lang="en-US" sz="6900" b="1" kern="0" spc="-207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Digital CREA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1047733" y="5038036"/>
            <a:ext cx="13411284" cy="603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37"/>
              </a:lnSpc>
              <a:buNone/>
            </a:pPr>
            <a:r>
              <a:rPr lang="en-US" sz="405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Liderando personas en el agro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1047733" y="5984682"/>
            <a:ext cx="11282351" cy="147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herramienta de trabajo para llevar este diagnóstico a la práctica: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junto a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productores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empresarios de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el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país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281927" y="7805562"/>
            <a:ext cx="2859916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virtuales entre pares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143417" y="7805559"/>
            <a:ext cx="2152984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Facilitación de especialistas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32169" y="7802419"/>
            <a:ext cx="2895107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reales y aplicación práctica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D23E4F7-0D67-4246-86BB-29712FDCA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404" y="4119345"/>
            <a:ext cx="4076660" cy="407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FD34CBD-9C01-42F3-965A-C98D5AB958E3}"/>
              </a:ext>
            </a:extLst>
          </p:cNvPr>
          <p:cNvSpPr/>
          <p:nvPr/>
        </p:nvSpPr>
        <p:spPr>
          <a:xfrm>
            <a:off x="13163547" y="3009359"/>
            <a:ext cx="4150374" cy="91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Escaneá</a:t>
            </a:r>
            <a:r>
              <a:rPr lang="en-US" sz="24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QR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Te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contamos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funciona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y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podés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sumarte</a:t>
            </a:r>
            <a:endParaRPr lang="en-US" sz="2200" b="1" dirty="0"/>
          </a:p>
        </p:txBody>
      </p:sp>
      <p:pic>
        <p:nvPicPr>
          <p:cNvPr id="16" name="Gráfico 15" descr="Marca de verificación">
            <a:extLst>
              <a:ext uri="{FF2B5EF4-FFF2-40B4-BE49-F238E27FC236}">
                <a16:creationId xmlns:a16="http://schemas.microsoft.com/office/drawing/2014/main" id="{BF473274-ABF7-49EE-B0BB-323E8CCE83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1863" y="7924869"/>
            <a:ext cx="457200" cy="457200"/>
          </a:xfrm>
          <a:prstGeom prst="rect">
            <a:avLst/>
          </a:prstGeom>
        </p:spPr>
      </p:pic>
      <p:pic>
        <p:nvPicPr>
          <p:cNvPr id="18" name="Gráfico 17" descr="Marca de verificación">
            <a:extLst>
              <a:ext uri="{FF2B5EF4-FFF2-40B4-BE49-F238E27FC236}">
                <a16:creationId xmlns:a16="http://schemas.microsoft.com/office/drawing/2014/main" id="{E26B10CF-27DB-491D-8491-2522D35B47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2086" y="7924869"/>
            <a:ext cx="457200" cy="457200"/>
          </a:xfrm>
          <a:prstGeom prst="rect">
            <a:avLst/>
          </a:prstGeom>
        </p:spPr>
      </p:pic>
      <p:pic>
        <p:nvPicPr>
          <p:cNvPr id="19" name="Gráfico 18" descr="Marca de verificación">
            <a:extLst>
              <a:ext uri="{FF2B5EF4-FFF2-40B4-BE49-F238E27FC236}">
                <a16:creationId xmlns:a16="http://schemas.microsoft.com/office/drawing/2014/main" id="{0396D1BB-8957-4590-B138-19362D914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358" y="786477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73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2273</Words>
  <Application>Microsoft Office PowerPoint</Application>
  <PresentationFormat>Personalizado</PresentationFormat>
  <Paragraphs>299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Malena Schroder</cp:lastModifiedBy>
  <cp:revision>5</cp:revision>
  <dcterms:created xsi:type="dcterms:W3CDTF">2026-09-17T13:47:07Z</dcterms:created>
  <dcterms:modified xsi:type="dcterms:W3CDTF">2026-10-02T14:42:36Z</dcterms:modified>
</cp:coreProperties>
</file>