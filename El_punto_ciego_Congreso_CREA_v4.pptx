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ngesInfos/changesInfo1.xml" ContentType="application/vnd.ms-powerpoint.changesinfo+xml"/>
  <Override PartName="/ppt/charts/chart1.xml" ContentType="application/vnd.openxmlformats-officedocument.drawingml.chart+xml"/>
  <Override PartName="/ppt/media/image16.svg" ContentType="image/svg+xml"/>
  <Override PartName="/ppt/media/image4.svg" ContentType="image/svg+xml"/>
  <Override PartName="/ppt/media/image7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84" r:id="rId35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8" r:id="rId16"/>
    <p:sldId id="279" r:id="rId17"/>
    <p:sldId id="280" r:id="rId18"/>
    <p:sldId id="281" r:id="rId19"/>
    <p:sldId id="282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83" r:id="rId28"/>
  </p:sldIdLst>
  <p:sldSz cx="18288000" cy="10287000"/>
  <p:notesSz cx="10287000" cy="1828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E7A4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79" d="100"/>
          <a:sy n="79" d="100"/>
        </p:scale>
        <p:origin x="264" y="2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notesMaster" Target="notesMasters/notesMaster1.xml"/><Relationship Id="rId30" Type="http://schemas.openxmlformats.org/officeDocument/2006/relationships/presProps" Target="presProps.xml"/><Relationship Id="rId31" Type="http://schemas.openxmlformats.org/officeDocument/2006/relationships/viewProps" Target="viewProps.xml"/><Relationship Id="rId32" Type="http://schemas.openxmlformats.org/officeDocument/2006/relationships/theme" Target="theme/theme1.xml"/><Relationship Id="rId33" Type="http://schemas.openxmlformats.org/officeDocument/2006/relationships/tableStyles" Target="tableStyles.xml"/><Relationship Id="rId34" Type="http://schemas.microsoft.com/office/2016/11/relationships/changesInfo" Target="changesInfos/changesInfo1.xml"/><Relationship Id="rId35" Type="http://schemas.openxmlformats.org/officeDocument/2006/relationships/slide" Target="slides/slide28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Fernando M. Preumayr" userId="151c152d5858a9e7" providerId="LiveId" clId="{A28C2780-81B0-54D2-9935-9F0E6B5DF555}"/>
    <pc:docChg chg="delSld">
      <pc:chgData name="Fernando M. Preumayr" userId="151c152d5858a9e7" providerId="LiveId" clId="{A28C2780-81B0-54D2-9935-9F0E6B5DF555}" dt="2026-10-04T17:21:18.992" v="0" actId="2696"/>
      <pc:docMkLst>
        <pc:docMk/>
      </pc:docMkLst>
      <pc:sldChg chg="del">
        <pc:chgData name="Fernando M. Preumayr" userId="151c152d5858a9e7" providerId="LiveId" clId="{A28C2780-81B0-54D2-9935-9F0E6B5DF555}" dt="2026-10-04T17:21:18.992" v="0" actId="2696"/>
        <pc:sldMkLst>
          <pc:docMk/>
          <pc:sldMk cId="0" sldId="277"/>
        </pc:sldMkLst>
      </pc:sldChg>
    </pc:docChg>
  </pc:docChgLst>
</pc:chgInfo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Hoja_de_c_lculo_de_Microsoft_Excel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1"/>
  <c:style val="2"/>
  <c:chart>
    <c:autoTitleDeleted val="0"/>
    <c:plotArea>
      <c:layout/>
      <c:barChart>
        <c:barDir val="bar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Resto del país (96)</c:v>
                </c:pt>
              </c:strCache>
            </c:strRef>
          </c:tx>
          <c:spPr>
            <a:solidFill>
              <a:srgbClr val="BDB2A2"/>
            </a:solidFill>
          </c:spPr>
          <c:invertIfNegative val="1"/>
          <c:dLbls>
            <c:numFmt formatCode="0.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400">
                    <a:solidFill>
                      <a:srgbClr val="4A423A"/>
                    </a:solidFill>
                    <a:latin typeface="Arial"/>
                  </a:defRPr>
                </a:pPr>
                <a:endParaRPr lang="es-A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Sheet1!$A$2:$A$11</c:f>
              <c:strCache>
                <c:ptCount val="10"/>
                <c:pt idx="0">
                  <c:v>Productividad por puesto</c:v>
                </c:pt>
                <c:pt idx="1">
                  <c:v>Conocimiento documentado</c:v>
                </c:pt>
                <c:pt idx="2">
                  <c:v>Liderazgo de mandos medios</c:v>
                </c:pt>
                <c:pt idx="3">
                  <c:v>Comunicación</c:v>
                </c:pt>
                <c:pt idx="4">
                  <c:v>Retención</c:v>
                </c:pt>
                <c:pt idx="5">
                  <c:v>Evaluación</c:v>
                </c:pt>
                <c:pt idx="6">
                  <c:v>Capacitación</c:v>
                </c:pt>
                <c:pt idx="7">
                  <c:v>Coordinación</c:v>
                </c:pt>
                <c:pt idx="8">
                  <c:v>Estrategia</c:v>
                </c:pt>
                <c:pt idx="9">
                  <c:v>Cultura y valores</c:v>
                </c:pt>
              </c:strCache>
            </c: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2.65</c:v>
                </c:pt>
                <c:pt idx="1">
                  <c:v>2.98</c:v>
                </c:pt>
                <c:pt idx="2">
                  <c:v>3.14</c:v>
                </c:pt>
                <c:pt idx="3">
                  <c:v>3.23</c:v>
                </c:pt>
                <c:pt idx="4">
                  <c:v>3.28</c:v>
                </c:pt>
                <c:pt idx="5">
                  <c:v>3.25</c:v>
                </c:pt>
                <c:pt idx="6">
                  <c:v>3.31</c:v>
                </c:pt>
                <c:pt idx="7">
                  <c:v>3.42</c:v>
                </c:pt>
                <c:pt idx="8">
                  <c:v>3.39</c:v>
                </c:pt>
                <c:pt idx="9">
                  <c:v>3.36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0-D4AE-9C4D-9B77-5BEF64DACCD7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Las 18 de la región</c:v>
                </c:pt>
              </c:strCache>
            </c:strRef>
          </c:tx>
          <c:spPr>
            <a:solidFill>
              <a:srgbClr val="B4552F"/>
            </a:solidFill>
          </c:spPr>
          <c:invertIfNegative val="1"/>
          <c:dLbls>
            <c:numFmt formatCode="0.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400">
                    <a:solidFill>
                      <a:srgbClr val="4A423A"/>
                    </a:solidFill>
                    <a:latin typeface="Arial"/>
                  </a:defRPr>
                </a:pPr>
                <a:endParaRPr lang="es-A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Sheet1!$A$2:$A$11</c:f>
              <c:strCache>
                <c:ptCount val="10"/>
                <c:pt idx="0">
                  <c:v>Productividad por puesto</c:v>
                </c:pt>
                <c:pt idx="1">
                  <c:v>Conocimiento documentado</c:v>
                </c:pt>
                <c:pt idx="2">
                  <c:v>Liderazgo de mandos medios</c:v>
                </c:pt>
                <c:pt idx="3">
                  <c:v>Comunicación</c:v>
                </c:pt>
                <c:pt idx="4">
                  <c:v>Retención</c:v>
                </c:pt>
                <c:pt idx="5">
                  <c:v>Evaluación</c:v>
                </c:pt>
                <c:pt idx="6">
                  <c:v>Capacitación</c:v>
                </c:pt>
                <c:pt idx="7">
                  <c:v>Coordinación</c:v>
                </c:pt>
                <c:pt idx="8">
                  <c:v>Estrategia</c:v>
                </c:pt>
                <c:pt idx="9">
                  <c:v>Cultura y valores</c:v>
                </c:pt>
              </c:strCache>
            </c:strRef>
          </c:cat>
          <c:val>
            <c:numRef>
              <c:f>Sheet1!$C$2:$C$11</c:f>
              <c:numCache>
                <c:formatCode>General</c:formatCode>
                <c:ptCount val="10"/>
                <c:pt idx="0">
                  <c:v>1.83</c:v>
                </c:pt>
                <c:pt idx="1">
                  <c:v>2.44</c:v>
                </c:pt>
                <c:pt idx="2">
                  <c:v>2.56</c:v>
                </c:pt>
                <c:pt idx="3">
                  <c:v>2.72</c:v>
                </c:pt>
                <c:pt idx="4">
                  <c:v>2.78</c:v>
                </c:pt>
                <c:pt idx="5">
                  <c:v>2.67</c:v>
                </c:pt>
                <c:pt idx="6">
                  <c:v>3.22</c:v>
                </c:pt>
                <c:pt idx="7">
                  <c:v>3.33</c:v>
                </c:pt>
                <c:pt idx="8">
                  <c:v>3.33</c:v>
                </c:pt>
                <c:pt idx="9">
                  <c:v>3.33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1-D4AE-9C4D-9B77-5BEF64DACCD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55"/>
        <c:overlap val="-5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numFmt formatCode="General" sourceLinked="0"/>
        <c:majorTickMark val="out"/>
        <c:minorTickMark val="none"/>
        <c:tickLblPos val="nextTo"/>
        <c:spPr>
          <a:ln>
            <a:solidFill>
              <a:srgbClr val="E7DCC6"/>
            </a:solidFill>
          </a:ln>
        </c:spPr>
        <c:txPr>
          <a:bodyPr/>
          <a:lstStyle/>
          <a:p>
            <a:pPr>
              <a:defRPr sz="1600">
                <a:solidFill>
                  <a:srgbClr val="16120E"/>
                </a:solidFill>
                <a:latin typeface="Arial"/>
              </a:defRPr>
            </a:pPr>
            <a:endParaRPr lang="es-AR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  <c:max val="4"/>
          <c:min val="1"/>
        </c:scaling>
        <c:delete val="1"/>
        <c:axPos val="b"/>
        <c:numFmt formatCode="General" sourceLinked="1"/>
        <c:majorTickMark val="out"/>
        <c:minorTickMark val="none"/>
        <c:tickLblPos val="nextTo"/>
        <c:crossAx val="-2068027336"/>
        <c:crosses val="autoZero"/>
        <c:crossBetween val="between"/>
      </c:valAx>
    </c:plotArea>
    <c:legend>
      <c:legendPos val="t"/>
      <c:overlay val="0"/>
      <c:txPr>
        <a:bodyPr/>
        <a:lstStyle/>
        <a:p>
          <a:pPr>
            <a:defRPr sz="1600">
              <a:solidFill>
                <a:srgbClr val="4A423A"/>
              </a:solidFill>
              <a:latin typeface="Arial"/>
            </a:defRPr>
          </a:pPr>
          <a:endParaRPr lang="es-AR"/>
        </a:p>
      </c:txPr>
    </c:legend>
    <c:plotVisOnly val="1"/>
    <c:dispBlanksAs val="gap"/>
    <c:showDLblsOverMax val="1"/>
  </c:chart>
  <c:txPr>
    <a:bodyPr/>
    <a:lstStyle/>
    <a:p>
      <a:pPr>
        <a:defRPr sz="1800"/>
      </a:pPr>
      <a:endParaRPr lang="es-AR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657527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⏱ 1:30 | acumulado 1:30</a:t>
            </a:r>
          </a:p>
          <a:p/>
          <a:p>
            <a:r>
              <a:t>Buenas tardes. Gracias a CREA por la invitación y gracias a las 18 empresas que nos abrieron la puerta, el cuaderno y, en algunos casos, el mate.</a:t>
            </a:r>
          </a:p>
          <a:p>
            <a:r>
              <a:t>Vengo a hablarles de algo que todos conocemos de memoria y casi nadie mide: el punto ciego.</a:t>
            </a:r>
          </a:p>
          <a:p>
            <a:r>
              <a:t>No es una metáfora. Es, literalmente, lo que no medimos. Y en el campo, lo que no se mide, se supone.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⏱ 2:30 | acumulado 4:00</a:t>
            </a:r>
          </a:p>
          <a:p/>
          <a:p>
            <a:r>
              <a:t>[INTERACCIÓN. Leer solo tres frases en voz alta.]</a:t>
            </a:r>
          </a:p>
          <a:p>
            <a:r>
              <a:t>Quiero empezar escuchándolos a ustedes. Estas son frases que escuchamos una y otra vez, caminando la chacra y en la cocina, mate de por medio. "No se consigue buena gente." "Los que hay, no se quedan." "Hay que repetir todo."</a:t>
            </a:r>
          </a:p>
          <a:p>
            <a:r>
              <a:t>¿Les suena familiar? Levanten la mano quienes dijeron alguna de estas esta semana. [Pausa. Mirar la sala.]</a:t>
            </a:r>
          </a:p>
          <a:p>
            <a:r>
              <a:t>Miren cuántas manos. Y ahora una pregunta incómoda: ¿y si el problema no fuera la gente? ¿Y si fuera algo que nunca nos tomamos el trabajo de mirar?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⏱ 2:30 | acumulado 6:30</a:t>
            </a:r>
          </a:p>
          <a:p/>
          <a:p>
            <a:r>
              <a:t>Los que trabajamos en el agro sabemos medir: hectáreas, rinde, adopción de tecnología, fierros. Hay una curva de inversión que sube y sube.</a:t>
            </a:r>
          </a:p>
          <a:p>
            <a:r>
              <a:t>Pero hay otra curva, la de la capacidad de las personas que operan todo eso, que sube mucho más despacio.</a:t>
            </a:r>
          </a:p>
          <a:p>
            <a:r>
              <a:t>La brecha entre las dos curvas es el punto ciego. Invertimos en lo que se ve y se factura; lo otro lo damos por hecho.</a:t>
            </a:r>
          </a:p>
          <a:p>
            <a:r>
              <a:t>Una inversión sin gente capaz que la opere es plata inmovilizada. Ahí se rompe el sistema.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⏱ 1:30 | acumulado 8:00</a:t>
            </a:r>
          </a:p>
          <a:p/>
          <a:p>
            <a:r>
              <a:t>Para mirar esa brecha usamos un modelo con cuatro dimensiones.</a:t>
            </a:r>
          </a:p>
          <a:p>
            <a:r>
              <a:t>Uno, Estructura: roles, objetivos, quién decide qué. Dos, Procesos: cómo traemos gente y cómo se guarda lo que sabemos. Tres, Desarrollo: liderazgo, capacitación, delegación. Cuatro, Proyección y cultura: retención, incentivos, reconocimiento.</a:t>
            </a:r>
          </a:p>
          <a:p>
            <a:r>
              <a:t>Cuatro ventanas, un mismo instrumento para todas.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⏱ 0:15 | acumulado 8:15</a:t>
            </a:r>
          </a:p>
          <a:p/>
          <a:p>
            <a:r>
              <a:t>Se lo aplicamos a 18 empresas, de distintas actividades y escalas, con confidencialidad absoluta. Los datos son reales.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⏱ 1:15 | acumulado 9:30</a:t>
            </a:r>
          </a:p>
          <a:p/>
          <a:p>
            <a:r>
              <a:t>Acá están las 18, de punta a punta, en una escala de 1 a 5. Van de 1,7 a 3,8.</a:t>
            </a:r>
          </a:p>
          <a:p>
            <a:r>
              <a:t>Fíjense que no hay un tipo de empresa que gane: hay ganaderas abajo y arriba, agrícolas abajo y arriba.</a:t>
            </a:r>
          </a:p>
          <a:p>
            <a:r>
              <a:t>Ninguna llegó abajo por descuido ni arriba por suerte. Guarden esa frase, porque vuelve al final.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⏱ 1:45 | acumulado 11:15</a:t>
            </a:r>
          </a:p>
          <a:p/>
          <a:p>
            <a:r>
              <a:t>Si las agrupamos: 22% reactivo, donde manda la urgencia. 67% definido: hay un piso, pero falta diseño. Y 11% estratégico, donde la gestión de personas está integrada al negocio y se decide con datos.</a:t>
            </a:r>
          </a:p>
          <a:p>
            <a:r>
              <a:t>Dicho de otro modo: 16 de las 18, nueve de cada diez, todavía no diseñaron su forma de gestionar personas.</a:t>
            </a:r>
          </a:p>
          <a:p>
            <a:r>
              <a:t>[Cuidado: el 89% es la suma de reactivo + definido (22% + 67%). Si preguntan, esa es la cuenta.]</a:t>
            </a:r>
          </a:p>
          <a:p>
            <a:r>
              <a:t>[PENDIENTE: confirmar con la planilla cómo se definen los niveles. Los colores de la lámina 6 dan 4, 9 y 5, y esta lámina dice 4, 12 y 2.]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⏱ 0:45 | acumulado 13:30</a:t>
            </a:r>
          </a:p>
          <a:p/>
          <a:p>
            <a:r>
              <a:t>Casi toda la nube se junta de un lado: cultura fuerte, estructura débil.</a:t>
            </a:r>
          </a:p>
          <a:p>
            <a:r>
              <a:t>12 de las 18 tienen la cultura como su punto más fuerte, y 12 de las 18, la estructura como su mayor brecha.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⏱ 1:00 | acumulado 14:30</a:t>
            </a:r>
          </a:p>
          <a:p/>
          <a:p>
            <a:r>
              <a:t>4,3 en mística e intención. 2,8 en estructura y procesos.</a:t>
            </a:r>
          </a:p>
          <a:p>
            <a:r>
              <a:t>Lo vimos lote por lote: la cultura corre más rápido que la estructura que la sostiene.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⏱ 0:45 | acumulado 15:15</a:t>
            </a:r>
          </a:p>
          <a:p/>
          <a:p>
            <a:r>
              <a:t>[PAUSA. Pasar la lámina y callarse cuatro segundos. Después, despacio.]</a:t>
            </a:r>
          </a:p>
          <a:p>
            <a:r>
              <a:t>La mística no escala. Y la biología no es un sistema.</a:t>
            </a:r>
          </a:p>
          <a:p>
            <a:r>
              <a:t>[Otros cuatro segundos. No explicar la frase.]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⏱ 0:30 | acumulado 15:45</a:t>
            </a:r>
          </a:p>
          <a:p/>
          <a:p>
            <a:r>
              <a:t>Bajemos a lo concreto. Encontramos tres patrones. Cada uno tiene un síntoma que se ve en la operación y una causa que no se ve, que está en el diseño.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⏱ 1:45 | acumulado 17:30</a:t>
            </a:r>
          </a:p>
          <a:p/>
          <a:p>
            <a:r>
              <a:t>Dueño-dependencia: 6 de 18, un tercio. Es la empresa de una sola cabeza. Todo pasa por una mente: quién va al potrero, qué se compra, a quién se llama.</a:t>
            </a:r>
          </a:p>
          <a:p>
            <a:r>
              <a:t>Mientras el patrón está, funciona de maravilla. El día que se enferma o se va de viaje, tambalea.</a:t>
            </a:r>
          </a:p>
          <a:p>
            <a:r>
              <a:t>[INTERACCIÓN, pausa.] ¿Cuánto depende hoy de que usted esté presente? ¿Cuántas decisiones esperan su llamado? ¿Qué pasa la semana que no atiende el teléfono?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⏱ 1:45 | acumulado 19:15</a:t>
            </a:r>
          </a:p>
          <a:p/>
          <a:p>
            <a:r>
              <a:t>Entrenar para el vecino: 4 de 18, el 22%. Capacitamos, invertimos, mandamos a hacer el curso, y no ofrecemos un horizonte.</a:t>
            </a:r>
          </a:p>
          <a:p>
            <a:r>
              <a:t>El resultado: formamos al mejor tractorista para que se lo lleve el campo de al lado.</a:t>
            </a:r>
          </a:p>
          <a:p>
            <a:r>
              <a:t>Capacitación alta, retención baja. Es sembrar sin cosechar.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⏱ 1:45 | acumulado 21:00</a:t>
            </a:r>
          </a:p>
          <a:p/>
          <a:p>
            <a:r>
              <a:t>Incentivos a ciegas: otros 4 de 18, el 22%. Premiamos resultados que no medimos. Entonces, ¿qué premio es? Un derecho adquirido.</a:t>
            </a:r>
          </a:p>
          <a:p>
            <a:r>
              <a:t>El que cobra el bono porque "siempre se cobró" no está motivado: está acostumbrado.</a:t>
            </a:r>
          </a:p>
          <a:p>
            <a:r>
              <a:t>Operación prolija, rumbo difuso.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⏱ 0:30 | acumulado 21:30</a:t>
            </a:r>
          </a:p>
          <a:p/>
          <a:p>
            <a:r>
              <a:t>Hasta acá miramos dimensiones. Ahora vamos pregunta por pregunta y nos comparamos con 96 diagnósticos del resto del país: qué nos distingue y por dónde empezar.</a:t>
            </a: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⏱ 2:00 | acumulado 23:30</a:t>
            </a:r>
          </a:p>
          <a:p/>
          <a:p>
            <a:r>
              <a:t>Dos mensajes. Primero, la noticia buena: en cultura, estrategia, coordinación y capacitación somos iguales al resto. La voluntad está.</a:t>
            </a:r>
          </a:p>
          <a:p>
            <a:r>
              <a:t>Segundo, en las seis de abajo estamos por debajo: medir, evaluar, documentar, comunicar, dar horizonte.</a:t>
            </a:r>
          </a:p>
          <a:p>
            <a:r>
              <a:t>Fíjense algo: todas dependen de quien conduce. No de la gente ni del clima. De quien conduce.</a:t>
            </a:r>
          </a:p>
          <a:p>
            <a:r>
              <a:t>Y productividad por puesto es el valor más bajo de toda la base nacional.</a:t>
            </a: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⏱ 2:30 | acumulado 26:00</a:t>
            </a:r>
          </a:p>
          <a:p/>
          <a:p>
            <a:r>
              <a:t>Tres datos, un mismo lugar: el mando medio. El encargado, el capataz, el que está en el frente de batalla.</a:t>
            </a:r>
          </a:p>
          <a:p>
            <a:r>
              <a:t>0 de 18 llega a un liderazgo de mandos medios de nivel 4 o 5. En el resto del país, 4 de cada 10.</a:t>
            </a:r>
          </a:p>
          <a:p>
            <a:r>
              <a:t>13 de 18 no sabe qué rinde cada puesto.</a:t>
            </a:r>
          </a:p>
          <a:p>
            <a:r>
              <a:t>Solo 3 de 18 le muestra a su mejor gente un futuro en la empresa. En el resto del país, casi la mitad.</a:t>
            </a:r>
          </a:p>
          <a:p>
            <a:r>
              <a:t>Y un dato del país que lo explica todo: cuando el liderazgo es fuerte, el 77% conecta a su gente con la estrategia. Cuando es débil, el 19%.</a:t>
            </a:r>
          </a:p>
          <a:p>
            <a:r>
              <a:t>Ahí se corta la cadena entre lo que el dueño quiere y lo que pasa en el lote.</a:t>
            </a: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⏱ 1:30 | acumulado 27:30</a:t>
            </a:r>
          </a:p>
          <a:p/>
          <a:p>
            <a:r>
              <a:t>Pero no todo es brecha. Entre los que reconocen comunicar poco con su equipo, en el resto del país la mitad igual dice tener una cultura fuerte: es cultura de discurso.</a:t>
            </a:r>
          </a:p>
          <a:p>
            <a:r>
              <a:t>Acá, 1 de 6. Cuando alguien dice "mi cultura está viva", hay conversación diaria que lo respalda.</a:t>
            </a:r>
          </a:p>
          <a:p>
            <a:r>
              <a:t>Es el mejor punto de apoyo para construir la estructura que falta.</a:t>
            </a: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⏱ 2:30 | acumulado 30:00</a:t>
            </a:r>
          </a:p>
          <a:p/>
          <a:p>
            <a:r>
              <a:t>¿Por dónde empezamos? Cinco palancas, ordenadas por cuánto arrastran al resto. Ninguna requiere presupuesto. Todas requieren decisión.</a:t>
            </a:r>
          </a:p>
          <a:p>
            <a:r>
              <a:t>Uno: una reunión corta y fija por semana. Cómo venimos y qué sigue.</a:t>
            </a:r>
          </a:p>
          <a:p>
            <a:r>
              <a:t>Dos: un responsable de la gente, con nombre y horas, aunque sea part-time.</a:t>
            </a:r>
          </a:p>
          <a:p>
            <a:r>
              <a:t>Tres: reconocer en voz alta lo que salió bien, cuando pasa.</a:t>
            </a:r>
          </a:p>
          <a:p>
            <a:r>
              <a:t>Cuatro: la tarea que se rompe cuando falta el dueño, escrita en media página.</a:t>
            </a:r>
          </a:p>
          <a:p>
            <a:r>
              <a:t>Cinco: una conversación por año con cada uno de los mejores sobre hacia dónde puede crecer.</a:t>
            </a:r>
          </a:p>
          <a:p>
            <a:r>
              <a:t>[La 2 y la 4 reaparecen en la hoja de ruta.]</a:t>
            </a: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⏱ 1:00 | acumulado 31:00</a:t>
            </a:r>
          </a:p>
          <a:p/>
          <a:p>
            <a:r>
              <a:t>[Ir ágil: esta y la siguiente suman 2 minutos.]</a:t>
            </a:r>
          </a:p>
          <a:p>
            <a:r>
              <a:t>Acá aparece el miedo natural: "si profesionalizo, lleno el campo de planillas". No.</a:t>
            </a:r>
          </a:p>
          <a:p>
            <a:r>
              <a:t>La sobredocumentación en equipos chicos se abandona a las pocas semanas. Antes de profesionalizar, hay que simplificar. No copiemos la estructura de una empresa grande.</a:t>
            </a:r>
          </a:p>
          <a:p>
            <a:r>
              <a:t>La solución no es burocracia. Es diseño intencional.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⏱ 1:00 | acumulado 32:00</a:t>
            </a:r>
          </a:p>
          <a:p/>
          <a:p>
            <a:r>
              <a:t>El avance real corre en dos planos.</a:t>
            </a:r>
          </a:p>
          <a:p>
            <a:r>
              <a:t>Plano persona: se ejercita, no se instala. Es una habilidad, un hábito del líder. La señal: lo hace hoy con naturalidad, aunque meses atrás le costaba.</a:t>
            </a:r>
          </a:p>
          <a:p>
            <a:r>
              <a:t>Plano sistema: se pone por escrito, no se supone. La señal: la práctica sigue funcionando aunque quien la sostenía esté de vacaciones o enfermo.</a:t>
            </a:r>
          </a:p>
          <a:p>
            <a:r>
              <a:t>Persona y sistema avanzan juntos.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⏱ 2:00 | acumulado 34:00</a:t>
            </a:r>
          </a:p>
          <a:p/>
          <a:p>
            <a:r>
              <a:t>La hoja de ruta para equipos de 5 a 15 personas: tres acciones para el lunes.</a:t>
            </a:r>
          </a:p>
          <a:p>
            <a:r>
              <a:t>Estructura: designar un responsable, aunque sea part-time. Sin un doliente, la gestión queda enterrada bajo la urgencia de la cosecha. Dibujá el organigrama real de hoy, no el ideal de un libro.</a:t>
            </a:r>
          </a:p>
          <a:p>
            <a:r>
              <a:t>Procesos: documentar la supervivencia. No hagas un manual entero: la única tarea que se rompe cuando el dueño no está, en media página.</a:t>
            </a:r>
          </a:p>
          <a:p>
            <a:r>
              <a:t>Desarrollo: delegar con criterio escrito. No delegás la tarea, delegás el criterio. Elegí una decisión cotidiana y escribí tres criterios objetivos para resolverla.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⏱ 2:00 | acumulado 36:00</a:t>
            </a:r>
          </a:p>
          <a:p/>
          <a:p>
            <a:r>
              <a:t>[SILENCIO. Contar cuatro segundos después de cada pregunta.]</a:t>
            </a:r>
          </a:p>
          <a:p>
            <a:r>
              <a:t>Les dejo tres preguntas. No las contesten en voz alta; contéstenlas adentro.</a:t>
            </a:r>
          </a:p>
          <a:p>
            <a:r>
              <a:t>¿Cuánto de lo que hoy funciona en el campo depende exclusivamente de tu presencia física? [Cuatro.]</a:t>
            </a:r>
          </a:p>
          <a:p>
            <a:r>
              <a:t>Si tuvieras que ausentarte un mes de imprevisto, ¿qué decisiones críticas quedarían sin tomar? [Cuatro.]</a:t>
            </a:r>
          </a:p>
          <a:p>
            <a:r>
              <a:t>¿Los valores que sostienen hoy a tu empresa sobrevivirían intactos a un recambio generacional? [Cuatro.]</a:t>
            </a:r>
          </a:p>
          <a:p>
            <a:r>
              <a:t>[Acá abrir a preguntas del público, 2 minutos si hay. Si no hay, seguir.]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⏱ 0:45 | acumulado 36:45</a:t>
            </a:r>
          </a:p>
          <a:p/>
          <a:p>
            <a:r>
              <a:t>[Corta: va junto con la siguiente.]</a:t>
            </a:r>
          </a:p>
          <a:p>
            <a:r>
              <a:t>Vuelvo a lo que dejé pendiente en la lámina 6: ninguna llegó abajo por descuido, y ninguna llegó arriba por suerte.</a:t>
            </a:r>
          </a:p>
          <a:p>
            <a:r>
              <a:t>Las dos que hoy están arriba tienen la misma informalidad de origen que las demás, pero en algún momento alguien se sentó a diseñar un proceso en vez de dejar que "se diera así".</a:t>
            </a:r>
          </a:p>
          <a:p>
            <a:r>
              <a:t>Y las 12 que están en el medio están justo en el punto donde ese salto se puede decidir a conciencia.</a:t>
            </a:r>
          </a:p>
          <a:p>
            <a:r>
              <a:t>No alcanza con sostener lo que ya funciona: hay que hacer crecer la parte que nadie diseñó.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⏱ 0:45 | acumulado 37:30</a:t>
            </a:r>
          </a:p>
          <a:p/>
          <a:p>
            <a:r>
              <a:t>[Leer la frase despacio. Después bajar la voz.]</a:t>
            </a:r>
          </a:p>
          <a:p>
            <a:r>
              <a:t>"La empresa no fracasa por falta de procesos, sino por no desarrollar a las personas que los sostienen."</a:t>
            </a:r>
          </a:p>
          <a:p>
            <a:r>
              <a:t>Tu legado no es el campo. Es el sistema que construís para operarlo.</a:t>
            </a:r>
          </a:p>
          <a:p>
            <a:r>
              <a:t>[Pausa larga.]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⏱ 0:30 | acumulado 38:00</a:t>
            </a:r>
          </a:p>
          <a:p/>
          <a:p>
            <a:r>
              <a:t>Gracias. A CREA, y sobre todo a las 18 empresas que pusieron los datos, sin los cuales nada de esto existiría.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⏱ 1:00 | acumulado 39:00</a:t>
            </a:r>
          </a:p>
          <a:p/>
          <a:p>
            <a:r>
              <a:t>Para seguir trabajándolo, está el Grupo Digital CREA, "Liderando personas en el agro": reuniones virtuales entre pares, facilitación de especialistas y casos reales de aplicación práctica.</a:t>
            </a:r>
          </a:p>
          <a:p>
            <a:r>
              <a:t>Escaneen el QR y les cuentan cómo sumarse.</a:t>
            </a:r>
          </a:p>
          <a:p>
            <a:r>
              <a:t>[Cierre.] La diferencia está en la gente. ¿Preguntas?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7152626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⏱ 1:30 | acumulado 12:45</a:t>
            </a:r>
          </a:p>
          <a:p/>
          <a:p>
            <a:r>
              <a:t>[Lámina nueva. Dejar los números en pantalla y mirar a la sala.]</a:t>
            </a:r>
          </a:p>
          <a:p>
            <a:r>
              <a:t>Hay algo que no grita en los promedios y conviene mirar de cerca. Las dos empresas mejor puntuadas, 3,7 y 3,8, son agrícolas de 3 y 8 colaboradores: chicas.</a:t>
            </a:r>
          </a:p>
          <a:p>
            <a:r>
              <a:t>En cambio, las cuatro de 75 colaboradores están entre 3,0 y 3,4. Tienen piso, pero ninguna llegó arriba. Y en el otro extremo, cuatro de las cinco ganaderas están por debajo de 3,0, y ninguna pasa de ese número.</a:t>
            </a:r>
          </a:p>
          <a:p>
            <a:r>
              <a:t>Escala no es madurez. El tamaño te da un piso, no te da diseño.</a:t>
            </a:r>
          </a:p>
          <a:p>
            <a:r>
              <a:t>[Si preguntan: son grupos de 5 o 6 empresas; sirven para conversar, no para sacar una regla.]</a:t>
            </a:r>
          </a:p>
          <a:p>
            <a:r>
              <a:t>¿Cuántos de nosotros pensamos alguna vez que crecer iba a ordenar la casa solo?</a:t>
            </a:r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image" Target="../media/image3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4.sv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5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6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7.sv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8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9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9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chart" Target="../charts/chart1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10.png"/><Relationship Id="rId4" Type="http://schemas.openxmlformats.org/officeDocument/2006/relationships/image" Target="../media/image11.png"/><Relationship Id="rId5" Type="http://schemas.openxmlformats.org/officeDocument/2006/relationships/image" Target="../media/image12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13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14.jpeg"/><Relationship Id="rId4" Type="http://schemas.openxmlformats.org/officeDocument/2006/relationships/image" Target="../media/image3.png"/><Relationship Id="rId5" Type="http://schemas.openxmlformats.org/officeDocument/2006/relationships/image" Target="../media/image2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13.png"/><Relationship Id="rId4" Type="http://schemas.openxmlformats.org/officeDocument/2006/relationships/image" Target="../media/image2.png"/><Relationship Id="rId5" Type="http://schemas.openxmlformats.org/officeDocument/2006/relationships/image" Target="../media/image15.png"/><Relationship Id="rId6" Type="http://schemas.openxmlformats.org/officeDocument/2006/relationships/image" Target="../media/image16.sv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6120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rcRect t="16463" b="20122"/>
          <a:stretch/>
        </p:blipFill>
        <p:spPr>
          <a:xfrm>
            <a:off x="12001471" y="0"/>
            <a:ext cx="6286469" cy="10286935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8287940" cy="10286935"/>
          </a:xfrm>
          <a:prstGeom prst="rect">
            <a:avLst/>
          </a:prstGeom>
          <a:gradFill rotWithShape="1">
            <a:gsLst>
              <a:gs pos="0">
                <a:srgbClr val="16120E">
                  <a:alpha val="100000"/>
                </a:srgbClr>
              </a:gs>
              <a:gs pos="63000">
                <a:srgbClr val="16120E">
                  <a:alpha val="100000"/>
                </a:srgbClr>
              </a:gs>
              <a:gs pos="70000">
                <a:srgbClr val="16120E">
                  <a:alpha val="80000"/>
                </a:srgbClr>
              </a:gs>
              <a:gs pos="88000">
                <a:srgbClr val="16120E">
                  <a:alpha val="0"/>
                </a:srgbClr>
              </a:gs>
            </a:gsLst>
            <a:lin ang="0" scaled="0"/>
          </a:gradFill>
          <a:ln/>
        </p:spPr>
        <p:txBody>
          <a:bodyPr/>
          <a:lstStyle/>
          <a:p>
            <a:endParaRPr lang="es-AR"/>
          </a:p>
        </p:txBody>
      </p:sp>
      <p:sp>
        <p:nvSpPr>
          <p:cNvPr id="4" name="Shape 1"/>
          <p:cNvSpPr/>
          <p:nvPr/>
        </p:nvSpPr>
        <p:spPr>
          <a:xfrm>
            <a:off x="1047733" y="0"/>
            <a:ext cx="38065" cy="10286935"/>
          </a:xfrm>
          <a:prstGeom prst="rect">
            <a:avLst/>
          </a:prstGeom>
          <a:gradFill rotWithShape="1">
            <a:gsLst>
              <a:gs pos="0">
                <a:srgbClr val="E0A32E">
                  <a:alpha val="100000"/>
                </a:srgbClr>
              </a:gs>
              <a:gs pos="100000">
                <a:srgbClr val="E0A32E">
                  <a:alpha val="0"/>
                </a:srgbClr>
              </a:gs>
            </a:gsLst>
            <a:lin ang="5400000" scaled="0"/>
          </a:gradFill>
          <a:ln/>
        </p:spPr>
        <p:txBody>
          <a:bodyPr/>
          <a:lstStyle/>
          <a:p>
            <a:endParaRPr lang="es-AR"/>
          </a:p>
        </p:txBody>
      </p:sp>
      <p:sp>
        <p:nvSpPr>
          <p:cNvPr id="5" name="Shape 2"/>
          <p:cNvSpPr/>
          <p:nvPr/>
        </p:nvSpPr>
        <p:spPr>
          <a:xfrm>
            <a:off x="13138584" y="666733"/>
            <a:ext cx="4101623" cy="1276263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s-AR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290913" y="780998"/>
            <a:ext cx="3796963" cy="1047733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485866" y="1567113"/>
            <a:ext cx="17329775" cy="3252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950" b="1" kern="0" spc="429" dirty="0">
                <a:solidFill>
                  <a:srgbClr val="E0A3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CONGRESO CREA REGIÓN CHACO SANTIAGUEÑO</a:t>
            </a:r>
            <a:endParaRPr lang="en-US" sz="1950" dirty="0"/>
          </a:p>
        </p:txBody>
      </p:sp>
      <p:sp>
        <p:nvSpPr>
          <p:cNvPr id="8" name="Text 4"/>
          <p:cNvSpPr/>
          <p:nvPr/>
        </p:nvSpPr>
        <p:spPr>
          <a:xfrm>
            <a:off x="1485866" y="2235178"/>
            <a:ext cx="11576655" cy="305245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79988"/>
              </a:lnSpc>
              <a:buNone/>
            </a:pPr>
            <a:r>
              <a:rPr lang="en-US" sz="12900" b="1" kern="0" spc="-451" dirty="0">
                <a:solidFill>
                  <a:srgbClr val="F2ED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PUNTO CIEGO</a:t>
            </a:r>
            <a:endParaRPr lang="en-US" sz="12900" dirty="0"/>
          </a:p>
        </p:txBody>
      </p:sp>
      <p:sp>
        <p:nvSpPr>
          <p:cNvPr id="9" name="Text 5"/>
          <p:cNvSpPr/>
          <p:nvPr/>
        </p:nvSpPr>
        <p:spPr>
          <a:xfrm>
            <a:off x="1485866" y="5592396"/>
            <a:ext cx="10595543" cy="1127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14564"/>
              </a:lnSpc>
              <a:buNone/>
            </a:pPr>
            <a:r>
              <a:rPr lang="en-US" sz="3300" dirty="0">
                <a:solidFill>
                  <a:srgbClr val="D6CBB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Diagnóstico de capital humano en PyMEs agropecuarias — y las preguntas que deja.</a:t>
            </a:r>
            <a:endParaRPr lang="en-US" sz="3300" dirty="0"/>
          </a:p>
        </p:txBody>
      </p:sp>
      <p:sp>
        <p:nvSpPr>
          <p:cNvPr id="10" name="Shape 6"/>
          <p:cNvSpPr/>
          <p:nvPr/>
        </p:nvSpPr>
        <p:spPr>
          <a:xfrm>
            <a:off x="1485866" y="7215240"/>
            <a:ext cx="10286935" cy="17946"/>
          </a:xfrm>
          <a:prstGeom prst="rect">
            <a:avLst/>
          </a:prstGeom>
          <a:solidFill>
            <a:srgbClr val="4A423A"/>
          </a:solidFill>
          <a:ln/>
        </p:spPr>
        <p:txBody>
          <a:bodyPr/>
          <a:lstStyle/>
          <a:p>
            <a:endParaRPr lang="es-AR"/>
          </a:p>
        </p:txBody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485866" y="7576050"/>
            <a:ext cx="2171246" cy="1428733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1485866" y="9157114"/>
            <a:ext cx="3726946" cy="405991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00" dirty="0">
                <a:solidFill>
                  <a:srgbClr val="9C908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La diferencia está en la gente</a:t>
            </a:r>
            <a:endParaRPr lang="en-US" sz="2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6120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47733" y="952465"/>
            <a:ext cx="17811721" cy="3252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950" b="1" kern="0" spc="429" dirty="0">
                <a:solidFill>
                  <a:srgbClr val="E0A3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 QUE ESCUCHAMOS EN EL CAMPO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1047733" y="1734865"/>
            <a:ext cx="5297844" cy="94282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9614"/>
              </a:lnSpc>
              <a:buNone/>
            </a:pPr>
            <a:r>
              <a:rPr lang="en-US" sz="2850" i="1" dirty="0">
                <a:solidFill>
                  <a:srgbClr val="EDE4D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“No se consigue buena gente.”</a:t>
            </a:r>
            <a:endParaRPr lang="en-US" sz="2850" dirty="0"/>
          </a:p>
        </p:txBody>
      </p:sp>
      <p:sp>
        <p:nvSpPr>
          <p:cNvPr id="4" name="Text 2"/>
          <p:cNvSpPr/>
          <p:nvPr/>
        </p:nvSpPr>
        <p:spPr>
          <a:xfrm>
            <a:off x="6572201" y="1734865"/>
            <a:ext cx="5297844" cy="94282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9614"/>
              </a:lnSpc>
              <a:buNone/>
            </a:pPr>
            <a:r>
              <a:rPr lang="en-US" sz="2850" i="1" dirty="0">
                <a:solidFill>
                  <a:srgbClr val="EDE4D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“Los que hay, no se quedan.”</a:t>
            </a:r>
            <a:endParaRPr lang="en-US" sz="2850" dirty="0"/>
          </a:p>
        </p:txBody>
      </p:sp>
      <p:sp>
        <p:nvSpPr>
          <p:cNvPr id="5" name="Text 3"/>
          <p:cNvSpPr/>
          <p:nvPr/>
        </p:nvSpPr>
        <p:spPr>
          <a:xfrm>
            <a:off x="12096669" y="1734865"/>
            <a:ext cx="5297844" cy="94282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09614"/>
              </a:lnSpc>
              <a:buNone/>
            </a:pPr>
            <a:r>
              <a:rPr lang="en-US" sz="2850" i="1" dirty="0">
                <a:solidFill>
                  <a:srgbClr val="EDE4D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“Los jóvenes no se comprometen.”</a:t>
            </a:r>
            <a:endParaRPr lang="en-US" sz="2850" dirty="0"/>
          </a:p>
        </p:txBody>
      </p:sp>
      <p:sp>
        <p:nvSpPr>
          <p:cNvPr id="6" name="Text 4"/>
          <p:cNvSpPr/>
          <p:nvPr/>
        </p:nvSpPr>
        <p:spPr>
          <a:xfrm>
            <a:off x="1047733" y="2906257"/>
            <a:ext cx="5657892" cy="4904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09614"/>
              </a:lnSpc>
              <a:buNone/>
            </a:pPr>
            <a:r>
              <a:rPr lang="en-US" sz="2850" i="1" dirty="0">
                <a:solidFill>
                  <a:srgbClr val="EDE4D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“Hay que repetir todo.”</a:t>
            </a:r>
            <a:endParaRPr lang="en-US" sz="2850" dirty="0"/>
          </a:p>
        </p:txBody>
      </p:sp>
      <p:sp>
        <p:nvSpPr>
          <p:cNvPr id="7" name="Text 5"/>
          <p:cNvSpPr/>
          <p:nvPr/>
        </p:nvSpPr>
        <p:spPr>
          <a:xfrm>
            <a:off x="6572201" y="2906257"/>
            <a:ext cx="5657892" cy="4904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09614"/>
              </a:lnSpc>
              <a:buNone/>
            </a:pPr>
            <a:r>
              <a:rPr lang="en-US" sz="2850" i="1" dirty="0">
                <a:solidFill>
                  <a:srgbClr val="EDE4D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“No tienen autogestión.”</a:t>
            </a:r>
            <a:endParaRPr lang="en-US" sz="2850" dirty="0"/>
          </a:p>
        </p:txBody>
      </p:sp>
      <p:sp>
        <p:nvSpPr>
          <p:cNvPr id="8" name="Text 6"/>
          <p:cNvSpPr/>
          <p:nvPr/>
        </p:nvSpPr>
        <p:spPr>
          <a:xfrm>
            <a:off x="12096669" y="2906257"/>
            <a:ext cx="5657892" cy="4904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09614"/>
              </a:lnSpc>
              <a:buNone/>
            </a:pPr>
            <a:r>
              <a:rPr lang="en-US" sz="2850" i="1" dirty="0">
                <a:solidFill>
                  <a:srgbClr val="EDE4D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“No me alcanza el día.”</a:t>
            </a:r>
            <a:endParaRPr lang="en-US" sz="2850" dirty="0"/>
          </a:p>
        </p:txBody>
      </p:sp>
      <p:sp>
        <p:nvSpPr>
          <p:cNvPr id="9" name="Text 7"/>
          <p:cNvSpPr/>
          <p:nvPr/>
        </p:nvSpPr>
        <p:spPr>
          <a:xfrm>
            <a:off x="1047733" y="3625285"/>
            <a:ext cx="5297844" cy="94282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09614"/>
              </a:lnSpc>
              <a:buNone/>
            </a:pPr>
            <a:r>
              <a:rPr lang="en-US" sz="2850" i="1" dirty="0">
                <a:solidFill>
                  <a:srgbClr val="EDE4D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“No hay herramientas que sirvan.”</a:t>
            </a:r>
            <a:endParaRPr lang="en-US" sz="2850" dirty="0"/>
          </a:p>
        </p:txBody>
      </p:sp>
      <p:sp>
        <p:nvSpPr>
          <p:cNvPr id="10" name="Text 8"/>
          <p:cNvSpPr/>
          <p:nvPr/>
        </p:nvSpPr>
        <p:spPr>
          <a:xfrm>
            <a:off x="6572201" y="3625285"/>
            <a:ext cx="5297844" cy="94282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09614"/>
              </a:lnSpc>
              <a:buNone/>
            </a:pPr>
            <a:r>
              <a:rPr lang="en-US" sz="2850" i="1" dirty="0">
                <a:solidFill>
                  <a:srgbClr val="EDE4D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“Los cursos no aterrizan en la realidad.”</a:t>
            </a:r>
            <a:endParaRPr lang="en-US" sz="2850" dirty="0"/>
          </a:p>
        </p:txBody>
      </p:sp>
      <p:sp>
        <p:nvSpPr>
          <p:cNvPr id="11" name="Text 9"/>
          <p:cNvSpPr/>
          <p:nvPr/>
        </p:nvSpPr>
        <p:spPr>
          <a:xfrm>
            <a:off x="12096669" y="3625285"/>
            <a:ext cx="5297844" cy="94282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09614"/>
              </a:lnSpc>
              <a:buNone/>
            </a:pPr>
            <a:r>
              <a:rPr lang="en-US" sz="2850" i="1" dirty="0">
                <a:solidFill>
                  <a:srgbClr val="EDE4D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“Las decisiones de gente se toman a las apuradas.”</a:t>
            </a:r>
            <a:endParaRPr lang="en-US" sz="2850" dirty="0"/>
          </a:p>
        </p:txBody>
      </p:sp>
      <p:sp>
        <p:nvSpPr>
          <p:cNvPr id="12" name="Text 10"/>
          <p:cNvSpPr/>
          <p:nvPr/>
        </p:nvSpPr>
        <p:spPr>
          <a:xfrm>
            <a:off x="1047733" y="8825114"/>
            <a:ext cx="17811721" cy="73799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4800" b="1" dirty="0">
                <a:solidFill>
                  <a:srgbClr val="E0A3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¿Les suena familiar?</a:t>
            </a:r>
            <a:endParaRPr lang="en-US" sz="4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6120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47733" y="952465"/>
            <a:ext cx="17811721" cy="7581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91716"/>
              </a:lnSpc>
              <a:buNone/>
            </a:pPr>
            <a:r>
              <a:rPr lang="en-US" sz="5400" b="1" kern="0" spc="-108" dirty="0">
                <a:solidFill>
                  <a:srgbClr val="F2ED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éxito no es solo biológico o tecnológico</a:t>
            </a:r>
            <a:endParaRPr lang="en-US" sz="5400" dirty="0"/>
          </a:p>
        </p:txBody>
      </p:sp>
      <p:sp>
        <p:nvSpPr>
          <p:cNvPr id="3" name="Shape 1"/>
          <p:cNvSpPr/>
          <p:nvPr/>
        </p:nvSpPr>
        <p:spPr>
          <a:xfrm>
            <a:off x="1047733" y="8309380"/>
            <a:ext cx="8294238" cy="26919"/>
          </a:xfrm>
          <a:prstGeom prst="rect">
            <a:avLst/>
          </a:prstGeom>
          <a:solidFill>
            <a:srgbClr val="4A423A"/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4" name="Shape 2"/>
          <p:cNvSpPr/>
          <p:nvPr/>
        </p:nvSpPr>
        <p:spPr>
          <a:xfrm>
            <a:off x="1047733" y="3356447"/>
            <a:ext cx="26919" cy="4979851"/>
          </a:xfrm>
          <a:prstGeom prst="rect">
            <a:avLst/>
          </a:prstGeom>
          <a:solidFill>
            <a:srgbClr val="4A423A"/>
          </a:solidFill>
          <a:ln/>
        </p:spPr>
        <p:txBody>
          <a:bodyPr/>
          <a:lstStyle/>
          <a:p>
            <a:endParaRPr lang="es-AR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74652" y="3356447"/>
            <a:ext cx="8267319" cy="4952933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360385" y="3680245"/>
            <a:ext cx="3237495" cy="7047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07691"/>
              </a:lnSpc>
              <a:buNone/>
            </a:pPr>
            <a:r>
              <a:rPr lang="en-US" sz="2100" b="1" dirty="0">
                <a:solidFill>
                  <a:srgbClr val="7FA8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Inversión en tecnología, tierra y escala</a:t>
            </a:r>
            <a:endParaRPr lang="en-US" sz="2100" dirty="0"/>
          </a:p>
        </p:txBody>
      </p:sp>
      <p:sp>
        <p:nvSpPr>
          <p:cNvPr id="7" name="Text 4"/>
          <p:cNvSpPr/>
          <p:nvPr/>
        </p:nvSpPr>
        <p:spPr>
          <a:xfrm>
            <a:off x="1360385" y="6728386"/>
            <a:ext cx="3237495" cy="7047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07691"/>
              </a:lnSpc>
              <a:buNone/>
            </a:pPr>
            <a:r>
              <a:rPr lang="en-US" sz="2100" b="1" dirty="0">
                <a:solidFill>
                  <a:srgbClr val="E0A3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Inversión en capacidad organizacional</a:t>
            </a:r>
            <a:endParaRPr lang="en-US" sz="2100" dirty="0"/>
          </a:p>
        </p:txBody>
      </p:sp>
      <p:sp>
        <p:nvSpPr>
          <p:cNvPr id="8" name="Text 5"/>
          <p:cNvSpPr/>
          <p:nvPr/>
        </p:nvSpPr>
        <p:spPr>
          <a:xfrm rot="-5400000">
            <a:off x="-430246" y="5709088"/>
            <a:ext cx="1981200" cy="28575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800" b="1" kern="0" spc="216" dirty="0">
                <a:solidFill>
                  <a:srgbClr val="9C90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CRECIMIENTO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4683814" y="8553402"/>
            <a:ext cx="1125195" cy="28934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800" b="1" kern="0" spc="216" dirty="0">
                <a:solidFill>
                  <a:srgbClr val="9C90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TIEMPO</a:t>
            </a:r>
            <a:endParaRPr lang="en-US" sz="1800" dirty="0"/>
          </a:p>
        </p:txBody>
      </p:sp>
      <p:sp>
        <p:nvSpPr>
          <p:cNvPr id="10" name="Text 7"/>
          <p:cNvSpPr/>
          <p:nvPr/>
        </p:nvSpPr>
        <p:spPr>
          <a:xfrm>
            <a:off x="11742167" y="4062507"/>
            <a:ext cx="6047767" cy="54058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3450" b="1" dirty="0">
                <a:solidFill>
                  <a:srgbClr val="E0A3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punto ciego</a:t>
            </a:r>
            <a:endParaRPr lang="en-US" sz="3450" dirty="0"/>
          </a:p>
        </p:txBody>
      </p:sp>
      <p:sp>
        <p:nvSpPr>
          <p:cNvPr id="11" name="Text 8"/>
          <p:cNvSpPr/>
          <p:nvPr/>
        </p:nvSpPr>
        <p:spPr>
          <a:xfrm>
            <a:off x="11742167" y="4812590"/>
            <a:ext cx="5662909" cy="285574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27642"/>
              </a:lnSpc>
              <a:buNone/>
            </a:pPr>
            <a:r>
              <a:rPr lang="en-US" sz="2550" dirty="0">
                <a:solidFill>
                  <a:srgbClr val="D6CBB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Medimos el éxito en hectáreas, adopción biotecnológica y maquinaria. Pero estas inversiones resultan estériles sin una evolución equivalente en la capacidad de las personas que operan el sistema.</a:t>
            </a:r>
            <a:endParaRPr lang="en-US" sz="25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2EDE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47733" y="666733"/>
            <a:ext cx="17811721" cy="3252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950" b="1" kern="0" spc="429" dirty="0">
                <a:solidFill>
                  <a:srgbClr val="8A6A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NUESTRO MODELO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1047733" y="1182398"/>
            <a:ext cx="17811721" cy="6380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91611"/>
              </a:lnSpc>
              <a:buNone/>
            </a:pPr>
            <a:r>
              <a:rPr lang="en-US" sz="4500" b="1" kern="0" spc="-90" dirty="0">
                <a:solidFill>
                  <a:srgbClr val="1612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Una mirada integral a la gestión humana</a:t>
            </a:r>
            <a:endParaRPr lang="en-US" sz="4500" dirty="0"/>
          </a:p>
        </p:txBody>
      </p:sp>
      <p:sp>
        <p:nvSpPr>
          <p:cNvPr id="4" name="Shape 2"/>
          <p:cNvSpPr/>
          <p:nvPr/>
        </p:nvSpPr>
        <p:spPr>
          <a:xfrm>
            <a:off x="1047733" y="2163324"/>
            <a:ext cx="3762403" cy="71784"/>
          </a:xfrm>
          <a:prstGeom prst="rect">
            <a:avLst/>
          </a:prstGeom>
          <a:solidFill>
            <a:srgbClr val="2E6DB4"/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5" name="Text 3"/>
          <p:cNvSpPr/>
          <p:nvPr/>
        </p:nvSpPr>
        <p:spPr>
          <a:xfrm>
            <a:off x="1047733" y="2501773"/>
            <a:ext cx="4138644" cy="6527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4200" b="1" dirty="0">
                <a:solidFill>
                  <a:srgbClr val="2E6D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4200" dirty="0"/>
          </a:p>
        </p:txBody>
      </p:sp>
      <p:sp>
        <p:nvSpPr>
          <p:cNvPr id="6" name="Text 4"/>
          <p:cNvSpPr/>
          <p:nvPr/>
        </p:nvSpPr>
        <p:spPr>
          <a:xfrm>
            <a:off x="1047733" y="3249753"/>
            <a:ext cx="4138644" cy="44952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04222"/>
              </a:lnSpc>
              <a:buNone/>
            </a:pPr>
            <a:r>
              <a:rPr lang="en-US" sz="2700" b="1" dirty="0">
                <a:solidFill>
                  <a:srgbClr val="1612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Estructura y Resultados</a:t>
            </a:r>
            <a:endParaRPr lang="en-US" sz="2700" dirty="0"/>
          </a:p>
        </p:txBody>
      </p:sp>
      <p:sp>
        <p:nvSpPr>
          <p:cNvPr id="7" name="Text 5"/>
          <p:cNvSpPr/>
          <p:nvPr/>
        </p:nvSpPr>
        <p:spPr>
          <a:xfrm>
            <a:off x="1047733" y="3832575"/>
            <a:ext cx="3875275" cy="83809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23844"/>
              </a:lnSpc>
              <a:buNone/>
            </a:pPr>
            <a:r>
              <a:rPr lang="en-US" sz="2250" dirty="0">
                <a:solidFill>
                  <a:srgbClr val="4A42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Roles, objetivos, métricas y autoridad de decisión.</a:t>
            </a:r>
            <a:endParaRPr lang="en-US" sz="2250" dirty="0"/>
          </a:p>
        </p:txBody>
      </p:sp>
      <p:sp>
        <p:nvSpPr>
          <p:cNvPr id="8" name="Shape 6"/>
          <p:cNvSpPr/>
          <p:nvPr/>
        </p:nvSpPr>
        <p:spPr>
          <a:xfrm>
            <a:off x="5191066" y="2163324"/>
            <a:ext cx="3762403" cy="71784"/>
          </a:xfrm>
          <a:prstGeom prst="rect">
            <a:avLst/>
          </a:prstGeom>
          <a:solidFill>
            <a:srgbClr val="4F9C3A"/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9" name="Text 7"/>
          <p:cNvSpPr/>
          <p:nvPr/>
        </p:nvSpPr>
        <p:spPr>
          <a:xfrm>
            <a:off x="5191066" y="2501773"/>
            <a:ext cx="4138644" cy="6527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4200" b="1" dirty="0">
                <a:solidFill>
                  <a:srgbClr val="4F9C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4200" dirty="0"/>
          </a:p>
        </p:txBody>
      </p:sp>
      <p:sp>
        <p:nvSpPr>
          <p:cNvPr id="10" name="Text 8"/>
          <p:cNvSpPr/>
          <p:nvPr/>
        </p:nvSpPr>
        <p:spPr>
          <a:xfrm>
            <a:off x="5191066" y="3249753"/>
            <a:ext cx="4138644" cy="44952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04222"/>
              </a:lnSpc>
              <a:buNone/>
            </a:pPr>
            <a:r>
              <a:rPr lang="en-US" sz="2700" b="1" dirty="0">
                <a:solidFill>
                  <a:srgbClr val="1612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Gestión de Procesos</a:t>
            </a:r>
            <a:endParaRPr lang="en-US" sz="2700" dirty="0"/>
          </a:p>
        </p:txBody>
      </p:sp>
      <p:sp>
        <p:nvSpPr>
          <p:cNvPr id="11" name="Text 9"/>
          <p:cNvSpPr/>
          <p:nvPr/>
        </p:nvSpPr>
        <p:spPr>
          <a:xfrm>
            <a:off x="5191066" y="3832575"/>
            <a:ext cx="3875275" cy="123809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23844"/>
              </a:lnSpc>
              <a:buNone/>
            </a:pPr>
            <a:r>
              <a:rPr lang="en-US" sz="2250" dirty="0">
                <a:solidFill>
                  <a:srgbClr val="4A42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Atracción, incorporación y documentación del conocimiento.</a:t>
            </a:r>
            <a:endParaRPr lang="en-US" sz="2250" dirty="0"/>
          </a:p>
        </p:txBody>
      </p:sp>
      <p:sp>
        <p:nvSpPr>
          <p:cNvPr id="12" name="Shape 10"/>
          <p:cNvSpPr/>
          <p:nvPr/>
        </p:nvSpPr>
        <p:spPr>
          <a:xfrm>
            <a:off x="9334400" y="2163324"/>
            <a:ext cx="3762403" cy="71784"/>
          </a:xfrm>
          <a:prstGeom prst="rect">
            <a:avLst/>
          </a:prstGeom>
          <a:solidFill>
            <a:srgbClr val="D93A2B"/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13" name="Text 11"/>
          <p:cNvSpPr/>
          <p:nvPr/>
        </p:nvSpPr>
        <p:spPr>
          <a:xfrm>
            <a:off x="9334400" y="2501773"/>
            <a:ext cx="4138644" cy="6527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4200" b="1" dirty="0">
                <a:solidFill>
                  <a:srgbClr val="D93A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4200" dirty="0"/>
          </a:p>
        </p:txBody>
      </p:sp>
      <p:sp>
        <p:nvSpPr>
          <p:cNvPr id="14" name="Text 12"/>
          <p:cNvSpPr/>
          <p:nvPr/>
        </p:nvSpPr>
        <p:spPr>
          <a:xfrm>
            <a:off x="9334400" y="3249753"/>
            <a:ext cx="4138644" cy="44952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04222"/>
              </a:lnSpc>
              <a:buNone/>
            </a:pPr>
            <a:r>
              <a:rPr lang="en-US" sz="2700" b="1" dirty="0">
                <a:solidFill>
                  <a:srgbClr val="1612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Desarrollo del Equipo</a:t>
            </a:r>
            <a:endParaRPr lang="en-US" sz="2700" dirty="0"/>
          </a:p>
        </p:txBody>
      </p:sp>
      <p:sp>
        <p:nvSpPr>
          <p:cNvPr id="15" name="Text 13"/>
          <p:cNvSpPr/>
          <p:nvPr/>
        </p:nvSpPr>
        <p:spPr>
          <a:xfrm>
            <a:off x="9334400" y="3832575"/>
            <a:ext cx="3875275" cy="83809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23844"/>
              </a:lnSpc>
              <a:buNone/>
            </a:pPr>
            <a:r>
              <a:rPr lang="en-US" sz="2250" dirty="0">
                <a:solidFill>
                  <a:srgbClr val="4A42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Liderazgo, capacitación, clima y delegación.</a:t>
            </a:r>
            <a:endParaRPr lang="en-US" sz="2250" dirty="0"/>
          </a:p>
        </p:txBody>
      </p:sp>
      <p:sp>
        <p:nvSpPr>
          <p:cNvPr id="16" name="Shape 14"/>
          <p:cNvSpPr/>
          <p:nvPr/>
        </p:nvSpPr>
        <p:spPr>
          <a:xfrm>
            <a:off x="13477733" y="2163324"/>
            <a:ext cx="3762474" cy="71784"/>
          </a:xfrm>
          <a:prstGeom prst="rect">
            <a:avLst/>
          </a:prstGeom>
          <a:solidFill>
            <a:srgbClr val="EFB01F"/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17" name="Text 15"/>
          <p:cNvSpPr/>
          <p:nvPr/>
        </p:nvSpPr>
        <p:spPr>
          <a:xfrm>
            <a:off x="13477733" y="2501773"/>
            <a:ext cx="4138721" cy="6527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4200" b="1" dirty="0">
                <a:solidFill>
                  <a:srgbClr val="EFB0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4200" dirty="0"/>
          </a:p>
        </p:txBody>
      </p:sp>
      <p:sp>
        <p:nvSpPr>
          <p:cNvPr id="18" name="Text 16"/>
          <p:cNvSpPr/>
          <p:nvPr/>
        </p:nvSpPr>
        <p:spPr>
          <a:xfrm>
            <a:off x="13477733" y="3249753"/>
            <a:ext cx="4138721" cy="44952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04222"/>
              </a:lnSpc>
              <a:buNone/>
            </a:pPr>
            <a:r>
              <a:rPr lang="en-US" sz="2700" b="1" dirty="0">
                <a:solidFill>
                  <a:srgbClr val="1612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Proyección y Cultura</a:t>
            </a:r>
            <a:endParaRPr lang="en-US" sz="2700" dirty="0"/>
          </a:p>
        </p:txBody>
      </p:sp>
      <p:sp>
        <p:nvSpPr>
          <p:cNvPr id="19" name="Text 17"/>
          <p:cNvSpPr/>
          <p:nvPr/>
        </p:nvSpPr>
        <p:spPr>
          <a:xfrm>
            <a:off x="13477733" y="3832575"/>
            <a:ext cx="3875348" cy="83809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23844"/>
              </a:lnSpc>
              <a:buNone/>
            </a:pPr>
            <a:r>
              <a:rPr lang="en-US" sz="2250" dirty="0">
                <a:solidFill>
                  <a:srgbClr val="4A42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Retención, incentivos, reconocimiento y valores.</a:t>
            </a:r>
            <a:endParaRPr lang="en-US" sz="2250" dirty="0"/>
          </a:p>
        </p:txBody>
      </p:sp>
      <p:pic>
        <p:nvPicPr>
          <p:cNvPr id="20" name="Image 0" descr="preencoded.png"/>
          <p:cNvPicPr>
            <a:picLocks noChangeAspect="1"/>
          </p:cNvPicPr>
          <p:nvPr/>
        </p:nvPicPr>
        <p:blipFill>
          <a:blip r:embed="rId3"/>
          <a:srcRect l="-22939" r="-22939"/>
          <a:stretch/>
        </p:blipFill>
        <p:spPr>
          <a:xfrm>
            <a:off x="3524199" y="5375433"/>
            <a:ext cx="11239471" cy="4340037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6120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47733" y="2050742"/>
            <a:ext cx="17811721" cy="3252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950" b="1" kern="0" spc="429" dirty="0">
                <a:solidFill>
                  <a:srgbClr val="E0A3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ESTUDIO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1047733" y="2756941"/>
            <a:ext cx="17811721" cy="12763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87065"/>
              </a:lnSpc>
              <a:buNone/>
            </a:pPr>
            <a:r>
              <a:rPr lang="en-US" sz="9750" b="1" kern="0" spc="-292" dirty="0">
                <a:solidFill>
                  <a:srgbClr val="F2ED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 empresas de la región</a:t>
            </a:r>
            <a:endParaRPr lang="en-US" sz="9750" dirty="0"/>
          </a:p>
        </p:txBody>
      </p:sp>
      <p:sp>
        <p:nvSpPr>
          <p:cNvPr id="4" name="Text 2"/>
          <p:cNvSpPr/>
          <p:nvPr/>
        </p:nvSpPr>
        <p:spPr>
          <a:xfrm>
            <a:off x="1047733" y="4528540"/>
            <a:ext cx="3581206" cy="5091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700" dirty="0">
                <a:solidFill>
                  <a:srgbClr val="D6CBB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Diferentes actividades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5065305" y="4528540"/>
            <a:ext cx="2918279" cy="5091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700" dirty="0">
                <a:solidFill>
                  <a:srgbClr val="D6CBB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Diferentes escalas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8480216" y="4528540"/>
            <a:ext cx="4386634" cy="5091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700" dirty="0">
                <a:solidFill>
                  <a:srgbClr val="D6CBB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Diferentes roles responden</a:t>
            </a:r>
            <a:endParaRPr lang="en-US" sz="2700" dirty="0"/>
          </a:p>
        </p:txBody>
      </p:sp>
      <p:sp>
        <p:nvSpPr>
          <p:cNvPr id="7" name="Text 5"/>
          <p:cNvSpPr/>
          <p:nvPr/>
        </p:nvSpPr>
        <p:spPr>
          <a:xfrm>
            <a:off x="1047733" y="5532950"/>
            <a:ext cx="17811721" cy="45534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400" dirty="0">
                <a:solidFill>
                  <a:srgbClr val="9C908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Un mismo instrumento, 4 dimensiones, confidencialidad absoluta.</a:t>
            </a:r>
            <a:endParaRPr lang="en-US" sz="2400" dirty="0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rcRect t="7894" b="11841"/>
          <a:stretch/>
        </p:blipFill>
        <p:spPr>
          <a:xfrm>
            <a:off x="0" y="7620004"/>
            <a:ext cx="18287940" cy="2666931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0" y="6762806"/>
            <a:ext cx="18287940" cy="857198"/>
          </a:xfrm>
          <a:prstGeom prst="rect">
            <a:avLst/>
          </a:prstGeom>
          <a:gradFill rotWithShape="1">
            <a:gsLst>
              <a:gs pos="0">
                <a:srgbClr val="000000">
                  <a:alpha val="0"/>
                </a:srgbClr>
              </a:gs>
              <a:gs pos="100000">
                <a:srgbClr val="000000">
                  <a:alpha val="0"/>
                </a:srgbClr>
              </a:gs>
            </a:gsLst>
            <a:lin ang="5400000" scaled="0"/>
          </a:gradFill>
          <a:ln/>
        </p:spPr>
        <p:txBody>
          <a:bodyPr/>
          <a:lstStyle/>
          <a:p>
            <a:endParaRPr lang="es-AR"/>
          </a:p>
        </p:txBody>
      </p:sp>
      <p:sp>
        <p:nvSpPr>
          <p:cNvPr id="10" name="Shape 7"/>
          <p:cNvSpPr/>
          <p:nvPr/>
        </p:nvSpPr>
        <p:spPr>
          <a:xfrm>
            <a:off x="0" y="7591473"/>
            <a:ext cx="18287940" cy="28531"/>
          </a:xfrm>
          <a:prstGeom prst="rect">
            <a:avLst/>
          </a:prstGeom>
          <a:solidFill>
            <a:srgbClr val="E0A32E">
              <a:alpha val="85000"/>
            </a:srgbClr>
          </a:solidFill>
          <a:ln/>
        </p:spPr>
        <p:txBody>
          <a:bodyPr/>
          <a:lstStyle/>
          <a:p>
            <a:endParaRPr lang="es-A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2EDE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47733" y="857198"/>
            <a:ext cx="17811721" cy="67812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91454"/>
              </a:lnSpc>
              <a:buNone/>
            </a:pPr>
            <a:r>
              <a:rPr lang="en-US" sz="4800" b="1" kern="0" spc="-96" dirty="0">
                <a:solidFill>
                  <a:srgbClr val="1612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Las 18, de punta a punta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1047733" y="1592420"/>
            <a:ext cx="17811721" cy="42842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250" dirty="0">
                <a:solidFill>
                  <a:srgbClr val="6B615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Ordenadas de menor a mayor madurez global (escala 1 a 5).</a:t>
            </a:r>
            <a:endParaRPr lang="en-US" sz="2250" dirty="0"/>
          </a:p>
        </p:txBody>
      </p:sp>
      <p:sp>
        <p:nvSpPr>
          <p:cNvPr id="4" name="Text 2"/>
          <p:cNvSpPr/>
          <p:nvPr/>
        </p:nvSpPr>
        <p:spPr>
          <a:xfrm>
            <a:off x="1047733" y="2527430"/>
            <a:ext cx="2409807" cy="365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75" dirty="0">
                <a:solidFill>
                  <a:srgbClr val="4A42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Ganadería · 8 colab.</a:t>
            </a:r>
            <a:endParaRPr lang="en-US" sz="1875" dirty="0"/>
          </a:p>
        </p:txBody>
      </p:sp>
      <p:sp>
        <p:nvSpPr>
          <p:cNvPr id="5" name="Shape 3"/>
          <p:cNvSpPr/>
          <p:nvPr/>
        </p:nvSpPr>
        <p:spPr>
          <a:xfrm>
            <a:off x="3428932" y="2605453"/>
            <a:ext cx="1535077" cy="171398"/>
          </a:xfrm>
          <a:prstGeom prst="rect">
            <a:avLst/>
          </a:prstGeom>
          <a:solidFill>
            <a:srgbClr val="B4552F"/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6" name="Text 4"/>
          <p:cNvSpPr/>
          <p:nvPr/>
        </p:nvSpPr>
        <p:spPr>
          <a:xfrm>
            <a:off x="8058137" y="2536403"/>
            <a:ext cx="742933" cy="3476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r">
              <a:buNone/>
            </a:pPr>
            <a:r>
              <a:rPr lang="en-US" sz="2100" b="1" dirty="0">
                <a:solidFill>
                  <a:srgbClr val="1612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1.7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1047733" y="3152032"/>
            <a:ext cx="2266934" cy="69312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75" dirty="0">
                <a:solidFill>
                  <a:srgbClr val="4A42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Agricultura · 25 colab.</a:t>
            </a:r>
            <a:endParaRPr lang="en-US" sz="1875" dirty="0"/>
          </a:p>
        </p:txBody>
      </p:sp>
      <p:sp>
        <p:nvSpPr>
          <p:cNvPr id="8" name="Shape 6"/>
          <p:cNvSpPr/>
          <p:nvPr/>
        </p:nvSpPr>
        <p:spPr>
          <a:xfrm>
            <a:off x="3428932" y="3393811"/>
            <a:ext cx="1535077" cy="171398"/>
          </a:xfrm>
          <a:prstGeom prst="rect">
            <a:avLst/>
          </a:prstGeom>
          <a:solidFill>
            <a:srgbClr val="B4552F"/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9" name="Text 7"/>
          <p:cNvSpPr/>
          <p:nvPr/>
        </p:nvSpPr>
        <p:spPr>
          <a:xfrm>
            <a:off x="8058137" y="3324761"/>
            <a:ext cx="742933" cy="3476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r">
              <a:buNone/>
            </a:pPr>
            <a:r>
              <a:rPr lang="en-US" sz="2100" b="1" dirty="0">
                <a:solidFill>
                  <a:srgbClr val="1612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1.7</a:t>
            </a:r>
            <a:endParaRPr lang="en-US" sz="2100" dirty="0"/>
          </a:p>
        </p:txBody>
      </p:sp>
      <p:sp>
        <p:nvSpPr>
          <p:cNvPr id="10" name="Text 8"/>
          <p:cNvSpPr/>
          <p:nvPr/>
        </p:nvSpPr>
        <p:spPr>
          <a:xfrm>
            <a:off x="1047733" y="3940390"/>
            <a:ext cx="2409807" cy="365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75" dirty="0">
                <a:solidFill>
                  <a:srgbClr val="4A42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Ganadería · 8 colab.</a:t>
            </a:r>
            <a:endParaRPr lang="en-US" sz="1875" dirty="0"/>
          </a:p>
        </p:txBody>
      </p:sp>
      <p:sp>
        <p:nvSpPr>
          <p:cNvPr id="11" name="Shape 9"/>
          <p:cNvSpPr/>
          <p:nvPr/>
        </p:nvSpPr>
        <p:spPr>
          <a:xfrm>
            <a:off x="3428932" y="4018413"/>
            <a:ext cx="1805948" cy="171398"/>
          </a:xfrm>
          <a:prstGeom prst="rect">
            <a:avLst/>
          </a:prstGeom>
          <a:solidFill>
            <a:srgbClr val="B4552F"/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12" name="Text 10"/>
          <p:cNvSpPr/>
          <p:nvPr/>
        </p:nvSpPr>
        <p:spPr>
          <a:xfrm>
            <a:off x="8058137" y="3949363"/>
            <a:ext cx="742933" cy="3476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r">
              <a:buNone/>
            </a:pPr>
            <a:r>
              <a:rPr lang="en-US" sz="2100" b="1" dirty="0">
                <a:solidFill>
                  <a:srgbClr val="1612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2.0</a:t>
            </a:r>
            <a:endParaRPr lang="en-US" sz="2100" dirty="0"/>
          </a:p>
        </p:txBody>
      </p:sp>
      <p:sp>
        <p:nvSpPr>
          <p:cNvPr id="13" name="Text 11"/>
          <p:cNvSpPr/>
          <p:nvPr/>
        </p:nvSpPr>
        <p:spPr>
          <a:xfrm>
            <a:off x="1047733" y="4564992"/>
            <a:ext cx="2409807" cy="365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75" dirty="0">
                <a:solidFill>
                  <a:srgbClr val="4A42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Agricultura · 3 colab.</a:t>
            </a:r>
            <a:endParaRPr lang="en-US" sz="1875" dirty="0"/>
          </a:p>
        </p:txBody>
      </p:sp>
      <p:sp>
        <p:nvSpPr>
          <p:cNvPr id="14" name="Shape 12"/>
          <p:cNvSpPr/>
          <p:nvPr/>
        </p:nvSpPr>
        <p:spPr>
          <a:xfrm>
            <a:off x="3428932" y="4643015"/>
            <a:ext cx="1986529" cy="171398"/>
          </a:xfrm>
          <a:prstGeom prst="rect">
            <a:avLst/>
          </a:prstGeom>
          <a:solidFill>
            <a:srgbClr val="B4552F"/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15" name="Text 13"/>
          <p:cNvSpPr/>
          <p:nvPr/>
        </p:nvSpPr>
        <p:spPr>
          <a:xfrm>
            <a:off x="8058137" y="4573965"/>
            <a:ext cx="742933" cy="3476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r">
              <a:buNone/>
            </a:pPr>
            <a:r>
              <a:rPr lang="en-US" sz="2100" b="1" dirty="0">
                <a:solidFill>
                  <a:srgbClr val="1612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2.2</a:t>
            </a:r>
            <a:endParaRPr lang="en-US" sz="2100" dirty="0"/>
          </a:p>
        </p:txBody>
      </p:sp>
      <p:sp>
        <p:nvSpPr>
          <p:cNvPr id="16" name="Text 14"/>
          <p:cNvSpPr/>
          <p:nvPr/>
        </p:nvSpPr>
        <p:spPr>
          <a:xfrm>
            <a:off x="1047733" y="5353351"/>
            <a:ext cx="2409807" cy="365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75" dirty="0">
                <a:solidFill>
                  <a:srgbClr val="4A42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Ganadería · 8 colab.</a:t>
            </a:r>
            <a:endParaRPr lang="en-US" sz="1875" dirty="0"/>
          </a:p>
        </p:txBody>
      </p:sp>
      <p:sp>
        <p:nvSpPr>
          <p:cNvPr id="17" name="Shape 15"/>
          <p:cNvSpPr/>
          <p:nvPr/>
        </p:nvSpPr>
        <p:spPr>
          <a:xfrm>
            <a:off x="3428932" y="5431374"/>
            <a:ext cx="2438051" cy="171398"/>
          </a:xfrm>
          <a:prstGeom prst="rect">
            <a:avLst/>
          </a:prstGeom>
          <a:solidFill>
            <a:srgbClr val="C9962F"/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18" name="Text 16"/>
          <p:cNvSpPr/>
          <p:nvPr/>
        </p:nvSpPr>
        <p:spPr>
          <a:xfrm>
            <a:off x="8058137" y="5362324"/>
            <a:ext cx="742933" cy="3476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r">
              <a:buNone/>
            </a:pPr>
            <a:r>
              <a:rPr lang="en-US" sz="2100" b="1" dirty="0">
                <a:solidFill>
                  <a:srgbClr val="1612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2.7</a:t>
            </a:r>
            <a:endParaRPr lang="en-US" sz="2100" dirty="0"/>
          </a:p>
        </p:txBody>
      </p:sp>
      <p:sp>
        <p:nvSpPr>
          <p:cNvPr id="19" name="Text 17"/>
          <p:cNvSpPr/>
          <p:nvPr/>
        </p:nvSpPr>
        <p:spPr>
          <a:xfrm>
            <a:off x="1047733" y="5977953"/>
            <a:ext cx="2409807" cy="365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75" dirty="0">
                <a:solidFill>
                  <a:srgbClr val="4A42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Ganadería · 8 colab.</a:t>
            </a:r>
            <a:endParaRPr lang="en-US" sz="1875" dirty="0"/>
          </a:p>
        </p:txBody>
      </p:sp>
      <p:sp>
        <p:nvSpPr>
          <p:cNvPr id="20" name="Shape 18"/>
          <p:cNvSpPr/>
          <p:nvPr/>
        </p:nvSpPr>
        <p:spPr>
          <a:xfrm>
            <a:off x="3428932" y="6055976"/>
            <a:ext cx="2438051" cy="171398"/>
          </a:xfrm>
          <a:prstGeom prst="rect">
            <a:avLst/>
          </a:prstGeom>
          <a:solidFill>
            <a:srgbClr val="C9962F"/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21" name="Text 19"/>
          <p:cNvSpPr/>
          <p:nvPr/>
        </p:nvSpPr>
        <p:spPr>
          <a:xfrm>
            <a:off x="8058137" y="5986926"/>
            <a:ext cx="742933" cy="3476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r">
              <a:buNone/>
            </a:pPr>
            <a:r>
              <a:rPr lang="en-US" sz="2100" b="1" dirty="0">
                <a:solidFill>
                  <a:srgbClr val="1612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2.7</a:t>
            </a:r>
            <a:endParaRPr lang="en-US" sz="2100" dirty="0"/>
          </a:p>
        </p:txBody>
      </p:sp>
      <p:sp>
        <p:nvSpPr>
          <p:cNvPr id="22" name="Text 20"/>
          <p:cNvSpPr/>
          <p:nvPr/>
        </p:nvSpPr>
        <p:spPr>
          <a:xfrm>
            <a:off x="1047733" y="6438798"/>
            <a:ext cx="2266934" cy="69312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75" dirty="0">
                <a:solidFill>
                  <a:srgbClr val="4A42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Tambo / Lechería · 3 colab.</a:t>
            </a:r>
            <a:endParaRPr lang="en-US" sz="1875" dirty="0"/>
          </a:p>
        </p:txBody>
      </p:sp>
      <p:sp>
        <p:nvSpPr>
          <p:cNvPr id="23" name="Shape 21"/>
          <p:cNvSpPr/>
          <p:nvPr/>
        </p:nvSpPr>
        <p:spPr>
          <a:xfrm>
            <a:off x="3428932" y="6680578"/>
            <a:ext cx="2528341" cy="171398"/>
          </a:xfrm>
          <a:prstGeom prst="rect">
            <a:avLst/>
          </a:prstGeom>
          <a:solidFill>
            <a:srgbClr val="C9962F"/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24" name="Text 22"/>
          <p:cNvSpPr/>
          <p:nvPr/>
        </p:nvSpPr>
        <p:spPr>
          <a:xfrm>
            <a:off x="8058137" y="6611528"/>
            <a:ext cx="742933" cy="3476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r">
              <a:buNone/>
            </a:pPr>
            <a:r>
              <a:rPr lang="en-US" sz="2100" b="1" dirty="0">
                <a:solidFill>
                  <a:srgbClr val="1612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2.8</a:t>
            </a:r>
            <a:endParaRPr lang="en-US" sz="2100" dirty="0"/>
          </a:p>
        </p:txBody>
      </p:sp>
      <p:sp>
        <p:nvSpPr>
          <p:cNvPr id="25" name="Text 23"/>
          <p:cNvSpPr/>
          <p:nvPr/>
        </p:nvSpPr>
        <p:spPr>
          <a:xfrm>
            <a:off x="1047733" y="7227157"/>
            <a:ext cx="2409807" cy="365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75" dirty="0">
                <a:solidFill>
                  <a:srgbClr val="4A42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Ganadería · 75 colab.</a:t>
            </a:r>
            <a:endParaRPr lang="en-US" sz="1875" dirty="0"/>
          </a:p>
        </p:txBody>
      </p:sp>
      <p:sp>
        <p:nvSpPr>
          <p:cNvPr id="26" name="Shape 24"/>
          <p:cNvSpPr/>
          <p:nvPr/>
        </p:nvSpPr>
        <p:spPr>
          <a:xfrm>
            <a:off x="3428932" y="7305180"/>
            <a:ext cx="2708922" cy="171398"/>
          </a:xfrm>
          <a:prstGeom prst="rect">
            <a:avLst/>
          </a:prstGeom>
          <a:solidFill>
            <a:srgbClr val="C9962F"/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27" name="Text 25"/>
          <p:cNvSpPr/>
          <p:nvPr/>
        </p:nvSpPr>
        <p:spPr>
          <a:xfrm>
            <a:off x="8058137" y="7236130"/>
            <a:ext cx="742933" cy="3476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r">
              <a:buNone/>
            </a:pPr>
            <a:r>
              <a:rPr lang="en-US" sz="2100" b="1" dirty="0">
                <a:solidFill>
                  <a:srgbClr val="1612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3.0</a:t>
            </a:r>
            <a:endParaRPr lang="en-US" sz="2100" dirty="0"/>
          </a:p>
        </p:txBody>
      </p:sp>
      <p:sp>
        <p:nvSpPr>
          <p:cNvPr id="28" name="Text 26"/>
          <p:cNvSpPr/>
          <p:nvPr/>
        </p:nvSpPr>
        <p:spPr>
          <a:xfrm>
            <a:off x="1047733" y="7688002"/>
            <a:ext cx="2266934" cy="69312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75" dirty="0">
                <a:solidFill>
                  <a:srgbClr val="4A42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Producción mixta · 3 colab.</a:t>
            </a:r>
            <a:endParaRPr lang="en-US" sz="1875" dirty="0"/>
          </a:p>
        </p:txBody>
      </p:sp>
      <p:sp>
        <p:nvSpPr>
          <p:cNvPr id="29" name="Shape 27"/>
          <p:cNvSpPr/>
          <p:nvPr/>
        </p:nvSpPr>
        <p:spPr>
          <a:xfrm>
            <a:off x="3428932" y="7929782"/>
            <a:ext cx="2708922" cy="171398"/>
          </a:xfrm>
          <a:prstGeom prst="rect">
            <a:avLst/>
          </a:prstGeom>
          <a:solidFill>
            <a:srgbClr val="C9962F"/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30" name="Text 28"/>
          <p:cNvSpPr/>
          <p:nvPr/>
        </p:nvSpPr>
        <p:spPr>
          <a:xfrm>
            <a:off x="8058137" y="7860732"/>
            <a:ext cx="742933" cy="3476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r">
              <a:buNone/>
            </a:pPr>
            <a:r>
              <a:rPr lang="en-US" sz="2100" b="1" dirty="0">
                <a:solidFill>
                  <a:srgbClr val="1612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3.0</a:t>
            </a:r>
            <a:endParaRPr lang="en-US" sz="2100" dirty="0"/>
          </a:p>
        </p:txBody>
      </p:sp>
      <p:sp>
        <p:nvSpPr>
          <p:cNvPr id="31" name="Text 29"/>
          <p:cNvSpPr/>
          <p:nvPr/>
        </p:nvSpPr>
        <p:spPr>
          <a:xfrm>
            <a:off x="9486800" y="2363673"/>
            <a:ext cx="2266934" cy="69312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75" dirty="0">
                <a:solidFill>
                  <a:srgbClr val="4A42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Producción mixta · 25 colab.</a:t>
            </a:r>
            <a:endParaRPr lang="en-US" sz="1875" dirty="0"/>
          </a:p>
        </p:txBody>
      </p:sp>
      <p:sp>
        <p:nvSpPr>
          <p:cNvPr id="32" name="Shape 30"/>
          <p:cNvSpPr/>
          <p:nvPr/>
        </p:nvSpPr>
        <p:spPr>
          <a:xfrm>
            <a:off x="11867999" y="2605453"/>
            <a:ext cx="2708992" cy="171398"/>
          </a:xfrm>
          <a:prstGeom prst="rect">
            <a:avLst/>
          </a:prstGeom>
          <a:solidFill>
            <a:srgbClr val="C9962F"/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33" name="Text 31"/>
          <p:cNvSpPr/>
          <p:nvPr/>
        </p:nvSpPr>
        <p:spPr>
          <a:xfrm>
            <a:off x="16497274" y="2536403"/>
            <a:ext cx="742933" cy="3476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r">
              <a:buNone/>
            </a:pPr>
            <a:r>
              <a:rPr lang="en-US" sz="2100" b="1" dirty="0">
                <a:solidFill>
                  <a:srgbClr val="1612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3.0</a:t>
            </a:r>
            <a:endParaRPr lang="en-US" sz="2100" dirty="0"/>
          </a:p>
        </p:txBody>
      </p:sp>
      <p:sp>
        <p:nvSpPr>
          <p:cNvPr id="34" name="Text 32"/>
          <p:cNvSpPr/>
          <p:nvPr/>
        </p:nvSpPr>
        <p:spPr>
          <a:xfrm>
            <a:off x="9486800" y="3152032"/>
            <a:ext cx="2266934" cy="69312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75" dirty="0">
                <a:solidFill>
                  <a:srgbClr val="4A42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Producción mixta · 75 colab.</a:t>
            </a:r>
            <a:endParaRPr lang="en-US" sz="1875" dirty="0"/>
          </a:p>
        </p:txBody>
      </p:sp>
      <p:sp>
        <p:nvSpPr>
          <p:cNvPr id="35" name="Shape 33"/>
          <p:cNvSpPr/>
          <p:nvPr/>
        </p:nvSpPr>
        <p:spPr>
          <a:xfrm>
            <a:off x="11867999" y="3393811"/>
            <a:ext cx="2799282" cy="171398"/>
          </a:xfrm>
          <a:prstGeom prst="rect">
            <a:avLst/>
          </a:prstGeom>
          <a:solidFill>
            <a:srgbClr val="C9962F"/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36" name="Text 34"/>
          <p:cNvSpPr/>
          <p:nvPr/>
        </p:nvSpPr>
        <p:spPr>
          <a:xfrm>
            <a:off x="16497274" y="3324761"/>
            <a:ext cx="742933" cy="3476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r">
              <a:buNone/>
            </a:pPr>
            <a:r>
              <a:rPr lang="en-US" sz="2100" b="1" dirty="0">
                <a:solidFill>
                  <a:srgbClr val="1612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3.1</a:t>
            </a:r>
            <a:endParaRPr lang="en-US" sz="2100" dirty="0"/>
          </a:p>
        </p:txBody>
      </p:sp>
      <p:sp>
        <p:nvSpPr>
          <p:cNvPr id="37" name="Text 35"/>
          <p:cNvSpPr/>
          <p:nvPr/>
        </p:nvSpPr>
        <p:spPr>
          <a:xfrm>
            <a:off x="9486800" y="3940390"/>
            <a:ext cx="2409807" cy="365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75" dirty="0">
                <a:solidFill>
                  <a:srgbClr val="4A42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Otra · 25 colab.</a:t>
            </a:r>
            <a:endParaRPr lang="en-US" sz="1875" dirty="0"/>
          </a:p>
        </p:txBody>
      </p:sp>
      <p:sp>
        <p:nvSpPr>
          <p:cNvPr id="38" name="Shape 36"/>
          <p:cNvSpPr/>
          <p:nvPr/>
        </p:nvSpPr>
        <p:spPr>
          <a:xfrm>
            <a:off x="11867999" y="4018413"/>
            <a:ext cx="2889573" cy="171398"/>
          </a:xfrm>
          <a:prstGeom prst="rect">
            <a:avLst/>
          </a:prstGeom>
          <a:solidFill>
            <a:srgbClr val="C9962F"/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39" name="Text 37"/>
          <p:cNvSpPr/>
          <p:nvPr/>
        </p:nvSpPr>
        <p:spPr>
          <a:xfrm>
            <a:off x="16497274" y="3949363"/>
            <a:ext cx="742933" cy="3476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r">
              <a:buNone/>
            </a:pPr>
            <a:r>
              <a:rPr lang="en-US" sz="2100" b="1" dirty="0">
                <a:solidFill>
                  <a:srgbClr val="1612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3.2</a:t>
            </a:r>
            <a:endParaRPr lang="en-US" sz="2100" dirty="0"/>
          </a:p>
        </p:txBody>
      </p:sp>
      <p:sp>
        <p:nvSpPr>
          <p:cNvPr id="40" name="Text 38"/>
          <p:cNvSpPr/>
          <p:nvPr/>
        </p:nvSpPr>
        <p:spPr>
          <a:xfrm>
            <a:off x="9486800" y="4401236"/>
            <a:ext cx="2266934" cy="69312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75" dirty="0">
                <a:solidFill>
                  <a:srgbClr val="4A42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Producción mixta · 75 colab.</a:t>
            </a:r>
            <a:endParaRPr lang="en-US" sz="1875" dirty="0"/>
          </a:p>
        </p:txBody>
      </p:sp>
      <p:sp>
        <p:nvSpPr>
          <p:cNvPr id="41" name="Shape 39"/>
          <p:cNvSpPr/>
          <p:nvPr/>
        </p:nvSpPr>
        <p:spPr>
          <a:xfrm>
            <a:off x="11867999" y="4643015"/>
            <a:ext cx="2889573" cy="171398"/>
          </a:xfrm>
          <a:prstGeom prst="rect">
            <a:avLst/>
          </a:prstGeom>
          <a:solidFill>
            <a:srgbClr val="C9962F"/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42" name="Text 40"/>
          <p:cNvSpPr/>
          <p:nvPr/>
        </p:nvSpPr>
        <p:spPr>
          <a:xfrm>
            <a:off x="16497274" y="4573965"/>
            <a:ext cx="742933" cy="3476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r">
              <a:buNone/>
            </a:pPr>
            <a:r>
              <a:rPr lang="en-US" sz="2100" b="1" dirty="0">
                <a:solidFill>
                  <a:srgbClr val="1612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3.2</a:t>
            </a:r>
            <a:endParaRPr lang="en-US" sz="2100" dirty="0"/>
          </a:p>
        </p:txBody>
      </p:sp>
      <p:sp>
        <p:nvSpPr>
          <p:cNvPr id="43" name="Text 41"/>
          <p:cNvSpPr/>
          <p:nvPr/>
        </p:nvSpPr>
        <p:spPr>
          <a:xfrm>
            <a:off x="9486800" y="5189594"/>
            <a:ext cx="2266934" cy="69312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75" dirty="0">
                <a:solidFill>
                  <a:srgbClr val="4A42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Producción mixta · 75 colab.</a:t>
            </a:r>
            <a:endParaRPr lang="en-US" sz="1875" dirty="0"/>
          </a:p>
        </p:txBody>
      </p:sp>
      <p:sp>
        <p:nvSpPr>
          <p:cNvPr id="44" name="Shape 42"/>
          <p:cNvSpPr/>
          <p:nvPr/>
        </p:nvSpPr>
        <p:spPr>
          <a:xfrm>
            <a:off x="11867999" y="5431374"/>
            <a:ext cx="3070154" cy="171398"/>
          </a:xfrm>
          <a:prstGeom prst="rect">
            <a:avLst/>
          </a:prstGeom>
          <a:solidFill>
            <a:srgbClr val="7FA85C"/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45" name="Text 43"/>
          <p:cNvSpPr/>
          <p:nvPr/>
        </p:nvSpPr>
        <p:spPr>
          <a:xfrm>
            <a:off x="16497274" y="5362324"/>
            <a:ext cx="742933" cy="3476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r">
              <a:buNone/>
            </a:pPr>
            <a:r>
              <a:rPr lang="en-US" sz="2100" b="1" dirty="0">
                <a:solidFill>
                  <a:srgbClr val="1612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3.4</a:t>
            </a:r>
            <a:endParaRPr lang="en-US" sz="2100" dirty="0"/>
          </a:p>
        </p:txBody>
      </p:sp>
      <p:sp>
        <p:nvSpPr>
          <p:cNvPr id="46" name="Text 44"/>
          <p:cNvSpPr/>
          <p:nvPr/>
        </p:nvSpPr>
        <p:spPr>
          <a:xfrm>
            <a:off x="9486800" y="5977953"/>
            <a:ext cx="2409807" cy="365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75" dirty="0">
                <a:solidFill>
                  <a:srgbClr val="4A42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Agricultura · 8 colab.</a:t>
            </a:r>
            <a:endParaRPr lang="en-US" sz="1875" dirty="0"/>
          </a:p>
        </p:txBody>
      </p:sp>
      <p:sp>
        <p:nvSpPr>
          <p:cNvPr id="47" name="Shape 45"/>
          <p:cNvSpPr/>
          <p:nvPr/>
        </p:nvSpPr>
        <p:spPr>
          <a:xfrm>
            <a:off x="11867999" y="6055976"/>
            <a:ext cx="3070154" cy="171398"/>
          </a:xfrm>
          <a:prstGeom prst="rect">
            <a:avLst/>
          </a:prstGeom>
          <a:solidFill>
            <a:srgbClr val="7FA85C"/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48" name="Text 46"/>
          <p:cNvSpPr/>
          <p:nvPr/>
        </p:nvSpPr>
        <p:spPr>
          <a:xfrm>
            <a:off x="16497274" y="5986926"/>
            <a:ext cx="742933" cy="3476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r">
              <a:buNone/>
            </a:pPr>
            <a:r>
              <a:rPr lang="en-US" sz="2100" b="1" dirty="0">
                <a:solidFill>
                  <a:srgbClr val="1612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3.4</a:t>
            </a:r>
            <a:endParaRPr lang="en-US" sz="2100" dirty="0"/>
          </a:p>
        </p:txBody>
      </p:sp>
      <p:sp>
        <p:nvSpPr>
          <p:cNvPr id="49" name="Text 47"/>
          <p:cNvSpPr/>
          <p:nvPr/>
        </p:nvSpPr>
        <p:spPr>
          <a:xfrm>
            <a:off x="9486800" y="6438798"/>
            <a:ext cx="2266934" cy="69312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75" dirty="0">
                <a:solidFill>
                  <a:srgbClr val="4A42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Producción mixta · 25 colab.</a:t>
            </a:r>
            <a:endParaRPr lang="en-US" sz="1875" dirty="0"/>
          </a:p>
        </p:txBody>
      </p:sp>
      <p:sp>
        <p:nvSpPr>
          <p:cNvPr id="50" name="Shape 48"/>
          <p:cNvSpPr/>
          <p:nvPr/>
        </p:nvSpPr>
        <p:spPr>
          <a:xfrm>
            <a:off x="11867999" y="6680578"/>
            <a:ext cx="3070154" cy="171398"/>
          </a:xfrm>
          <a:prstGeom prst="rect">
            <a:avLst/>
          </a:prstGeom>
          <a:solidFill>
            <a:srgbClr val="7FA85C"/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51" name="Text 49"/>
          <p:cNvSpPr/>
          <p:nvPr/>
        </p:nvSpPr>
        <p:spPr>
          <a:xfrm>
            <a:off x="16497274" y="6611528"/>
            <a:ext cx="742933" cy="3476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r">
              <a:buNone/>
            </a:pPr>
            <a:r>
              <a:rPr lang="en-US" sz="2100" b="1" dirty="0">
                <a:solidFill>
                  <a:srgbClr val="1612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3.4</a:t>
            </a:r>
            <a:endParaRPr lang="en-US" sz="2100" dirty="0"/>
          </a:p>
        </p:txBody>
      </p:sp>
      <p:sp>
        <p:nvSpPr>
          <p:cNvPr id="52" name="Text 50"/>
          <p:cNvSpPr/>
          <p:nvPr/>
        </p:nvSpPr>
        <p:spPr>
          <a:xfrm>
            <a:off x="9486800" y="7227157"/>
            <a:ext cx="2409807" cy="365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75" dirty="0">
                <a:solidFill>
                  <a:srgbClr val="4A42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Agricultura · 3 colab.</a:t>
            </a:r>
            <a:endParaRPr lang="en-US" sz="1875" dirty="0"/>
          </a:p>
        </p:txBody>
      </p:sp>
      <p:sp>
        <p:nvSpPr>
          <p:cNvPr id="53" name="Shape 51"/>
          <p:cNvSpPr/>
          <p:nvPr/>
        </p:nvSpPr>
        <p:spPr>
          <a:xfrm>
            <a:off x="11867999" y="7305180"/>
            <a:ext cx="3341095" cy="171398"/>
          </a:xfrm>
          <a:prstGeom prst="rect">
            <a:avLst/>
          </a:prstGeom>
          <a:solidFill>
            <a:srgbClr val="7FA85C"/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54" name="Text 52"/>
          <p:cNvSpPr/>
          <p:nvPr/>
        </p:nvSpPr>
        <p:spPr>
          <a:xfrm>
            <a:off x="16497274" y="7236130"/>
            <a:ext cx="742933" cy="3476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r">
              <a:buNone/>
            </a:pPr>
            <a:r>
              <a:rPr lang="en-US" sz="2100" b="1" dirty="0">
                <a:solidFill>
                  <a:srgbClr val="1612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3.7</a:t>
            </a:r>
            <a:endParaRPr lang="en-US" sz="2100" dirty="0"/>
          </a:p>
        </p:txBody>
      </p:sp>
      <p:sp>
        <p:nvSpPr>
          <p:cNvPr id="55" name="Text 53"/>
          <p:cNvSpPr/>
          <p:nvPr/>
        </p:nvSpPr>
        <p:spPr>
          <a:xfrm>
            <a:off x="9486800" y="7851759"/>
            <a:ext cx="2409807" cy="365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75" dirty="0">
                <a:solidFill>
                  <a:srgbClr val="4A42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Agricultura · 8 colab.</a:t>
            </a:r>
            <a:endParaRPr lang="en-US" sz="1875" dirty="0"/>
          </a:p>
        </p:txBody>
      </p:sp>
      <p:sp>
        <p:nvSpPr>
          <p:cNvPr id="56" name="Shape 54"/>
          <p:cNvSpPr/>
          <p:nvPr/>
        </p:nvSpPr>
        <p:spPr>
          <a:xfrm>
            <a:off x="11867999" y="7929782"/>
            <a:ext cx="3431385" cy="171398"/>
          </a:xfrm>
          <a:prstGeom prst="rect">
            <a:avLst/>
          </a:prstGeom>
          <a:solidFill>
            <a:srgbClr val="7FA85C"/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57" name="Text 55"/>
          <p:cNvSpPr/>
          <p:nvPr/>
        </p:nvSpPr>
        <p:spPr>
          <a:xfrm>
            <a:off x="16497274" y="7860732"/>
            <a:ext cx="742933" cy="3476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r">
              <a:buNone/>
            </a:pPr>
            <a:r>
              <a:rPr lang="en-US" sz="2100" b="1" dirty="0">
                <a:solidFill>
                  <a:srgbClr val="1612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3.8</a:t>
            </a:r>
            <a:endParaRPr lang="en-US" sz="2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6120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47733" y="952465"/>
            <a:ext cx="17811721" cy="7581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91716"/>
              </a:lnSpc>
              <a:buNone/>
            </a:pPr>
            <a:r>
              <a:rPr lang="en-US" sz="5400" b="1" kern="0" spc="-108" dirty="0">
                <a:solidFill>
                  <a:srgbClr val="F2ED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radiografía de 18 empresas</a:t>
            </a:r>
            <a:endParaRPr lang="en-US" sz="5400" dirty="0"/>
          </a:p>
        </p:txBody>
      </p:sp>
      <p:sp>
        <p:nvSpPr>
          <p:cNvPr id="3" name="Shape 1"/>
          <p:cNvSpPr/>
          <p:nvPr/>
        </p:nvSpPr>
        <p:spPr>
          <a:xfrm>
            <a:off x="1047733" y="2205876"/>
            <a:ext cx="5092714" cy="44865"/>
          </a:xfrm>
          <a:prstGeom prst="rect">
            <a:avLst/>
          </a:prstGeom>
          <a:solidFill>
            <a:srgbClr val="B4552F"/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4" name="Text 2"/>
          <p:cNvSpPr/>
          <p:nvPr/>
        </p:nvSpPr>
        <p:spPr>
          <a:xfrm>
            <a:off x="1047733" y="2536473"/>
            <a:ext cx="5601986" cy="95250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86729"/>
              </a:lnSpc>
              <a:buNone/>
            </a:pPr>
            <a:r>
              <a:rPr lang="en-US" sz="7200" b="1" dirty="0">
                <a:solidFill>
                  <a:srgbClr val="B455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22%</a:t>
            </a:r>
            <a:endParaRPr lang="en-US" sz="7200" dirty="0"/>
          </a:p>
        </p:txBody>
      </p:sp>
      <p:sp>
        <p:nvSpPr>
          <p:cNvPr id="5" name="Text 3"/>
          <p:cNvSpPr/>
          <p:nvPr/>
        </p:nvSpPr>
        <p:spPr>
          <a:xfrm>
            <a:off x="1047733" y="3527003"/>
            <a:ext cx="5601986" cy="4777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F2ED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Reactivo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1047733" y="4176211"/>
            <a:ext cx="5245496" cy="8915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23523"/>
              </a:lnSpc>
              <a:buNone/>
            </a:pPr>
            <a:r>
              <a:rPr lang="en-US" sz="2400" dirty="0">
                <a:solidFill>
                  <a:srgbClr val="D6CBB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La urgencia manda. Operan en emergencia.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6597578" y="2205876"/>
            <a:ext cx="5092714" cy="44865"/>
          </a:xfrm>
          <a:prstGeom prst="rect">
            <a:avLst/>
          </a:prstGeom>
          <a:solidFill>
            <a:srgbClr val="E0A32E"/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8" name="Text 6"/>
          <p:cNvSpPr/>
          <p:nvPr/>
        </p:nvSpPr>
        <p:spPr>
          <a:xfrm>
            <a:off x="6597578" y="2536473"/>
            <a:ext cx="5601986" cy="95250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86729"/>
              </a:lnSpc>
              <a:buNone/>
            </a:pPr>
            <a:r>
              <a:rPr lang="en-US" sz="7200" b="1" dirty="0">
                <a:solidFill>
                  <a:srgbClr val="E0A3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67%</a:t>
            </a:r>
            <a:endParaRPr lang="en-US" sz="7200" dirty="0"/>
          </a:p>
        </p:txBody>
      </p:sp>
      <p:sp>
        <p:nvSpPr>
          <p:cNvPr id="9" name="Text 7"/>
          <p:cNvSpPr/>
          <p:nvPr/>
        </p:nvSpPr>
        <p:spPr>
          <a:xfrm>
            <a:off x="6597578" y="3527003"/>
            <a:ext cx="5601986" cy="4777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F2ED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Definido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6597578" y="4176211"/>
            <a:ext cx="5245496" cy="131821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23523"/>
              </a:lnSpc>
              <a:buNone/>
            </a:pPr>
            <a:r>
              <a:rPr lang="en-US" sz="2400" dirty="0">
                <a:solidFill>
                  <a:srgbClr val="D6CBB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Hay piso, falta diseño. Salieron de la urgencia pura, pero operan en una zona de indefinición estructural.</a:t>
            </a:r>
            <a:endParaRPr lang="en-US" sz="2400" dirty="0"/>
          </a:p>
        </p:txBody>
      </p:sp>
      <p:sp>
        <p:nvSpPr>
          <p:cNvPr id="11" name="Shape 9"/>
          <p:cNvSpPr/>
          <p:nvPr/>
        </p:nvSpPr>
        <p:spPr>
          <a:xfrm>
            <a:off x="12147422" y="2205876"/>
            <a:ext cx="5092784" cy="44865"/>
          </a:xfrm>
          <a:prstGeom prst="rect">
            <a:avLst/>
          </a:prstGeom>
          <a:solidFill>
            <a:srgbClr val="7FA85C"/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12" name="Text 10"/>
          <p:cNvSpPr/>
          <p:nvPr/>
        </p:nvSpPr>
        <p:spPr>
          <a:xfrm>
            <a:off x="12147422" y="2536473"/>
            <a:ext cx="5602063" cy="95250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86729"/>
              </a:lnSpc>
              <a:buNone/>
            </a:pPr>
            <a:r>
              <a:rPr lang="en-US" sz="7200" b="1" dirty="0">
                <a:solidFill>
                  <a:srgbClr val="7FA8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11%</a:t>
            </a:r>
            <a:endParaRPr lang="en-US" sz="7200" dirty="0"/>
          </a:p>
        </p:txBody>
      </p:sp>
      <p:sp>
        <p:nvSpPr>
          <p:cNvPr id="13" name="Text 11"/>
          <p:cNvSpPr/>
          <p:nvPr/>
        </p:nvSpPr>
        <p:spPr>
          <a:xfrm>
            <a:off x="12147422" y="3527003"/>
            <a:ext cx="5602063" cy="4777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F2ED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Estratégico</a:t>
            </a:r>
            <a:endParaRPr lang="en-US" sz="3000" dirty="0"/>
          </a:p>
        </p:txBody>
      </p:sp>
      <p:sp>
        <p:nvSpPr>
          <p:cNvPr id="14" name="Text 12"/>
          <p:cNvSpPr/>
          <p:nvPr/>
        </p:nvSpPr>
        <p:spPr>
          <a:xfrm>
            <a:off x="12147422" y="4176211"/>
            <a:ext cx="5245568" cy="8915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23523"/>
              </a:lnSpc>
              <a:buNone/>
            </a:pPr>
            <a:r>
              <a:rPr lang="en-US" sz="2400" dirty="0">
                <a:solidFill>
                  <a:srgbClr val="D6CBB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Gestión integrada al negocio. Decisiones basadas en datos.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1047733" y="8999246"/>
            <a:ext cx="17811721" cy="56385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04636"/>
              </a:lnSpc>
              <a:buNone/>
            </a:pPr>
            <a:r>
              <a:rPr lang="en-US" sz="3450" b="1" dirty="0">
                <a:solidFill>
                  <a:srgbClr val="E0A3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89% de las empresas (16 de 18) aún no diseñó su forma de gestionar personas.</a:t>
            </a:r>
            <a:endParaRPr lang="en-US" sz="34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2EDE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47733" y="857198"/>
            <a:ext cx="17811721" cy="67812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91454"/>
              </a:lnSpc>
              <a:buNone/>
            </a:pPr>
            <a:r>
              <a:rPr lang="en-US" sz="4800" b="1" kern="0" spc="-96" dirty="0">
                <a:solidFill>
                  <a:srgbClr val="1612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desnivel estructural</a:t>
            </a:r>
            <a:endParaRPr lang="en-US" sz="48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47733" y="3101279"/>
            <a:ext cx="8572470" cy="5333933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 rot="-5400000">
            <a:off x="-1000125" y="5421472"/>
            <a:ext cx="3316034" cy="30480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6B61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Vínculo, cultura e incentivos →</a:t>
            </a:r>
            <a:endParaRPr lang="en-US" sz="1800" dirty="0"/>
          </a:p>
        </p:txBody>
      </p:sp>
      <p:sp>
        <p:nvSpPr>
          <p:cNvPr id="5" name="Text 2"/>
          <p:cNvSpPr/>
          <p:nvPr/>
        </p:nvSpPr>
        <p:spPr>
          <a:xfrm>
            <a:off x="3847226" y="8280288"/>
            <a:ext cx="3647984" cy="30728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6B61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Roles, procesos y resultados →</a:t>
            </a:r>
            <a:endParaRPr lang="en-US" sz="1800" dirty="0"/>
          </a:p>
        </p:txBody>
      </p:sp>
      <p:sp>
        <p:nvSpPr>
          <p:cNvPr id="6" name="Text 3"/>
          <p:cNvSpPr/>
          <p:nvPr/>
        </p:nvSpPr>
        <p:spPr>
          <a:xfrm>
            <a:off x="10382133" y="3714735"/>
            <a:ext cx="7543804" cy="876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86897"/>
              </a:lnSpc>
              <a:buNone/>
            </a:pPr>
            <a:r>
              <a:rPr lang="en-US" sz="6600" b="1" dirty="0">
                <a:solidFill>
                  <a:srgbClr val="B455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 de 18</a:t>
            </a:r>
            <a:endParaRPr lang="en-US" sz="6600" dirty="0"/>
          </a:p>
        </p:txBody>
      </p:sp>
      <p:sp>
        <p:nvSpPr>
          <p:cNvPr id="7" name="Text 4"/>
          <p:cNvSpPr/>
          <p:nvPr/>
        </p:nvSpPr>
        <p:spPr>
          <a:xfrm>
            <a:off x="10382133" y="4667200"/>
            <a:ext cx="7063744" cy="131821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23523"/>
              </a:lnSpc>
              <a:buNone/>
            </a:pPr>
            <a:r>
              <a:rPr lang="en-US" sz="2400" dirty="0">
                <a:solidFill>
                  <a:srgbClr val="4A42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Tienen la estructura como su mayor brecha. Los roles y la evaluación quedan últimos en la lista del dueño.</a:t>
            </a:r>
            <a:endParaRPr lang="en-US" sz="2400" dirty="0"/>
          </a:p>
        </p:txBody>
      </p:sp>
      <p:sp>
        <p:nvSpPr>
          <p:cNvPr id="8" name="Text 5"/>
          <p:cNvSpPr/>
          <p:nvPr/>
        </p:nvSpPr>
        <p:spPr>
          <a:xfrm>
            <a:off x="10382133" y="6442584"/>
            <a:ext cx="7543804" cy="876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86897"/>
              </a:lnSpc>
              <a:buNone/>
            </a:pPr>
            <a:r>
              <a:rPr lang="en-US" sz="6600" b="1" dirty="0">
                <a:solidFill>
                  <a:srgbClr val="4F7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 de 18</a:t>
            </a:r>
            <a:endParaRPr lang="en-US" sz="6600" dirty="0"/>
          </a:p>
        </p:txBody>
      </p:sp>
      <p:sp>
        <p:nvSpPr>
          <p:cNvPr id="9" name="Text 6"/>
          <p:cNvSpPr/>
          <p:nvPr/>
        </p:nvSpPr>
        <p:spPr>
          <a:xfrm>
            <a:off x="10382133" y="7395049"/>
            <a:ext cx="7543804" cy="46480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23523"/>
              </a:lnSpc>
              <a:buNone/>
            </a:pPr>
            <a:r>
              <a:rPr lang="en-US" sz="2400" dirty="0">
                <a:solidFill>
                  <a:srgbClr val="4A42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Tienen la cultura como su punto más fuerte.</a:t>
            </a:r>
            <a:endParaRPr lang="en-US" sz="2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6120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47733" y="952465"/>
            <a:ext cx="17811721" cy="7581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91716"/>
              </a:lnSpc>
              <a:buNone/>
            </a:pPr>
            <a:r>
              <a:rPr lang="en-US" sz="5400" b="1" kern="0" spc="-108" dirty="0">
                <a:solidFill>
                  <a:srgbClr val="F2ED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 que se ve y lo que sostiene</a:t>
            </a:r>
            <a:endParaRPr lang="en-US" sz="5400" dirty="0"/>
          </a:p>
        </p:txBody>
      </p:sp>
      <p:sp>
        <p:nvSpPr>
          <p:cNvPr id="3" name="Shape 1"/>
          <p:cNvSpPr/>
          <p:nvPr/>
        </p:nvSpPr>
        <p:spPr>
          <a:xfrm>
            <a:off x="1047733" y="2244011"/>
            <a:ext cx="7791472" cy="44865"/>
          </a:xfrm>
          <a:prstGeom prst="rect">
            <a:avLst/>
          </a:prstGeom>
          <a:solidFill>
            <a:srgbClr val="7FA85C"/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4" name="Text 2"/>
          <p:cNvSpPr/>
          <p:nvPr/>
        </p:nvSpPr>
        <p:spPr>
          <a:xfrm>
            <a:off x="1047733" y="2593605"/>
            <a:ext cx="8570619" cy="45534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850" b="1" dirty="0">
                <a:solidFill>
                  <a:srgbClr val="F2ED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Mística e intención</a:t>
            </a:r>
            <a:endParaRPr lang="en-US" sz="2850" dirty="0"/>
          </a:p>
        </p:txBody>
      </p:sp>
      <p:sp>
        <p:nvSpPr>
          <p:cNvPr id="5" name="Text 3"/>
          <p:cNvSpPr/>
          <p:nvPr/>
        </p:nvSpPr>
        <p:spPr>
          <a:xfrm>
            <a:off x="1047733" y="3067980"/>
            <a:ext cx="8570619" cy="118110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86951"/>
              </a:lnSpc>
              <a:buNone/>
            </a:pPr>
            <a:r>
              <a:rPr lang="en-US" sz="9000" b="1" dirty="0">
                <a:solidFill>
                  <a:srgbClr val="7FA8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4.3</a:t>
            </a:r>
            <a:endParaRPr lang="en-US" sz="9000" dirty="0"/>
          </a:p>
        </p:txBody>
      </p:sp>
      <p:sp>
        <p:nvSpPr>
          <p:cNvPr id="6" name="Text 4"/>
          <p:cNvSpPr/>
          <p:nvPr/>
        </p:nvSpPr>
        <p:spPr>
          <a:xfrm>
            <a:off x="1047733" y="4439511"/>
            <a:ext cx="8025216" cy="92193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27934"/>
              </a:lnSpc>
              <a:buNone/>
            </a:pPr>
            <a:r>
              <a:rPr lang="en-US" sz="2400" dirty="0">
                <a:solidFill>
                  <a:srgbClr val="D6CBB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Buen clima, esfuerzo, identidad. El motor del campo sigue siendo la mística.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1047733" y="5475677"/>
            <a:ext cx="8570619" cy="42842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250" dirty="0">
                <a:solidFill>
                  <a:srgbClr val="9C908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12 de 18 la tienen como su punto más fuerte.</a:t>
            </a:r>
            <a:endParaRPr lang="en-US" sz="2250" dirty="0"/>
          </a:p>
        </p:txBody>
      </p:sp>
      <p:sp>
        <p:nvSpPr>
          <p:cNvPr id="8" name="Shape 6"/>
          <p:cNvSpPr/>
          <p:nvPr/>
        </p:nvSpPr>
        <p:spPr>
          <a:xfrm>
            <a:off x="9448735" y="2244011"/>
            <a:ext cx="7791472" cy="44865"/>
          </a:xfrm>
          <a:prstGeom prst="rect">
            <a:avLst/>
          </a:prstGeom>
          <a:solidFill>
            <a:srgbClr val="B4552F"/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9" name="Text 7"/>
          <p:cNvSpPr/>
          <p:nvPr/>
        </p:nvSpPr>
        <p:spPr>
          <a:xfrm>
            <a:off x="9448735" y="2593605"/>
            <a:ext cx="8570619" cy="45534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850" b="1" dirty="0">
                <a:solidFill>
                  <a:srgbClr val="F2ED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Estructura, procesos y roles</a:t>
            </a:r>
            <a:endParaRPr lang="en-US" sz="2850" dirty="0"/>
          </a:p>
        </p:txBody>
      </p:sp>
      <p:sp>
        <p:nvSpPr>
          <p:cNvPr id="10" name="Text 8"/>
          <p:cNvSpPr/>
          <p:nvPr/>
        </p:nvSpPr>
        <p:spPr>
          <a:xfrm>
            <a:off x="9448735" y="3067980"/>
            <a:ext cx="8570619" cy="118110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86951"/>
              </a:lnSpc>
              <a:buNone/>
            </a:pPr>
            <a:r>
              <a:rPr lang="en-US" sz="9000" b="1" dirty="0">
                <a:solidFill>
                  <a:srgbClr val="B455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2.8</a:t>
            </a:r>
            <a:endParaRPr lang="en-US" sz="9000" dirty="0"/>
          </a:p>
        </p:txBody>
      </p:sp>
      <p:sp>
        <p:nvSpPr>
          <p:cNvPr id="11" name="Text 9"/>
          <p:cNvSpPr/>
          <p:nvPr/>
        </p:nvSpPr>
        <p:spPr>
          <a:xfrm>
            <a:off x="9448735" y="4439511"/>
            <a:ext cx="8025216" cy="92193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27934"/>
              </a:lnSpc>
              <a:buNone/>
            </a:pPr>
            <a:r>
              <a:rPr lang="en-US" sz="2400" dirty="0">
                <a:solidFill>
                  <a:srgbClr val="D6CBB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Hacemos las cosas bien, sin saber si es lo que más conviene, ni documentar cómo se hace.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9448735" y="5475677"/>
            <a:ext cx="8570619" cy="42842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250" dirty="0">
                <a:solidFill>
                  <a:srgbClr val="9C908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12 de 18 la tienen como su mayor brecha.</a:t>
            </a:r>
            <a:endParaRPr lang="en-US" sz="2250" dirty="0"/>
          </a:p>
        </p:txBody>
      </p:sp>
      <p:sp>
        <p:nvSpPr>
          <p:cNvPr id="13" name="Text 11"/>
          <p:cNvSpPr/>
          <p:nvPr/>
        </p:nvSpPr>
        <p:spPr>
          <a:xfrm>
            <a:off x="1047733" y="8547794"/>
            <a:ext cx="13734985" cy="10153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18383"/>
              </a:lnSpc>
              <a:buNone/>
            </a:pPr>
            <a:r>
              <a:rPr lang="en-US" sz="2850" i="1" dirty="0">
                <a:solidFill>
                  <a:srgbClr val="E0A3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El hallazgo se repite lote por lote: la cultura corre más rápido que la estructura que la sostiene.</a:t>
            </a:r>
            <a:endParaRPr lang="en-US" sz="2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6120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rcRect t="2553" b="5958"/>
          <a:stretch/>
        </p:blipFill>
        <p:spPr>
          <a:xfrm>
            <a:off x="0" y="7429469"/>
            <a:ext cx="18287940" cy="2857467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6572271"/>
            <a:ext cx="18287940" cy="857198"/>
          </a:xfrm>
          <a:prstGeom prst="rect">
            <a:avLst/>
          </a:prstGeom>
          <a:gradFill rotWithShape="1">
            <a:gsLst>
              <a:gs pos="0">
                <a:srgbClr val="16120E">
                  <a:alpha val="100000"/>
                </a:srgbClr>
              </a:gs>
              <a:gs pos="100000">
                <a:srgbClr val="16120E">
                  <a:alpha val="0"/>
                </a:srgbClr>
              </a:gs>
            </a:gsLst>
            <a:lin ang="5400000" scaled="0"/>
          </a:gradFill>
          <a:ln/>
        </p:spPr>
        <p:txBody>
          <a:bodyPr/>
          <a:lstStyle/>
          <a:p>
            <a:endParaRPr lang="es-AR"/>
          </a:p>
        </p:txBody>
      </p:sp>
      <p:sp>
        <p:nvSpPr>
          <p:cNvPr id="4" name="Shape 1"/>
          <p:cNvSpPr/>
          <p:nvPr/>
        </p:nvSpPr>
        <p:spPr>
          <a:xfrm>
            <a:off x="0" y="7400938"/>
            <a:ext cx="18287940" cy="28531"/>
          </a:xfrm>
          <a:prstGeom prst="rect">
            <a:avLst/>
          </a:prstGeom>
          <a:solidFill>
            <a:srgbClr val="E0A32E">
              <a:alpha val="85000"/>
            </a:srgbClr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5" name="Text 2"/>
          <p:cNvSpPr/>
          <p:nvPr/>
        </p:nvSpPr>
        <p:spPr>
          <a:xfrm>
            <a:off x="759768" y="2871206"/>
            <a:ext cx="16768405" cy="14668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ctr">
              <a:lnSpc>
                <a:spcPct val="87248"/>
              </a:lnSpc>
              <a:buNone/>
            </a:pPr>
            <a:r>
              <a:rPr lang="en-US" sz="11250" b="1" kern="0" spc="-337" dirty="0">
                <a:solidFill>
                  <a:srgbClr val="F2ED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Pero la mística no escala.</a:t>
            </a:r>
            <a:endParaRPr lang="en-US" sz="11250" dirty="0"/>
          </a:p>
        </p:txBody>
      </p:sp>
      <p:sp>
        <p:nvSpPr>
          <p:cNvPr id="6" name="Text 3"/>
          <p:cNvSpPr/>
          <p:nvPr/>
        </p:nvSpPr>
        <p:spPr>
          <a:xfrm>
            <a:off x="4726534" y="4642805"/>
            <a:ext cx="8834803" cy="71555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ctr">
              <a:buNone/>
            </a:pPr>
            <a:r>
              <a:rPr lang="en-US" sz="4650" b="1" dirty="0">
                <a:solidFill>
                  <a:srgbClr val="E0A3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 la biología no es un sistema.</a:t>
            </a:r>
            <a:endParaRPr lang="en-US" sz="46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2EDE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rcRect t="2224" b="2224"/>
          <a:stretch/>
        </p:blipFill>
        <p:spPr>
          <a:xfrm>
            <a:off x="0" y="0"/>
            <a:ext cx="18287940" cy="2285931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2285931"/>
            <a:ext cx="18287940" cy="28531"/>
          </a:xfrm>
          <a:prstGeom prst="rect">
            <a:avLst/>
          </a:prstGeom>
          <a:solidFill>
            <a:srgbClr val="E0A32E"/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4" name="Text 1"/>
          <p:cNvSpPr/>
          <p:nvPr/>
        </p:nvSpPr>
        <p:spPr>
          <a:xfrm>
            <a:off x="1047733" y="4003692"/>
            <a:ext cx="17811721" cy="3252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950" b="1" kern="0" spc="429" dirty="0">
                <a:solidFill>
                  <a:srgbClr val="8A6A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SEGUNDA PARTE</a:t>
            </a:r>
            <a:endParaRPr lang="en-US" sz="1950" dirty="0"/>
          </a:p>
        </p:txBody>
      </p:sp>
      <p:sp>
        <p:nvSpPr>
          <p:cNvPr id="5" name="Text 2"/>
          <p:cNvSpPr/>
          <p:nvPr/>
        </p:nvSpPr>
        <p:spPr>
          <a:xfrm>
            <a:off x="1047733" y="4671756"/>
            <a:ext cx="16678247" cy="246500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85324"/>
              </a:lnSpc>
              <a:buNone/>
            </a:pPr>
            <a:r>
              <a:rPr lang="en-US" sz="9750" b="1" kern="0" spc="-292" dirty="0">
                <a:solidFill>
                  <a:srgbClr val="1612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Tres patrones. Tres vulnerabilidades.</a:t>
            </a:r>
            <a:endParaRPr lang="en-US" sz="9750" dirty="0"/>
          </a:p>
        </p:txBody>
      </p:sp>
      <p:sp>
        <p:nvSpPr>
          <p:cNvPr id="6" name="Text 3"/>
          <p:cNvSpPr/>
          <p:nvPr/>
        </p:nvSpPr>
        <p:spPr>
          <a:xfrm>
            <a:off x="1047733" y="7555791"/>
            <a:ext cx="11772834" cy="105148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22767"/>
              </a:lnSpc>
              <a:buNone/>
            </a:pPr>
            <a:r>
              <a:rPr lang="en-US" sz="2850" dirty="0">
                <a:solidFill>
                  <a:srgbClr val="4A42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Cada uno tiene un síntoma visible en la operación y una causa invisible en el diseño.</a:t>
            </a:r>
            <a:endParaRPr lang="en-US" sz="28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6120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47733" y="3737447"/>
            <a:ext cx="7894661" cy="3252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950" b="1" kern="0" spc="429" dirty="0">
                <a:solidFill>
                  <a:srgbClr val="B455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VULNERABILIDAD 01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1047733" y="4215047"/>
            <a:ext cx="7894661" cy="175256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78309"/>
              </a:lnSpc>
              <a:buNone/>
            </a:pPr>
            <a:r>
              <a:rPr lang="en-US" sz="15000" b="1" dirty="0">
                <a:solidFill>
                  <a:srgbClr val="B455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33%</a:t>
            </a:r>
            <a:endParaRPr lang="en-US" sz="15000" dirty="0"/>
          </a:p>
        </p:txBody>
      </p:sp>
      <p:sp>
        <p:nvSpPr>
          <p:cNvPr id="4" name="Text 2"/>
          <p:cNvSpPr/>
          <p:nvPr/>
        </p:nvSpPr>
        <p:spPr>
          <a:xfrm>
            <a:off x="1047733" y="6119978"/>
            <a:ext cx="7894661" cy="65814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91530"/>
              </a:lnSpc>
              <a:buNone/>
            </a:pPr>
            <a:r>
              <a:rPr lang="en-US" sz="4650" b="1" dirty="0">
                <a:solidFill>
                  <a:srgbClr val="F2ED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Dueño-dependencia</a:t>
            </a:r>
            <a:endParaRPr lang="en-US" sz="4650" dirty="0"/>
          </a:p>
        </p:txBody>
      </p:sp>
      <p:sp>
        <p:nvSpPr>
          <p:cNvPr id="5" name="Text 3"/>
          <p:cNvSpPr/>
          <p:nvPr/>
        </p:nvSpPr>
        <p:spPr>
          <a:xfrm>
            <a:off x="8986628" y="3021994"/>
            <a:ext cx="8501114" cy="144692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27642"/>
              </a:lnSpc>
              <a:buNone/>
            </a:pPr>
            <a:r>
              <a:rPr lang="en-US" sz="2550" dirty="0">
                <a:solidFill>
                  <a:srgbClr val="D6CBB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En un tercio de los casos evaluados (6 de 18), el carisma del líder sostiene la operación. Todo pasa por una sola mente. Si el líder falta o se enferma, la empresa tambalea.</a:t>
            </a:r>
            <a:endParaRPr lang="en-US" sz="2550" dirty="0"/>
          </a:p>
        </p:txBody>
      </p:sp>
      <p:sp>
        <p:nvSpPr>
          <p:cNvPr id="6" name="Shape 4"/>
          <p:cNvSpPr/>
          <p:nvPr/>
        </p:nvSpPr>
        <p:spPr>
          <a:xfrm>
            <a:off x="8986628" y="4849884"/>
            <a:ext cx="8253509" cy="26919"/>
          </a:xfrm>
          <a:prstGeom prst="rect">
            <a:avLst/>
          </a:prstGeom>
          <a:solidFill>
            <a:srgbClr val="4A423A"/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7" name="Text 5"/>
          <p:cNvSpPr/>
          <p:nvPr/>
        </p:nvSpPr>
        <p:spPr>
          <a:xfrm>
            <a:off x="8986628" y="5143467"/>
            <a:ext cx="9078860" cy="3476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100" b="1" kern="0" spc="168" dirty="0">
                <a:solidFill>
                  <a:srgbClr val="9C90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SÍNTOMA VISIBLE</a:t>
            </a:r>
            <a:endParaRPr lang="en-US" sz="2100" dirty="0"/>
          </a:p>
        </p:txBody>
      </p:sp>
      <p:sp>
        <p:nvSpPr>
          <p:cNvPr id="8" name="Text 6"/>
          <p:cNvSpPr/>
          <p:nvPr/>
        </p:nvSpPr>
        <p:spPr>
          <a:xfrm>
            <a:off x="8986628" y="5548232"/>
            <a:ext cx="9078860" cy="5091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700" dirty="0">
                <a:solidFill>
                  <a:srgbClr val="F2EDE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Empresa de una sola cabeza.</a:t>
            </a:r>
            <a:endParaRPr lang="en-US" sz="2700" dirty="0"/>
          </a:p>
        </p:txBody>
      </p:sp>
      <p:sp>
        <p:nvSpPr>
          <p:cNvPr id="9" name="Shape 7"/>
          <p:cNvSpPr/>
          <p:nvPr/>
        </p:nvSpPr>
        <p:spPr>
          <a:xfrm>
            <a:off x="8986628" y="6285977"/>
            <a:ext cx="8253509" cy="26919"/>
          </a:xfrm>
          <a:prstGeom prst="rect">
            <a:avLst/>
          </a:prstGeom>
          <a:solidFill>
            <a:srgbClr val="4A423A"/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10" name="Text 8"/>
          <p:cNvSpPr/>
          <p:nvPr/>
        </p:nvSpPr>
        <p:spPr>
          <a:xfrm>
            <a:off x="8986628" y="6579562"/>
            <a:ext cx="9078860" cy="3476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100" b="1" kern="0" spc="168" dirty="0">
                <a:solidFill>
                  <a:srgbClr val="9C90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CAUSA INVISIBLE</a:t>
            </a:r>
            <a:endParaRPr lang="en-US" sz="2100" dirty="0"/>
          </a:p>
        </p:txBody>
      </p:sp>
      <p:sp>
        <p:nvSpPr>
          <p:cNvPr id="11" name="Text 9"/>
          <p:cNvSpPr/>
          <p:nvPr/>
        </p:nvSpPr>
        <p:spPr>
          <a:xfrm>
            <a:off x="8986628" y="6984326"/>
            <a:ext cx="9078860" cy="5091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700" dirty="0">
                <a:solidFill>
                  <a:srgbClr val="F2EDE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Cultura fuerte sin estructura.</a:t>
            </a:r>
            <a:endParaRPr lang="en-US" sz="27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6120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47733" y="3737447"/>
            <a:ext cx="7894661" cy="3252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950" b="1" kern="0" spc="429" dirty="0">
                <a:solidFill>
                  <a:srgbClr val="E0A3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VULNERABILIDAD 02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1047733" y="4215047"/>
            <a:ext cx="7894661" cy="175256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78309"/>
              </a:lnSpc>
              <a:buNone/>
            </a:pPr>
            <a:r>
              <a:rPr lang="en-US" sz="15000" b="1" dirty="0">
                <a:solidFill>
                  <a:srgbClr val="E0A3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22%</a:t>
            </a:r>
            <a:endParaRPr lang="en-US" sz="15000" dirty="0"/>
          </a:p>
        </p:txBody>
      </p:sp>
      <p:sp>
        <p:nvSpPr>
          <p:cNvPr id="4" name="Text 2"/>
          <p:cNvSpPr/>
          <p:nvPr/>
        </p:nvSpPr>
        <p:spPr>
          <a:xfrm>
            <a:off x="1047733" y="6119978"/>
            <a:ext cx="7894661" cy="65814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91530"/>
              </a:lnSpc>
              <a:buNone/>
            </a:pPr>
            <a:r>
              <a:rPr lang="en-US" sz="4650" b="1" dirty="0">
                <a:solidFill>
                  <a:srgbClr val="F2ED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Entrenar para el vecino</a:t>
            </a:r>
            <a:endParaRPr lang="en-US" sz="4650" dirty="0"/>
          </a:p>
        </p:txBody>
      </p:sp>
      <p:sp>
        <p:nvSpPr>
          <p:cNvPr id="5" name="Text 3"/>
          <p:cNvSpPr/>
          <p:nvPr/>
        </p:nvSpPr>
        <p:spPr>
          <a:xfrm>
            <a:off x="8986628" y="2551685"/>
            <a:ext cx="8501114" cy="19165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27642"/>
              </a:lnSpc>
              <a:buNone/>
            </a:pPr>
            <a:r>
              <a:rPr lang="en-US" sz="2550" dirty="0">
                <a:solidFill>
                  <a:srgbClr val="D6CBB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Formamos talento técnico pero no ofrecemos un horizonte claro. El resultado es un gasto ciego: terminamos capacitando gente para que se vaya a trabajar a la empresa de al lado.</a:t>
            </a:r>
            <a:endParaRPr lang="en-US" sz="2550" dirty="0"/>
          </a:p>
        </p:txBody>
      </p:sp>
      <p:sp>
        <p:nvSpPr>
          <p:cNvPr id="6" name="Shape 4"/>
          <p:cNvSpPr/>
          <p:nvPr/>
        </p:nvSpPr>
        <p:spPr>
          <a:xfrm>
            <a:off x="8986628" y="4849183"/>
            <a:ext cx="8253509" cy="26919"/>
          </a:xfrm>
          <a:prstGeom prst="rect">
            <a:avLst/>
          </a:prstGeom>
          <a:solidFill>
            <a:srgbClr val="4A423A"/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7" name="Text 5"/>
          <p:cNvSpPr/>
          <p:nvPr/>
        </p:nvSpPr>
        <p:spPr>
          <a:xfrm>
            <a:off x="8986628" y="5142767"/>
            <a:ext cx="9078860" cy="3476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100" b="1" kern="0" spc="168" dirty="0">
                <a:solidFill>
                  <a:srgbClr val="9C90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SÍNTOMA VISIBLE</a:t>
            </a:r>
            <a:endParaRPr lang="en-US" sz="2100" dirty="0"/>
          </a:p>
        </p:txBody>
      </p:sp>
      <p:sp>
        <p:nvSpPr>
          <p:cNvPr id="8" name="Text 6"/>
          <p:cNvSpPr/>
          <p:nvPr/>
        </p:nvSpPr>
        <p:spPr>
          <a:xfrm>
            <a:off x="8986628" y="5547531"/>
            <a:ext cx="8501114" cy="9802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700" dirty="0">
                <a:solidFill>
                  <a:srgbClr val="F2EDE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Capacitación alta (nivel 4 o 5), retención baja (nivel 1 a 3).</a:t>
            </a:r>
            <a:endParaRPr lang="en-US" sz="2700" dirty="0"/>
          </a:p>
        </p:txBody>
      </p:sp>
      <p:sp>
        <p:nvSpPr>
          <p:cNvPr id="9" name="Shape 7"/>
          <p:cNvSpPr/>
          <p:nvPr/>
        </p:nvSpPr>
        <p:spPr>
          <a:xfrm>
            <a:off x="8986628" y="6756357"/>
            <a:ext cx="8253509" cy="26919"/>
          </a:xfrm>
          <a:prstGeom prst="rect">
            <a:avLst/>
          </a:prstGeom>
          <a:solidFill>
            <a:srgbClr val="4A423A"/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10" name="Text 8"/>
          <p:cNvSpPr/>
          <p:nvPr/>
        </p:nvSpPr>
        <p:spPr>
          <a:xfrm>
            <a:off x="8986628" y="7049941"/>
            <a:ext cx="9078860" cy="3476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100" b="1" kern="0" spc="168" dirty="0">
                <a:solidFill>
                  <a:srgbClr val="9C90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CAUSA INVISIBLE</a:t>
            </a:r>
            <a:endParaRPr lang="en-US" sz="2100" dirty="0"/>
          </a:p>
        </p:txBody>
      </p:sp>
      <p:sp>
        <p:nvSpPr>
          <p:cNvPr id="11" name="Text 9"/>
          <p:cNvSpPr/>
          <p:nvPr/>
        </p:nvSpPr>
        <p:spPr>
          <a:xfrm>
            <a:off x="8986628" y="7454705"/>
            <a:ext cx="9078860" cy="5091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700" dirty="0">
                <a:solidFill>
                  <a:srgbClr val="F2EDE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Crecimiento sin andamiaje.</a:t>
            </a:r>
            <a:endParaRPr lang="en-US" sz="27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6120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47733" y="3737447"/>
            <a:ext cx="7894661" cy="3252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950" b="1" kern="0" spc="429" dirty="0">
                <a:solidFill>
                  <a:srgbClr val="7FA8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VULNERABILIDAD 03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1047733" y="4215047"/>
            <a:ext cx="7894661" cy="175256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78309"/>
              </a:lnSpc>
              <a:buNone/>
            </a:pPr>
            <a:r>
              <a:rPr lang="en-US" sz="15000" b="1" dirty="0">
                <a:solidFill>
                  <a:srgbClr val="7FA8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22%</a:t>
            </a:r>
            <a:endParaRPr lang="en-US" sz="15000" dirty="0"/>
          </a:p>
        </p:txBody>
      </p:sp>
      <p:sp>
        <p:nvSpPr>
          <p:cNvPr id="4" name="Text 2"/>
          <p:cNvSpPr/>
          <p:nvPr/>
        </p:nvSpPr>
        <p:spPr>
          <a:xfrm>
            <a:off x="1047733" y="6119978"/>
            <a:ext cx="7894661" cy="65814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91530"/>
              </a:lnSpc>
              <a:buNone/>
            </a:pPr>
            <a:r>
              <a:rPr lang="en-US" sz="4650" b="1" dirty="0">
                <a:solidFill>
                  <a:srgbClr val="F2ED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Incentivos a ciegas</a:t>
            </a:r>
            <a:endParaRPr lang="en-US" sz="4650" dirty="0"/>
          </a:p>
        </p:txBody>
      </p:sp>
      <p:sp>
        <p:nvSpPr>
          <p:cNvPr id="5" name="Text 3"/>
          <p:cNvSpPr/>
          <p:nvPr/>
        </p:nvSpPr>
        <p:spPr>
          <a:xfrm>
            <a:off x="8986628" y="2786454"/>
            <a:ext cx="8501114" cy="144692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27642"/>
              </a:lnSpc>
              <a:buNone/>
            </a:pPr>
            <a:r>
              <a:rPr lang="en-US" sz="2550" dirty="0">
                <a:solidFill>
                  <a:srgbClr val="D6CBB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Premiamos económicamente resultados que no estamos midiendo. El incentivo corre a ciegas y genera derechos adquiridos en lugar de verdadero rendimiento.</a:t>
            </a:r>
            <a:endParaRPr lang="en-US" sz="2550" dirty="0"/>
          </a:p>
        </p:txBody>
      </p:sp>
      <p:sp>
        <p:nvSpPr>
          <p:cNvPr id="6" name="Shape 4"/>
          <p:cNvSpPr/>
          <p:nvPr/>
        </p:nvSpPr>
        <p:spPr>
          <a:xfrm>
            <a:off x="8986628" y="4614344"/>
            <a:ext cx="8253509" cy="26919"/>
          </a:xfrm>
          <a:prstGeom prst="rect">
            <a:avLst/>
          </a:prstGeom>
          <a:solidFill>
            <a:srgbClr val="4A423A"/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7" name="Text 5"/>
          <p:cNvSpPr/>
          <p:nvPr/>
        </p:nvSpPr>
        <p:spPr>
          <a:xfrm>
            <a:off x="8986628" y="4907928"/>
            <a:ext cx="9078860" cy="3476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100" b="1" kern="0" spc="168" dirty="0">
                <a:solidFill>
                  <a:srgbClr val="9C90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SÍNTOMA VISIBLE</a:t>
            </a:r>
            <a:endParaRPr lang="en-US" sz="2100" dirty="0"/>
          </a:p>
        </p:txBody>
      </p:sp>
      <p:sp>
        <p:nvSpPr>
          <p:cNvPr id="8" name="Text 6"/>
          <p:cNvSpPr/>
          <p:nvPr/>
        </p:nvSpPr>
        <p:spPr>
          <a:xfrm>
            <a:off x="8986628" y="5312692"/>
            <a:ext cx="8501114" cy="9802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700" dirty="0">
                <a:solidFill>
                  <a:srgbClr val="F2EDE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Incentivos y premios en nivel 4 a 5; indicadores y métricas en nivel 1 a 2.</a:t>
            </a:r>
            <a:endParaRPr lang="en-US" sz="2700" dirty="0"/>
          </a:p>
        </p:txBody>
      </p:sp>
      <p:sp>
        <p:nvSpPr>
          <p:cNvPr id="9" name="Shape 7"/>
          <p:cNvSpPr/>
          <p:nvPr/>
        </p:nvSpPr>
        <p:spPr>
          <a:xfrm>
            <a:off x="8986628" y="6521518"/>
            <a:ext cx="8253509" cy="26919"/>
          </a:xfrm>
          <a:prstGeom prst="rect">
            <a:avLst/>
          </a:prstGeom>
          <a:solidFill>
            <a:srgbClr val="4A423A"/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10" name="Text 8"/>
          <p:cNvSpPr/>
          <p:nvPr/>
        </p:nvSpPr>
        <p:spPr>
          <a:xfrm>
            <a:off x="8986628" y="6815102"/>
            <a:ext cx="9078860" cy="3476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100" b="1" kern="0" spc="168" dirty="0">
                <a:solidFill>
                  <a:srgbClr val="9C90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CAUSA INVISIBLE</a:t>
            </a:r>
            <a:endParaRPr lang="en-US" sz="2100" dirty="0"/>
          </a:p>
        </p:txBody>
      </p:sp>
      <p:sp>
        <p:nvSpPr>
          <p:cNvPr id="11" name="Text 9"/>
          <p:cNvSpPr/>
          <p:nvPr/>
        </p:nvSpPr>
        <p:spPr>
          <a:xfrm>
            <a:off x="8986628" y="7219866"/>
            <a:ext cx="9078860" cy="5091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700" dirty="0">
                <a:solidFill>
                  <a:srgbClr val="F2EDE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Operación prolija, rumbo difuso.</a:t>
            </a:r>
            <a:endParaRPr lang="en-US" sz="27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2EDE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rcRect t="2224" b="2224"/>
          <a:stretch/>
        </p:blipFill>
        <p:spPr>
          <a:xfrm>
            <a:off x="0" y="0"/>
            <a:ext cx="18287940" cy="2285931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2285931"/>
            <a:ext cx="18287940" cy="28531"/>
          </a:xfrm>
          <a:prstGeom prst="rect">
            <a:avLst/>
          </a:prstGeom>
          <a:solidFill>
            <a:srgbClr val="E0A32E"/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4" name="Text 1"/>
          <p:cNvSpPr/>
          <p:nvPr/>
        </p:nvSpPr>
        <p:spPr>
          <a:xfrm>
            <a:off x="1047733" y="4003692"/>
            <a:ext cx="17811721" cy="3252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950" b="1" kern="0" spc="429" dirty="0">
                <a:solidFill>
                  <a:srgbClr val="8A6A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TERCERA PARTE</a:t>
            </a:r>
            <a:endParaRPr lang="en-US" sz="1950" dirty="0"/>
          </a:p>
        </p:txBody>
      </p:sp>
      <p:sp>
        <p:nvSpPr>
          <p:cNvPr id="5" name="Text 2"/>
          <p:cNvSpPr/>
          <p:nvPr/>
        </p:nvSpPr>
        <p:spPr>
          <a:xfrm>
            <a:off x="1047733" y="4671756"/>
            <a:ext cx="16678247" cy="246500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85324"/>
              </a:lnSpc>
              <a:buNone/>
            </a:pPr>
            <a:r>
              <a:rPr lang="en-US" sz="9750" b="1" kern="0" spc="-292" dirty="0">
                <a:solidFill>
                  <a:srgbClr val="1612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Pregunta por pregunta.</a:t>
            </a:r>
            <a:endParaRPr lang="en-US" sz="9750" dirty="0"/>
          </a:p>
        </p:txBody>
      </p:sp>
      <p:sp>
        <p:nvSpPr>
          <p:cNvPr id="6" name="Text 3"/>
          <p:cNvSpPr/>
          <p:nvPr/>
        </p:nvSpPr>
        <p:spPr>
          <a:xfrm>
            <a:off x="1047733" y="7555791"/>
            <a:ext cx="11772834" cy="105148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22767"/>
              </a:lnSpc>
              <a:buNone/>
            </a:pPr>
            <a:r>
              <a:rPr lang="en-US" sz="2850" dirty="0">
                <a:solidFill>
                  <a:srgbClr val="4A42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Las 18 empresas frente a 96 diagnósticos del resto del país: qué nos distingue y por dónde empezar.</a:t>
            </a:r>
            <a:endParaRPr lang="en-US" sz="28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2EDE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051560" y="859536"/>
            <a:ext cx="1618488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4800" b="1">
                <a:solidFill>
                  <a:srgbClr val="16120E"/>
                </a:solidFill>
                <a:latin typeface="Arial"/>
              </a:rPr>
              <a:t>Mismo corazón, otra conducción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51560" y="1691640"/>
            <a:ext cx="1618488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200" b="0">
                <a:solidFill>
                  <a:srgbClr val="6B6157"/>
                </a:solidFill>
                <a:latin typeface="Georgia"/>
              </a:rPr>
              <a:t>Promedio por pregunta, escala 1 a 5. Las 18 de la región frente a 96 diagnósticos del resto del país.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914400" y="2468880"/>
          <a:ext cx="11155680" cy="74066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12801600" y="3200400"/>
            <a:ext cx="448056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600" b="1">
                <a:solidFill>
                  <a:srgbClr val="4F7A3A"/>
                </a:solidFill>
                <a:latin typeface="Arial"/>
              </a:rPr>
              <a:t>Iguales al resto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801600" y="3794760"/>
            <a:ext cx="4480560" cy="1737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100" b="0">
                <a:solidFill>
                  <a:srgbClr val="4A423A"/>
                </a:solidFill>
                <a:latin typeface="Georgia"/>
              </a:rPr>
              <a:t>Cultura, estrategia, coordinación y capacitación. La voluntad está.</a:t>
            </a:r>
          </a:p>
        </p:txBody>
      </p:sp>
      <p:sp>
        <p:nvSpPr>
          <p:cNvPr id="7" name="Rectangle 6"/>
          <p:cNvSpPr/>
          <p:nvPr/>
        </p:nvSpPr>
        <p:spPr>
          <a:xfrm>
            <a:off x="12801600" y="5715000"/>
            <a:ext cx="4206240" cy="36576"/>
          </a:xfrm>
          <a:prstGeom prst="rect">
            <a:avLst/>
          </a:prstGeom>
          <a:solidFill>
            <a:srgbClr val="E7DC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2801600" y="5989320"/>
            <a:ext cx="448056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600" b="1">
                <a:solidFill>
                  <a:srgbClr val="B4552F"/>
                </a:solidFill>
                <a:latin typeface="Arial"/>
              </a:rPr>
              <a:t>Por debajo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801600" y="6583680"/>
            <a:ext cx="4480560" cy="23774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100" b="0">
                <a:solidFill>
                  <a:srgbClr val="4A423A"/>
                </a:solidFill>
                <a:latin typeface="Georgia"/>
              </a:rPr>
              <a:t>En todo lo que depende de quien conduce: medir, evaluar, documentar, comunicar y dar horizonte.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6120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051560" y="950976"/>
            <a:ext cx="1618488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5400" b="1">
                <a:solidFill>
                  <a:srgbClr val="F2EDE3"/>
                </a:solidFill>
                <a:latin typeface="Arial"/>
              </a:rPr>
              <a:t>El eslabón que falta: el mando medio</a:t>
            </a:r>
          </a:p>
        </p:txBody>
      </p:sp>
      <p:sp>
        <p:nvSpPr>
          <p:cNvPr id="3" name="Rectangle 2"/>
          <p:cNvSpPr/>
          <p:nvPr/>
        </p:nvSpPr>
        <p:spPr>
          <a:xfrm>
            <a:off x="1051560" y="2331720"/>
            <a:ext cx="5093208" cy="45720"/>
          </a:xfrm>
          <a:prstGeom prst="rect">
            <a:avLst/>
          </a:prstGeom>
          <a:solidFill>
            <a:srgbClr val="B455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051560" y="2651760"/>
            <a:ext cx="5212080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200" b="1">
                <a:solidFill>
                  <a:srgbClr val="B4552F"/>
                </a:solidFill>
                <a:latin typeface="Arial"/>
              </a:rPr>
              <a:t>0 de 18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3794760"/>
            <a:ext cx="512064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00" b="1">
                <a:solidFill>
                  <a:srgbClr val="F2EDE3"/>
                </a:solidFill>
                <a:latin typeface="Arial"/>
              </a:rPr>
              <a:t>Liderazgo de mandos medios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" y="4480560"/>
            <a:ext cx="4937760" cy="2011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200" b="0">
                <a:solidFill>
                  <a:srgbClr val="D6CBB9"/>
                </a:solidFill>
                <a:latin typeface="Georgia"/>
              </a:rPr>
              <a:t>Ninguna empresa llega a nivel 4 o 5. En el resto del país, 4 de cada 10.</a:t>
            </a:r>
          </a:p>
        </p:txBody>
      </p:sp>
      <p:sp>
        <p:nvSpPr>
          <p:cNvPr id="7" name="Rectangle 6"/>
          <p:cNvSpPr/>
          <p:nvPr/>
        </p:nvSpPr>
        <p:spPr>
          <a:xfrm>
            <a:off x="6601968" y="2331720"/>
            <a:ext cx="5093208" cy="45720"/>
          </a:xfrm>
          <a:prstGeom prst="rect">
            <a:avLst/>
          </a:prstGeom>
          <a:solidFill>
            <a:srgbClr val="E0A3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601968" y="2651760"/>
            <a:ext cx="5212080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200" b="1">
                <a:solidFill>
                  <a:srgbClr val="E0A32E"/>
                </a:solidFill>
                <a:latin typeface="Arial"/>
              </a:rPr>
              <a:t>13 de 18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01968" y="3794760"/>
            <a:ext cx="512064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00" b="1">
                <a:solidFill>
                  <a:srgbClr val="F2EDE3"/>
                </a:solidFill>
                <a:latin typeface="Arial"/>
              </a:rPr>
              <a:t>Productividad por puesto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01968" y="4480560"/>
            <a:ext cx="4937760" cy="2011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200" b="0">
                <a:solidFill>
                  <a:srgbClr val="D6CBB9"/>
                </a:solidFill>
                <a:latin typeface="Georgia"/>
              </a:rPr>
              <a:t>No sabe qué rinde cada puesto. En el resto del país, 4 de cada 10.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2152376" y="2331720"/>
            <a:ext cx="5093208" cy="45720"/>
          </a:xfrm>
          <a:prstGeom prst="rect">
            <a:avLst/>
          </a:prstGeom>
          <a:solidFill>
            <a:srgbClr val="D6CB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2152376" y="2651760"/>
            <a:ext cx="5212080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200" b="1">
                <a:solidFill>
                  <a:srgbClr val="D6CBB9"/>
                </a:solidFill>
                <a:latin typeface="Arial"/>
              </a:rPr>
              <a:t>3 de 18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152376" y="3794760"/>
            <a:ext cx="512064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00" b="1">
                <a:solidFill>
                  <a:srgbClr val="F2EDE3"/>
                </a:solidFill>
                <a:latin typeface="Arial"/>
              </a:rPr>
              <a:t>Horizonte para los mejores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152376" y="4480560"/>
            <a:ext cx="4937760" cy="2011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200" b="0">
                <a:solidFill>
                  <a:srgbClr val="D6CBB9"/>
                </a:solidFill>
                <a:latin typeface="Georgia"/>
              </a:rPr>
              <a:t>Muestra a su mejor gente un futuro en la empresa. En el resto del país, casi la mitad.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51560" y="7040880"/>
            <a:ext cx="16184880" cy="1280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800" b="1">
                <a:solidFill>
                  <a:srgbClr val="E0A32E"/>
                </a:solidFill>
                <a:latin typeface="Arial"/>
              </a:rPr>
              <a:t>En el país, cuando el liderazgo es fuerte, el 77% conecta a su gente con la estrategia.</a:t>
            </a:r>
          </a:p>
          <a:p>
            <a:pPr algn="l">
              <a:lnSpc>
                <a:spcPct val="110000"/>
              </a:lnSpc>
            </a:pPr>
            <a:r>
              <a:rPr sz="2800" b="1">
                <a:solidFill>
                  <a:srgbClr val="E0A32E"/>
                </a:solidFill>
                <a:latin typeface="Arial"/>
              </a:rPr>
              <a:t>Cuando es débil, el 19%.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6120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051560" y="950976"/>
            <a:ext cx="1618488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5400" b="1">
                <a:solidFill>
                  <a:srgbClr val="F2EDE3"/>
                </a:solidFill>
                <a:latin typeface="Arial"/>
              </a:rPr>
              <a:t>Una buena noticia: acá la cultura no es discurso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51560" y="1874519"/>
            <a:ext cx="1572768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400" b="0">
                <a:solidFill>
                  <a:srgbClr val="9C9086"/>
                </a:solidFill>
                <a:latin typeface="Georgia"/>
              </a:rPr>
              <a:t>Entre las empresas que reconocen comunicar poco con su equipo, ¿cuántas dicen igual que su cultura está viva?</a:t>
            </a:r>
          </a:p>
        </p:txBody>
      </p:sp>
      <p:sp>
        <p:nvSpPr>
          <p:cNvPr id="4" name="Rectangle 3"/>
          <p:cNvSpPr/>
          <p:nvPr/>
        </p:nvSpPr>
        <p:spPr>
          <a:xfrm>
            <a:off x="1051560" y="3017520"/>
            <a:ext cx="6949440" cy="45720"/>
          </a:xfrm>
          <a:prstGeom prst="rect">
            <a:avLst/>
          </a:prstGeom>
          <a:solidFill>
            <a:srgbClr val="7FA8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51560" y="3337560"/>
            <a:ext cx="7132320" cy="1280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600" b="1">
                <a:solidFill>
                  <a:srgbClr val="7FA85C"/>
                </a:solidFill>
                <a:latin typeface="Arial"/>
              </a:rPr>
              <a:t>1 de 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" y="4709160"/>
            <a:ext cx="694944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000" b="1">
                <a:solidFill>
                  <a:srgbClr val="F2EDE3"/>
                </a:solidFill>
                <a:latin typeface="Arial"/>
              </a:rPr>
              <a:t>En la región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" y="5394960"/>
            <a:ext cx="6583680" cy="1463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300" b="0">
                <a:solidFill>
                  <a:srgbClr val="D6CBB9"/>
                </a:solidFill>
                <a:latin typeface="Georgia"/>
              </a:rPr>
              <a:t>La cultura se sostiene en la conversación diaria. Si no hay conversación, lo reconocen.</a:t>
            </a:r>
          </a:p>
        </p:txBody>
      </p:sp>
      <p:sp>
        <p:nvSpPr>
          <p:cNvPr id="8" name="Rectangle 7"/>
          <p:cNvSpPr/>
          <p:nvPr/>
        </p:nvSpPr>
        <p:spPr>
          <a:xfrm>
            <a:off x="8915400" y="3017520"/>
            <a:ext cx="6949440" cy="45720"/>
          </a:xfrm>
          <a:prstGeom prst="rect">
            <a:avLst/>
          </a:prstGeom>
          <a:solidFill>
            <a:srgbClr val="D6CB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915400" y="3337560"/>
            <a:ext cx="7132320" cy="1280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600" b="1">
                <a:solidFill>
                  <a:srgbClr val="D6CBB9"/>
                </a:solidFill>
                <a:latin typeface="Arial"/>
              </a:rPr>
              <a:t>1 de 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915400" y="4709160"/>
            <a:ext cx="694944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000" b="1">
                <a:solidFill>
                  <a:srgbClr val="F2EDE3"/>
                </a:solidFill>
                <a:latin typeface="Arial"/>
              </a:rPr>
              <a:t>En el resto del país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915400" y="5394960"/>
            <a:ext cx="6583680" cy="1463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300" b="0">
                <a:solidFill>
                  <a:srgbClr val="D6CBB9"/>
                </a:solidFill>
                <a:latin typeface="Georgia"/>
              </a:rPr>
              <a:t>La mitad declara una cultura fuerte que no se comunica. Es cultura de discurso.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1560" y="7406640"/>
            <a:ext cx="16184880" cy="11887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800" b="1">
                <a:solidFill>
                  <a:srgbClr val="E0A32E"/>
                </a:solidFill>
                <a:latin typeface="Arial"/>
              </a:rPr>
              <a:t>Acá, cuando se habla de cultura, hay con qué respaldarla.</a:t>
            </a:r>
          </a:p>
          <a:p>
            <a:pPr algn="l">
              <a:lnSpc>
                <a:spcPct val="110000"/>
              </a:lnSpc>
            </a:pPr>
            <a:r>
              <a:rPr sz="2800" b="1">
                <a:solidFill>
                  <a:srgbClr val="E0A32E"/>
                </a:solidFill>
                <a:latin typeface="Arial"/>
              </a:rPr>
              <a:t>Es el mejor punto de apoyo para construir la estructura que falta.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2EDE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051560" y="859536"/>
            <a:ext cx="1618488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4800" b="1">
                <a:solidFill>
                  <a:srgbClr val="16120E"/>
                </a:solidFill>
                <a:latin typeface="Arial"/>
              </a:rPr>
              <a:t>Por dónde empezar: cinco palancas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51560" y="1691640"/>
            <a:ext cx="1618488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200" b="0">
                <a:solidFill>
                  <a:srgbClr val="6B6157"/>
                </a:solidFill>
                <a:latin typeface="Georgia"/>
              </a:rPr>
              <a:t>Preguntas con puntaje bajo en la región que, cuando se mueven, arrastran al resto del diagnóstico.</a:t>
            </a:r>
          </a:p>
        </p:txBody>
      </p:sp>
      <p:sp>
        <p:nvSpPr>
          <p:cNvPr id="4" name="Rectangle 3"/>
          <p:cNvSpPr/>
          <p:nvPr/>
        </p:nvSpPr>
        <p:spPr>
          <a:xfrm>
            <a:off x="1051560" y="2606040"/>
            <a:ext cx="16184880" cy="27432"/>
          </a:xfrm>
          <a:prstGeom prst="rect">
            <a:avLst/>
          </a:prstGeom>
          <a:solidFill>
            <a:srgbClr val="E7DC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51560" y="2834640"/>
            <a:ext cx="73152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4400" b="1">
                <a:solidFill>
                  <a:srgbClr val="B4552F"/>
                </a:solidFill>
                <a:latin typeface="Arial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011680" y="2971800"/>
            <a:ext cx="621792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00" b="1">
                <a:solidFill>
                  <a:srgbClr val="16120E"/>
                </a:solidFill>
                <a:latin typeface="Arial"/>
              </a:rPr>
              <a:t>Comunicación con el equipo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95360" y="2971800"/>
            <a:ext cx="859536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300" b="0">
                <a:solidFill>
                  <a:srgbClr val="4A423A"/>
                </a:solidFill>
                <a:latin typeface="Georgia"/>
              </a:rPr>
              <a:t>Una reunión corta y fija por semana: cómo venimos y qué sigue.</a:t>
            </a:r>
          </a:p>
        </p:txBody>
      </p:sp>
      <p:sp>
        <p:nvSpPr>
          <p:cNvPr id="8" name="Rectangle 7"/>
          <p:cNvSpPr/>
          <p:nvPr/>
        </p:nvSpPr>
        <p:spPr>
          <a:xfrm>
            <a:off x="1051560" y="3977639"/>
            <a:ext cx="16184880" cy="27432"/>
          </a:xfrm>
          <a:prstGeom prst="rect">
            <a:avLst/>
          </a:prstGeom>
          <a:solidFill>
            <a:srgbClr val="E7DC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051560" y="4206240"/>
            <a:ext cx="73152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4400" b="1">
                <a:solidFill>
                  <a:srgbClr val="B4552F"/>
                </a:solidFill>
                <a:latin typeface="Arial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011680" y="4343400"/>
            <a:ext cx="621792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00" b="1">
                <a:solidFill>
                  <a:srgbClr val="16120E"/>
                </a:solidFill>
                <a:latin typeface="Arial"/>
              </a:rPr>
              <a:t>Un responsable de la gente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95360" y="4343400"/>
            <a:ext cx="859536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300" b="0">
                <a:solidFill>
                  <a:srgbClr val="4A423A"/>
                </a:solidFill>
                <a:latin typeface="Georgia"/>
              </a:rPr>
              <a:t>Alguien con nombre y horas asignadas, aunque sea part-time.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051560" y="5349240"/>
            <a:ext cx="16184880" cy="27432"/>
          </a:xfrm>
          <a:prstGeom prst="rect">
            <a:avLst/>
          </a:prstGeom>
          <a:solidFill>
            <a:srgbClr val="E7DC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051560" y="5577840"/>
            <a:ext cx="73152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4400" b="1">
                <a:solidFill>
                  <a:srgbClr val="C9962F"/>
                </a:solidFill>
                <a:latin typeface="Arial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011680" y="5715000"/>
            <a:ext cx="621792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00" b="1">
                <a:solidFill>
                  <a:srgbClr val="16120E"/>
                </a:solidFill>
                <a:latin typeface="Arial"/>
              </a:rPr>
              <a:t>Reconocimiento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95360" y="5715000"/>
            <a:ext cx="859536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300" b="0">
                <a:solidFill>
                  <a:srgbClr val="4A423A"/>
                </a:solidFill>
                <a:latin typeface="Georgia"/>
              </a:rPr>
              <a:t>Decir en voz alta lo que salió bien, en el momento en que pasa.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51560" y="6720840"/>
            <a:ext cx="16184880" cy="27432"/>
          </a:xfrm>
          <a:prstGeom prst="rect">
            <a:avLst/>
          </a:prstGeom>
          <a:solidFill>
            <a:srgbClr val="E7DC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1051560" y="6949440"/>
            <a:ext cx="73152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4400" b="1">
                <a:solidFill>
                  <a:srgbClr val="C9962F"/>
                </a:solidFill>
                <a:latin typeface="Arial"/>
              </a:rP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011680" y="7086600"/>
            <a:ext cx="621792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00" b="1">
                <a:solidFill>
                  <a:srgbClr val="16120E"/>
                </a:solidFill>
                <a:latin typeface="Arial"/>
              </a:rPr>
              <a:t>Conocimiento documentado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95360" y="7086600"/>
            <a:ext cx="859536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300" b="0">
                <a:solidFill>
                  <a:srgbClr val="4A423A"/>
                </a:solidFill>
                <a:latin typeface="Georgia"/>
              </a:rPr>
              <a:t>La tarea que se rompe cuando falta el dueño, escrita en media página.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051560" y="8092440"/>
            <a:ext cx="16184880" cy="27432"/>
          </a:xfrm>
          <a:prstGeom prst="rect">
            <a:avLst/>
          </a:prstGeom>
          <a:solidFill>
            <a:srgbClr val="E7DC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1051560" y="8321040"/>
            <a:ext cx="73152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4400" b="1">
                <a:solidFill>
                  <a:srgbClr val="4F7A3A"/>
                </a:solidFill>
                <a:latin typeface="Arial"/>
              </a:rPr>
              <a:t>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011680" y="8458200"/>
            <a:ext cx="621792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00" b="1">
                <a:solidFill>
                  <a:srgbClr val="16120E"/>
                </a:solidFill>
                <a:latin typeface="Arial"/>
              </a:rPr>
              <a:t>Horizonte para los mejores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595360" y="8458200"/>
            <a:ext cx="859536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300" b="0">
                <a:solidFill>
                  <a:srgbClr val="4A423A"/>
                </a:solidFill>
                <a:latin typeface="Georgia"/>
              </a:rPr>
              <a:t>Una conversación por año con cada uno sobre hacia dónde puede crecer.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051560" y="9464040"/>
            <a:ext cx="16184880" cy="27432"/>
          </a:xfrm>
          <a:prstGeom prst="rect">
            <a:avLst/>
          </a:prstGeom>
          <a:solidFill>
            <a:srgbClr val="E7DC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2EDE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47733" y="2758554"/>
            <a:ext cx="16678247" cy="213356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87140"/>
              </a:lnSpc>
              <a:buNone/>
            </a:pPr>
            <a:r>
              <a:rPr lang="en-US" sz="8250" b="1" kern="0" spc="-247" dirty="0">
                <a:solidFill>
                  <a:srgbClr val="1612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solución no es burocracia. Es diseño intencional.</a:t>
            </a:r>
            <a:endParaRPr lang="en-US" sz="8250" dirty="0"/>
          </a:p>
        </p:txBody>
      </p:sp>
      <p:sp>
        <p:nvSpPr>
          <p:cNvPr id="3" name="Text 1"/>
          <p:cNvSpPr/>
          <p:nvPr/>
        </p:nvSpPr>
        <p:spPr>
          <a:xfrm>
            <a:off x="1047733" y="5273085"/>
            <a:ext cx="13244502" cy="106676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18190"/>
              </a:lnSpc>
              <a:buNone/>
            </a:pPr>
            <a:r>
              <a:rPr lang="en-US" sz="3000" dirty="0">
                <a:solidFill>
                  <a:srgbClr val="4A42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El miedo natural a profesionalizar los recursos humanos es llenar el campo de planillas irrelevantes.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1047733" y="6758880"/>
            <a:ext cx="53838" cy="959966"/>
          </a:xfrm>
          <a:prstGeom prst="rect">
            <a:avLst/>
          </a:prstGeom>
          <a:solidFill>
            <a:srgbClr val="E0A32E"/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5" name="Text 3"/>
          <p:cNvSpPr/>
          <p:nvPr/>
        </p:nvSpPr>
        <p:spPr>
          <a:xfrm>
            <a:off x="1425421" y="6758880"/>
            <a:ext cx="13255778" cy="99806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lnSpc>
                <a:spcPct val="122990"/>
              </a:lnSpc>
              <a:buNone/>
            </a:pPr>
            <a:r>
              <a:rPr lang="en-US" sz="2700" b="1" dirty="0">
                <a:solidFill>
                  <a:srgbClr val="1612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Antes de profesionalizar, hay que simplificar. </a:t>
            </a:r>
            <a:r>
              <a:rPr lang="en-US" sz="2700" dirty="0">
                <a:solidFill>
                  <a:srgbClr val="16120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 copies la estructura de una empresa grande; la sobredocumentación en equipos chicos se abandona a las pocas semanas.</a:t>
            </a:r>
            <a:endParaRPr lang="en-US" sz="27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6120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47733" y="952465"/>
            <a:ext cx="17811721" cy="7581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91716"/>
              </a:lnSpc>
              <a:buNone/>
            </a:pPr>
            <a:r>
              <a:rPr lang="en-US" sz="5400" b="1" kern="0" spc="-108" dirty="0">
                <a:solidFill>
                  <a:srgbClr val="F2ED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progreso real exige avanzar en dos planos</a:t>
            </a:r>
            <a:endParaRPr lang="en-US" sz="5400" dirty="0"/>
          </a:p>
        </p:txBody>
      </p:sp>
      <p:sp>
        <p:nvSpPr>
          <p:cNvPr id="3" name="Shape 1"/>
          <p:cNvSpPr/>
          <p:nvPr/>
        </p:nvSpPr>
        <p:spPr>
          <a:xfrm>
            <a:off x="1047733" y="2244011"/>
            <a:ext cx="7791472" cy="44865"/>
          </a:xfrm>
          <a:prstGeom prst="rect">
            <a:avLst/>
          </a:prstGeom>
          <a:solidFill>
            <a:srgbClr val="E0A32E"/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4" name="Text 2"/>
          <p:cNvSpPr/>
          <p:nvPr/>
        </p:nvSpPr>
        <p:spPr>
          <a:xfrm>
            <a:off x="1047733" y="2593605"/>
            <a:ext cx="8570619" cy="3476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100" b="1" kern="0" spc="294" dirty="0">
                <a:solidFill>
                  <a:srgbClr val="E0A3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PLANO PERSONA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1047733" y="3093638"/>
            <a:ext cx="8570619" cy="6181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91698"/>
              </a:lnSpc>
              <a:buNone/>
            </a:pPr>
            <a:r>
              <a:rPr lang="en-US" sz="4350" b="1" dirty="0">
                <a:solidFill>
                  <a:srgbClr val="F2ED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 ejercita, no se instala.</a:t>
            </a:r>
            <a:endParaRPr lang="en-US" sz="4350" dirty="0"/>
          </a:p>
        </p:txBody>
      </p:sp>
      <p:sp>
        <p:nvSpPr>
          <p:cNvPr id="6" name="Text 4"/>
          <p:cNvSpPr/>
          <p:nvPr/>
        </p:nvSpPr>
        <p:spPr>
          <a:xfrm>
            <a:off x="1047733" y="3902255"/>
            <a:ext cx="8025216" cy="92193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27934"/>
              </a:lnSpc>
              <a:buNone/>
            </a:pPr>
            <a:r>
              <a:rPr lang="en-US" sz="2400" dirty="0">
                <a:solidFill>
                  <a:srgbClr val="D6CBB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Lo que el líder desarrolla en sí mismo: una habilidad, un hábito.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1047733" y="5090822"/>
            <a:ext cx="8025216" cy="86669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28267"/>
              </a:lnSpc>
              <a:buNone/>
            </a:pPr>
            <a:r>
              <a:rPr lang="en-US" sz="2250" b="1" dirty="0">
                <a:solidFill>
                  <a:srgbClr val="F2EDE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Señal de éxito: </a:t>
            </a:r>
            <a:r>
              <a:rPr lang="en-US" sz="2250" dirty="0">
                <a:solidFill>
                  <a:srgbClr val="9C908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lo hace hoy con naturalidad, aunque meses atrás le costaba.</a:t>
            </a:r>
            <a:endParaRPr lang="en-US" sz="2250" dirty="0"/>
          </a:p>
        </p:txBody>
      </p:sp>
      <p:sp>
        <p:nvSpPr>
          <p:cNvPr id="8" name="Shape 6"/>
          <p:cNvSpPr/>
          <p:nvPr/>
        </p:nvSpPr>
        <p:spPr>
          <a:xfrm>
            <a:off x="9448735" y="2244011"/>
            <a:ext cx="7791472" cy="44865"/>
          </a:xfrm>
          <a:prstGeom prst="rect">
            <a:avLst/>
          </a:prstGeom>
          <a:solidFill>
            <a:srgbClr val="7FA85C"/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9" name="Text 7"/>
          <p:cNvSpPr/>
          <p:nvPr/>
        </p:nvSpPr>
        <p:spPr>
          <a:xfrm>
            <a:off x="9448735" y="2593605"/>
            <a:ext cx="8570619" cy="3476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100" b="1" kern="0" spc="294" dirty="0">
                <a:solidFill>
                  <a:srgbClr val="7FA8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PLANO SISTEMA</a:t>
            </a:r>
            <a:endParaRPr lang="en-US" sz="2100" dirty="0"/>
          </a:p>
        </p:txBody>
      </p:sp>
      <p:sp>
        <p:nvSpPr>
          <p:cNvPr id="10" name="Text 8"/>
          <p:cNvSpPr/>
          <p:nvPr/>
        </p:nvSpPr>
        <p:spPr>
          <a:xfrm>
            <a:off x="9448735" y="3093638"/>
            <a:ext cx="8025216" cy="1198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91698"/>
              </a:lnSpc>
              <a:buNone/>
            </a:pPr>
            <a:r>
              <a:rPr lang="en-US" sz="4350" b="1" dirty="0">
                <a:solidFill>
                  <a:srgbClr val="F2ED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 pone por escrito, no se supone.</a:t>
            </a:r>
            <a:endParaRPr lang="en-US" sz="4350" dirty="0"/>
          </a:p>
        </p:txBody>
      </p:sp>
      <p:sp>
        <p:nvSpPr>
          <p:cNvPr id="11" name="Text 9"/>
          <p:cNvSpPr/>
          <p:nvPr/>
        </p:nvSpPr>
        <p:spPr>
          <a:xfrm>
            <a:off x="9448735" y="4482343"/>
            <a:ext cx="8570619" cy="48001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27934"/>
              </a:lnSpc>
              <a:buNone/>
            </a:pPr>
            <a:r>
              <a:rPr lang="en-US" sz="2400" dirty="0">
                <a:solidFill>
                  <a:srgbClr val="D6CBB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Lo que la empresa instala como práctica documentada.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9448735" y="5228991"/>
            <a:ext cx="8025216" cy="86669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28267"/>
              </a:lnSpc>
              <a:buNone/>
            </a:pPr>
            <a:r>
              <a:rPr lang="en-US" sz="2250" b="1" dirty="0">
                <a:solidFill>
                  <a:srgbClr val="F2EDE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Señal de éxito: </a:t>
            </a:r>
            <a:r>
              <a:rPr lang="en-US" sz="2250" dirty="0">
                <a:solidFill>
                  <a:srgbClr val="9C908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la práctica sigue funcionando aunque quien la sostenía esté de vacaciones o enfermo.</a:t>
            </a:r>
            <a:endParaRPr lang="en-US" sz="22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2EDE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47733" y="857198"/>
            <a:ext cx="17811721" cy="67812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91454"/>
              </a:lnSpc>
              <a:buNone/>
            </a:pPr>
            <a:r>
              <a:rPr lang="en-US" sz="4800" b="1" kern="0" spc="-96" dirty="0">
                <a:solidFill>
                  <a:srgbClr val="1612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hoja de ruta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1047733" y="1611487"/>
            <a:ext cx="17811721" cy="45534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400" dirty="0">
                <a:solidFill>
                  <a:srgbClr val="6B615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El punto de partida para equipos de 5 a 15 personas.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1047733" y="2523995"/>
            <a:ext cx="5041891" cy="35892"/>
          </a:xfrm>
          <a:prstGeom prst="rect">
            <a:avLst/>
          </a:prstGeom>
          <a:solidFill>
            <a:srgbClr val="16120E"/>
          </a:solidFill>
          <a:ln/>
        </p:spPr>
        <p:txBody>
          <a:bodyPr/>
          <a:lstStyle/>
          <a:p>
            <a:endParaRPr lang="es-AR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047733" y="2826552"/>
            <a:ext cx="1428733" cy="1428733"/>
          </a:xfrm>
          <a:prstGeom prst="ellipse">
            <a:avLst/>
          </a:prstGeom>
        </p:spPr>
      </p:pic>
      <p:sp>
        <p:nvSpPr>
          <p:cNvPr id="6" name="Text 3"/>
          <p:cNvSpPr/>
          <p:nvPr/>
        </p:nvSpPr>
        <p:spPr>
          <a:xfrm>
            <a:off x="1047733" y="4464818"/>
            <a:ext cx="5546080" cy="723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87348"/>
              </a:lnSpc>
              <a:buNone/>
            </a:pPr>
            <a:r>
              <a:rPr lang="en-US" sz="5400" b="1" dirty="0">
                <a:solidFill>
                  <a:srgbClr val="B455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5400" dirty="0"/>
          </a:p>
        </p:txBody>
      </p:sp>
      <p:sp>
        <p:nvSpPr>
          <p:cNvPr id="7" name="Text 4"/>
          <p:cNvSpPr/>
          <p:nvPr/>
        </p:nvSpPr>
        <p:spPr>
          <a:xfrm>
            <a:off x="1047733" y="5322016"/>
            <a:ext cx="5193148" cy="91436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99653"/>
              </a:lnSpc>
              <a:buNone/>
            </a:pPr>
            <a:r>
              <a:rPr lang="en-US" sz="3000" b="1" dirty="0">
                <a:solidFill>
                  <a:srgbClr val="1612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Estructura. Designar a un responsable.</a:t>
            </a:r>
            <a:endParaRPr lang="en-US" sz="3000" dirty="0"/>
          </a:p>
        </p:txBody>
      </p:sp>
      <p:sp>
        <p:nvSpPr>
          <p:cNvPr id="8" name="Text 5"/>
          <p:cNvSpPr/>
          <p:nvPr/>
        </p:nvSpPr>
        <p:spPr>
          <a:xfrm>
            <a:off x="1047733" y="6388746"/>
            <a:ext cx="5193148" cy="123809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23844"/>
              </a:lnSpc>
              <a:buNone/>
            </a:pPr>
            <a:r>
              <a:rPr lang="en-US" sz="2250" dirty="0">
                <a:solidFill>
                  <a:srgbClr val="4A42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Aunque sea part-time. Sin un doliente, la gestión queda enterrada bajo la urgencia de la cosecha.</a:t>
            </a:r>
            <a:endParaRPr lang="en-US" sz="2250" dirty="0"/>
          </a:p>
        </p:txBody>
      </p:sp>
      <p:sp>
        <p:nvSpPr>
          <p:cNvPr id="9" name="Shape 6"/>
          <p:cNvSpPr/>
          <p:nvPr/>
        </p:nvSpPr>
        <p:spPr>
          <a:xfrm>
            <a:off x="1047733" y="7855404"/>
            <a:ext cx="5041891" cy="1142790"/>
          </a:xfrm>
          <a:prstGeom prst="rect">
            <a:avLst/>
          </a:prstGeom>
          <a:solidFill>
            <a:srgbClr val="E7DCC6"/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10" name="Text 7"/>
          <p:cNvSpPr/>
          <p:nvPr/>
        </p:nvSpPr>
        <p:spPr>
          <a:xfrm>
            <a:off x="1257283" y="8026854"/>
            <a:ext cx="4774048" cy="8379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23844"/>
              </a:lnSpc>
              <a:buNone/>
            </a:pPr>
            <a:r>
              <a:rPr lang="en-US" sz="2250" b="1" dirty="0">
                <a:solidFill>
                  <a:srgbClr val="1612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Acción: </a:t>
            </a:r>
            <a:r>
              <a:rPr lang="en-US" sz="2250" dirty="0">
                <a:solidFill>
                  <a:srgbClr val="16120E"/>
                </a:solidFill>
                <a:highlight>
                  <a:srgbClr val="E7DCC6"/>
                </a:highlight>
                <a:latin typeface="Georgia" pitchFamily="34" charset="0"/>
                <a:ea typeface="Georgia" pitchFamily="34" charset="-122"/>
                <a:cs typeface="Georgia" pitchFamily="34" charset="-120"/>
              </a:rPr>
              <a:t>dibujá el organigrama real de hoy, no el ideal de un libro.</a:t>
            </a:r>
            <a:endParaRPr lang="en-US" sz="2250" dirty="0"/>
          </a:p>
        </p:txBody>
      </p:sp>
      <p:sp>
        <p:nvSpPr>
          <p:cNvPr id="11" name="Shape 8"/>
          <p:cNvSpPr/>
          <p:nvPr/>
        </p:nvSpPr>
        <p:spPr>
          <a:xfrm>
            <a:off x="6622954" y="2523995"/>
            <a:ext cx="5041961" cy="35892"/>
          </a:xfrm>
          <a:prstGeom prst="rect">
            <a:avLst/>
          </a:prstGeom>
          <a:solidFill>
            <a:srgbClr val="16120E"/>
          </a:solidFill>
          <a:ln/>
        </p:spPr>
        <p:txBody>
          <a:bodyPr/>
          <a:lstStyle/>
          <a:p>
            <a:endParaRPr lang="es-AR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6622954" y="2826552"/>
            <a:ext cx="1428733" cy="1428733"/>
          </a:xfrm>
          <a:prstGeom prst="ellipse">
            <a:avLst/>
          </a:prstGeom>
        </p:spPr>
      </p:pic>
      <p:sp>
        <p:nvSpPr>
          <p:cNvPr id="13" name="Text 9"/>
          <p:cNvSpPr/>
          <p:nvPr/>
        </p:nvSpPr>
        <p:spPr>
          <a:xfrm>
            <a:off x="6622954" y="4464818"/>
            <a:ext cx="5546158" cy="723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87348"/>
              </a:lnSpc>
              <a:buNone/>
            </a:pPr>
            <a:r>
              <a:rPr lang="en-US" sz="5400" b="1" dirty="0">
                <a:solidFill>
                  <a:srgbClr val="C996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5400" dirty="0"/>
          </a:p>
        </p:txBody>
      </p:sp>
      <p:sp>
        <p:nvSpPr>
          <p:cNvPr id="14" name="Text 10"/>
          <p:cNvSpPr/>
          <p:nvPr/>
        </p:nvSpPr>
        <p:spPr>
          <a:xfrm>
            <a:off x="6622954" y="5322016"/>
            <a:ext cx="5193220" cy="91436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99653"/>
              </a:lnSpc>
              <a:buNone/>
            </a:pPr>
            <a:r>
              <a:rPr lang="en-US" sz="3000" b="1" dirty="0">
                <a:solidFill>
                  <a:srgbClr val="1612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Procesos. Documentar la supervivencia.</a:t>
            </a:r>
            <a:endParaRPr lang="en-US" sz="3000" dirty="0"/>
          </a:p>
        </p:txBody>
      </p:sp>
      <p:sp>
        <p:nvSpPr>
          <p:cNvPr id="15" name="Text 11"/>
          <p:cNvSpPr/>
          <p:nvPr/>
        </p:nvSpPr>
        <p:spPr>
          <a:xfrm>
            <a:off x="6622954" y="6388746"/>
            <a:ext cx="5546158" cy="43809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23844"/>
              </a:lnSpc>
              <a:buNone/>
            </a:pPr>
            <a:r>
              <a:rPr lang="en-US" sz="2250" dirty="0">
                <a:solidFill>
                  <a:srgbClr val="4A42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 hagas un manual entero.</a:t>
            </a:r>
            <a:endParaRPr lang="en-US" sz="2250" dirty="0"/>
          </a:p>
        </p:txBody>
      </p:sp>
      <p:sp>
        <p:nvSpPr>
          <p:cNvPr id="16" name="Shape 12"/>
          <p:cNvSpPr/>
          <p:nvPr/>
        </p:nvSpPr>
        <p:spPr>
          <a:xfrm>
            <a:off x="6622954" y="7055409"/>
            <a:ext cx="5041961" cy="1542788"/>
          </a:xfrm>
          <a:prstGeom prst="rect">
            <a:avLst/>
          </a:prstGeom>
          <a:solidFill>
            <a:srgbClr val="E7DCC6"/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17" name="Text 13"/>
          <p:cNvSpPr/>
          <p:nvPr/>
        </p:nvSpPr>
        <p:spPr>
          <a:xfrm>
            <a:off x="6832504" y="7226859"/>
            <a:ext cx="4774120" cy="12379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23844"/>
              </a:lnSpc>
              <a:buNone/>
            </a:pPr>
            <a:r>
              <a:rPr lang="en-US" sz="2250" b="1" dirty="0">
                <a:solidFill>
                  <a:srgbClr val="1612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Acción: </a:t>
            </a:r>
            <a:r>
              <a:rPr lang="en-US" sz="2250" dirty="0">
                <a:solidFill>
                  <a:srgbClr val="16120E"/>
                </a:solidFill>
                <a:highlight>
                  <a:srgbClr val="E7DCC6"/>
                </a:highlight>
                <a:latin typeface="Georgia" pitchFamily="34" charset="0"/>
                <a:ea typeface="Georgia" pitchFamily="34" charset="-122"/>
                <a:cs typeface="Georgia" pitchFamily="34" charset="-120"/>
              </a:rPr>
              <a:t>identificá la única tarea que se rompe cuando el dueño no está y escribila en media página.</a:t>
            </a:r>
            <a:endParaRPr lang="en-US" sz="2250" dirty="0"/>
          </a:p>
        </p:txBody>
      </p:sp>
      <p:sp>
        <p:nvSpPr>
          <p:cNvPr id="18" name="Shape 14"/>
          <p:cNvSpPr/>
          <p:nvPr/>
        </p:nvSpPr>
        <p:spPr>
          <a:xfrm>
            <a:off x="12198246" y="2523995"/>
            <a:ext cx="5041891" cy="35892"/>
          </a:xfrm>
          <a:prstGeom prst="rect">
            <a:avLst/>
          </a:prstGeom>
          <a:solidFill>
            <a:srgbClr val="16120E"/>
          </a:solidFill>
          <a:ln/>
        </p:spPr>
        <p:txBody>
          <a:bodyPr/>
          <a:lstStyle/>
          <a:p>
            <a:endParaRPr lang="es-AR"/>
          </a:p>
        </p:txBody>
      </p:sp>
      <p:pic>
        <p:nvPicPr>
          <p:cNvPr id="19" name="Image 2" descr="preencoded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12198246" y="2826552"/>
            <a:ext cx="1428733" cy="1428733"/>
          </a:xfrm>
          <a:prstGeom prst="ellipse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12198246" y="4464818"/>
            <a:ext cx="5546080" cy="723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87348"/>
              </a:lnSpc>
              <a:buNone/>
            </a:pPr>
            <a:r>
              <a:rPr lang="en-US" sz="5400" b="1" dirty="0">
                <a:solidFill>
                  <a:srgbClr val="4F7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5400" dirty="0"/>
          </a:p>
        </p:txBody>
      </p:sp>
      <p:sp>
        <p:nvSpPr>
          <p:cNvPr id="21" name="Text 16"/>
          <p:cNvSpPr/>
          <p:nvPr/>
        </p:nvSpPr>
        <p:spPr>
          <a:xfrm>
            <a:off x="12198246" y="5322016"/>
            <a:ext cx="5193148" cy="91436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99653"/>
              </a:lnSpc>
              <a:buNone/>
            </a:pPr>
            <a:r>
              <a:rPr lang="en-US" sz="3000" b="1" dirty="0">
                <a:solidFill>
                  <a:srgbClr val="1612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Desarrollo. Delegar con criterio escrito.</a:t>
            </a:r>
            <a:endParaRPr lang="en-US" sz="3000" dirty="0"/>
          </a:p>
        </p:txBody>
      </p:sp>
      <p:sp>
        <p:nvSpPr>
          <p:cNvPr id="22" name="Text 17"/>
          <p:cNvSpPr/>
          <p:nvPr/>
        </p:nvSpPr>
        <p:spPr>
          <a:xfrm>
            <a:off x="12198246" y="6388746"/>
            <a:ext cx="5546080" cy="43809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23844"/>
              </a:lnSpc>
              <a:buNone/>
            </a:pPr>
            <a:r>
              <a:rPr lang="en-US" sz="2250" dirty="0">
                <a:solidFill>
                  <a:srgbClr val="4A42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 delegás la tarea: delegás el criterio.</a:t>
            </a:r>
            <a:endParaRPr lang="en-US" sz="2250" dirty="0"/>
          </a:p>
        </p:txBody>
      </p:sp>
      <p:sp>
        <p:nvSpPr>
          <p:cNvPr id="23" name="Shape 18"/>
          <p:cNvSpPr/>
          <p:nvPr/>
        </p:nvSpPr>
        <p:spPr>
          <a:xfrm>
            <a:off x="12198246" y="7055409"/>
            <a:ext cx="5041891" cy="1542788"/>
          </a:xfrm>
          <a:prstGeom prst="rect">
            <a:avLst/>
          </a:prstGeom>
          <a:solidFill>
            <a:srgbClr val="E7DCC6"/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24" name="Text 19"/>
          <p:cNvSpPr/>
          <p:nvPr/>
        </p:nvSpPr>
        <p:spPr>
          <a:xfrm>
            <a:off x="12407796" y="7226859"/>
            <a:ext cx="4774048" cy="12379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23844"/>
              </a:lnSpc>
              <a:buNone/>
            </a:pPr>
            <a:r>
              <a:rPr lang="en-US" sz="2250" b="1" dirty="0">
                <a:solidFill>
                  <a:srgbClr val="1612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Acción: </a:t>
            </a:r>
            <a:r>
              <a:rPr lang="en-US" sz="2250" dirty="0">
                <a:solidFill>
                  <a:srgbClr val="16120E"/>
                </a:solidFill>
                <a:highlight>
                  <a:srgbClr val="E7DCC6"/>
                </a:highlight>
                <a:latin typeface="Georgia" pitchFamily="34" charset="0"/>
                <a:ea typeface="Georgia" pitchFamily="34" charset="-122"/>
                <a:cs typeface="Georgia" pitchFamily="34" charset="-120"/>
              </a:rPr>
              <a:t>elegí una sola decisión cotidiana y escribí 3 criterios objetivos para resolverla.</a:t>
            </a:r>
            <a:endParaRPr lang="en-US" sz="225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16120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47733" y="1953161"/>
            <a:ext cx="17811721" cy="7581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91716"/>
              </a:lnSpc>
              <a:buNone/>
            </a:pPr>
            <a:r>
              <a:rPr lang="en-US" sz="5400" b="1" kern="0" spc="-108" dirty="0">
                <a:solidFill>
                  <a:srgbClr val="F2ED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Las preguntas que deja el diagnóstico</a:t>
            </a:r>
            <a:endParaRPr lang="en-US" sz="5400" dirty="0"/>
          </a:p>
        </p:txBody>
      </p:sp>
      <p:sp>
        <p:nvSpPr>
          <p:cNvPr id="3" name="Text 1"/>
          <p:cNvSpPr/>
          <p:nvPr/>
        </p:nvSpPr>
        <p:spPr>
          <a:xfrm>
            <a:off x="1047733" y="3358971"/>
            <a:ext cx="1123933" cy="95250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86729"/>
              </a:lnSpc>
              <a:buNone/>
            </a:pPr>
            <a:r>
              <a:rPr lang="en-US" sz="7200" b="1" dirty="0">
                <a:solidFill>
                  <a:srgbClr val="E0A3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7200" dirty="0"/>
          </a:p>
        </p:txBody>
      </p:sp>
      <p:sp>
        <p:nvSpPr>
          <p:cNvPr id="4" name="Text 2"/>
          <p:cNvSpPr/>
          <p:nvPr/>
        </p:nvSpPr>
        <p:spPr>
          <a:xfrm>
            <a:off x="2400196" y="3735835"/>
            <a:ext cx="15285211" cy="107826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13645"/>
              </a:lnSpc>
              <a:buNone/>
            </a:pPr>
            <a:r>
              <a:rPr lang="en-US" sz="3150" dirty="0">
                <a:solidFill>
                  <a:srgbClr val="F2EDE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¿Cuánto de lo que hoy funciona en el campo depende exclusivamente de tu presencia física?</a:t>
            </a:r>
            <a:endParaRPr lang="en-US" sz="3150" dirty="0"/>
          </a:p>
        </p:txBody>
      </p:sp>
      <p:sp>
        <p:nvSpPr>
          <p:cNvPr id="5" name="Text 3"/>
          <p:cNvSpPr/>
          <p:nvPr/>
        </p:nvSpPr>
        <p:spPr>
          <a:xfrm>
            <a:off x="1047733" y="5233127"/>
            <a:ext cx="1123933" cy="95250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86729"/>
              </a:lnSpc>
              <a:buNone/>
            </a:pPr>
            <a:r>
              <a:rPr lang="en-US" sz="7200" b="1" dirty="0">
                <a:solidFill>
                  <a:srgbClr val="E0A3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7200" dirty="0"/>
          </a:p>
        </p:txBody>
      </p:sp>
      <p:sp>
        <p:nvSpPr>
          <p:cNvPr id="6" name="Text 4"/>
          <p:cNvSpPr/>
          <p:nvPr/>
        </p:nvSpPr>
        <p:spPr>
          <a:xfrm>
            <a:off x="2400196" y="5609991"/>
            <a:ext cx="15285211" cy="107826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13645"/>
              </a:lnSpc>
              <a:buNone/>
            </a:pPr>
            <a:r>
              <a:rPr lang="en-US" sz="3150" dirty="0">
                <a:solidFill>
                  <a:srgbClr val="F2EDE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Si tuvieras que ausentarte un mes de imprevisto, ¿qué decisiones críticas quedarían sin tomar?</a:t>
            </a:r>
            <a:endParaRPr lang="en-US" sz="3150" dirty="0"/>
          </a:p>
        </p:txBody>
      </p:sp>
      <p:sp>
        <p:nvSpPr>
          <p:cNvPr id="7" name="Text 5"/>
          <p:cNvSpPr/>
          <p:nvPr/>
        </p:nvSpPr>
        <p:spPr>
          <a:xfrm>
            <a:off x="1047733" y="7107284"/>
            <a:ext cx="1123933" cy="95250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86729"/>
              </a:lnSpc>
              <a:buNone/>
            </a:pPr>
            <a:r>
              <a:rPr lang="en-US" sz="7200" b="1" dirty="0">
                <a:solidFill>
                  <a:srgbClr val="E0A3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7200" dirty="0"/>
          </a:p>
        </p:txBody>
      </p:sp>
      <p:sp>
        <p:nvSpPr>
          <p:cNvPr id="8" name="Text 6"/>
          <p:cNvSpPr/>
          <p:nvPr/>
        </p:nvSpPr>
        <p:spPr>
          <a:xfrm>
            <a:off x="2400196" y="7484148"/>
            <a:ext cx="15285211" cy="107826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13645"/>
              </a:lnSpc>
              <a:buNone/>
            </a:pPr>
            <a:r>
              <a:rPr lang="en-US" sz="3150" dirty="0">
                <a:solidFill>
                  <a:srgbClr val="F2EDE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¿Los valores que sostienen hoy a tu empresa sobrevivirían intactos a un recambio generacional?</a:t>
            </a:r>
            <a:endParaRPr lang="en-US" sz="315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2EDE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47733" y="1194018"/>
            <a:ext cx="9641079" cy="69817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90819"/>
              </a:lnSpc>
              <a:buNone/>
            </a:pPr>
            <a:r>
              <a:rPr lang="en-US" sz="4950" b="1" kern="0" spc="-99" dirty="0">
                <a:solidFill>
                  <a:srgbClr val="1612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 que esto nos dice</a:t>
            </a:r>
            <a:endParaRPr lang="en-US" sz="4950" dirty="0"/>
          </a:p>
        </p:txBody>
      </p:sp>
      <p:sp>
        <p:nvSpPr>
          <p:cNvPr id="3" name="Text 1"/>
          <p:cNvSpPr/>
          <p:nvPr/>
        </p:nvSpPr>
        <p:spPr>
          <a:xfrm>
            <a:off x="672176" y="2225501"/>
            <a:ext cx="9027556" cy="291799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22990"/>
              </a:lnSpc>
              <a:buNone/>
            </a:pPr>
            <a:r>
              <a:rPr lang="en-US" sz="2800" dirty="0">
                <a:solidFill>
                  <a:srgbClr val="16120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Ninguna de las 18 empresas llegó al </a:t>
            </a:r>
            <a:r>
              <a:rPr lang="en-US" sz="2800" b="1" dirty="0">
                <a:solidFill>
                  <a:srgbClr val="16120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nivel reactivo </a:t>
            </a:r>
            <a:r>
              <a:rPr lang="en-US" sz="2800" dirty="0">
                <a:solidFill>
                  <a:srgbClr val="16120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por descuido, y ninguna llegó al </a:t>
            </a:r>
            <a:r>
              <a:rPr lang="en-US" sz="2800" b="1" dirty="0">
                <a:solidFill>
                  <a:srgbClr val="16120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estratégico</a:t>
            </a:r>
            <a:r>
              <a:rPr lang="en-US" sz="2800" dirty="0">
                <a:solidFill>
                  <a:srgbClr val="16120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por suerte. </a:t>
            </a:r>
          </a:p>
          <a:p>
            <a:pPr marL="0" indent="0" algn="l">
              <a:lnSpc>
                <a:spcPct val="122990"/>
              </a:lnSpc>
              <a:buNone/>
            </a:pPr>
            <a:endParaRPr lang="en-US" sz="2800" dirty="0">
              <a:solidFill>
                <a:srgbClr val="16120E"/>
              </a:solidFill>
              <a:latin typeface="Georgia" pitchFamily="34" charset="0"/>
              <a:ea typeface="Georgia" pitchFamily="34" charset="-122"/>
              <a:cs typeface="Georgia" pitchFamily="34" charset="-120"/>
            </a:endParaRPr>
          </a:p>
          <a:p>
            <a:pPr marL="0" indent="0" algn="l">
              <a:lnSpc>
                <a:spcPct val="122990"/>
              </a:lnSpc>
              <a:buNone/>
            </a:pPr>
            <a:r>
              <a:rPr lang="en-US" sz="2800" dirty="0">
                <a:solidFill>
                  <a:srgbClr val="16120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Las dos que hoy están arriba de la escala tienen la misma informalidad de origen, pero en algún momento alguien se sentó a diseñar un proceso en vez de dejar que “se diera así”.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72176" y="5476810"/>
            <a:ext cx="9027556" cy="258468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lnSpc>
                <a:spcPct val="122990"/>
              </a:lnSpc>
              <a:buNone/>
            </a:pPr>
            <a:r>
              <a:rPr lang="en-US" sz="2800" dirty="0">
                <a:solidFill>
                  <a:srgbClr val="4A42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Las 12 empresas en </a:t>
            </a:r>
            <a:r>
              <a:rPr lang="en-US" sz="2800" b="1" dirty="0">
                <a:solidFill>
                  <a:srgbClr val="4A42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nivel definido </a:t>
            </a:r>
            <a:r>
              <a:rPr lang="en-US" sz="2800" dirty="0">
                <a:solidFill>
                  <a:srgbClr val="4A42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están exactamente en el punto donde ese salto todavía se puede decidir a conciencia. </a:t>
            </a:r>
          </a:p>
          <a:p>
            <a:pPr marL="0" indent="0" algn="l">
              <a:lnSpc>
                <a:spcPct val="122990"/>
              </a:lnSpc>
              <a:buNone/>
            </a:pPr>
            <a:endParaRPr lang="en-US" sz="2800" dirty="0">
              <a:solidFill>
                <a:srgbClr val="4A423A"/>
              </a:solidFill>
              <a:latin typeface="Georgia" pitchFamily="34" charset="0"/>
              <a:ea typeface="Georgia" pitchFamily="34" charset="-122"/>
              <a:cs typeface="Georgia" pitchFamily="34" charset="-120"/>
            </a:endParaRPr>
          </a:p>
          <a:p>
            <a:pPr marL="0" indent="0" algn="l">
              <a:lnSpc>
                <a:spcPct val="122990"/>
              </a:lnSpc>
              <a:buNone/>
            </a:pPr>
            <a:r>
              <a:rPr lang="en-US" sz="3000" b="1" dirty="0">
                <a:solidFill>
                  <a:srgbClr val="4A42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 alcanza con sostener lo que ya funciona: hay que hacer crecer la parte que nadie diseñó</a:t>
            </a:r>
            <a:r>
              <a:rPr lang="en-US" sz="2800" dirty="0">
                <a:solidFill>
                  <a:srgbClr val="4A42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.</a:t>
            </a:r>
            <a:endParaRPr lang="en-US" sz="28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rcRect l="18956" r="18956"/>
          <a:stretch/>
        </p:blipFill>
        <p:spPr>
          <a:xfrm>
            <a:off x="10230846" y="1747157"/>
            <a:ext cx="7624468" cy="6678386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16120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19166" y="2150686"/>
            <a:ext cx="14716096" cy="163823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lnSpc>
                <a:spcPct val="105524"/>
              </a:lnSpc>
              <a:buNone/>
            </a:pPr>
            <a:r>
              <a:rPr lang="en-US" sz="5250" dirty="0">
                <a:solidFill>
                  <a:srgbClr val="F2EDE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“La empresa no fracasa por falta de procesos, sino por no desarrollar a las personas que los sostienen.”</a:t>
            </a:r>
            <a:endParaRPr lang="en-US" sz="5250" dirty="0"/>
          </a:p>
        </p:txBody>
      </p:sp>
      <p:sp>
        <p:nvSpPr>
          <p:cNvPr id="3" name="Text 1"/>
          <p:cNvSpPr/>
          <p:nvPr/>
        </p:nvSpPr>
        <p:spPr>
          <a:xfrm>
            <a:off x="1480424" y="4552984"/>
            <a:ext cx="12753946" cy="118103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ctr">
              <a:lnSpc>
                <a:spcPct val="108874"/>
              </a:lnSpc>
              <a:buNone/>
            </a:pPr>
            <a:r>
              <a:rPr lang="en-US" sz="4400" b="1" dirty="0">
                <a:solidFill>
                  <a:srgbClr val="E0A3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 legado no es el campo. </a:t>
            </a:r>
          </a:p>
          <a:p>
            <a:pPr marL="0" indent="0" algn="ctr">
              <a:lnSpc>
                <a:spcPct val="108874"/>
              </a:lnSpc>
              <a:buNone/>
            </a:pPr>
            <a:r>
              <a:rPr lang="en-US" sz="4400" b="1" dirty="0">
                <a:solidFill>
                  <a:srgbClr val="E0A3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 el sistema que construís para operarlo.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1333466" y="6961964"/>
            <a:ext cx="17183109" cy="3252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950" b="1" kern="0" spc="429" dirty="0">
                <a:solidFill>
                  <a:srgbClr val="9C90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DIFERENCIA ESTÁ EN LA GENTE · CONGRESO CREA</a:t>
            </a:r>
            <a:endParaRPr lang="en-US" sz="195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16120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rcRect t="7696" b="17957"/>
          <a:stretch/>
        </p:blipFill>
        <p:spPr>
          <a:xfrm>
            <a:off x="1047733" y="1619268"/>
            <a:ext cx="6815662" cy="7238934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720593" y="2321823"/>
            <a:ext cx="9371498" cy="14668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87248"/>
              </a:lnSpc>
              <a:buNone/>
            </a:pPr>
            <a:r>
              <a:rPr lang="en-US" sz="11250" b="1" kern="0" spc="-337" dirty="0">
                <a:solidFill>
                  <a:srgbClr val="F2ED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Gracias</a:t>
            </a:r>
            <a:endParaRPr lang="en-US" sz="11250" dirty="0"/>
          </a:p>
        </p:txBody>
      </p:sp>
      <p:sp>
        <p:nvSpPr>
          <p:cNvPr id="4" name="Text 1"/>
          <p:cNvSpPr/>
          <p:nvPr/>
        </p:nvSpPr>
        <p:spPr>
          <a:xfrm>
            <a:off x="8720593" y="4093421"/>
            <a:ext cx="8775130" cy="106676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18190"/>
              </a:lnSpc>
              <a:buNone/>
            </a:pPr>
            <a:r>
              <a:rPr lang="en-US" sz="3000" dirty="0">
                <a:solidFill>
                  <a:srgbClr val="D6CBB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Gracias por el tiempo y por los datos que hicieron posible este diagnóstico.</a:t>
            </a:r>
            <a:endParaRPr lang="en-US" sz="3000" dirty="0"/>
          </a:p>
        </p:txBody>
      </p:sp>
      <p:sp>
        <p:nvSpPr>
          <p:cNvPr id="5" name="Shape 2"/>
          <p:cNvSpPr/>
          <p:nvPr/>
        </p:nvSpPr>
        <p:spPr>
          <a:xfrm>
            <a:off x="8720593" y="5655417"/>
            <a:ext cx="8519543" cy="17946"/>
          </a:xfrm>
          <a:prstGeom prst="rect">
            <a:avLst/>
          </a:prstGeom>
          <a:solidFill>
            <a:srgbClr val="4A423A"/>
          </a:solidFill>
          <a:ln/>
        </p:spPr>
        <p:txBody>
          <a:bodyPr/>
          <a:lstStyle/>
          <a:p>
            <a:endParaRPr lang="es-AR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20593" y="6016228"/>
            <a:ext cx="2460693" cy="1619198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8720593" y="7787757"/>
            <a:ext cx="3726946" cy="405991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00" dirty="0">
                <a:solidFill>
                  <a:srgbClr val="9C908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La diferencia está en la gente</a:t>
            </a:r>
            <a:endParaRPr lang="en-US" sz="2100" dirty="0"/>
          </a:p>
        </p:txBody>
      </p:sp>
      <p:sp>
        <p:nvSpPr>
          <p:cNvPr id="8" name="Shape 8">
            <a:extLst>
              <a:ext uri="{FF2B5EF4-FFF2-40B4-BE49-F238E27FC236}">
                <a16:creationId xmlns:a16="http://schemas.microsoft.com/office/drawing/2014/main" id="{07747D44-B5FF-72DF-1774-8A2251095213}"/>
              </a:ext>
            </a:extLst>
          </p:cNvPr>
          <p:cNvSpPr/>
          <p:nvPr/>
        </p:nvSpPr>
        <p:spPr>
          <a:xfrm>
            <a:off x="13898201" y="8553542"/>
            <a:ext cx="3342006" cy="106666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50800" dir="16200000" algn="bl" rotWithShape="0">
              <a:srgbClr val="16120E">
                <a:alpha val="12000"/>
              </a:srgbClr>
            </a:outerShdw>
          </a:effectLst>
        </p:spPr>
        <p:txBody>
          <a:bodyPr/>
          <a:lstStyle/>
          <a:p>
            <a:endParaRPr lang="es-AR"/>
          </a:p>
        </p:txBody>
      </p:sp>
      <p:pic>
        <p:nvPicPr>
          <p:cNvPr id="9" name="Image 2" descr="preencoded.png">
            <a:extLst>
              <a:ext uri="{FF2B5EF4-FFF2-40B4-BE49-F238E27FC236}">
                <a16:creationId xmlns:a16="http://schemas.microsoft.com/office/drawing/2014/main" id="{161AB832-48FA-25ED-5E0B-D838AAE8D49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4050531" y="8667807"/>
            <a:ext cx="3037346" cy="838130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EDE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rcRect t="30722" b="50125"/>
          <a:stretch/>
        </p:blipFill>
        <p:spPr>
          <a:xfrm>
            <a:off x="0" y="0"/>
            <a:ext cx="18287940" cy="1904931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1904931"/>
            <a:ext cx="18287940" cy="28531"/>
          </a:xfrm>
          <a:prstGeom prst="rect">
            <a:avLst/>
          </a:prstGeom>
          <a:solidFill>
            <a:srgbClr val="E0A32E"/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4" name="Text 1"/>
          <p:cNvSpPr/>
          <p:nvPr/>
        </p:nvSpPr>
        <p:spPr>
          <a:xfrm>
            <a:off x="1047733" y="3436573"/>
            <a:ext cx="13411284" cy="3252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950" b="1" kern="0" spc="429" dirty="0">
                <a:solidFill>
                  <a:srgbClr val="8A6A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 SEGUIR TRABAJÁNDOLO</a:t>
            </a:r>
            <a:endParaRPr lang="en-US" sz="1950" dirty="0"/>
          </a:p>
        </p:txBody>
      </p:sp>
      <p:sp>
        <p:nvSpPr>
          <p:cNvPr id="5" name="Text 2"/>
          <p:cNvSpPr/>
          <p:nvPr/>
        </p:nvSpPr>
        <p:spPr>
          <a:xfrm>
            <a:off x="1047733" y="3990372"/>
            <a:ext cx="13411284" cy="91436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87197"/>
              </a:lnSpc>
              <a:buNone/>
            </a:pPr>
            <a:r>
              <a:rPr lang="en-US" sz="6900" b="1" kern="0" spc="-207" dirty="0">
                <a:solidFill>
                  <a:srgbClr val="1612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Grupo Digital CREA</a:t>
            </a:r>
            <a:endParaRPr lang="en-US" sz="6900" dirty="0"/>
          </a:p>
        </p:txBody>
      </p:sp>
      <p:sp>
        <p:nvSpPr>
          <p:cNvPr id="6" name="Text 3"/>
          <p:cNvSpPr/>
          <p:nvPr/>
        </p:nvSpPr>
        <p:spPr>
          <a:xfrm>
            <a:off x="1047733" y="5038036"/>
            <a:ext cx="13411284" cy="60381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95537"/>
              </a:lnSpc>
              <a:buNone/>
            </a:pPr>
            <a:r>
              <a:rPr lang="en-US" sz="4050" b="1" dirty="0">
                <a:solidFill>
                  <a:srgbClr val="1E7A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Liderando personas en el agro</a:t>
            </a:r>
            <a:endParaRPr lang="en-US" sz="4050" dirty="0"/>
          </a:p>
        </p:txBody>
      </p:sp>
      <p:sp>
        <p:nvSpPr>
          <p:cNvPr id="7" name="Text 4"/>
          <p:cNvSpPr/>
          <p:nvPr/>
        </p:nvSpPr>
        <p:spPr>
          <a:xfrm>
            <a:off x="1047733" y="5984682"/>
            <a:ext cx="11282351" cy="147804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22990"/>
              </a:lnSpc>
              <a:buNone/>
            </a:pPr>
            <a:r>
              <a:rPr lang="en-US" sz="2700" dirty="0">
                <a:solidFill>
                  <a:srgbClr val="4A42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La herramienta de trabajo para llevar este diagnóstico a la práctica: </a:t>
            </a:r>
            <a:r>
              <a:rPr lang="en-US" sz="2700" dirty="0" err="1">
                <a:solidFill>
                  <a:srgbClr val="4A42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estructura</a:t>
            </a:r>
            <a:r>
              <a:rPr lang="en-US" sz="2700" dirty="0">
                <a:solidFill>
                  <a:srgbClr val="4A42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, </a:t>
            </a:r>
            <a:r>
              <a:rPr lang="en-US" sz="2700" dirty="0" err="1">
                <a:solidFill>
                  <a:srgbClr val="4A42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procesos</a:t>
            </a:r>
            <a:r>
              <a:rPr lang="en-US" sz="2700" dirty="0">
                <a:solidFill>
                  <a:srgbClr val="4A42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, </a:t>
            </a:r>
            <a:r>
              <a:rPr lang="en-US" sz="2700" dirty="0" err="1">
                <a:solidFill>
                  <a:srgbClr val="4A42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desarrollo</a:t>
            </a:r>
            <a:r>
              <a:rPr lang="en-US" sz="2700" dirty="0">
                <a:solidFill>
                  <a:srgbClr val="4A42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y </a:t>
            </a:r>
            <a:r>
              <a:rPr lang="en-US" sz="2700" dirty="0" err="1">
                <a:solidFill>
                  <a:srgbClr val="4A42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cultura</a:t>
            </a:r>
            <a:r>
              <a:rPr lang="en-US" sz="2700" dirty="0">
                <a:solidFill>
                  <a:srgbClr val="4A42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, junto a </a:t>
            </a:r>
            <a:r>
              <a:rPr lang="en-US" sz="2700" dirty="0" err="1">
                <a:solidFill>
                  <a:srgbClr val="4A42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productores</a:t>
            </a:r>
            <a:r>
              <a:rPr lang="en-US" sz="2700" dirty="0">
                <a:solidFill>
                  <a:srgbClr val="4A42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y empresarios de </a:t>
            </a:r>
            <a:r>
              <a:rPr lang="en-US" sz="2700" dirty="0" err="1">
                <a:solidFill>
                  <a:srgbClr val="4A42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todo</a:t>
            </a:r>
            <a:r>
              <a:rPr lang="en-US" sz="2700" dirty="0">
                <a:solidFill>
                  <a:srgbClr val="4A42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el </a:t>
            </a:r>
            <a:r>
              <a:rPr lang="en-US" sz="2700" dirty="0" err="1">
                <a:solidFill>
                  <a:srgbClr val="4A42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país</a:t>
            </a:r>
            <a:r>
              <a:rPr lang="en-US" sz="2700" dirty="0">
                <a:solidFill>
                  <a:srgbClr val="4A42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.</a:t>
            </a:r>
            <a:endParaRPr lang="en-US" sz="2700" dirty="0"/>
          </a:p>
        </p:txBody>
      </p:sp>
      <p:sp>
        <p:nvSpPr>
          <p:cNvPr id="8" name="Text 5"/>
          <p:cNvSpPr/>
          <p:nvPr/>
        </p:nvSpPr>
        <p:spPr>
          <a:xfrm>
            <a:off x="1281927" y="7805562"/>
            <a:ext cx="2859916" cy="70209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1612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Reuniones virtuales entre pares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5143417" y="7805559"/>
            <a:ext cx="2152984" cy="70209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1612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Facilitación de especialistas</a:t>
            </a:r>
            <a:endParaRPr lang="en-US" sz="2400" dirty="0"/>
          </a:p>
        </p:txBody>
      </p:sp>
      <p:sp>
        <p:nvSpPr>
          <p:cNvPr id="10" name="Text 7"/>
          <p:cNvSpPr/>
          <p:nvPr/>
        </p:nvSpPr>
        <p:spPr>
          <a:xfrm>
            <a:off x="8532169" y="7802419"/>
            <a:ext cx="2895107" cy="70209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1612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Casos reales y aplicación práctica</a:t>
            </a:r>
            <a:endParaRPr lang="en-US" sz="2400" dirty="0"/>
          </a:p>
        </p:txBody>
      </p:sp>
      <p:sp>
        <p:nvSpPr>
          <p:cNvPr id="12" name="Shape 8"/>
          <p:cNvSpPr/>
          <p:nvPr/>
        </p:nvSpPr>
        <p:spPr>
          <a:xfrm>
            <a:off x="13898201" y="8553542"/>
            <a:ext cx="3342006" cy="106666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50800" dir="16200000" algn="bl" rotWithShape="0">
              <a:srgbClr val="16120E">
                <a:alpha val="12000"/>
              </a:srgbClr>
            </a:outerShdw>
          </a:effectLst>
        </p:spPr>
        <p:txBody>
          <a:bodyPr/>
          <a:lstStyle/>
          <a:p>
            <a:endParaRPr lang="es-AR"/>
          </a:p>
        </p:txBody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050531" y="8667807"/>
            <a:ext cx="3037346" cy="838130"/>
          </a:xfrm>
          <a:prstGeom prst="rect">
            <a:avLst/>
          </a:prstGeom>
        </p:spPr>
      </p:pic>
      <p:pic>
        <p:nvPicPr>
          <p:cNvPr id="1026" name="Picture 2">
            <a:extLst>
              <a:ext uri="{FF2B5EF4-FFF2-40B4-BE49-F238E27FC236}">
                <a16:creationId xmlns:a16="http://schemas.microsoft.com/office/drawing/2014/main" id="{5D23E4F7-0D67-4246-86BB-29712FDCA8A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200404" y="4119345"/>
            <a:ext cx="4076660" cy="40766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5" name="Text 7">
            <a:extLst>
              <a:ext uri="{FF2B5EF4-FFF2-40B4-BE49-F238E27FC236}">
                <a16:creationId xmlns:a16="http://schemas.microsoft.com/office/drawing/2014/main" id="{9FD34CBD-9C01-42F3-965A-C98D5AB958E3}"/>
              </a:ext>
            </a:extLst>
          </p:cNvPr>
          <p:cNvSpPr/>
          <p:nvPr/>
        </p:nvSpPr>
        <p:spPr>
          <a:xfrm>
            <a:off x="13163547" y="3009359"/>
            <a:ext cx="4150374" cy="91436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ctr">
              <a:buNone/>
            </a:pPr>
            <a:r>
              <a:rPr lang="en-US" sz="2400" b="1" dirty="0" err="1">
                <a:solidFill>
                  <a:srgbClr val="1E7A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Escaneá</a:t>
            </a:r>
            <a:r>
              <a:rPr lang="en-US" sz="2400" b="1" dirty="0">
                <a:solidFill>
                  <a:srgbClr val="1E7A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el QR</a:t>
            </a:r>
          </a:p>
          <a:p>
            <a:pPr marL="0" indent="0" algn="ctr">
              <a:buNone/>
            </a:pPr>
            <a:r>
              <a:rPr lang="en-US" sz="2200" b="1" dirty="0" err="1">
                <a:solidFill>
                  <a:srgbClr val="16120E"/>
                </a:solidFill>
                <a:latin typeface="Arial" pitchFamily="34" charset="0"/>
                <a:cs typeface="Arial" pitchFamily="34" charset="-120"/>
              </a:rPr>
              <a:t>Te</a:t>
            </a:r>
            <a:r>
              <a:rPr lang="en-US" sz="2200" b="1" dirty="0">
                <a:solidFill>
                  <a:srgbClr val="16120E"/>
                </a:solidFill>
                <a:latin typeface="Arial" pitchFamily="34" charset="0"/>
                <a:cs typeface="Arial" pitchFamily="34" charset="-120"/>
              </a:rPr>
              <a:t> </a:t>
            </a:r>
            <a:r>
              <a:rPr lang="en-US" sz="2200" b="1" dirty="0" err="1">
                <a:solidFill>
                  <a:srgbClr val="16120E"/>
                </a:solidFill>
                <a:latin typeface="Arial" pitchFamily="34" charset="0"/>
                <a:cs typeface="Arial" pitchFamily="34" charset="-120"/>
              </a:rPr>
              <a:t>contamos</a:t>
            </a:r>
            <a:r>
              <a:rPr lang="en-US" sz="2200" b="1" dirty="0">
                <a:solidFill>
                  <a:srgbClr val="16120E"/>
                </a:solidFill>
                <a:latin typeface="Arial" pitchFamily="34" charset="0"/>
                <a:cs typeface="Arial" pitchFamily="34" charset="-120"/>
              </a:rPr>
              <a:t> </a:t>
            </a:r>
            <a:r>
              <a:rPr lang="en-US" sz="2200" b="1" dirty="0" err="1">
                <a:solidFill>
                  <a:srgbClr val="16120E"/>
                </a:solidFill>
                <a:latin typeface="Arial" pitchFamily="34" charset="0"/>
                <a:cs typeface="Arial" pitchFamily="34" charset="-120"/>
              </a:rPr>
              <a:t>cómo</a:t>
            </a:r>
            <a:r>
              <a:rPr lang="en-US" sz="2200" b="1" dirty="0">
                <a:solidFill>
                  <a:srgbClr val="16120E"/>
                </a:solidFill>
                <a:latin typeface="Arial" pitchFamily="34" charset="0"/>
                <a:cs typeface="Arial" pitchFamily="34" charset="-120"/>
              </a:rPr>
              <a:t> </a:t>
            </a:r>
            <a:r>
              <a:rPr lang="en-US" sz="2200" b="1" dirty="0" err="1">
                <a:solidFill>
                  <a:srgbClr val="16120E"/>
                </a:solidFill>
                <a:latin typeface="Arial" pitchFamily="34" charset="0"/>
                <a:cs typeface="Arial" pitchFamily="34" charset="-120"/>
              </a:rPr>
              <a:t>funciona</a:t>
            </a:r>
            <a:r>
              <a:rPr lang="en-US" sz="2200" b="1" dirty="0">
                <a:solidFill>
                  <a:srgbClr val="16120E"/>
                </a:solidFill>
                <a:latin typeface="Arial" pitchFamily="34" charset="0"/>
                <a:cs typeface="Arial" pitchFamily="34" charset="-120"/>
              </a:rPr>
              <a:t> y </a:t>
            </a:r>
            <a:r>
              <a:rPr lang="en-US" sz="2200" b="1" dirty="0" err="1">
                <a:solidFill>
                  <a:srgbClr val="16120E"/>
                </a:solidFill>
                <a:latin typeface="Arial" pitchFamily="34" charset="0"/>
                <a:cs typeface="Arial" pitchFamily="34" charset="-120"/>
              </a:rPr>
              <a:t>cómo</a:t>
            </a:r>
            <a:r>
              <a:rPr lang="en-US" sz="2200" b="1" dirty="0">
                <a:solidFill>
                  <a:srgbClr val="16120E"/>
                </a:solidFill>
                <a:latin typeface="Arial" pitchFamily="34" charset="0"/>
                <a:cs typeface="Arial" pitchFamily="34" charset="-120"/>
              </a:rPr>
              <a:t> </a:t>
            </a:r>
            <a:r>
              <a:rPr lang="en-US" sz="2200" b="1" dirty="0" err="1">
                <a:solidFill>
                  <a:srgbClr val="16120E"/>
                </a:solidFill>
                <a:latin typeface="Arial" pitchFamily="34" charset="0"/>
                <a:cs typeface="Arial" pitchFamily="34" charset="-120"/>
              </a:rPr>
              <a:t>podés</a:t>
            </a:r>
            <a:r>
              <a:rPr lang="en-US" sz="2200" b="1" dirty="0">
                <a:solidFill>
                  <a:srgbClr val="16120E"/>
                </a:solidFill>
                <a:latin typeface="Arial" pitchFamily="34" charset="0"/>
                <a:cs typeface="Arial" pitchFamily="34" charset="-120"/>
              </a:rPr>
              <a:t> </a:t>
            </a:r>
            <a:r>
              <a:rPr lang="en-US" sz="2200" b="1" dirty="0" err="1">
                <a:solidFill>
                  <a:srgbClr val="16120E"/>
                </a:solidFill>
                <a:latin typeface="Arial" pitchFamily="34" charset="0"/>
                <a:cs typeface="Arial" pitchFamily="34" charset="-120"/>
              </a:rPr>
              <a:t>sumarte</a:t>
            </a:r>
            <a:endParaRPr lang="en-US" sz="2200" b="1" dirty="0"/>
          </a:p>
        </p:txBody>
      </p:sp>
      <p:pic>
        <p:nvPicPr>
          <p:cNvPr id="16" name="Gráfico 15" descr="Marca de verificación">
            <a:extLst>
              <a:ext uri="{FF2B5EF4-FFF2-40B4-BE49-F238E27FC236}">
                <a16:creationId xmlns:a16="http://schemas.microsoft.com/office/drawing/2014/main" id="{BF473274-ABF7-49EE-B0BB-323E8CCE832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961863" y="7924869"/>
            <a:ext cx="457200" cy="457200"/>
          </a:xfrm>
          <a:prstGeom prst="rect">
            <a:avLst/>
          </a:prstGeom>
        </p:spPr>
      </p:pic>
      <p:pic>
        <p:nvPicPr>
          <p:cNvPr id="18" name="Gráfico 17" descr="Marca de verificación">
            <a:extLst>
              <a:ext uri="{FF2B5EF4-FFF2-40B4-BE49-F238E27FC236}">
                <a16:creationId xmlns:a16="http://schemas.microsoft.com/office/drawing/2014/main" id="{E26B10CF-27DB-491D-8491-2522D35B475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582086" y="7924869"/>
            <a:ext cx="457200" cy="457200"/>
          </a:xfrm>
          <a:prstGeom prst="rect">
            <a:avLst/>
          </a:prstGeom>
        </p:spPr>
      </p:pic>
      <p:pic>
        <p:nvPicPr>
          <p:cNvPr id="19" name="Gráfico 18" descr="Marca de verificación">
            <a:extLst>
              <a:ext uri="{FF2B5EF4-FFF2-40B4-BE49-F238E27FC236}">
                <a16:creationId xmlns:a16="http://schemas.microsoft.com/office/drawing/2014/main" id="{0396D1BB-8957-4590-B138-19362D91463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19358" y="7864770"/>
            <a:ext cx="457200" cy="457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70973239"/>
      </p:ext>
    </p:extLst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120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51560" y="950976"/>
            <a:ext cx="1618488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5400" b="1">
                <a:solidFill>
                  <a:srgbClr val="F2EDE3"/>
                </a:solidFill>
                <a:latin typeface="Arial"/>
              </a:rPr>
              <a:t>Escala no es madurez</a:t>
            </a:r>
          </a:p>
        </p:txBody>
      </p:sp>
      <p:sp>
        <p:nvSpPr>
          <p:cNvPr id="3" name="Rectangle 2"/>
          <p:cNvSpPr/>
          <p:nvPr/>
        </p:nvSpPr>
        <p:spPr>
          <a:xfrm>
            <a:off x="1051560" y="2331720"/>
            <a:ext cx="5093208" cy="45720"/>
          </a:xfrm>
          <a:prstGeom prst="rect">
            <a:avLst/>
          </a:prstGeom>
          <a:solidFill>
            <a:srgbClr val="B455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051560" y="2651760"/>
            <a:ext cx="5212080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200" b="1">
                <a:solidFill>
                  <a:srgbClr val="B4552F"/>
                </a:solidFill>
                <a:latin typeface="Arial"/>
              </a:rPr>
              <a:t>3.7 y 3.8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3794760"/>
            <a:ext cx="512064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00" b="1">
                <a:solidFill>
                  <a:srgbClr val="F2EDE3"/>
                </a:solidFill>
                <a:latin typeface="Arial"/>
              </a:rPr>
              <a:t>Las dos mejores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" y="4480560"/>
            <a:ext cx="4937760" cy="2011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200" b="0">
                <a:solidFill>
                  <a:srgbClr val="D6CBB9"/>
                </a:solidFill>
                <a:latin typeface="Georgia"/>
              </a:rPr>
              <a:t>Agrícolas de 3 y 8 colaboradores. Las dos, empresas chicas.</a:t>
            </a:r>
          </a:p>
        </p:txBody>
      </p:sp>
      <p:sp>
        <p:nvSpPr>
          <p:cNvPr id="7" name="Rectangle 6"/>
          <p:cNvSpPr/>
          <p:nvPr/>
        </p:nvSpPr>
        <p:spPr>
          <a:xfrm>
            <a:off x="6601968" y="2331720"/>
            <a:ext cx="5093208" cy="45720"/>
          </a:xfrm>
          <a:prstGeom prst="rect">
            <a:avLst/>
          </a:prstGeom>
          <a:solidFill>
            <a:srgbClr val="E0A3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601968" y="2651760"/>
            <a:ext cx="5212080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200" b="1">
                <a:solidFill>
                  <a:srgbClr val="E0A32E"/>
                </a:solidFill>
                <a:latin typeface="Arial"/>
              </a:rPr>
              <a:t>3.0 a 3.4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01968" y="3794760"/>
            <a:ext cx="512064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00" b="1">
                <a:solidFill>
                  <a:srgbClr val="F2EDE3"/>
                </a:solidFill>
                <a:latin typeface="Arial"/>
              </a:rPr>
              <a:t>Las 4 de 75 colab.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01968" y="4480560"/>
            <a:ext cx="4937760" cy="2011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200" b="0">
                <a:solidFill>
                  <a:srgbClr val="D6CBB9"/>
                </a:solidFill>
                <a:latin typeface="Georgia"/>
              </a:rPr>
              <a:t>Tienen piso. Ninguna llegó arriba.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2152376" y="2331720"/>
            <a:ext cx="5093208" cy="45720"/>
          </a:xfrm>
          <a:prstGeom prst="rect">
            <a:avLst/>
          </a:prstGeom>
          <a:solidFill>
            <a:srgbClr val="D6CB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2152376" y="2651760"/>
            <a:ext cx="5212080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200" b="1">
                <a:solidFill>
                  <a:srgbClr val="D6CBB9"/>
                </a:solidFill>
                <a:latin typeface="Arial"/>
              </a:rPr>
              <a:t>&lt; 3.0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152376" y="3794760"/>
            <a:ext cx="512064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00" b="1">
                <a:solidFill>
                  <a:srgbClr val="F2EDE3"/>
                </a:solidFill>
                <a:latin typeface="Arial"/>
              </a:rPr>
              <a:t>Ganaderas de 8 colab.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152376" y="4480560"/>
            <a:ext cx="4937760" cy="2011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200" b="0">
                <a:solidFill>
                  <a:srgbClr val="D6CBB9"/>
                </a:solidFill>
                <a:latin typeface="Georgia"/>
              </a:rPr>
              <a:t>Cuatro de las cinco ganaderas. Ninguna pasa de 3.0.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51560" y="7040880"/>
            <a:ext cx="16184880" cy="1280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800" b="1">
                <a:solidFill>
                  <a:srgbClr val="E0A32E"/>
                </a:solidFill>
                <a:latin typeface="Arial"/>
              </a:rPr>
              <a:t>El tamaño te da un piso.</a:t>
            </a:r>
          </a:p>
          <a:p>
            <a:pPr algn="l">
              <a:lnSpc>
                <a:spcPct val="110000"/>
              </a:lnSpc>
            </a:pPr>
            <a:r>
              <a:rPr sz="2800" b="1">
                <a:solidFill>
                  <a:srgbClr val="E0A32E"/>
                </a:solidFill>
                <a:latin typeface="Arial"/>
              </a:rPr>
              <a:t>No te da diseño.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67</TotalTime>
  <Words>2205</Words>
  <Application>Microsoft Macintosh PowerPoint</Application>
  <PresentationFormat>Personalizado</PresentationFormat>
  <Paragraphs>290</Paragraphs>
  <Slides>27</Slides>
  <Notes>27</Notes>
  <HiddenSlides>0</HiddenSlides>
  <MMClips>0</MMClips>
  <ScaleCrop>false</ScaleCrop>
  <HeadingPairs>
    <vt:vector size="6" baseType="variant">
      <vt:variant>
        <vt:lpstr>Fuentes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27</vt:i4>
      </vt:variant>
    </vt:vector>
  </HeadingPairs>
  <TitlesOfParts>
    <vt:vector size="30" baseType="lpstr">
      <vt:lpstr>Arial</vt:lpstr>
      <vt:lpstr>Georgia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Fernando M. Preumayr</cp:lastModifiedBy>
  <cp:revision>5</cp:revision>
  <dcterms:created xsi:type="dcterms:W3CDTF">2026-09-17T13:47:07Z</dcterms:created>
  <dcterms:modified xsi:type="dcterms:W3CDTF">2026-10-04T17:21:29Z</dcterms:modified>
</cp:coreProperties>
</file>