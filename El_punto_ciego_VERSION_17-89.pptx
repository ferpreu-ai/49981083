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media/image10.svg" ContentType="image/svg+xml"/>
  <Override PartName="/ppt/media/image2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91" r:id="rId2"/>
    <p:sldId id="284" r:id="rId3"/>
    <p:sldId id="257" r:id="rId4"/>
    <p:sldId id="285" r:id="rId5"/>
    <p:sldId id="259" r:id="rId6"/>
    <p:sldId id="260" r:id="rId7"/>
    <p:sldId id="261" r:id="rId8"/>
    <p:sldId id="262" r:id="rId9"/>
    <p:sldId id="290" r:id="rId10"/>
    <p:sldId id="292" r:id="rId37"/>
    <p:sldId id="263" r:id="rId11"/>
    <p:sldId id="286" r:id="rId12"/>
    <p:sldId id="265" r:id="rId13"/>
    <p:sldId id="266" r:id="rId14"/>
    <p:sldId id="267" r:id="rId15"/>
    <p:sldId id="268" r:id="rId16"/>
    <p:sldId id="269" r:id="rId17"/>
    <p:sldId id="278" r:id="rId18"/>
    <p:sldId id="279" r:id="rId19"/>
    <p:sldId id="280" r:id="rId20"/>
    <p:sldId id="281" r:id="rId21"/>
    <p:sldId id="282" r:id="rId22"/>
    <p:sldId id="287" r:id="rId23"/>
    <p:sldId id="289" r:id="rId24"/>
    <p:sldId id="272" r:id="rId25"/>
    <p:sldId id="273" r:id="rId26"/>
    <p:sldId id="274" r:id="rId27"/>
    <p:sldId id="288" r:id="rId28"/>
    <p:sldId id="293" r:id="rId38"/>
    <p:sldId id="276" r:id="rId29"/>
    <p:sldId id="283" r:id="rId30"/>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A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6969"/>
    <p:restoredTop sz="96104"/>
  </p:normalViewPr>
  <p:slideViewPr>
    <p:cSldViewPr snapToGrid="0" snapToObjects="1">
      <p:cViewPr varScale="1">
        <p:scale>
          <a:sx n="75" d="100"/>
          <a:sy n="75" d="100"/>
        </p:scale>
        <p:origin x="216" y="23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30.xml"/><Relationship Id="rId30" Type="http://schemas.openxmlformats.org/officeDocument/2006/relationships/slide" Target="slides/slide31.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microsoft.com/office/2016/11/relationships/changesInfo" Target="changesInfos/changesInfo1.xml"/><Relationship Id="rId37" Type="http://schemas.openxmlformats.org/officeDocument/2006/relationships/slide" Target="slides/slide10.xml"/><Relationship Id="rId38" Type="http://schemas.openxmlformats.org/officeDocument/2006/relationships/slide" Target="slides/slide2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rnando M. Preumayr" userId="151c152d5858a9e7" providerId="LiveId" clId="{A28C2780-81B0-54D2-9935-9F0E6B5DF555}"/>
    <pc:docChg chg="custSel addSld delSld modSld">
      <pc:chgData name="Fernando M. Preumayr" userId="151c152d5858a9e7" providerId="LiveId" clId="{A28C2780-81B0-54D2-9935-9F0E6B5DF555}" dt="2026-10-06T19:56:07.136" v="28" actId="14100"/>
      <pc:docMkLst>
        <pc:docMk/>
      </pc:docMkLst>
      <pc:sldChg chg="modSp mod">
        <pc:chgData name="Fernando M. Preumayr" userId="151c152d5858a9e7" providerId="LiveId" clId="{A28C2780-81B0-54D2-9935-9F0E6B5DF555}" dt="2026-10-06T19:47:52.054" v="17" actId="14100"/>
        <pc:sldMkLst>
          <pc:docMk/>
          <pc:sldMk cId="0" sldId="284"/>
        </pc:sldMkLst>
        <pc:picChg chg="mod modCrop">
          <ac:chgData name="Fernando M. Preumayr" userId="151c152d5858a9e7" providerId="LiveId" clId="{A28C2780-81B0-54D2-9935-9F0E6B5DF555}" dt="2026-10-06T19:47:52.054" v="17" actId="14100"/>
          <ac:picMkLst>
            <pc:docMk/>
            <pc:sldMk cId="0" sldId="284"/>
            <ac:picMk id="2" creationId="{00000000-0000-0000-0000-000000000000}"/>
          </ac:picMkLst>
        </pc:picChg>
      </pc:sldChg>
      <pc:sldChg chg="modSp mod">
        <pc:chgData name="Fernando M. Preumayr" userId="151c152d5858a9e7" providerId="LiveId" clId="{A28C2780-81B0-54D2-9935-9F0E6B5DF555}" dt="2026-10-06T19:54:19.054" v="19" actId="14100"/>
        <pc:sldMkLst>
          <pc:docMk/>
          <pc:sldMk cId="0" sldId="285"/>
        </pc:sldMkLst>
        <pc:picChg chg="mod modCrop">
          <ac:chgData name="Fernando M. Preumayr" userId="151c152d5858a9e7" providerId="LiveId" clId="{A28C2780-81B0-54D2-9935-9F0E6B5DF555}" dt="2026-10-06T19:54:19.054" v="19" actId="14100"/>
          <ac:picMkLst>
            <pc:docMk/>
            <pc:sldMk cId="0" sldId="285"/>
            <ac:picMk id="2" creationId="{00000000-0000-0000-0000-000000000000}"/>
          </ac:picMkLst>
        </pc:picChg>
      </pc:sldChg>
      <pc:sldChg chg="modSp mod">
        <pc:chgData name="Fernando M. Preumayr" userId="151c152d5858a9e7" providerId="LiveId" clId="{A28C2780-81B0-54D2-9935-9F0E6B5DF555}" dt="2026-10-06T19:54:44.887" v="21" actId="14100"/>
        <pc:sldMkLst>
          <pc:docMk/>
          <pc:sldMk cId="0" sldId="286"/>
        </pc:sldMkLst>
        <pc:picChg chg="mod modCrop">
          <ac:chgData name="Fernando M. Preumayr" userId="151c152d5858a9e7" providerId="LiveId" clId="{A28C2780-81B0-54D2-9935-9F0E6B5DF555}" dt="2026-10-06T19:54:44.887" v="21" actId="14100"/>
          <ac:picMkLst>
            <pc:docMk/>
            <pc:sldMk cId="0" sldId="286"/>
            <ac:picMk id="2" creationId="{00000000-0000-0000-0000-000000000000}"/>
          </ac:picMkLst>
        </pc:picChg>
      </pc:sldChg>
      <pc:sldChg chg="modSp mod">
        <pc:chgData name="Fernando M. Preumayr" userId="151c152d5858a9e7" providerId="LiveId" clId="{A28C2780-81B0-54D2-9935-9F0E6B5DF555}" dt="2026-10-06T19:55:12.254" v="23" actId="14100"/>
        <pc:sldMkLst>
          <pc:docMk/>
          <pc:sldMk cId="0" sldId="287"/>
        </pc:sldMkLst>
        <pc:picChg chg="mod modCrop">
          <ac:chgData name="Fernando M. Preumayr" userId="151c152d5858a9e7" providerId="LiveId" clId="{A28C2780-81B0-54D2-9935-9F0E6B5DF555}" dt="2026-10-06T19:55:12.254" v="23" actId="14100"/>
          <ac:picMkLst>
            <pc:docMk/>
            <pc:sldMk cId="0" sldId="287"/>
            <ac:picMk id="2" creationId="{00000000-0000-0000-0000-000000000000}"/>
          </ac:picMkLst>
        </pc:picChg>
      </pc:sldChg>
      <pc:sldChg chg="modSp mod">
        <pc:chgData name="Fernando M. Preumayr" userId="151c152d5858a9e7" providerId="LiveId" clId="{A28C2780-81B0-54D2-9935-9F0E6B5DF555}" dt="2026-10-06T19:56:07.136" v="28" actId="14100"/>
        <pc:sldMkLst>
          <pc:docMk/>
          <pc:sldMk cId="0" sldId="288"/>
        </pc:sldMkLst>
        <pc:picChg chg="mod modCrop">
          <ac:chgData name="Fernando M. Preumayr" userId="151c152d5858a9e7" providerId="LiveId" clId="{A28C2780-81B0-54D2-9935-9F0E6B5DF555}" dt="2026-10-06T19:56:07.136" v="28" actId="14100"/>
          <ac:picMkLst>
            <pc:docMk/>
            <pc:sldMk cId="0" sldId="288"/>
            <ac:picMk id="2" creationId="{00000000-0000-0000-0000-000000000000}"/>
          </ac:picMkLst>
        </pc:picChg>
      </pc:sldChg>
      <pc:sldChg chg="modSp mod">
        <pc:chgData name="Fernando M. Preumayr" userId="151c152d5858a9e7" providerId="LiveId" clId="{A28C2780-81B0-54D2-9935-9F0E6B5DF555}" dt="2026-10-06T19:55:45.386" v="26" actId="1038"/>
        <pc:sldMkLst>
          <pc:docMk/>
          <pc:sldMk cId="0" sldId="289"/>
        </pc:sldMkLst>
        <pc:picChg chg="mod modCrop">
          <ac:chgData name="Fernando M. Preumayr" userId="151c152d5858a9e7" providerId="LiveId" clId="{A28C2780-81B0-54D2-9935-9F0E6B5DF555}" dt="2026-10-06T19:55:45.386" v="26" actId="1038"/>
          <ac:picMkLst>
            <pc:docMk/>
            <pc:sldMk cId="0" sldId="289"/>
            <ac:picMk id="2" creationId="{00000000-0000-0000-0000-000000000000}"/>
          </ac:picMkLst>
        </pc:picChg>
      </pc:sldChg>
      <pc:sldChg chg="add del">
        <pc:chgData name="Fernando M. Preumayr" userId="151c152d5858a9e7" providerId="LiveId" clId="{A28C2780-81B0-54D2-9935-9F0E6B5DF555}" dt="2026-10-05T22:40:37.519" v="1"/>
        <pc:sldMkLst>
          <pc:docMk/>
          <pc:sldMk cId="1583248182" sldId="291"/>
        </pc:sldMkLst>
      </pc:sldChg>
      <pc:sldChg chg="addSp modSp new mod setBg">
        <pc:chgData name="Fernando M. Preumayr" userId="151c152d5858a9e7" providerId="LiveId" clId="{A28C2780-81B0-54D2-9935-9F0E6B5DF555}" dt="2026-10-05T22:44:41.776" v="15" actId="1076"/>
        <pc:sldMkLst>
          <pc:docMk/>
          <pc:sldMk cId="3754107105" sldId="291"/>
        </pc:sldMkLst>
        <pc:spChg chg="add">
          <ac:chgData name="Fernando M. Preumayr" userId="151c152d5858a9e7" providerId="LiveId" clId="{A28C2780-81B0-54D2-9935-9F0E6B5DF555}" dt="2026-10-05T22:41:39.391" v="4" actId="26606"/>
          <ac:spMkLst>
            <pc:docMk/>
            <pc:sldMk cId="3754107105" sldId="291"/>
            <ac:spMk id="8" creationId="{42A4FC2C-047E-45A5-965D-8E1E3BF09BC6}"/>
          </ac:spMkLst>
        </pc:spChg>
        <pc:picChg chg="add mod">
          <ac:chgData name="Fernando M. Preumayr" userId="151c152d5858a9e7" providerId="LiveId" clId="{A28C2780-81B0-54D2-9935-9F0E6B5DF555}" dt="2026-10-05T22:41:39.391" v="4" actId="26606"/>
          <ac:picMkLst>
            <pc:docMk/>
            <pc:sldMk cId="3754107105" sldId="291"/>
            <ac:picMk id="3" creationId="{4F74C991-5C4A-F4C6-1010-15B8A88C580F}"/>
          </ac:picMkLst>
        </pc:picChg>
        <pc:picChg chg="add mod">
          <ac:chgData name="Fernando M. Preumayr" userId="151c152d5858a9e7" providerId="LiveId" clId="{A28C2780-81B0-54D2-9935-9F0E6B5DF555}" dt="2026-10-05T22:43:12.176" v="7" actId="1076"/>
          <ac:picMkLst>
            <pc:docMk/>
            <pc:sldMk cId="3754107105" sldId="291"/>
            <ac:picMk id="5" creationId="{83C823BC-00BB-DFE8-0C4B-27C03853586F}"/>
          </ac:picMkLst>
        </pc:picChg>
        <pc:picChg chg="add mod">
          <ac:chgData name="Fernando M. Preumayr" userId="151c152d5858a9e7" providerId="LiveId" clId="{A28C2780-81B0-54D2-9935-9F0E6B5DF555}" dt="2026-10-05T22:44:41.776" v="15" actId="1076"/>
          <ac:picMkLst>
            <pc:docMk/>
            <pc:sldMk cId="3754107105" sldId="291"/>
            <ac:picMk id="6" creationId="{3BB3AE22-305E-4A58-5EF4-DF1FCDE94E86}"/>
          </ac:picMkLst>
        </pc:picChg>
      </pc:sldChg>
      <pc:sldChg chg="add del setBg">
        <pc:chgData name="Fernando M. Preumayr" userId="151c152d5858a9e7" providerId="LiveId" clId="{A28C2780-81B0-54D2-9935-9F0E6B5DF555}" dt="2026-10-05T22:40:37.519" v="1"/>
        <pc:sldMkLst>
          <pc:docMk/>
          <pc:sldMk cId="1916192899" sldId="292"/>
        </pc:sldMkLst>
      </pc:sldChg>
      <pc:sldChg chg="add del">
        <pc:chgData name="Fernando M. Preumayr" userId="151c152d5858a9e7" providerId="LiveId" clId="{A28C2780-81B0-54D2-9935-9F0E6B5DF555}" dt="2026-10-05T22:40:37.519" v="1"/>
        <pc:sldMkLst>
          <pc:docMk/>
          <pc:sldMk cId="2055338089" sldId="293"/>
        </pc:sldMkLst>
      </pc:sldChg>
      <pc:sldChg chg="add del setBg">
        <pc:chgData name="Fernando M. Preumayr" userId="151c152d5858a9e7" providerId="LiveId" clId="{A28C2780-81B0-54D2-9935-9F0E6B5DF555}" dt="2026-10-05T22:40:37.519" v="1"/>
        <pc:sldMkLst>
          <pc:docMk/>
          <pc:sldMk cId="3477724462" sldId="294"/>
        </pc:sldMkLst>
      </pc:sldChg>
      <pc:sldChg chg="add del setBg">
        <pc:chgData name="Fernando M. Preumayr" userId="151c152d5858a9e7" providerId="LiveId" clId="{A28C2780-81B0-54D2-9935-9F0E6B5DF555}" dt="2026-10-05T22:40:37.519" v="1"/>
        <pc:sldMkLst>
          <pc:docMk/>
          <pc:sldMk cId="3570812773" sldId="295"/>
        </pc:sldMkLst>
      </pc:sldChg>
      <pc:sldChg chg="add del setBg">
        <pc:chgData name="Fernando M. Preumayr" userId="151c152d5858a9e7" providerId="LiveId" clId="{A28C2780-81B0-54D2-9935-9F0E6B5DF555}" dt="2026-10-05T22:40:37.519" v="1"/>
        <pc:sldMkLst>
          <pc:docMk/>
          <pc:sldMk cId="3799905200" sldId="296"/>
        </pc:sldMkLst>
      </pc:sldChg>
      <pc:sldChg chg="add del setBg">
        <pc:chgData name="Fernando M. Preumayr" userId="151c152d5858a9e7" providerId="LiveId" clId="{A28C2780-81B0-54D2-9935-9F0E6B5DF555}" dt="2026-10-05T22:40:37.519" v="1"/>
        <pc:sldMkLst>
          <pc:docMk/>
          <pc:sldMk cId="252970183" sldId="297"/>
        </pc:sldMkLst>
      </pc:sldChg>
      <pc:sldChg chg="add del setBg">
        <pc:chgData name="Fernando M. Preumayr" userId="151c152d5858a9e7" providerId="LiveId" clId="{A28C2780-81B0-54D2-9935-9F0E6B5DF555}" dt="2026-10-05T22:40:37.519" v="1"/>
        <pc:sldMkLst>
          <pc:docMk/>
          <pc:sldMk cId="114716947" sldId="298"/>
        </pc:sldMkLst>
      </pc:sldChg>
      <pc:sldChg chg="add del setBg">
        <pc:chgData name="Fernando M. Preumayr" userId="151c152d5858a9e7" providerId="LiveId" clId="{A28C2780-81B0-54D2-9935-9F0E6B5DF555}" dt="2026-10-05T22:40:37.519" v="1"/>
        <pc:sldMkLst>
          <pc:docMk/>
          <pc:sldMk cId="2800200944" sldId="299"/>
        </pc:sldMkLst>
      </pc:sldChg>
      <pc:sldChg chg="add del">
        <pc:chgData name="Fernando M. Preumayr" userId="151c152d5858a9e7" providerId="LiveId" clId="{A28C2780-81B0-54D2-9935-9F0E6B5DF555}" dt="2026-10-05T22:40:37.519" v="1"/>
        <pc:sldMkLst>
          <pc:docMk/>
          <pc:sldMk cId="2092027457" sldId="300"/>
        </pc:sldMkLst>
      </pc:sldChg>
      <pc:sldChg chg="add del setBg">
        <pc:chgData name="Fernando M. Preumayr" userId="151c152d5858a9e7" providerId="LiveId" clId="{A28C2780-81B0-54D2-9935-9F0E6B5DF555}" dt="2026-10-05T22:40:37.519" v="1"/>
        <pc:sldMkLst>
          <pc:docMk/>
          <pc:sldMk cId="3995058808" sldId="301"/>
        </pc:sldMkLst>
      </pc:sldChg>
      <pc:sldChg chg="add del setBg">
        <pc:chgData name="Fernando M. Preumayr" userId="151c152d5858a9e7" providerId="LiveId" clId="{A28C2780-81B0-54D2-9935-9F0E6B5DF555}" dt="2026-10-05T22:40:37.519" v="1"/>
        <pc:sldMkLst>
          <pc:docMk/>
          <pc:sldMk cId="151301126" sldId="302"/>
        </pc:sldMkLst>
      </pc:sldChg>
      <pc:sldChg chg="add del setBg">
        <pc:chgData name="Fernando M. Preumayr" userId="151c152d5858a9e7" providerId="LiveId" clId="{A28C2780-81B0-54D2-9935-9F0E6B5DF555}" dt="2026-10-05T22:40:37.519" v="1"/>
        <pc:sldMkLst>
          <pc:docMk/>
          <pc:sldMk cId="1459979828" sldId="303"/>
        </pc:sldMkLst>
      </pc:sldChg>
      <pc:sldChg chg="add del setBg">
        <pc:chgData name="Fernando M. Preumayr" userId="151c152d5858a9e7" providerId="LiveId" clId="{A28C2780-81B0-54D2-9935-9F0E6B5DF555}" dt="2026-10-05T22:40:37.519" v="1"/>
        <pc:sldMkLst>
          <pc:docMk/>
          <pc:sldMk cId="1565857932" sldId="304"/>
        </pc:sldMkLst>
      </pc:sldChg>
      <pc:sldChg chg="add del setBg">
        <pc:chgData name="Fernando M. Preumayr" userId="151c152d5858a9e7" providerId="LiveId" clId="{A28C2780-81B0-54D2-9935-9F0E6B5DF555}" dt="2026-10-05T22:40:37.519" v="1"/>
        <pc:sldMkLst>
          <pc:docMk/>
          <pc:sldMk cId="3088924431" sldId="305"/>
        </pc:sldMkLst>
      </pc:sldChg>
      <pc:sldChg chg="add del setBg">
        <pc:chgData name="Fernando M. Preumayr" userId="151c152d5858a9e7" providerId="LiveId" clId="{A28C2780-81B0-54D2-9935-9F0E6B5DF555}" dt="2026-10-05T22:40:37.519" v="1"/>
        <pc:sldMkLst>
          <pc:docMk/>
          <pc:sldMk cId="3441862982" sldId="306"/>
        </pc:sldMkLst>
      </pc:sldChg>
      <pc:sldChg chg="add del setBg">
        <pc:chgData name="Fernando M. Preumayr" userId="151c152d5858a9e7" providerId="LiveId" clId="{A28C2780-81B0-54D2-9935-9F0E6B5DF555}" dt="2026-10-05T22:40:37.519" v="1"/>
        <pc:sldMkLst>
          <pc:docMk/>
          <pc:sldMk cId="1461267777" sldId="307"/>
        </pc:sldMkLst>
      </pc:sldChg>
      <pc:sldChg chg="add del setBg">
        <pc:chgData name="Fernando M. Preumayr" userId="151c152d5858a9e7" providerId="LiveId" clId="{A28C2780-81B0-54D2-9935-9F0E6B5DF555}" dt="2026-10-05T22:40:37.519" v="1"/>
        <pc:sldMkLst>
          <pc:docMk/>
          <pc:sldMk cId="765870642" sldId="308"/>
        </pc:sldMkLst>
      </pc:sldChg>
      <pc:sldChg chg="add del setBg">
        <pc:chgData name="Fernando M. Preumayr" userId="151c152d5858a9e7" providerId="LiveId" clId="{A28C2780-81B0-54D2-9935-9F0E6B5DF555}" dt="2026-10-05T22:40:37.519" v="1"/>
        <pc:sldMkLst>
          <pc:docMk/>
          <pc:sldMk cId="4022313554" sldId="309"/>
        </pc:sldMkLst>
      </pc:sldChg>
      <pc:sldChg chg="add del setBg">
        <pc:chgData name="Fernando M. Preumayr" userId="151c152d5858a9e7" providerId="LiveId" clId="{A28C2780-81B0-54D2-9935-9F0E6B5DF555}" dt="2026-10-05T22:40:37.519" v="1"/>
        <pc:sldMkLst>
          <pc:docMk/>
          <pc:sldMk cId="2058804938" sldId="310"/>
        </pc:sldMkLst>
      </pc:sldChg>
      <pc:sldChg chg="add del">
        <pc:chgData name="Fernando M. Preumayr" userId="151c152d5858a9e7" providerId="LiveId" clId="{A28C2780-81B0-54D2-9935-9F0E6B5DF555}" dt="2026-10-05T22:40:37.519" v="1"/>
        <pc:sldMkLst>
          <pc:docMk/>
          <pc:sldMk cId="1842321957" sldId="311"/>
        </pc:sldMkLst>
      </pc:sldChg>
      <pc:sldChg chg="add del">
        <pc:chgData name="Fernando M. Preumayr" userId="151c152d5858a9e7" providerId="LiveId" clId="{A28C2780-81B0-54D2-9935-9F0E6B5DF555}" dt="2026-10-05T22:40:37.519" v="1"/>
        <pc:sldMkLst>
          <pc:docMk/>
          <pc:sldMk cId="1863115174" sldId="312"/>
        </pc:sldMkLst>
      </pc:sldChg>
      <pc:sldChg chg="add del setBg">
        <pc:chgData name="Fernando M. Preumayr" userId="151c152d5858a9e7" providerId="LiveId" clId="{A28C2780-81B0-54D2-9935-9F0E6B5DF555}" dt="2026-10-05T22:40:37.519" v="1"/>
        <pc:sldMkLst>
          <pc:docMk/>
          <pc:sldMk cId="3395006344" sldId="313"/>
        </pc:sldMkLst>
      </pc:sldChg>
      <pc:sldChg chg="add del setBg">
        <pc:chgData name="Fernando M. Preumayr" userId="151c152d5858a9e7" providerId="LiveId" clId="{A28C2780-81B0-54D2-9935-9F0E6B5DF555}" dt="2026-10-05T22:40:37.519" v="1"/>
        <pc:sldMkLst>
          <pc:docMk/>
          <pc:sldMk cId="2636899996" sldId="314"/>
        </pc:sldMkLst>
      </pc:sldChg>
      <pc:sldChg chg="add del setBg">
        <pc:chgData name="Fernando M. Preumayr" userId="151c152d5858a9e7" providerId="LiveId" clId="{A28C2780-81B0-54D2-9935-9F0E6B5DF555}" dt="2026-10-05T22:40:37.519" v="1"/>
        <pc:sldMkLst>
          <pc:docMk/>
          <pc:sldMk cId="502601250" sldId="315"/>
        </pc:sldMkLst>
      </pc:sldChg>
      <pc:sldChg chg="add del">
        <pc:chgData name="Fernando M. Preumayr" userId="151c152d5858a9e7" providerId="LiveId" clId="{A28C2780-81B0-54D2-9935-9F0E6B5DF555}" dt="2026-10-05T22:40:37.519" v="1"/>
        <pc:sldMkLst>
          <pc:docMk/>
          <pc:sldMk cId="4104251309" sldId="316"/>
        </pc:sldMkLst>
      </pc:sldChg>
      <pc:sldChg chg="add del setBg">
        <pc:chgData name="Fernando M. Preumayr" userId="151c152d5858a9e7" providerId="LiveId" clId="{A28C2780-81B0-54D2-9935-9F0E6B5DF555}" dt="2026-10-05T22:40:37.519" v="1"/>
        <pc:sldMkLst>
          <pc:docMk/>
          <pc:sldMk cId="2842019960" sldId="317"/>
        </pc:sldMkLst>
      </pc:sldChg>
      <pc:sldChg chg="add del setBg">
        <pc:chgData name="Fernando M. Preumayr" userId="151c152d5858a9e7" providerId="LiveId" clId="{A28C2780-81B0-54D2-9935-9F0E6B5DF555}" dt="2026-10-05T22:40:37.519" v="1"/>
        <pc:sldMkLst>
          <pc:docMk/>
          <pc:sldMk cId="461725852" sldId="318"/>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Hoja_de_c_lculo_de_Microsoft_Excel.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0"/>
    <c:plotArea>
      <c:layout/>
      <c:barChart>
        <c:barDir val="bar"/>
        <c:grouping val="clustered"/>
        <c:varyColors val="1"/>
        <c:ser>
          <c:idx val="0"/>
          <c:order val="0"/>
          <c:tx>
            <c:strRef>
              <c:f>Sheet1!$B$1</c:f>
              <c:strCache>
                <c:ptCount val="1"/>
                <c:pt idx="0">
                  <c:v>Resto del país (89)</c:v>
                </c:pt>
              </c:strCache>
            </c:strRef>
          </c:tx>
          <c:spPr>
            <a:solidFill>
              <a:srgbClr val="BDB2A2"/>
            </a:solidFill>
          </c:spPr>
          <c:invertIfNegative val="1"/>
          <c:dLbls>
            <c:numFmt formatCode="0.0" sourceLinked="0"/>
            <c:spPr>
              <a:noFill/>
              <a:ln>
                <a:noFill/>
              </a:ln>
              <a:effectLst/>
            </c:spPr>
            <c:txPr>
              <a:bodyPr/>
              <a:lstStyle/>
              <a:p>
                <a:pPr>
                  <a:defRPr sz="1400">
                    <a:solidFill>
                      <a:srgbClr val="4A423A"/>
                    </a:solidFill>
                    <a:latin typeface="Arial"/>
                  </a:defRPr>
                </a:pPr>
                <a:endParaRPr lang="es-A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Productividad por puesto</c:v>
                </c:pt>
                <c:pt idx="1">
                  <c:v>Liderazgo de mandos medios</c:v>
                </c:pt>
                <c:pt idx="2">
                  <c:v>Comunicación</c:v>
                </c:pt>
                <c:pt idx="3">
                  <c:v>Conocimiento documentado</c:v>
                </c:pt>
                <c:pt idx="4">
                  <c:v>Retención</c:v>
                </c:pt>
                <c:pt idx="5">
                  <c:v>Evaluación</c:v>
                </c:pt>
                <c:pt idx="6">
                  <c:v>Coordinación</c:v>
                </c:pt>
                <c:pt idx="7">
                  <c:v>Cultura y valores</c:v>
                </c:pt>
                <c:pt idx="8">
                  <c:v>Capacitación</c:v>
                </c:pt>
                <c:pt idx="9">
                  <c:v>Estrategia</c:v>
                </c:pt>
              </c:strCache>
            </c:strRef>
          </c:cat>
          <c:val>
            <c:numRef>
              <c:f>Sheet1!$B$2:$B$11</c:f>
              <c:numCache>
                <c:formatCode>General</c:formatCode>
                <c:ptCount val="10"/>
                <c:pt idx="0">
                  <c:v>2.59</c:v>
                </c:pt>
                <c:pt idx="1">
                  <c:v>3.12</c:v>
                </c:pt>
                <c:pt idx="2">
                  <c:v>3.21</c:v>
                </c:pt>
                <c:pt idx="3">
                  <c:v>2.98</c:v>
                </c:pt>
                <c:pt idx="4">
                  <c:v>3.29</c:v>
                </c:pt>
                <c:pt idx="5">
                  <c:v>3.25</c:v>
                </c:pt>
                <c:pt idx="6">
                  <c:v>3.39</c:v>
                </c:pt>
                <c:pt idx="7">
                  <c:v>3.36</c:v>
                </c:pt>
                <c:pt idx="8">
                  <c:v>3.32</c:v>
                </c:pt>
                <c:pt idx="9">
                  <c:v>3.33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4AE-9C4D-9B77-5BEF64DACCD7}"/>
            </c:ext>
          </c:extLst>
        </c:ser>
        <c:ser>
          <c:idx val="1"/>
          <c:order val="1"/>
          <c:tx>
            <c:strRef>
              <c:f>Sheet1!$C$1</c:f>
              <c:strCache>
                <c:ptCount val="1"/>
                <c:pt idx="0">
                  <c:v>Las 17 de la región</c:v>
                </c:pt>
              </c:strCache>
            </c:strRef>
          </c:tx>
          <c:spPr>
            <a:solidFill>
              <a:srgbClr val="B4552F"/>
            </a:solidFill>
          </c:spPr>
          <c:invertIfNegative val="1"/>
          <c:dLbls>
            <c:numFmt formatCode="0.0" sourceLinked="0"/>
            <c:spPr>
              <a:noFill/>
              <a:ln>
                <a:noFill/>
              </a:ln>
              <a:effectLst/>
            </c:spPr>
            <c:txPr>
              <a:bodyPr/>
              <a:lstStyle/>
              <a:p>
                <a:pPr>
                  <a:defRPr sz="1400">
                    <a:solidFill>
                      <a:srgbClr val="4A423A"/>
                    </a:solidFill>
                    <a:latin typeface="Arial"/>
                  </a:defRPr>
                </a:pPr>
                <a:endParaRPr lang="es-A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Productividad por puesto</c:v>
                </c:pt>
                <c:pt idx="1">
                  <c:v>Liderazgo de mandos medios</c:v>
                </c:pt>
                <c:pt idx="2">
                  <c:v>Comunicación</c:v>
                </c:pt>
                <c:pt idx="3">
                  <c:v>Conocimiento documentado</c:v>
                </c:pt>
                <c:pt idx="4">
                  <c:v>Retención</c:v>
                </c:pt>
                <c:pt idx="5">
                  <c:v>Evaluación</c:v>
                </c:pt>
                <c:pt idx="6">
                  <c:v>Coordinación</c:v>
                </c:pt>
                <c:pt idx="7">
                  <c:v>Cultura y valores</c:v>
                </c:pt>
                <c:pt idx="8">
                  <c:v>Capacitación</c:v>
                </c:pt>
                <c:pt idx="9">
                  <c:v>Estrategia</c:v>
                </c:pt>
              </c:strCache>
            </c:strRef>
          </c:cat>
          <c:val>
            <c:numRef>
              <c:f>Sheet1!$C$2:$C$11</c:f>
              <c:numCache>
                <c:formatCode>General</c:formatCode>
                <c:ptCount val="10"/>
                <c:pt idx="0">
                  <c:v>1.94</c:v>
                </c:pt>
                <c:pt idx="1">
                  <c:v>2.59</c:v>
                </c:pt>
                <c:pt idx="2">
                  <c:v>2.75</c:v>
                </c:pt>
                <c:pt idx="3">
                  <c:v>2.53</c:v>
                </c:pt>
                <c:pt idx="4">
                  <c:v>2.85</c:v>
                </c:pt>
                <c:pt idx="5">
                  <c:v>2.89</c:v>
                </c:pt>
                <c:pt idx="6">
                  <c:v>3.38</c:v>
                </c:pt>
                <c:pt idx="7">
                  <c:v>3.39</c:v>
                </c:pt>
                <c:pt idx="8">
                  <c:v>3.35</c:v>
                </c:pt>
                <c:pt idx="9">
                  <c:v>3.38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D4AE-9C4D-9B77-5BEF64DACCD7}"/>
            </c:ext>
          </c:extLst>
        </c:ser>
        <c:dLbls>
          <c:showLegendKey val="0"/>
          <c:showVal val="0"/>
          <c:showCatName val="0"/>
          <c:showSerName val="0"/>
          <c:showPercent val="0"/>
          <c:showBubbleSize val="0"/>
        </c:dLbls>
        <c:gapWidth val="55"/>
        <c:overlap val="-5"/>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E7DCC6"/>
            </a:solidFill>
          </a:ln>
        </c:spPr>
        <c:txPr>
          <a:bodyPr/>
          <a:lstStyle/>
          <a:p>
            <a:pPr>
              <a:defRPr sz="1600">
                <a:solidFill>
                  <a:srgbClr val="16120E"/>
                </a:solidFill>
                <a:latin typeface="Arial"/>
              </a:defRPr>
            </a:pPr>
            <a:endParaRPr lang="es-AR"/>
          </a:p>
        </c:txPr>
        <c:crossAx val="-2113994440"/>
        <c:crosses val="autoZero"/>
        <c:auto val="1"/>
        <c:lblAlgn val="ctr"/>
        <c:lblOffset val="100"/>
        <c:noMultiLvlLbl val="0"/>
      </c:catAx>
      <c:valAx>
        <c:axId val="-2113994440"/>
        <c:scaling>
          <c:orientation val="minMax"/>
          <c:max val="4"/>
          <c:min val="1"/>
        </c:scaling>
        <c:delete val="1"/>
        <c:axPos val="b"/>
        <c:numFmt formatCode="General" sourceLinked="1"/>
        <c:majorTickMark val="out"/>
        <c:minorTickMark val="none"/>
        <c:tickLblPos val="nextTo"/>
        <c:crossAx val="-2068027336"/>
        <c:crosses val="autoZero"/>
        <c:crossBetween val="between"/>
      </c:valAx>
    </c:plotArea>
    <c:legend>
      <c:legendPos val="t"/>
      <c:overlay val="0"/>
      <c:txPr>
        <a:bodyPr/>
        <a:lstStyle/>
        <a:p>
          <a:pPr>
            <a:defRPr sz="1600">
              <a:solidFill>
                <a:srgbClr val="4A423A"/>
              </a:solidFill>
              <a:latin typeface="Arial"/>
            </a:defRPr>
          </a:pPr>
          <a:endParaRPr lang="es-AR"/>
        </a:p>
      </c:txPr>
    </c:legend>
    <c:plotVisOnly val="1"/>
    <c:dispBlanksAs val="gap"/>
    <c:showDLblsOverMax val="1"/>
  </c:chart>
  <c:txPr>
    <a:bodyPr/>
    <a:lstStyle/>
    <a:p>
      <a:pPr>
        <a:defRPr sz="1800"/>
      </a:pPr>
      <a:endParaRPr lang="es-A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5752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1:30 | acumulado 1:30</a:t>
            </a:r>
          </a:p>
          <a:p/>
          <a:p>
            <a:r>
              <a:t>Buenas tardes. Gracias a CREA por la invitación y gracias a las 17 empresas que nos abrieron la puerta, el cuaderno y, en algunos casos, el mate.</a:t>
            </a:r>
          </a:p>
          <a:p>
            <a:r>
              <a:t>Vengo a hablarles de algo que todos conocemos de memoria y casi nadie mide: el punto ciego.</a:t>
            </a:r>
          </a:p>
          <a:p>
            <a:r>
              <a:t>No es una metáfora. Es, literalmente, lo que no medimos. Y en el campo, lo que no se mide, se supone.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2:00 | acumulado 3:30</a:t>
            </a:r>
          </a:p>
          <a:p>
            <a:endParaRPr/>
          </a:p>
          <a:p>
            <a:r>
              <a:t>[INTERACCIÓN. Leer solo tres frases en voz alta.]</a:t>
            </a:r>
          </a:p>
          <a:p>
            <a:r>
              <a:t>Quiero empezar escuchándolos a ustedes. Estas son frases que escuchamos una y otra vez, caminando la chacra y en la cocina, mate de por medio. "No se consigue buena gente." "Los que hay, no se quedan." "Hay que repetir todo."</a:t>
            </a:r>
          </a:p>
          <a:p>
            <a:r>
              <a:t>¿Les suena familiar? Levanten la mano quienes dijeron alguna de estas esta semana. [Pausa. Mirar la sala.]</a:t>
            </a:r>
          </a:p>
          <a:p>
            <a:r>
              <a:t>Miren cuántas manos. Y ahora una pregunta incómoda: ¿y si el problema no fuera la gente? ¿Y si fuera algo que nunca nos tomamos el trabajo de mirar?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2:00 | acumulado 5:30</a:t>
            </a:r>
          </a:p>
          <a:p>
            <a:endParaRPr/>
          </a:p>
          <a:p>
            <a:r>
              <a:t>Los que trabajamos en el agro sabemos medir: hectáreas, rinde, adopción de tecnología, fierros. Hay una curva de inversión que sube y sube.</a:t>
            </a:r>
          </a:p>
          <a:p>
            <a:r>
              <a:t>Pero hay otra curva, la de la capacidad de las personas que operan todo eso, que sube mucho más despacio.</a:t>
            </a:r>
          </a:p>
          <a:p>
            <a:r>
              <a:t>La brecha entre las dos curvas es el punto ciego. Invertimos en lo que se ve y se factura; lo otro lo damos por hecho.</a:t>
            </a:r>
          </a:p>
          <a:p>
            <a:r>
              <a:t>Una inversión sin gente capaz que la opere es plata inmovilizada. Ahí se rompe el sistema.</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1:30 | acumulado 7:00</a:t>
            </a:r>
          </a:p>
          <a:p>
            <a:endParaRPr/>
          </a:p>
          <a:p>
            <a:r>
              <a:t>Para mirar esa brecha usamos un modelo con cuatro dimensiones.</a:t>
            </a:r>
          </a:p>
          <a:p>
            <a:r>
              <a:t>Uno, Estructura: roles, objetivos, quién decide qué. Dos, Procesos: cómo traemos gente y cómo se guarda lo que sabemos. Tres, Desarrollo: liderazgo, capacitación, delegación. Cuatro, Proyección y cultura: retención, incentivos, reconocimiento.</a:t>
            </a:r>
          </a:p>
          <a:p>
            <a:r>
              <a:t>Cuatro ventanas, un mismo instrumento para todas.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0:15 | acumulado 7:15</a:t>
            </a:r>
          </a:p>
          <a:p/>
          <a:p>
            <a:r>
              <a:t>Se lo aplicamos a 17 empresas, de distintas actividades y escalas, con confidencialidad absoluta. Los datos son reales.</a:t>
            </a:r>
          </a:p>
          <a:p>
            <a:r>
              <a:t>Y en algunas respondió más de una persona. Esa diferencia de miradas va a importar: vamos a volver sobre ella.</a:t>
            </a:r>
          </a:p>
          <a:p>
            <a:r>
              <a:t>[Dato de método, si preguntan: son 17 empresas. Cuando una respondió más de una persona, se promediaron sus respuestas y la empresa cuenta una sola vez.]</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1:15 | acumulado 8:30</a:t>
            </a:r>
          </a:p>
          <a:p/>
          <a:p>
            <a:r>
              <a:t>Acá están las 17, de punta a punta, en una escala de 1 a 5. Van de 1,7 a 4,2.</a:t>
            </a:r>
          </a:p>
          <a:p>
            <a:r>
              <a:t>Fíjense que no hay un tipo de empresa que gane: hay ganaderas abajo y arriba, agrícolas abajo y arriba.</a:t>
            </a:r>
          </a:p>
          <a:p>
            <a:r>
              <a:t>Ninguna llegó abajo por descuido ni arriba por suerte. Guarden esa frase, porque vuelve al final.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1:45 | acumulado 10:15</a:t>
            </a:r>
          </a:p>
          <a:p/>
          <a:p>
            <a:r>
              <a:t>Si las agrupamos: 24% reactivo, donde manda la urgencia. 53% definido: hay un piso, pero falta diseño. Y 24% estratégico, donde la gestión de personas está integrada al negocio y se decide con datos.</a:t>
            </a:r>
          </a:p>
          <a:p>
            <a:r>
              <a:t>Dicho de otro modo: 13 de las 17, tres de cada cuatro, todavía no diseñaron su forma de gestionar personas.</a:t>
            </a:r>
          </a:p>
          <a:p>
            <a:r>
              <a:t>[Cuidado: el 76% es la suma de reactivo + definido (13 de 17). Los porcentajes redondeados suman 101; si preguntan, son 4, 9 y 4 empresas.]</a:t>
            </a:r>
          </a:p>
          <a:p>
            <a:r>
              <a:t>[Niveles: reactivo hasta 2,4; definido de 2,5 a 3,4; estratégico desde 3,5.]</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1:30 | acumulado 11:45</a:t>
            </a:r>
          </a:p>
          <a:p/>
          <a:p>
            <a:r>
              <a:t>[Dejar los números en pantalla y mirar a la sala.]</a:t>
            </a:r>
          </a:p>
          <a:p>
            <a:r>
              <a:t>Hay algo que no grita en los promedios y conviene mirar de cerca. Las cuatro empresas mejor puntuadas, de 3,7 a 4,2, tienen entre 3 y 25 colaboradores: ninguna de las de 75 llegó ahí.</a:t>
            </a:r>
          </a:p>
          <a:p>
            <a:r>
              <a:t>Las dos de 75 colaboradores están en 3,0 y 3,2. Tienen piso, pero ninguna llegó arriba. Y en el otro extremo, cinco de las seis ganaderas están en 3,0 o menos. Pero la sexta es la mejor puntuada de todo el estudio, con 4,2.</a:t>
            </a:r>
          </a:p>
          <a:p>
            <a:r>
              <a:t>Escala no es madurez, y el rubro tampoco. El tamaño te da un piso, no te da diseño.</a:t>
            </a:r>
          </a:p>
          <a:p>
            <a:r>
              <a:t>[Si preguntan: son grupos de 2 a 6 empresas; sirven para conversar, no para sacar una regla.]</a:t>
            </a:r>
          </a:p>
          <a:p>
            <a:r>
              <a:t>¿Cuántos de nosotros pensamos alguna vez que crecer iba a ordenar la casa solo?</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0:45 | acumulado 13:30</a:t>
            </a:r>
          </a:p>
          <a:p/>
          <a:p>
            <a:r>
              <a:t>Casi toda la nube se junta del mismo lado de la línea: la cultura va por delante de la estructura. 15 de las 17 están por encima.</a:t>
            </a:r>
          </a:p>
          <a:p>
            <a:r>
              <a:t>12 de las 17 tienen la estructura como su mayor brecha, y 11 de las 17, la cultura como su punto más fuerte.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1:00 | acumulado 14:30</a:t>
            </a:r>
          </a:p>
          <a:p/>
          <a:p>
            <a:r>
              <a:t>3,2 en proyección y cultura. 2,8 en estructura y procesos.</a:t>
            </a:r>
          </a:p>
          <a:p>
            <a:r>
              <a:t>Lo vimos lote por lote: la cultura corre más rápido que la estructura que la sostiene.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0:45 | acumulado 15:15</a:t>
            </a:r>
          </a:p>
          <a:p>
            <a:endParaRPr/>
          </a:p>
          <a:p>
            <a:r>
              <a:t>[PAUSA. Pasar la lámina y callarse cuatro segundos. Después, despacio.]</a:t>
            </a:r>
          </a:p>
          <a:p>
            <a:r>
              <a:t>La mística no escala. Y la biología no es un sistema.</a:t>
            </a:r>
          </a:p>
          <a:p>
            <a:r>
              <a:t>[Otros cuatro segundos. No explicar la frase.]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0:30 | acumulado 15:45</a:t>
            </a:r>
          </a:p>
          <a:p>
            <a:endParaRPr/>
          </a:p>
          <a:p>
            <a:r>
              <a:t>Bajemos a lo concreto. Encontramos tres patrones. Cada uno tiene un síntoma que se ve en la operación y una causa que no se ve, que está en el diseño.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1:45 | acumulado 17:30</a:t>
            </a:r>
          </a:p>
          <a:p/>
          <a:p>
            <a:r>
              <a:t>Dueño-dependencia: 16 de las 17 no tienen un liderazgo de mandos medios que llegue a nivel 4. Es la empresa de una sola cabeza. Todo pasa por una mente: quién va al potrero, qué se compra, a quién se llama.</a:t>
            </a:r>
          </a:p>
          <a:p>
            <a:r>
              <a:t>Mientras el patrón está, funciona de maravilla. El día que se enferma o se va de viaje, tambalea.</a:t>
            </a:r>
          </a:p>
          <a:p>
            <a:r>
              <a:t>[INTERACCIÓN, pausa.] ¿Cuánto depende hoy de que usted esté presente? ¿Cuántas decisiones esperan su llamado? ¿Qué pasa la semana que no atiende el teléfono?</a:t>
            </a:r>
          </a:p>
          <a:p>
            <a:r>
              <a:t>[Nota de método: acá no contamos "empresas dueño-dependientes" con una regla propia. Lo que medimos es la ausencia de mandos medios, que es lo que permite que todo dependa de una sola persona. Cae junto con la lámina 20.]</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1:45 | acumulado 19:15</a:t>
            </a:r>
          </a:p>
          <a:p/>
          <a:p>
            <a:r>
              <a:t>Entrenar para el vecino: 5 de 17, el 29%. Capacitamos, invertimos, mandamos a hacer el curso, y no ofrecemos un horizonte.</a:t>
            </a:r>
          </a:p>
          <a:p>
            <a:r>
              <a:t>El resultado: formamos al mejor tractorista para que se lo lleve el campo de al lado.</a:t>
            </a:r>
          </a:p>
          <a:p>
            <a:r>
              <a:t>Capacitación alta, retención baja. Es sembrar sin cosechar.</a:t>
            </a:r>
          </a:p>
          <a:p>
            <a:r>
              <a:t>[Regla: capacitación en nivel 4 o 5 y retención en nivel 1 a 3.]</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1:45 | acumulado 21:00</a:t>
            </a:r>
          </a:p>
          <a:p/>
          <a:p>
            <a:r>
              <a:t>Incentivos a ciegas: 2 de 17, el 12%. Premiamos resultados que no medimos. Entonces, ¿qué premio es? Un derecho adquirido.</a:t>
            </a:r>
          </a:p>
          <a:p>
            <a:r>
              <a:t>El que cobra el bono porque "siempre se cobró" no está motivado: está acostumbrado.</a:t>
            </a:r>
          </a:p>
          <a:p>
            <a:r>
              <a:t>Operación prolija, rumbo difuso.</a:t>
            </a:r>
          </a:p>
          <a:p>
            <a:r>
              <a:t>[Son pocas empresas: sirve como ejemplo, no como porcentaje para generalizar. Regla: incentivos en nivel 4 o 5 e indicadores en nivel 1 a 2.]</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0:30 | acumulado 21:30</a:t>
            </a:r>
          </a:p>
          <a:p/>
          <a:p>
            <a:r>
              <a:t>Hasta acá miramos dimensiones. Ahora vamos pregunta por pregunta y nos comparamos con 89 diagnósticos del resto del país: qué nos distingue y por dónde empezar.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2:00 | acumulado 23:30</a:t>
            </a:r>
          </a:p>
          <a:p/>
          <a:p>
            <a:r>
              <a:t>Dos mensajes. Primero, la noticia buena: en cultura, estrategia, coordinación y capacitación somos iguales al resto. La voluntad está.</a:t>
            </a:r>
          </a:p>
          <a:p>
            <a:r>
              <a:t>Segundo, en las seis de abajo estamos por debajo: medir, evaluar, documentar, comunicar, dar horizonte.</a:t>
            </a:r>
          </a:p>
          <a:p>
            <a:r>
              <a:t>Fíjense algo: todas dependen de quien conduce. No de la gente ni del clima. De quien conduce.</a:t>
            </a:r>
          </a:p>
          <a:p>
            <a:r>
              <a:t>Y productividad por puesto es el valor más bajo de toda la base nacional.</a:t>
            </a:r>
          </a:p>
          <a:p>
            <a:r>
              <a:t>[Son 17 empresas de la región contra 89 del resto del país. En las empresas con más de una respuesta se promediaron las respuestas.]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2:30 | acumulado 26:00</a:t>
            </a:r>
          </a:p>
          <a:p/>
          <a:p>
            <a:r>
              <a:t>Tres datos, un mismo lugar: el mando medio. El encargado, el capataz, el que está en el frente de batalla.</a:t>
            </a:r>
          </a:p>
          <a:p>
            <a:r>
              <a:t>Solo 1 de 17 llega a un liderazgo de mandos medios de nivel 4 o 5. En el resto del país, casi 4 de cada 10.</a:t>
            </a:r>
          </a:p>
          <a:p>
            <a:r>
              <a:t>11 de 17 no sabe qué rinde cada puesto. En el resto del país, más de 4 de cada 10.</a:t>
            </a:r>
          </a:p>
          <a:p>
            <a:r>
              <a:t>Solo 4 de 17 le muestra a su mejor gente un futuro en la empresa. En el resto del país, casi la mitad.</a:t>
            </a:r>
          </a:p>
          <a:p>
            <a:r>
              <a:t>Y un dato del país que lo explica todo: cuando el liderazgo es fuerte, el 73% conecta a su gente con la estrategia. Cuando es débil, el 22%.</a:t>
            </a:r>
          </a:p>
          <a:p>
            <a:r>
              <a:t>Ahí se corta la cadena entre lo que el dueño quiere y lo que pasa en el lote.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1:30 | acumulado 27:30</a:t>
            </a:r>
          </a:p>
          <a:p/>
          <a:p>
            <a:r>
              <a:t>Pero no todo es brecha. Entre los que reconocen comunicar poco con su equipo, en el resto del país la mitad igual dice tener una cultura fuerte: es cultura de discurso.</a:t>
            </a:r>
          </a:p>
          <a:p>
            <a:r>
              <a:t>Acá, 1 de 5. Cuando alguien dice "mi cultura está viva", hay conversación diaria que lo respalda.</a:t>
            </a:r>
          </a:p>
          <a:p>
            <a:r>
              <a:t>Es el mejor punto de apoyo para construir la estructura que falta.</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2:00 | acumulado 29:30</a:t>
            </a:r>
          </a:p>
          <a:p>
            <a:endParaRPr/>
          </a:p>
          <a:p>
            <a:r>
              <a:t>¿Por dónde empezamos? Cinco palancas, ordenadas por cuánto arrastran al resto. Ninguna requiere presupuesto. Todas requieren decisión.</a:t>
            </a:r>
          </a:p>
          <a:p>
            <a:r>
              <a:t>Uno: una reunión corta y fija por semana. Cómo venimos y qué sigue.</a:t>
            </a:r>
          </a:p>
          <a:p>
            <a:r>
              <a:t>Dos: un responsable de la gente, con nombre y horas, aunque sea part-time.</a:t>
            </a:r>
          </a:p>
          <a:p>
            <a:r>
              <a:t>Tres: reconocer en voz alta lo que salió bien, cuando pasa.</a:t>
            </a:r>
          </a:p>
          <a:p>
            <a:r>
              <a:t>Cuatro: la tarea que se rompe cuando falta el dueño, escrita en media página.</a:t>
            </a:r>
          </a:p>
          <a:p>
            <a:r>
              <a:t>Cinco: una conversación por año con cada uno de los mejores sobre hacia dónde puede crecer.</a:t>
            </a:r>
          </a:p>
          <a:p>
            <a:r>
              <a:t>[La 2 y la 4 reaparecen en la hoja de ruta.]</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1:00 | acumulado 30:30</a:t>
            </a:r>
          </a:p>
          <a:p>
            <a:endParaRPr/>
          </a:p>
          <a:p>
            <a:r>
              <a:t>[Ir ágil: esta y la siguiente suman 2 minutos.]</a:t>
            </a:r>
          </a:p>
          <a:p>
            <a:r>
              <a:t>Acá aparece el miedo natural: "si profesionalizo, lleno el campo de planillas". No.</a:t>
            </a:r>
          </a:p>
          <a:p>
            <a:r>
              <a:t>La sobredocumentación en equipos chicos se abandona a las pocas semanas. Antes de profesionalizar, hay que simplificar. No copiemos la estructura de una empresa grande.</a:t>
            </a:r>
          </a:p>
          <a:p>
            <a:r>
              <a:t>La solución no es burocracia. Es diseño intencional.</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1:00 | acumulado 31:30</a:t>
            </a:r>
          </a:p>
          <a:p>
            <a:endParaRPr/>
          </a:p>
          <a:p>
            <a:r>
              <a:t>El avance real corre en dos planos.</a:t>
            </a:r>
          </a:p>
          <a:p>
            <a:r>
              <a:t>Plano persona: se ejercita, no se instala. Es una habilidad, un hábito del líder. La señal: lo hace hoy con naturalidad, aunque meses atrás le costaba.</a:t>
            </a:r>
          </a:p>
          <a:p>
            <a:r>
              <a:t>Plano sistema: se pone por escrito, no se supone. La señal: la práctica sigue funcionando aunque quien la sostenía esté de vacaciones o enfermo.</a:t>
            </a:r>
          </a:p>
          <a:p>
            <a:r>
              <a:t>Persona y sistema avanzan juntos.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2:00 | acumulado 33:30</a:t>
            </a:r>
          </a:p>
          <a:p>
            <a:endParaRPr/>
          </a:p>
          <a:p>
            <a:r>
              <a:t>La hoja de ruta para equipos de 5 a 15 personas: tres acciones para el lunes.</a:t>
            </a:r>
          </a:p>
          <a:p>
            <a:r>
              <a:t>Estructura: designar un responsable, aunque sea part-time. Sin un doliente, la gestión queda enterrada bajo la urgencia de la cosecha. Dibujá el organigrama real de hoy, no el ideal de un libro.</a:t>
            </a:r>
          </a:p>
          <a:p>
            <a:r>
              <a:t>Procesos: documentar la supervivencia. No hagas un manual entero: la única tarea que se rompe cuando el dueño no está, en media página.</a:t>
            </a:r>
          </a:p>
          <a:p>
            <a:r>
              <a:t>Desarrollo: delegar con criterio escrito. No delegás la tarea, delegás el criterio. Elegí una decisión cotidiana y escribí tres criterios objetivos para resolverla.</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2:00 | acumulado 35:30</a:t>
            </a:r>
          </a:p>
          <a:p/>
          <a:p>
            <a:r>
              <a:t>[SILENCIO. Bajar el ritmo. Contar cuatro segundos después de cada pregunta. Mirar la sala, no la pantalla.]</a:t>
            </a:r>
          </a:p>
          <a:p>
            <a:r>
              <a:t>Les dejo tres preguntas. No las contesten en voz alta; contéstenlas adentro, mate de por medio, como si estuviéramos en la cocina.</a:t>
            </a:r>
          </a:p>
          <a:p>
            <a:r>
              <a:t>¿Cuánto de lo que hoy funciona en el campo depende exclusivamente de tu presencia física? [Cuatro.]</a:t>
            </a:r>
          </a:p>
          <a:p>
            <a:r>
              <a:t>Si tuvieras que ausentarte un mes de imprevisto, ¿qué decisiones críticas quedarían sin tomar? [Cuatro.]</a:t>
            </a:r>
          </a:p>
          <a:p>
            <a:r>
              <a:t>¿Los valores que sostienen hoy a tu empresa sobrevivirían intactos a un recambio generacional? [Cuatro.]</a:t>
            </a:r>
          </a:p>
          <a:p>
            <a:r>
              <a:t>[Opcional, hablada y sin lámina: ¿tu gente ve la misma empresa que vos? (la de la lámina 10)]</a:t>
            </a:r>
          </a:p>
          <a:p>
            <a:r>
              <a:t>[Acá abrir a preguntas del público, 2 minutos si hay. Si no hay, seguir sin llenar el silencio.]</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0:45 | acumulado 36:15</a:t>
            </a:r>
          </a:p>
          <a:p/>
          <a:p>
            <a:r>
              <a:t>Al principio de esta charla les leí tres frases: "No se consigue buena gente." "Los que hay, no se quedan." "Hay que repetir todo."</a:t>
            </a:r>
          </a:p>
          <a:p>
            <a:r>
              <a:t>Con los datos en la mano, podemos decirlo distinto: la gente está. Lo que falta es diseño.</a:t>
            </a:r>
          </a:p>
          <a:p>
            <a:r>
              <a:t>Vuelvo a lo que dejé pendiente en la lámina 7: ninguna de las 17 llegó abajo por descuido, y ninguna llegó arriba por suerte.</a:t>
            </a:r>
          </a:p>
          <a:p>
            <a:r>
              <a:t>Las cuatro que hoy están arriba tienen la misma informalidad de origen que las demás, pero en algún momento alguien se sentó a diseñar un proceso en vez de dejar que "se diera así".</a:t>
            </a:r>
          </a:p>
          <a:p>
            <a:r>
              <a:t>Y las 9 que están en el medio están justo en el punto donde ese salto se puede decidir a conciencia.</a:t>
            </a:r>
          </a:p>
          <a:p>
            <a:r>
              <a:t>No alcanza con sostener lo que ya funciona: hay que hacer crecer la parte que nadie diseñó.</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0:45 | acumulado 37:00</a:t>
            </a:r>
          </a:p>
          <a:p/>
          <a:p>
            <a:r>
              <a:t>[Leer despacio. Después bajar la voz. Esta es la lámina que se llevan.]</a:t>
            </a:r>
          </a:p>
          <a:p>
            <a:r>
              <a:t>"La mística no escala. Y los procesos, sin personas que los sostengan, tampoco."</a:t>
            </a:r>
          </a:p>
          <a:p>
            <a:r>
              <a:t>Tu legado no es el campo. Es el sistema que construís para operarlo.</a:t>
            </a:r>
          </a:p>
          <a:p>
            <a:r>
              <a:t>[Pausa larga. Cuatro segundos, sin sonreír ni agradecer todavía. Pasar a la lámina siguiente sin cambiar el tono.]</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0:30 | acumulado 38:00</a:t>
            </a:r>
          </a:p>
          <a:p/>
          <a:p>
            <a:r>
              <a:t>Gracias. A CREA, y sobre todo a las 17 empresas que pusieron los datos, sin los cuales nada de esto existiría.</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1:00 | acumulado 39:00</a:t>
            </a:r>
          </a:p>
          <a:p/>
          <a:p>
            <a:r>
              <a:t>Y para no hacerlo solos: el Grupo Digital CREA, "Liderando personas en el agro". Reuniones virtuales entre pares, especialistas que facilitan y casos reales de aplicación práctica.</a:t>
            </a:r>
          </a:p>
          <a:p>
            <a:r>
              <a:t>Escaneen el QR. Ahí los esperamos.</a:t>
            </a:r>
          </a:p>
          <a:p>
            <a:r>
              <a:t>[Última frase, mirando a la sala, sin diapositiva nueva:] La diferencia está en la gente.</a:t>
            </a:r>
          </a:p>
          <a:p>
            <a:r>
              <a:t>[Dejar el QR en pantalla durante las preguntas.]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2697152626"/>
      </p:ext>
    </p:extLst>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1:00 | acumulado 12:45</a:t>
            </a:r>
          </a:p>
          <a:p/>
          <a:p>
            <a:r>
              <a:t>[Lámina nueva. Despacio. Sin nombres: son empresas del estudio y la confidencialidad es absoluta.]</a:t>
            </a:r>
          </a:p>
          <a:p>
            <a:r>
              <a:t>Algo más que nos pasó al medir. En varias empresas respondió más de una persona. Y miren lo que pasó.</a:t>
            </a:r>
          </a:p>
          <a:p>
            <a:r>
              <a:t>Una de la región: una persona la puntuó con 3,2 y otra, con 4,5. La misma empresa, el mismo instrumento, a un metro de distancia.</a:t>
            </a:r>
          </a:p>
          <a:p>
            <a:r>
              <a:t>Otra: 3,8 y 2,2. Para una persona, estratégica. Para la otra, reactiva.</a:t>
            </a:r>
          </a:p>
          <a:p>
            <a:r>
              <a:t>Y una tercera, con ocho respuestas: de 2,3 a 3,9.</a:t>
            </a:r>
          </a:p>
          <a:p>
            <a:r>
              <a:t>[En contraste, otra empresa con tres respuestas coincidió: 3,1; 3,2 y 3,4. Cuando hay conversación, las miradas se parecen.]</a:t>
            </a:r>
          </a:p>
          <a:p>
            <a:r>
              <a:t>No es que unos tengan razón y otros no. Es que cada uno ve lo que le toca ver. Ese también es el punto ciego.</a:t>
            </a:r>
          </a:p>
          <a:p>
            <a:r>
              <a:t>[Pregunta para dejar flotando, sin responder: ¿tu gente ve la misma empresa que vos?]</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0:30 | acumulado 37:30</a:t>
            </a:r>
          </a:p>
          <a:p/>
          <a:p>
            <a:r>
              <a:t>[Más cercano, casi en voz de conversación.]</a:t>
            </a:r>
          </a:p>
          <a:p>
            <a:r>
              <a:t>Y para que esto no quede en una linda charla de congreso, les pido una sola cosa. Una.</a:t>
            </a:r>
          </a:p>
          <a:p>
            <a:r>
              <a:t>Esta semana, media página. La tarea que se rompe cuando vos no estás. Una sola. Escribila antes del lunes.</a:t>
            </a:r>
          </a:p>
          <a:p>
            <a:r>
              <a:t>¿Quién la sabe hacer hoy? ¿Está en alguna cabeza que no sea la tuya? ¿Qué pasa el día que no atendés el teléfono? ¿Y qué podríamos ganar si el campo supiera funcionar sin que estés vos?</a:t>
            </a:r>
          </a:p>
          <a:p>
            <a:r>
              <a:t>No hace falta un manual. Hace falta media página y una decisión.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164597343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microsoft.com/office/2007/relationships/hdphoto" Target="../media/hdphoto2.wdp"/></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chart" Target="../charts/char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1.jpeg"/><Relationship Id="rId4" Type="http://schemas.openxmlformats.org/officeDocument/2006/relationships/image" Target="../media/image6.png"/><Relationship Id="rId5"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9.png"/><Relationship Id="rId4" Type="http://schemas.openxmlformats.org/officeDocument/2006/relationships/image" Target="../media/image5.png"/><Relationship Id="rId5" Type="http://schemas.openxmlformats.org/officeDocument/2006/relationships/image" Target="../media/image22.png"/><Relationship Id="rId6" Type="http://schemas.openxmlformats.org/officeDocument/2006/relationships/image" Target="../media/image23.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2286" y="0"/>
            <a:ext cx="18283428" cy="1028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Imagen 2">
            <a:extLst>
              <a:ext uri="{FF2B5EF4-FFF2-40B4-BE49-F238E27FC236}">
                <a16:creationId xmlns:a16="http://schemas.microsoft.com/office/drawing/2014/main" id="{4F74C991-5C4A-F4C6-1010-15B8A88C580F}"/>
              </a:ext>
            </a:extLst>
          </p:cNvPr>
          <p:cNvPicPr>
            <a:picLocks noChangeAspect="1"/>
          </p:cNvPicPr>
          <p:nvPr/>
        </p:nvPicPr>
        <p:blipFill>
          <a:blip r:embed="rId2"/>
          <a:srcRect b="1334"/>
          <a:stretch>
            <a:fillRect/>
          </a:stretch>
        </p:blipFill>
        <p:spPr>
          <a:xfrm>
            <a:off x="20" y="1923"/>
            <a:ext cx="18287980" cy="10285077"/>
          </a:xfrm>
          <a:prstGeom prst="rect">
            <a:avLst/>
          </a:prstGeom>
        </p:spPr>
      </p:pic>
      <p:pic>
        <p:nvPicPr>
          <p:cNvPr id="5" name="Imagen 4">
            <a:extLst>
              <a:ext uri="{FF2B5EF4-FFF2-40B4-BE49-F238E27FC236}">
                <a16:creationId xmlns:a16="http://schemas.microsoft.com/office/drawing/2014/main" id="{83C823BC-00BB-DFE8-0C4B-27C03853586F}"/>
              </a:ext>
            </a:extLst>
          </p:cNvPr>
          <p:cNvPicPr>
            <a:picLocks noChangeAspect="1"/>
          </p:cNvPicPr>
          <p:nvPr/>
        </p:nvPicPr>
        <p:blipFill>
          <a:blip r:embed="rId3"/>
          <a:stretch>
            <a:fillRect/>
          </a:stretch>
        </p:blipFill>
        <p:spPr>
          <a:xfrm>
            <a:off x="7036803" y="5143500"/>
            <a:ext cx="7772400" cy="1513512"/>
          </a:xfrm>
          <a:prstGeom prst="rect">
            <a:avLst/>
          </a:prstGeom>
        </p:spPr>
      </p:pic>
      <p:pic>
        <p:nvPicPr>
          <p:cNvPr id="6" name="Image 2" descr="preencoded.png">
            <a:extLst>
              <a:ext uri="{FF2B5EF4-FFF2-40B4-BE49-F238E27FC236}">
                <a16:creationId xmlns:a16="http://schemas.microsoft.com/office/drawing/2014/main" id="{3BB3AE22-305E-4A58-5EF4-DF1FCDE94E86}"/>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contrast="-40000"/>
                    </a14:imgEffect>
                  </a14:imgLayer>
                </a14:imgProps>
              </a:ext>
            </a:extLst>
          </a:blip>
          <a:stretch>
            <a:fillRect/>
          </a:stretch>
        </p:blipFill>
        <p:spPr>
          <a:xfrm>
            <a:off x="3420534" y="6836463"/>
            <a:ext cx="4227304" cy="2781670"/>
          </a:xfrm>
          <a:prstGeom prst="rect">
            <a:avLst/>
          </a:prstGeom>
        </p:spPr>
      </p:pic>
    </p:spTree>
    <p:extLst>
      <p:ext uri="{BB962C8B-B14F-4D97-AF65-F5344CB8AC3E}">
        <p14:creationId xmlns:p14="http://schemas.microsoft.com/office/powerpoint/2010/main" val="3754107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b="3724"/>
          <a:stretch>
            <a:fillRect/>
          </a:stretch>
        </p:blipFill>
        <p:spPr>
          <a:xfrm>
            <a:off x="0" y="0"/>
            <a:ext cx="18288000" cy="10287000"/>
          </a:xfrm>
          <a:prstGeom prst="rect">
            <a:avLst/>
          </a:prstGeom>
        </p:spPr>
      </p:pic>
      <p:pic>
        <p:nvPicPr>
          <p:cNvPr id="6" name="Image 1" descr="preencoded.png">
            <a:extLst>
              <a:ext uri="{FF2B5EF4-FFF2-40B4-BE49-F238E27FC236}">
                <a16:creationId xmlns:a16="http://schemas.microsoft.com/office/drawing/2014/main" id="{562FE4B0-2E72-4301-BCE6-8FF3E097C1E6}"/>
              </a:ext>
            </a:extLst>
          </p:cNvPr>
          <p:cNvPicPr>
            <a:picLocks noChangeAspect="1"/>
          </p:cNvPicPr>
          <p:nvPr/>
        </p:nvPicPr>
        <p:blipFill>
          <a:blip r:embed="rId4"/>
          <a:stretch>
            <a:fillRect/>
          </a:stretch>
        </p:blipFill>
        <p:spPr>
          <a:xfrm>
            <a:off x="13290913" y="780998"/>
            <a:ext cx="3796963" cy="1047733"/>
          </a:xfrm>
          <a:prstGeom prst="rect">
            <a:avLst/>
          </a:prstGeom>
        </p:spPr>
      </p:pic>
      <p:pic>
        <p:nvPicPr>
          <p:cNvPr id="7" name="Image 2" descr="preencoded.png">
            <a:extLst>
              <a:ext uri="{FF2B5EF4-FFF2-40B4-BE49-F238E27FC236}">
                <a16:creationId xmlns:a16="http://schemas.microsoft.com/office/drawing/2014/main" id="{9986EFD2-311B-E807-B3DA-A8DF0E8F2DE3}"/>
              </a:ext>
            </a:extLst>
          </p:cNvPr>
          <p:cNvPicPr>
            <a:picLocks noChangeAspect="1"/>
          </p:cNvPicPr>
          <p:nvPr/>
        </p:nvPicPr>
        <p:blipFill>
          <a:blip r:embed="rId5"/>
          <a:stretch>
            <a:fillRect/>
          </a:stretch>
        </p:blipFill>
        <p:spPr>
          <a:xfrm>
            <a:off x="6823409" y="7512255"/>
            <a:ext cx="3287679" cy="216337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16120E"/>
        </a:solidFill>
        <a:effectLst/>
      </p:bgPr>
    </p:bg>
    <p:spTree>
      <p:nvGrpSpPr>
        <p:cNvPr id="1" name=""/>
        <p:cNvGrpSpPr/>
        <p:nvPr/>
      </p:nvGrpSpPr>
      <p:grpSpPr>
        <a:xfrm>
          <a:off x="0" y="0"/>
          <a:ext cx="0" cy="0"/>
          <a:chOff x="0" y="0"/>
          <a:chExt cx="0" cy="0"/>
        </a:xfrm>
      </p:grpSpPr>
      <p:sp>
        <p:nvSpPr>
          <p:cNvPr id="2" name="Text 0"/>
          <p:cNvSpPr/>
          <p:nvPr/>
        </p:nvSpPr>
        <p:spPr>
          <a:xfrm>
            <a:off x="1047733" y="952465"/>
            <a:ext cx="17811721" cy="325235"/>
          </a:xfrm>
          <a:prstGeom prst="rect">
            <a:avLst/>
          </a:prstGeom>
          <a:noFill/>
          <a:ln/>
        </p:spPr>
        <p:txBody>
          <a:bodyPr wrap="square" lIns="25400" tIns="25400" rIns="25400" bIns="25400" rtlCol="0" anchor="t">
            <a:normAutofit lnSpcReduction="10000"/>
          </a:bodyPr>
          <a:lstStyle/>
          <a:p>
            <a:pPr marL="0" indent="0" algn="l">
              <a:buNone/>
            </a:pPr>
            <a:r>
              <a:rPr lang="en-US" sz="1950" b="1" kern="0" spc="429" dirty="0">
                <a:solidFill>
                  <a:srgbClr val="E0A32E"/>
                </a:solidFill>
                <a:latin typeface="Arial" pitchFamily="34" charset="0"/>
                <a:ea typeface="Arial" pitchFamily="34" charset="-122"/>
                <a:cs typeface="Arial" pitchFamily="34" charset="-120"/>
              </a:rPr>
              <a:t>LO QUE ESCUCHAMOS EN EL CAMPO</a:t>
            </a:r>
            <a:endParaRPr lang="en-US" sz="1950" dirty="0"/>
          </a:p>
        </p:txBody>
      </p:sp>
      <p:sp>
        <p:nvSpPr>
          <p:cNvPr id="3" name="Text 1"/>
          <p:cNvSpPr/>
          <p:nvPr/>
        </p:nvSpPr>
        <p:spPr>
          <a:xfrm>
            <a:off x="1047733" y="1734865"/>
            <a:ext cx="5297844" cy="942827"/>
          </a:xfrm>
          <a:prstGeom prst="rect">
            <a:avLst/>
          </a:prstGeom>
          <a:noFill/>
          <a:ln/>
        </p:spPr>
        <p:txBody>
          <a:bodyPr wrap="square" lIns="25400" tIns="25400" rIns="25400" bIns="25400" rtlCol="0" anchor="t">
            <a:normAutofit/>
          </a:bodyPr>
          <a:lstStyle/>
          <a:p>
            <a:pPr marL="0" indent="0" algn="l">
              <a:lnSpc>
                <a:spcPct val="109614"/>
              </a:lnSpc>
              <a:buNone/>
            </a:pPr>
            <a:r>
              <a:rPr lang="en-US" sz="2850" i="1" dirty="0">
                <a:solidFill>
                  <a:srgbClr val="EDE4D5"/>
                </a:solidFill>
                <a:latin typeface="Georgia" pitchFamily="34" charset="0"/>
                <a:ea typeface="Georgia" pitchFamily="34" charset="-122"/>
                <a:cs typeface="Georgia" pitchFamily="34" charset="-120"/>
              </a:rPr>
              <a:t>“No se consigue buena gente.”</a:t>
            </a:r>
            <a:endParaRPr lang="en-US" sz="2850" dirty="0"/>
          </a:p>
        </p:txBody>
      </p:sp>
      <p:sp>
        <p:nvSpPr>
          <p:cNvPr id="4" name="Text 2"/>
          <p:cNvSpPr/>
          <p:nvPr/>
        </p:nvSpPr>
        <p:spPr>
          <a:xfrm>
            <a:off x="6572201" y="1734865"/>
            <a:ext cx="5297844" cy="942827"/>
          </a:xfrm>
          <a:prstGeom prst="rect">
            <a:avLst/>
          </a:prstGeom>
          <a:noFill/>
          <a:ln/>
        </p:spPr>
        <p:txBody>
          <a:bodyPr wrap="square" lIns="25400" tIns="25400" rIns="25400" bIns="25400" rtlCol="0" anchor="t">
            <a:normAutofit/>
          </a:bodyPr>
          <a:lstStyle/>
          <a:p>
            <a:pPr marL="0" indent="0" algn="l">
              <a:lnSpc>
                <a:spcPct val="109614"/>
              </a:lnSpc>
              <a:buNone/>
            </a:pPr>
            <a:r>
              <a:rPr lang="en-US" sz="2850" i="1" dirty="0">
                <a:solidFill>
                  <a:srgbClr val="EDE4D5"/>
                </a:solidFill>
                <a:latin typeface="Georgia" pitchFamily="34" charset="0"/>
                <a:ea typeface="Georgia" pitchFamily="34" charset="-122"/>
                <a:cs typeface="Georgia" pitchFamily="34" charset="-120"/>
              </a:rPr>
              <a:t>“Los que hay, no se quedan.”</a:t>
            </a:r>
            <a:endParaRPr lang="en-US" sz="2850" dirty="0"/>
          </a:p>
        </p:txBody>
      </p:sp>
      <p:sp>
        <p:nvSpPr>
          <p:cNvPr id="5" name="Text 3"/>
          <p:cNvSpPr/>
          <p:nvPr/>
        </p:nvSpPr>
        <p:spPr>
          <a:xfrm>
            <a:off x="12096669" y="1734865"/>
            <a:ext cx="5297844" cy="942827"/>
          </a:xfrm>
          <a:prstGeom prst="rect">
            <a:avLst/>
          </a:prstGeom>
          <a:noFill/>
          <a:ln/>
        </p:spPr>
        <p:txBody>
          <a:bodyPr wrap="square" lIns="25400" tIns="25400" rIns="25400" bIns="25400" rtlCol="0" anchor="t">
            <a:normAutofit lnSpcReduction="10000"/>
          </a:bodyPr>
          <a:lstStyle/>
          <a:p>
            <a:pPr marL="0" indent="0" algn="l">
              <a:lnSpc>
                <a:spcPct val="109614"/>
              </a:lnSpc>
              <a:buNone/>
            </a:pPr>
            <a:r>
              <a:rPr lang="en-US" sz="2850" i="1" dirty="0">
                <a:solidFill>
                  <a:srgbClr val="EDE4D5"/>
                </a:solidFill>
                <a:latin typeface="Georgia" pitchFamily="34" charset="0"/>
                <a:ea typeface="Georgia" pitchFamily="34" charset="-122"/>
                <a:cs typeface="Georgia" pitchFamily="34" charset="-120"/>
              </a:rPr>
              <a:t>“Los jóvenes no se comprometen.”</a:t>
            </a:r>
            <a:endParaRPr lang="en-US" sz="2850" dirty="0"/>
          </a:p>
        </p:txBody>
      </p:sp>
      <p:sp>
        <p:nvSpPr>
          <p:cNvPr id="6" name="Text 4"/>
          <p:cNvSpPr/>
          <p:nvPr/>
        </p:nvSpPr>
        <p:spPr>
          <a:xfrm>
            <a:off x="1047733" y="2906257"/>
            <a:ext cx="5657892" cy="490463"/>
          </a:xfrm>
          <a:prstGeom prst="rect">
            <a:avLst/>
          </a:prstGeom>
          <a:noFill/>
          <a:ln/>
        </p:spPr>
        <p:txBody>
          <a:bodyPr wrap="square" lIns="25400" tIns="25400" rIns="25400" bIns="25400" rtlCol="0" anchor="t">
            <a:normAutofit lnSpcReduction="10000"/>
          </a:bodyPr>
          <a:lstStyle/>
          <a:p>
            <a:pPr marL="0" indent="0" algn="l">
              <a:lnSpc>
                <a:spcPct val="109614"/>
              </a:lnSpc>
              <a:buNone/>
            </a:pPr>
            <a:r>
              <a:rPr lang="en-US" sz="2850" i="1" dirty="0">
                <a:solidFill>
                  <a:srgbClr val="EDE4D5"/>
                </a:solidFill>
                <a:latin typeface="Georgia" pitchFamily="34" charset="0"/>
                <a:ea typeface="Georgia" pitchFamily="34" charset="-122"/>
                <a:cs typeface="Georgia" pitchFamily="34" charset="-120"/>
              </a:rPr>
              <a:t>“Hay que repetir todo.”</a:t>
            </a:r>
            <a:endParaRPr lang="en-US" sz="2850" dirty="0"/>
          </a:p>
        </p:txBody>
      </p:sp>
      <p:sp>
        <p:nvSpPr>
          <p:cNvPr id="7" name="Text 5"/>
          <p:cNvSpPr/>
          <p:nvPr/>
        </p:nvSpPr>
        <p:spPr>
          <a:xfrm>
            <a:off x="6572201" y="2906257"/>
            <a:ext cx="5657892" cy="490463"/>
          </a:xfrm>
          <a:prstGeom prst="rect">
            <a:avLst/>
          </a:prstGeom>
          <a:noFill/>
          <a:ln/>
        </p:spPr>
        <p:txBody>
          <a:bodyPr wrap="square" lIns="25400" tIns="25400" rIns="25400" bIns="25400" rtlCol="0" anchor="t">
            <a:normAutofit lnSpcReduction="10000"/>
          </a:bodyPr>
          <a:lstStyle/>
          <a:p>
            <a:pPr marL="0" indent="0" algn="l">
              <a:lnSpc>
                <a:spcPct val="109614"/>
              </a:lnSpc>
              <a:buNone/>
            </a:pPr>
            <a:r>
              <a:rPr lang="en-US" sz="2850" i="1" dirty="0">
                <a:solidFill>
                  <a:srgbClr val="EDE4D5"/>
                </a:solidFill>
                <a:latin typeface="Georgia" pitchFamily="34" charset="0"/>
                <a:ea typeface="Georgia" pitchFamily="34" charset="-122"/>
                <a:cs typeface="Georgia" pitchFamily="34" charset="-120"/>
              </a:rPr>
              <a:t>“No tienen autogestión.”</a:t>
            </a:r>
            <a:endParaRPr lang="en-US" sz="2850" dirty="0"/>
          </a:p>
        </p:txBody>
      </p:sp>
      <p:sp>
        <p:nvSpPr>
          <p:cNvPr id="8" name="Text 6"/>
          <p:cNvSpPr/>
          <p:nvPr/>
        </p:nvSpPr>
        <p:spPr>
          <a:xfrm>
            <a:off x="12096669" y="2906257"/>
            <a:ext cx="5657892" cy="490463"/>
          </a:xfrm>
          <a:prstGeom prst="rect">
            <a:avLst/>
          </a:prstGeom>
          <a:noFill/>
          <a:ln/>
        </p:spPr>
        <p:txBody>
          <a:bodyPr wrap="square" lIns="25400" tIns="25400" rIns="25400" bIns="25400" rtlCol="0" anchor="t">
            <a:normAutofit lnSpcReduction="10000"/>
          </a:bodyPr>
          <a:lstStyle/>
          <a:p>
            <a:pPr marL="0" indent="0" algn="l">
              <a:lnSpc>
                <a:spcPct val="109614"/>
              </a:lnSpc>
              <a:buNone/>
            </a:pPr>
            <a:r>
              <a:rPr lang="en-US" sz="2850" i="1" dirty="0">
                <a:solidFill>
                  <a:srgbClr val="EDE4D5"/>
                </a:solidFill>
                <a:latin typeface="Georgia" pitchFamily="34" charset="0"/>
                <a:ea typeface="Georgia" pitchFamily="34" charset="-122"/>
                <a:cs typeface="Georgia" pitchFamily="34" charset="-120"/>
              </a:rPr>
              <a:t>“No me alcanza el día.”</a:t>
            </a:r>
            <a:endParaRPr lang="en-US" sz="2850" dirty="0"/>
          </a:p>
        </p:txBody>
      </p:sp>
      <p:sp>
        <p:nvSpPr>
          <p:cNvPr id="9" name="Text 7"/>
          <p:cNvSpPr/>
          <p:nvPr/>
        </p:nvSpPr>
        <p:spPr>
          <a:xfrm>
            <a:off x="1047733" y="3625285"/>
            <a:ext cx="5297844" cy="942827"/>
          </a:xfrm>
          <a:prstGeom prst="rect">
            <a:avLst/>
          </a:prstGeom>
          <a:noFill/>
          <a:ln/>
        </p:spPr>
        <p:txBody>
          <a:bodyPr wrap="square" lIns="25400" tIns="25400" rIns="25400" bIns="25400" rtlCol="0" anchor="t">
            <a:normAutofit lnSpcReduction="10000"/>
          </a:bodyPr>
          <a:lstStyle/>
          <a:p>
            <a:pPr marL="0" indent="0" algn="l">
              <a:lnSpc>
                <a:spcPct val="109614"/>
              </a:lnSpc>
              <a:buNone/>
            </a:pPr>
            <a:r>
              <a:rPr lang="en-US" sz="2850" i="1" dirty="0">
                <a:solidFill>
                  <a:srgbClr val="EDE4D5"/>
                </a:solidFill>
                <a:latin typeface="Georgia" pitchFamily="34" charset="0"/>
                <a:ea typeface="Georgia" pitchFamily="34" charset="-122"/>
                <a:cs typeface="Georgia" pitchFamily="34" charset="-120"/>
              </a:rPr>
              <a:t>“No hay herramientas que sirvan.”</a:t>
            </a:r>
            <a:endParaRPr lang="en-US" sz="2850" dirty="0"/>
          </a:p>
        </p:txBody>
      </p:sp>
      <p:sp>
        <p:nvSpPr>
          <p:cNvPr id="10" name="Text 8"/>
          <p:cNvSpPr/>
          <p:nvPr/>
        </p:nvSpPr>
        <p:spPr>
          <a:xfrm>
            <a:off x="6572201" y="3625285"/>
            <a:ext cx="5297844" cy="942827"/>
          </a:xfrm>
          <a:prstGeom prst="rect">
            <a:avLst/>
          </a:prstGeom>
          <a:noFill/>
          <a:ln/>
        </p:spPr>
        <p:txBody>
          <a:bodyPr wrap="square" lIns="25400" tIns="25400" rIns="25400" bIns="25400" rtlCol="0" anchor="t">
            <a:normAutofit lnSpcReduction="10000"/>
          </a:bodyPr>
          <a:lstStyle/>
          <a:p>
            <a:pPr marL="0" indent="0" algn="l">
              <a:lnSpc>
                <a:spcPct val="109614"/>
              </a:lnSpc>
              <a:buNone/>
            </a:pPr>
            <a:r>
              <a:rPr lang="en-US" sz="2850" i="1" dirty="0">
                <a:solidFill>
                  <a:srgbClr val="EDE4D5"/>
                </a:solidFill>
                <a:latin typeface="Georgia" pitchFamily="34" charset="0"/>
                <a:ea typeface="Georgia" pitchFamily="34" charset="-122"/>
                <a:cs typeface="Georgia" pitchFamily="34" charset="-120"/>
              </a:rPr>
              <a:t>“Los cursos no aterrizan en la realidad.”</a:t>
            </a:r>
            <a:endParaRPr lang="en-US" sz="2850" dirty="0"/>
          </a:p>
        </p:txBody>
      </p:sp>
      <p:sp>
        <p:nvSpPr>
          <p:cNvPr id="11" name="Text 9"/>
          <p:cNvSpPr/>
          <p:nvPr/>
        </p:nvSpPr>
        <p:spPr>
          <a:xfrm>
            <a:off x="12096669" y="3625285"/>
            <a:ext cx="5297844" cy="942827"/>
          </a:xfrm>
          <a:prstGeom prst="rect">
            <a:avLst/>
          </a:prstGeom>
          <a:noFill/>
          <a:ln/>
        </p:spPr>
        <p:txBody>
          <a:bodyPr wrap="square" lIns="25400" tIns="25400" rIns="25400" bIns="25400" rtlCol="0" anchor="t">
            <a:normAutofit lnSpcReduction="10000"/>
          </a:bodyPr>
          <a:lstStyle/>
          <a:p>
            <a:pPr marL="0" indent="0" algn="l">
              <a:lnSpc>
                <a:spcPct val="109614"/>
              </a:lnSpc>
              <a:buNone/>
            </a:pPr>
            <a:r>
              <a:rPr lang="en-US" sz="2850" i="1" dirty="0">
                <a:solidFill>
                  <a:srgbClr val="EDE4D5"/>
                </a:solidFill>
                <a:latin typeface="Georgia" pitchFamily="34" charset="0"/>
                <a:ea typeface="Georgia" pitchFamily="34" charset="-122"/>
                <a:cs typeface="Georgia" pitchFamily="34" charset="-120"/>
              </a:rPr>
              <a:t>“Las decisiones de gente se toman a las apuradas.”</a:t>
            </a:r>
            <a:endParaRPr lang="en-US" sz="2850" dirty="0"/>
          </a:p>
        </p:txBody>
      </p:sp>
      <p:sp>
        <p:nvSpPr>
          <p:cNvPr id="12" name="Text 10"/>
          <p:cNvSpPr/>
          <p:nvPr/>
        </p:nvSpPr>
        <p:spPr>
          <a:xfrm>
            <a:off x="1047733" y="8825114"/>
            <a:ext cx="17811721" cy="737991"/>
          </a:xfrm>
          <a:prstGeom prst="rect">
            <a:avLst/>
          </a:prstGeom>
          <a:noFill/>
          <a:ln/>
        </p:spPr>
        <p:txBody>
          <a:bodyPr wrap="square" lIns="25400" tIns="25400" rIns="25400" bIns="25400" rtlCol="0" anchor="t">
            <a:normAutofit lnSpcReduction="10000"/>
          </a:bodyPr>
          <a:lstStyle/>
          <a:p>
            <a:pPr marL="0" indent="0" algn="l">
              <a:buNone/>
            </a:pPr>
            <a:r>
              <a:rPr lang="en-US" sz="4800" b="1" dirty="0">
                <a:solidFill>
                  <a:srgbClr val="E0A32E"/>
                </a:solidFill>
                <a:latin typeface="Arial" pitchFamily="34" charset="0"/>
                <a:ea typeface="Arial" pitchFamily="34" charset="-122"/>
                <a:cs typeface="Arial" pitchFamily="34" charset="-120"/>
              </a:rPr>
              <a:t>¿Les suena familiar?</a:t>
            </a:r>
            <a:endParaRPr lang="en-US" sz="4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b="3646"/>
          <a:stretch>
            <a:fillRect/>
          </a:stretch>
        </p:blipFill>
        <p:spPr>
          <a:xfrm>
            <a:off x="0" y="42864"/>
            <a:ext cx="18288000" cy="1024413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2EDE3"/>
        </a:solidFill>
        <a:effectLst/>
      </p:bgPr>
    </p:bg>
    <p:spTree>
      <p:nvGrpSpPr>
        <p:cNvPr id="1" name=""/>
        <p:cNvGrpSpPr/>
        <p:nvPr/>
      </p:nvGrpSpPr>
      <p:grpSpPr>
        <a:xfrm>
          <a:off x="0" y="0"/>
          <a:ext cx="0" cy="0"/>
          <a:chOff x="0" y="0"/>
          <a:chExt cx="0" cy="0"/>
        </a:xfrm>
      </p:grpSpPr>
      <p:sp>
        <p:nvSpPr>
          <p:cNvPr id="2" name="Text 0"/>
          <p:cNvSpPr/>
          <p:nvPr/>
        </p:nvSpPr>
        <p:spPr>
          <a:xfrm>
            <a:off x="1047733" y="405851"/>
            <a:ext cx="17811721" cy="586117"/>
          </a:xfrm>
          <a:prstGeom prst="rect">
            <a:avLst/>
          </a:prstGeom>
          <a:noFill/>
          <a:ln/>
        </p:spPr>
        <p:txBody>
          <a:bodyPr wrap="square" lIns="25400" tIns="25400" rIns="25400" bIns="25400" rtlCol="0" anchor="t">
            <a:normAutofit/>
          </a:bodyPr>
          <a:lstStyle/>
          <a:p>
            <a:pPr marL="0" indent="0" algn="l">
              <a:buNone/>
            </a:pPr>
            <a:r>
              <a:rPr lang="en-US" sz="2800" b="1" kern="0" spc="429" dirty="0">
                <a:solidFill>
                  <a:srgbClr val="8A6A1F"/>
                </a:solidFill>
                <a:latin typeface="Arial" pitchFamily="34" charset="0"/>
                <a:ea typeface="Arial" pitchFamily="34" charset="-122"/>
                <a:cs typeface="Arial" pitchFamily="34" charset="-120"/>
              </a:rPr>
              <a:t>NUESTRO MODELO</a:t>
            </a:r>
            <a:endParaRPr lang="en-US" sz="2800" dirty="0"/>
          </a:p>
        </p:txBody>
      </p:sp>
      <p:sp>
        <p:nvSpPr>
          <p:cNvPr id="3" name="Text 1"/>
          <p:cNvSpPr/>
          <p:nvPr/>
        </p:nvSpPr>
        <p:spPr>
          <a:xfrm>
            <a:off x="1047733" y="1182398"/>
            <a:ext cx="17811721" cy="638096"/>
          </a:xfrm>
          <a:prstGeom prst="rect">
            <a:avLst/>
          </a:prstGeom>
          <a:noFill/>
          <a:ln/>
        </p:spPr>
        <p:txBody>
          <a:bodyPr wrap="square" lIns="25400" tIns="25400" rIns="25400" bIns="25400" rtlCol="0" anchor="t">
            <a:normAutofit lnSpcReduction="10000"/>
          </a:bodyPr>
          <a:lstStyle/>
          <a:p>
            <a:pPr marL="0" indent="0" algn="l">
              <a:lnSpc>
                <a:spcPct val="91611"/>
              </a:lnSpc>
              <a:buNone/>
            </a:pPr>
            <a:r>
              <a:rPr lang="en-US" sz="4500" b="1" kern="0" spc="-90" dirty="0">
                <a:solidFill>
                  <a:srgbClr val="16120E"/>
                </a:solidFill>
                <a:latin typeface="Arial" pitchFamily="34" charset="0"/>
                <a:ea typeface="Arial" pitchFamily="34" charset="-122"/>
                <a:cs typeface="Arial" pitchFamily="34" charset="-120"/>
              </a:rPr>
              <a:t>Una mirada integral a la gestión humana</a:t>
            </a:r>
            <a:endParaRPr lang="en-US" sz="4500" dirty="0"/>
          </a:p>
        </p:txBody>
      </p:sp>
      <p:sp>
        <p:nvSpPr>
          <p:cNvPr id="4" name="Shape 2"/>
          <p:cNvSpPr/>
          <p:nvPr/>
        </p:nvSpPr>
        <p:spPr>
          <a:xfrm>
            <a:off x="1047733" y="2163324"/>
            <a:ext cx="3762403" cy="71784"/>
          </a:xfrm>
          <a:prstGeom prst="rect">
            <a:avLst/>
          </a:prstGeom>
          <a:solidFill>
            <a:srgbClr val="2E6DB4"/>
          </a:solidFill>
          <a:ln/>
        </p:spPr>
        <p:txBody>
          <a:bodyPr/>
          <a:lstStyle/>
          <a:p>
            <a:endParaRPr lang="es-AR"/>
          </a:p>
        </p:txBody>
      </p:sp>
      <p:sp>
        <p:nvSpPr>
          <p:cNvPr id="5" name="Text 3"/>
          <p:cNvSpPr/>
          <p:nvPr/>
        </p:nvSpPr>
        <p:spPr>
          <a:xfrm>
            <a:off x="1047733" y="2501773"/>
            <a:ext cx="4138644" cy="652748"/>
          </a:xfrm>
          <a:prstGeom prst="rect">
            <a:avLst/>
          </a:prstGeom>
          <a:noFill/>
          <a:ln/>
        </p:spPr>
        <p:txBody>
          <a:bodyPr wrap="square" lIns="25400" tIns="25400" rIns="25400" bIns="25400" rtlCol="0" anchor="t">
            <a:normAutofit lnSpcReduction="10000"/>
          </a:bodyPr>
          <a:lstStyle/>
          <a:p>
            <a:pPr marL="0" indent="0" algn="l">
              <a:buNone/>
            </a:pPr>
            <a:r>
              <a:rPr lang="en-US" sz="4200" b="1" dirty="0">
                <a:solidFill>
                  <a:srgbClr val="2E6DB4"/>
                </a:solidFill>
                <a:latin typeface="Arial" pitchFamily="34" charset="0"/>
                <a:ea typeface="Arial" pitchFamily="34" charset="-122"/>
                <a:cs typeface="Arial" pitchFamily="34" charset="-120"/>
              </a:rPr>
              <a:t>01</a:t>
            </a:r>
            <a:endParaRPr lang="en-US" sz="4200" dirty="0"/>
          </a:p>
        </p:txBody>
      </p:sp>
      <p:sp>
        <p:nvSpPr>
          <p:cNvPr id="6" name="Text 4"/>
          <p:cNvSpPr/>
          <p:nvPr/>
        </p:nvSpPr>
        <p:spPr>
          <a:xfrm>
            <a:off x="1047733" y="3249753"/>
            <a:ext cx="4138644" cy="449524"/>
          </a:xfrm>
          <a:prstGeom prst="rect">
            <a:avLst/>
          </a:prstGeom>
          <a:noFill/>
          <a:ln/>
        </p:spPr>
        <p:txBody>
          <a:bodyPr wrap="square" lIns="25400" tIns="25400" rIns="25400" bIns="25400" rtlCol="0" anchor="t">
            <a:normAutofit lnSpcReduction="10000"/>
          </a:bodyPr>
          <a:lstStyle/>
          <a:p>
            <a:pPr marL="0" indent="0" algn="l">
              <a:lnSpc>
                <a:spcPct val="104222"/>
              </a:lnSpc>
              <a:buNone/>
            </a:pPr>
            <a:r>
              <a:rPr lang="en-US" sz="2700" b="1" dirty="0">
                <a:solidFill>
                  <a:srgbClr val="16120E"/>
                </a:solidFill>
                <a:latin typeface="Arial" pitchFamily="34" charset="0"/>
                <a:ea typeface="Arial" pitchFamily="34" charset="-122"/>
                <a:cs typeface="Arial" pitchFamily="34" charset="-120"/>
              </a:rPr>
              <a:t>Estructura y Resultados</a:t>
            </a:r>
            <a:endParaRPr lang="en-US" sz="2700" dirty="0"/>
          </a:p>
        </p:txBody>
      </p:sp>
      <p:sp>
        <p:nvSpPr>
          <p:cNvPr id="7" name="Text 5"/>
          <p:cNvSpPr/>
          <p:nvPr/>
        </p:nvSpPr>
        <p:spPr>
          <a:xfrm>
            <a:off x="1047733" y="3832575"/>
            <a:ext cx="3875275" cy="838095"/>
          </a:xfrm>
          <a:prstGeom prst="rect">
            <a:avLst/>
          </a:prstGeom>
          <a:noFill/>
          <a:ln/>
        </p:spPr>
        <p:txBody>
          <a:bodyPr wrap="square" lIns="25400" tIns="25400" rIns="25400" bIns="25400" rtlCol="0" anchor="t">
            <a:normAutofit lnSpcReduction="10000"/>
          </a:bodyPr>
          <a:lstStyle/>
          <a:p>
            <a:pPr marL="0" indent="0" algn="l">
              <a:lnSpc>
                <a:spcPct val="123844"/>
              </a:lnSpc>
              <a:buNone/>
            </a:pPr>
            <a:r>
              <a:rPr lang="en-US" sz="2250" dirty="0">
                <a:solidFill>
                  <a:srgbClr val="4A423A"/>
                </a:solidFill>
                <a:latin typeface="Georgia" pitchFamily="34" charset="0"/>
                <a:ea typeface="Georgia" pitchFamily="34" charset="-122"/>
                <a:cs typeface="Georgia" pitchFamily="34" charset="-120"/>
              </a:rPr>
              <a:t>Roles, objetivos, métricas y autoridad de decisión.</a:t>
            </a:r>
            <a:endParaRPr lang="en-US" sz="2250" dirty="0"/>
          </a:p>
        </p:txBody>
      </p:sp>
      <p:sp>
        <p:nvSpPr>
          <p:cNvPr id="8" name="Shape 6"/>
          <p:cNvSpPr/>
          <p:nvPr/>
        </p:nvSpPr>
        <p:spPr>
          <a:xfrm>
            <a:off x="5191066" y="2163324"/>
            <a:ext cx="3762403" cy="71784"/>
          </a:xfrm>
          <a:prstGeom prst="rect">
            <a:avLst/>
          </a:prstGeom>
          <a:solidFill>
            <a:srgbClr val="4F9C3A"/>
          </a:solidFill>
          <a:ln/>
        </p:spPr>
        <p:txBody>
          <a:bodyPr/>
          <a:lstStyle/>
          <a:p>
            <a:endParaRPr lang="es-AR"/>
          </a:p>
        </p:txBody>
      </p:sp>
      <p:sp>
        <p:nvSpPr>
          <p:cNvPr id="9" name="Text 7"/>
          <p:cNvSpPr/>
          <p:nvPr/>
        </p:nvSpPr>
        <p:spPr>
          <a:xfrm>
            <a:off x="5191066" y="2501773"/>
            <a:ext cx="4138644" cy="652748"/>
          </a:xfrm>
          <a:prstGeom prst="rect">
            <a:avLst/>
          </a:prstGeom>
          <a:noFill/>
          <a:ln/>
        </p:spPr>
        <p:txBody>
          <a:bodyPr wrap="square" lIns="25400" tIns="25400" rIns="25400" bIns="25400" rtlCol="0" anchor="t">
            <a:normAutofit lnSpcReduction="10000"/>
          </a:bodyPr>
          <a:lstStyle/>
          <a:p>
            <a:pPr marL="0" indent="0" algn="l">
              <a:buNone/>
            </a:pPr>
            <a:r>
              <a:rPr lang="en-US" sz="4200" b="1" dirty="0">
                <a:solidFill>
                  <a:srgbClr val="4F9C3A"/>
                </a:solidFill>
                <a:latin typeface="Arial" pitchFamily="34" charset="0"/>
                <a:ea typeface="Arial" pitchFamily="34" charset="-122"/>
                <a:cs typeface="Arial" pitchFamily="34" charset="-120"/>
              </a:rPr>
              <a:t>02</a:t>
            </a:r>
            <a:endParaRPr lang="en-US" sz="4200" dirty="0"/>
          </a:p>
        </p:txBody>
      </p:sp>
      <p:sp>
        <p:nvSpPr>
          <p:cNvPr id="10" name="Text 8"/>
          <p:cNvSpPr/>
          <p:nvPr/>
        </p:nvSpPr>
        <p:spPr>
          <a:xfrm>
            <a:off x="5191066" y="3249753"/>
            <a:ext cx="4138644" cy="449524"/>
          </a:xfrm>
          <a:prstGeom prst="rect">
            <a:avLst/>
          </a:prstGeom>
          <a:noFill/>
          <a:ln/>
        </p:spPr>
        <p:txBody>
          <a:bodyPr wrap="square" lIns="25400" tIns="25400" rIns="25400" bIns="25400" rtlCol="0" anchor="t">
            <a:normAutofit lnSpcReduction="10000"/>
          </a:bodyPr>
          <a:lstStyle/>
          <a:p>
            <a:pPr marL="0" indent="0" algn="l">
              <a:lnSpc>
                <a:spcPct val="104222"/>
              </a:lnSpc>
              <a:buNone/>
            </a:pPr>
            <a:r>
              <a:rPr lang="en-US" sz="2700" b="1" dirty="0">
                <a:solidFill>
                  <a:srgbClr val="16120E"/>
                </a:solidFill>
                <a:latin typeface="Arial" pitchFamily="34" charset="0"/>
                <a:ea typeface="Arial" pitchFamily="34" charset="-122"/>
                <a:cs typeface="Arial" pitchFamily="34" charset="-120"/>
              </a:rPr>
              <a:t>Gestión de Procesos</a:t>
            </a:r>
            <a:endParaRPr lang="en-US" sz="2700" dirty="0"/>
          </a:p>
        </p:txBody>
      </p:sp>
      <p:sp>
        <p:nvSpPr>
          <p:cNvPr id="11" name="Text 9"/>
          <p:cNvSpPr/>
          <p:nvPr/>
        </p:nvSpPr>
        <p:spPr>
          <a:xfrm>
            <a:off x="5191066" y="3832575"/>
            <a:ext cx="3875275" cy="1238093"/>
          </a:xfrm>
          <a:prstGeom prst="rect">
            <a:avLst/>
          </a:prstGeom>
          <a:noFill/>
          <a:ln/>
        </p:spPr>
        <p:txBody>
          <a:bodyPr wrap="square" lIns="25400" tIns="25400" rIns="25400" bIns="25400" rtlCol="0" anchor="t">
            <a:normAutofit lnSpcReduction="10000"/>
          </a:bodyPr>
          <a:lstStyle/>
          <a:p>
            <a:pPr marL="0" indent="0" algn="l">
              <a:lnSpc>
                <a:spcPct val="123844"/>
              </a:lnSpc>
              <a:buNone/>
            </a:pPr>
            <a:r>
              <a:rPr lang="en-US" sz="2250" dirty="0">
                <a:solidFill>
                  <a:srgbClr val="4A423A"/>
                </a:solidFill>
                <a:latin typeface="Georgia" pitchFamily="34" charset="0"/>
                <a:ea typeface="Georgia" pitchFamily="34" charset="-122"/>
                <a:cs typeface="Georgia" pitchFamily="34" charset="-120"/>
              </a:rPr>
              <a:t>Atracción, incorporación y documentación del conocimiento.</a:t>
            </a:r>
            <a:endParaRPr lang="en-US" sz="2250" dirty="0"/>
          </a:p>
        </p:txBody>
      </p:sp>
      <p:sp>
        <p:nvSpPr>
          <p:cNvPr id="12" name="Shape 10"/>
          <p:cNvSpPr/>
          <p:nvPr/>
        </p:nvSpPr>
        <p:spPr>
          <a:xfrm>
            <a:off x="9334400" y="2163324"/>
            <a:ext cx="3762403" cy="71784"/>
          </a:xfrm>
          <a:prstGeom prst="rect">
            <a:avLst/>
          </a:prstGeom>
          <a:solidFill>
            <a:srgbClr val="D93A2B"/>
          </a:solidFill>
          <a:ln/>
        </p:spPr>
        <p:txBody>
          <a:bodyPr/>
          <a:lstStyle/>
          <a:p>
            <a:endParaRPr lang="es-AR"/>
          </a:p>
        </p:txBody>
      </p:sp>
      <p:sp>
        <p:nvSpPr>
          <p:cNvPr id="13" name="Text 11"/>
          <p:cNvSpPr/>
          <p:nvPr/>
        </p:nvSpPr>
        <p:spPr>
          <a:xfrm>
            <a:off x="9334400" y="2501773"/>
            <a:ext cx="4138644" cy="652748"/>
          </a:xfrm>
          <a:prstGeom prst="rect">
            <a:avLst/>
          </a:prstGeom>
          <a:noFill/>
          <a:ln/>
        </p:spPr>
        <p:txBody>
          <a:bodyPr wrap="square" lIns="25400" tIns="25400" rIns="25400" bIns="25400" rtlCol="0" anchor="t">
            <a:normAutofit lnSpcReduction="10000"/>
          </a:bodyPr>
          <a:lstStyle/>
          <a:p>
            <a:pPr marL="0" indent="0" algn="l">
              <a:buNone/>
            </a:pPr>
            <a:r>
              <a:rPr lang="en-US" sz="4200" b="1" dirty="0">
                <a:solidFill>
                  <a:srgbClr val="D93A2B"/>
                </a:solidFill>
                <a:latin typeface="Arial" pitchFamily="34" charset="0"/>
                <a:ea typeface="Arial" pitchFamily="34" charset="-122"/>
                <a:cs typeface="Arial" pitchFamily="34" charset="-120"/>
              </a:rPr>
              <a:t>03</a:t>
            </a:r>
            <a:endParaRPr lang="en-US" sz="4200" dirty="0"/>
          </a:p>
        </p:txBody>
      </p:sp>
      <p:sp>
        <p:nvSpPr>
          <p:cNvPr id="14" name="Text 12"/>
          <p:cNvSpPr/>
          <p:nvPr/>
        </p:nvSpPr>
        <p:spPr>
          <a:xfrm>
            <a:off x="9334400" y="3249753"/>
            <a:ext cx="4138644" cy="449524"/>
          </a:xfrm>
          <a:prstGeom prst="rect">
            <a:avLst/>
          </a:prstGeom>
          <a:noFill/>
          <a:ln/>
        </p:spPr>
        <p:txBody>
          <a:bodyPr wrap="square" lIns="25400" tIns="25400" rIns="25400" bIns="25400" rtlCol="0" anchor="t">
            <a:normAutofit lnSpcReduction="10000"/>
          </a:bodyPr>
          <a:lstStyle/>
          <a:p>
            <a:pPr marL="0" indent="0" algn="l">
              <a:lnSpc>
                <a:spcPct val="104222"/>
              </a:lnSpc>
              <a:buNone/>
            </a:pPr>
            <a:r>
              <a:rPr lang="en-US" sz="2700" b="1" dirty="0">
                <a:solidFill>
                  <a:srgbClr val="16120E"/>
                </a:solidFill>
                <a:latin typeface="Arial" pitchFamily="34" charset="0"/>
                <a:ea typeface="Arial" pitchFamily="34" charset="-122"/>
                <a:cs typeface="Arial" pitchFamily="34" charset="-120"/>
              </a:rPr>
              <a:t>Desarrollo del Equipo</a:t>
            </a:r>
            <a:endParaRPr lang="en-US" sz="2700" dirty="0"/>
          </a:p>
        </p:txBody>
      </p:sp>
      <p:sp>
        <p:nvSpPr>
          <p:cNvPr id="15" name="Text 13"/>
          <p:cNvSpPr/>
          <p:nvPr/>
        </p:nvSpPr>
        <p:spPr>
          <a:xfrm>
            <a:off x="9334400" y="3832575"/>
            <a:ext cx="3875275" cy="838095"/>
          </a:xfrm>
          <a:prstGeom prst="rect">
            <a:avLst/>
          </a:prstGeom>
          <a:noFill/>
          <a:ln/>
        </p:spPr>
        <p:txBody>
          <a:bodyPr wrap="square" lIns="25400" tIns="25400" rIns="25400" bIns="25400" rtlCol="0" anchor="t">
            <a:normAutofit lnSpcReduction="10000"/>
          </a:bodyPr>
          <a:lstStyle/>
          <a:p>
            <a:pPr marL="0" indent="0" algn="l">
              <a:lnSpc>
                <a:spcPct val="123844"/>
              </a:lnSpc>
              <a:buNone/>
            </a:pPr>
            <a:r>
              <a:rPr lang="en-US" sz="2250" dirty="0">
                <a:solidFill>
                  <a:srgbClr val="4A423A"/>
                </a:solidFill>
                <a:latin typeface="Georgia" pitchFamily="34" charset="0"/>
                <a:ea typeface="Georgia" pitchFamily="34" charset="-122"/>
                <a:cs typeface="Georgia" pitchFamily="34" charset="-120"/>
              </a:rPr>
              <a:t>Liderazgo, capacitación, clima y delegación.</a:t>
            </a:r>
            <a:endParaRPr lang="en-US" sz="2250" dirty="0"/>
          </a:p>
        </p:txBody>
      </p:sp>
      <p:sp>
        <p:nvSpPr>
          <p:cNvPr id="16" name="Shape 14"/>
          <p:cNvSpPr/>
          <p:nvPr/>
        </p:nvSpPr>
        <p:spPr>
          <a:xfrm>
            <a:off x="13477733" y="2163324"/>
            <a:ext cx="3762474" cy="71784"/>
          </a:xfrm>
          <a:prstGeom prst="rect">
            <a:avLst/>
          </a:prstGeom>
          <a:solidFill>
            <a:srgbClr val="EFB01F"/>
          </a:solidFill>
          <a:ln/>
        </p:spPr>
        <p:txBody>
          <a:bodyPr/>
          <a:lstStyle/>
          <a:p>
            <a:endParaRPr lang="es-AR"/>
          </a:p>
        </p:txBody>
      </p:sp>
      <p:sp>
        <p:nvSpPr>
          <p:cNvPr id="17" name="Text 15"/>
          <p:cNvSpPr/>
          <p:nvPr/>
        </p:nvSpPr>
        <p:spPr>
          <a:xfrm>
            <a:off x="13477733" y="2501773"/>
            <a:ext cx="4138721" cy="652748"/>
          </a:xfrm>
          <a:prstGeom prst="rect">
            <a:avLst/>
          </a:prstGeom>
          <a:noFill/>
          <a:ln/>
        </p:spPr>
        <p:txBody>
          <a:bodyPr wrap="square" lIns="25400" tIns="25400" rIns="25400" bIns="25400" rtlCol="0" anchor="t">
            <a:normAutofit lnSpcReduction="10000"/>
          </a:bodyPr>
          <a:lstStyle/>
          <a:p>
            <a:pPr marL="0" indent="0" algn="l">
              <a:buNone/>
            </a:pPr>
            <a:r>
              <a:rPr lang="en-US" sz="4200" b="1" dirty="0">
                <a:solidFill>
                  <a:srgbClr val="EFB01F"/>
                </a:solidFill>
                <a:latin typeface="Arial" pitchFamily="34" charset="0"/>
                <a:ea typeface="Arial" pitchFamily="34" charset="-122"/>
                <a:cs typeface="Arial" pitchFamily="34" charset="-120"/>
              </a:rPr>
              <a:t>04</a:t>
            </a:r>
            <a:endParaRPr lang="en-US" sz="4200" dirty="0"/>
          </a:p>
        </p:txBody>
      </p:sp>
      <p:sp>
        <p:nvSpPr>
          <p:cNvPr id="18" name="Text 16"/>
          <p:cNvSpPr/>
          <p:nvPr/>
        </p:nvSpPr>
        <p:spPr>
          <a:xfrm>
            <a:off x="13477733" y="3249753"/>
            <a:ext cx="4138721" cy="449524"/>
          </a:xfrm>
          <a:prstGeom prst="rect">
            <a:avLst/>
          </a:prstGeom>
          <a:noFill/>
          <a:ln/>
        </p:spPr>
        <p:txBody>
          <a:bodyPr wrap="square" lIns="25400" tIns="25400" rIns="25400" bIns="25400" rtlCol="0" anchor="t">
            <a:normAutofit lnSpcReduction="10000"/>
          </a:bodyPr>
          <a:lstStyle/>
          <a:p>
            <a:pPr marL="0" indent="0" algn="l">
              <a:lnSpc>
                <a:spcPct val="104222"/>
              </a:lnSpc>
              <a:buNone/>
            </a:pPr>
            <a:r>
              <a:rPr lang="en-US" sz="2700" b="1" dirty="0">
                <a:solidFill>
                  <a:srgbClr val="16120E"/>
                </a:solidFill>
                <a:latin typeface="Arial" pitchFamily="34" charset="0"/>
                <a:ea typeface="Arial" pitchFamily="34" charset="-122"/>
                <a:cs typeface="Arial" pitchFamily="34" charset="-120"/>
              </a:rPr>
              <a:t>Proyección y Cultura</a:t>
            </a:r>
            <a:endParaRPr lang="en-US" sz="2700" dirty="0"/>
          </a:p>
        </p:txBody>
      </p:sp>
      <p:sp>
        <p:nvSpPr>
          <p:cNvPr id="19" name="Text 17"/>
          <p:cNvSpPr/>
          <p:nvPr/>
        </p:nvSpPr>
        <p:spPr>
          <a:xfrm>
            <a:off x="13477733" y="3832575"/>
            <a:ext cx="3875348" cy="838095"/>
          </a:xfrm>
          <a:prstGeom prst="rect">
            <a:avLst/>
          </a:prstGeom>
          <a:noFill/>
          <a:ln/>
        </p:spPr>
        <p:txBody>
          <a:bodyPr wrap="square" lIns="25400" tIns="25400" rIns="25400" bIns="25400" rtlCol="0" anchor="t">
            <a:normAutofit lnSpcReduction="10000"/>
          </a:bodyPr>
          <a:lstStyle/>
          <a:p>
            <a:pPr marL="0" indent="0" algn="l">
              <a:lnSpc>
                <a:spcPct val="123844"/>
              </a:lnSpc>
              <a:buNone/>
            </a:pPr>
            <a:r>
              <a:rPr lang="en-US" sz="2250" dirty="0">
                <a:solidFill>
                  <a:srgbClr val="4A423A"/>
                </a:solidFill>
                <a:latin typeface="Georgia" pitchFamily="34" charset="0"/>
                <a:ea typeface="Georgia" pitchFamily="34" charset="-122"/>
                <a:cs typeface="Georgia" pitchFamily="34" charset="-120"/>
              </a:rPr>
              <a:t>Retención, incentivos, reconocimiento y valores.</a:t>
            </a:r>
            <a:endParaRPr lang="en-US" sz="2250" dirty="0"/>
          </a:p>
        </p:txBody>
      </p:sp>
      <p:pic>
        <p:nvPicPr>
          <p:cNvPr id="20" name="Image 0" descr="preencoded.png"/>
          <p:cNvPicPr>
            <a:picLocks noChangeAspect="1"/>
          </p:cNvPicPr>
          <p:nvPr/>
        </p:nvPicPr>
        <p:blipFill>
          <a:blip r:embed="rId3">
            <a:extLst>
              <a:ext uri="{BEBA8EAE-BF5A-486C-A8C5-ECC9F3942E4B}">
                <a14:imgProps xmlns:a14="http://schemas.microsoft.com/office/drawing/2010/main">
                  <a14:imgLayer r:embed="rId4">
                    <a14:imgEffect>
                      <a14:colorTemperature colorTemp="7200"/>
                    </a14:imgEffect>
                  </a14:imgLayer>
                </a14:imgProps>
              </a:ext>
            </a:extLst>
          </a:blip>
          <a:srcRect l="-22939" r="-22939"/>
          <a:stretch/>
        </p:blipFill>
        <p:spPr>
          <a:xfrm>
            <a:off x="3106421" y="5447217"/>
            <a:ext cx="11919839" cy="460275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16120E"/>
        </a:solidFill>
        <a:effectLst/>
      </p:bgPr>
    </p:bg>
    <p:spTree>
      <p:nvGrpSpPr>
        <p:cNvPr id="1" name=""/>
        <p:cNvGrpSpPr/>
        <p:nvPr/>
      </p:nvGrpSpPr>
      <p:grpSpPr>
        <a:xfrm>
          <a:off x="0" y="0"/>
          <a:ext cx="0" cy="0"/>
          <a:chOff x="0" y="0"/>
          <a:chExt cx="0" cy="0"/>
        </a:xfrm>
      </p:grpSpPr>
      <p:sp>
        <p:nvSpPr>
          <p:cNvPr id="2" name="Text 0"/>
          <p:cNvSpPr/>
          <p:nvPr/>
        </p:nvSpPr>
        <p:spPr>
          <a:xfrm>
            <a:off x="1047733" y="2050742"/>
            <a:ext cx="17811721" cy="325235"/>
          </a:xfrm>
          <a:prstGeom prst="rect">
            <a:avLst/>
          </a:prstGeom>
          <a:noFill/>
          <a:ln/>
        </p:spPr>
        <p:txBody>
          <a:bodyPr wrap="square" lIns="25400" tIns="25400" rIns="25400" bIns="25400" rtlCol="0" anchor="t">
            <a:normAutofit lnSpcReduction="10000"/>
          </a:bodyPr>
          <a:lstStyle/>
          <a:p>
            <a:pPr marL="0" indent="0" algn="l">
              <a:buNone/>
            </a:pPr>
            <a:r>
              <a:rPr lang="en-US" sz="1950" b="1" kern="0" spc="429" dirty="0">
                <a:solidFill>
                  <a:srgbClr val="E0A32E"/>
                </a:solidFill>
                <a:latin typeface="Arial" pitchFamily="34" charset="0"/>
                <a:ea typeface="Arial" pitchFamily="34" charset="-122"/>
                <a:cs typeface="Arial" pitchFamily="34" charset="-120"/>
              </a:rPr>
              <a:t>EL ESTUDIO</a:t>
            </a:r>
            <a:endParaRPr lang="en-US" sz="1950" dirty="0"/>
          </a:p>
        </p:txBody>
      </p:sp>
      <p:sp>
        <p:nvSpPr>
          <p:cNvPr id="3" name="Text 1"/>
          <p:cNvSpPr/>
          <p:nvPr/>
        </p:nvSpPr>
        <p:spPr>
          <a:xfrm>
            <a:off x="1047733" y="2756941"/>
            <a:ext cx="17811721" cy="1276368"/>
          </a:xfrm>
          <a:prstGeom prst="rect">
            <a:avLst/>
          </a:prstGeom>
          <a:noFill/>
          <a:ln/>
        </p:spPr>
        <p:txBody>
          <a:bodyPr wrap="square" lIns="25400" tIns="25400" rIns="25400" bIns="25400" rtlCol="0" anchor="t">
            <a:normAutofit lnSpcReduction="10000"/>
          </a:bodyPr>
          <a:lstStyle/>
          <a:p>
            <a:pPr marL="0" indent="0" algn="l">
              <a:lnSpc>
                <a:spcPct val="87065"/>
              </a:lnSpc>
              <a:buNone/>
            </a:pPr>
            <a:r>
              <a:rPr lang="en-US" sz="9750" b="1" kern="0" spc="-292" dirty="0">
                <a:solidFill>
                  <a:srgbClr val="F2EDE3"/>
                </a:solidFill>
                <a:latin typeface="Arial" pitchFamily="34" charset="0"/>
                <a:ea typeface="Arial" pitchFamily="34" charset="-122"/>
                <a:cs typeface="Arial" pitchFamily="34" charset="-120"/>
              </a:rPr>
              <a:t>17 empresas de la región</a:t>
            </a:r>
            <a:endParaRPr lang="en-US" sz="9750" dirty="0"/>
          </a:p>
        </p:txBody>
      </p:sp>
      <p:sp>
        <p:nvSpPr>
          <p:cNvPr id="4" name="Text 2"/>
          <p:cNvSpPr/>
          <p:nvPr/>
        </p:nvSpPr>
        <p:spPr>
          <a:xfrm>
            <a:off x="1047733" y="4528540"/>
            <a:ext cx="3581206" cy="509180"/>
          </a:xfrm>
          <a:prstGeom prst="rect">
            <a:avLst/>
          </a:prstGeom>
          <a:noFill/>
          <a:ln/>
        </p:spPr>
        <p:txBody>
          <a:bodyPr wrap="square" lIns="25400" tIns="25400" rIns="25400" bIns="25400" rtlCol="0" anchor="t">
            <a:normAutofit/>
          </a:bodyPr>
          <a:lstStyle/>
          <a:p>
            <a:pPr marL="0" indent="0" algn="l">
              <a:buNone/>
            </a:pPr>
            <a:r>
              <a:rPr lang="en-US" sz="2700" dirty="0">
                <a:solidFill>
                  <a:srgbClr val="D6CBB9"/>
                </a:solidFill>
                <a:latin typeface="Georgia" pitchFamily="34" charset="0"/>
                <a:ea typeface="Georgia" pitchFamily="34" charset="-122"/>
                <a:cs typeface="Georgia" pitchFamily="34" charset="-120"/>
              </a:rPr>
              <a:t>Diferentes actividades</a:t>
            </a:r>
            <a:endParaRPr lang="en-US" sz="2700" dirty="0"/>
          </a:p>
        </p:txBody>
      </p:sp>
      <p:sp>
        <p:nvSpPr>
          <p:cNvPr id="5" name="Text 3"/>
          <p:cNvSpPr/>
          <p:nvPr/>
        </p:nvSpPr>
        <p:spPr>
          <a:xfrm>
            <a:off x="5065305" y="4528540"/>
            <a:ext cx="2918279" cy="509180"/>
          </a:xfrm>
          <a:prstGeom prst="rect">
            <a:avLst/>
          </a:prstGeom>
          <a:noFill/>
          <a:ln/>
        </p:spPr>
        <p:txBody>
          <a:bodyPr wrap="square" lIns="25400" tIns="25400" rIns="25400" bIns="25400" rtlCol="0" anchor="t">
            <a:normAutofit/>
          </a:bodyPr>
          <a:lstStyle/>
          <a:p>
            <a:pPr marL="0" indent="0" algn="l">
              <a:buNone/>
            </a:pPr>
            <a:r>
              <a:rPr lang="en-US" sz="2700" dirty="0">
                <a:solidFill>
                  <a:srgbClr val="D6CBB9"/>
                </a:solidFill>
                <a:latin typeface="Georgia" pitchFamily="34" charset="0"/>
                <a:ea typeface="Georgia" pitchFamily="34" charset="-122"/>
                <a:cs typeface="Georgia" pitchFamily="34" charset="-120"/>
              </a:rPr>
              <a:t>Diferentes escalas</a:t>
            </a:r>
            <a:endParaRPr lang="en-US" sz="2700" dirty="0"/>
          </a:p>
        </p:txBody>
      </p:sp>
      <p:sp>
        <p:nvSpPr>
          <p:cNvPr id="6" name="Text 4"/>
          <p:cNvSpPr/>
          <p:nvPr/>
        </p:nvSpPr>
        <p:spPr>
          <a:xfrm>
            <a:off x="8480216" y="4528540"/>
            <a:ext cx="4386634" cy="509180"/>
          </a:xfrm>
          <a:prstGeom prst="rect">
            <a:avLst/>
          </a:prstGeom>
          <a:noFill/>
          <a:ln/>
        </p:spPr>
        <p:txBody>
          <a:bodyPr wrap="square" lIns="25400" tIns="25400" rIns="25400" bIns="25400" rtlCol="0" anchor="t">
            <a:normAutofit/>
          </a:bodyPr>
          <a:lstStyle/>
          <a:p>
            <a:pPr marL="0" indent="0" algn="l">
              <a:buNone/>
            </a:pPr>
            <a:r>
              <a:rPr lang="en-US" sz="2700" dirty="0">
                <a:solidFill>
                  <a:srgbClr val="D6CBB9"/>
                </a:solidFill>
                <a:latin typeface="Georgia" pitchFamily="34" charset="0"/>
                <a:ea typeface="Georgia" pitchFamily="34" charset="-122"/>
                <a:cs typeface="Georgia" pitchFamily="34" charset="-120"/>
              </a:rPr>
              <a:t>Diferentes roles responden</a:t>
            </a:r>
            <a:endParaRPr lang="en-US" sz="2700" dirty="0"/>
          </a:p>
        </p:txBody>
      </p:sp>
      <p:sp>
        <p:nvSpPr>
          <p:cNvPr id="7" name="Text 5"/>
          <p:cNvSpPr/>
          <p:nvPr/>
        </p:nvSpPr>
        <p:spPr>
          <a:xfrm>
            <a:off x="1047733" y="5532950"/>
            <a:ext cx="17811721" cy="455343"/>
          </a:xfrm>
          <a:prstGeom prst="rect">
            <a:avLst/>
          </a:prstGeom>
          <a:noFill/>
          <a:ln/>
        </p:spPr>
        <p:txBody>
          <a:bodyPr wrap="square" lIns="25400" tIns="25400" rIns="25400" bIns="25400" rtlCol="0" anchor="t">
            <a:normAutofit/>
          </a:bodyPr>
          <a:lstStyle/>
          <a:p>
            <a:pPr marL="0" indent="0" algn="l">
              <a:buNone/>
            </a:pPr>
            <a:r>
              <a:rPr lang="en-US" sz="2400" dirty="0">
                <a:solidFill>
                  <a:srgbClr val="9C9086"/>
                </a:solidFill>
                <a:latin typeface="Georgia" pitchFamily="34" charset="0"/>
                <a:ea typeface="Georgia" pitchFamily="34" charset="-122"/>
                <a:cs typeface="Georgia" pitchFamily="34" charset="-120"/>
              </a:rPr>
              <a:t>Un mismo instrumento, 4 dimensiones, confidencialidad absoluta.</a:t>
            </a:r>
            <a:endParaRPr lang="en-US" sz="2400" dirty="0"/>
          </a:p>
        </p:txBody>
      </p:sp>
      <p:pic>
        <p:nvPicPr>
          <p:cNvPr id="8" name="Image 0" descr="preencoded.png"/>
          <p:cNvPicPr>
            <a:picLocks noChangeAspect="1"/>
          </p:cNvPicPr>
          <p:nvPr/>
        </p:nvPicPr>
        <p:blipFill>
          <a:blip r:embed="rId3"/>
          <a:srcRect t="7894" b="11841"/>
          <a:stretch/>
        </p:blipFill>
        <p:spPr>
          <a:xfrm>
            <a:off x="0" y="7620004"/>
            <a:ext cx="18287940" cy="2666931"/>
          </a:xfrm>
          <a:prstGeom prst="rect">
            <a:avLst/>
          </a:prstGeom>
        </p:spPr>
      </p:pic>
      <p:sp>
        <p:nvSpPr>
          <p:cNvPr id="9" name="Shape 6"/>
          <p:cNvSpPr/>
          <p:nvPr/>
        </p:nvSpPr>
        <p:spPr>
          <a:xfrm>
            <a:off x="0" y="6762806"/>
            <a:ext cx="18287940" cy="857198"/>
          </a:xfrm>
          <a:prstGeom prst="rect">
            <a:avLst/>
          </a:prstGeom>
          <a:gradFill rotWithShape="1">
            <a:gsLst>
              <a:gs pos="0">
                <a:srgbClr val="000000">
                  <a:alpha val="0"/>
                </a:srgbClr>
              </a:gs>
              <a:gs pos="100000">
                <a:srgbClr val="000000">
                  <a:alpha val="0"/>
                </a:srgbClr>
              </a:gs>
            </a:gsLst>
            <a:lin ang="5400000" scaled="0"/>
          </a:gradFill>
          <a:ln/>
        </p:spPr>
        <p:txBody>
          <a:bodyPr/>
          <a:lstStyle/>
          <a:p>
            <a:endParaRPr lang="es-AR"/>
          </a:p>
        </p:txBody>
      </p:sp>
      <p:sp>
        <p:nvSpPr>
          <p:cNvPr id="10" name="Shape 7"/>
          <p:cNvSpPr/>
          <p:nvPr/>
        </p:nvSpPr>
        <p:spPr>
          <a:xfrm>
            <a:off x="0" y="7591473"/>
            <a:ext cx="18287940" cy="28531"/>
          </a:xfrm>
          <a:prstGeom prst="rect">
            <a:avLst/>
          </a:prstGeom>
          <a:solidFill>
            <a:srgbClr val="E0A32E">
              <a:alpha val="85000"/>
            </a:srgbClr>
          </a:solidFill>
          <a:ln/>
        </p:spPr>
        <p:txBody>
          <a:bodyPr/>
          <a:lstStyle/>
          <a:p>
            <a:endParaRPr lang="es-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2EDE3"/>
        </a:solidFill>
        <a:effectLst/>
      </p:bgPr>
    </p:bg>
    <p:spTree>
      <p:nvGrpSpPr>
        <p:cNvPr id="1" name=""/>
        <p:cNvGrpSpPr/>
        <p:nvPr/>
      </p:nvGrpSpPr>
      <p:grpSpPr>
        <a:xfrm>
          <a:off x="0" y="0"/>
          <a:ext cx="0" cy="0"/>
          <a:chOff x="0" y="0"/>
          <a:chExt cx="0" cy="0"/>
        </a:xfrm>
      </p:grpSpPr>
      <p:sp>
        <p:nvSpPr>
          <p:cNvPr id="2" name="Text 0"/>
          <p:cNvSpPr/>
          <p:nvPr/>
        </p:nvSpPr>
        <p:spPr>
          <a:xfrm>
            <a:off x="1047733" y="857198"/>
            <a:ext cx="17811721" cy="678124"/>
          </a:xfrm>
          <a:prstGeom prst="rect">
            <a:avLst/>
          </a:prstGeom>
          <a:noFill/>
          <a:ln/>
        </p:spPr>
        <p:txBody>
          <a:bodyPr wrap="square" lIns="25400" tIns="25400" rIns="25400" bIns="25400" rtlCol="0" anchor="t">
            <a:normAutofit lnSpcReduction="10000"/>
          </a:bodyPr>
          <a:lstStyle/>
          <a:p>
            <a:pPr marL="0" indent="0" algn="l">
              <a:lnSpc>
                <a:spcPct val="91454"/>
              </a:lnSpc>
              <a:buNone/>
            </a:pPr>
            <a:r>
              <a:rPr lang="en-US" sz="4800" b="1" kern="0" spc="-96" dirty="0">
                <a:solidFill>
                  <a:srgbClr val="16120E"/>
                </a:solidFill>
                <a:latin typeface="Arial" pitchFamily="34" charset="0"/>
                <a:ea typeface="Arial" pitchFamily="34" charset="-122"/>
                <a:cs typeface="Arial" pitchFamily="34" charset="-120"/>
              </a:rPr>
              <a:t>Las 17, de punta a punta</a:t>
            </a:r>
            <a:endParaRPr lang="en-US" sz="4800" dirty="0"/>
          </a:p>
        </p:txBody>
      </p:sp>
      <p:sp>
        <p:nvSpPr>
          <p:cNvPr id="3" name="Text 1"/>
          <p:cNvSpPr/>
          <p:nvPr/>
        </p:nvSpPr>
        <p:spPr>
          <a:xfrm>
            <a:off x="1047733" y="1592420"/>
            <a:ext cx="17811721" cy="428424"/>
          </a:xfrm>
          <a:prstGeom prst="rect">
            <a:avLst/>
          </a:prstGeom>
          <a:noFill/>
          <a:ln/>
        </p:spPr>
        <p:txBody>
          <a:bodyPr wrap="square" lIns="25400" tIns="25400" rIns="25400" bIns="25400" rtlCol="0" anchor="t">
            <a:normAutofit/>
          </a:bodyPr>
          <a:lstStyle/>
          <a:p>
            <a:pPr marL="0" indent="0" algn="l">
              <a:buNone/>
            </a:pPr>
            <a:r>
              <a:rPr lang="en-US" sz="2250" dirty="0">
                <a:solidFill>
                  <a:srgbClr val="6B6157"/>
                </a:solidFill>
                <a:latin typeface="Georgia" pitchFamily="34" charset="0"/>
                <a:ea typeface="Georgia" pitchFamily="34" charset="-122"/>
                <a:cs typeface="Georgia" pitchFamily="34" charset="-120"/>
              </a:rPr>
              <a:t>Ordenadas de menor a mayor madurez global (escala 1 a 5).</a:t>
            </a:r>
            <a:endParaRPr lang="en-US" sz="2250" dirty="0"/>
          </a:p>
        </p:txBody>
      </p:sp>
      <p:sp>
        <p:nvSpPr>
          <p:cNvPr id="4" name="Text 2"/>
          <p:cNvSpPr/>
          <p:nvPr/>
        </p:nvSpPr>
        <p:spPr>
          <a:xfrm>
            <a:off x="1047733" y="2527429"/>
            <a:ext cx="2409807" cy="365613"/>
          </a:xfrm>
          <a:prstGeom prst="rect">
            <a:avLst/>
          </a:prstGeom>
          <a:noFill/>
          <a:ln/>
        </p:spPr>
        <p:txBody>
          <a:bodyPr wrap="square" lIns="25400" tIns="25400" rIns="25400" bIns="25400" rtlCol="0" anchor="t">
            <a:noAutofit/>
          </a:bodyPr>
          <a:lstStyle/>
          <a:p>
            <a:pPr marL="0" indent="0" algn="l">
              <a:buNone/>
            </a:pPr>
            <a:r>
              <a:rPr lang="en-US" sz="1800" dirty="0">
                <a:solidFill>
                  <a:srgbClr val="4A423A"/>
                </a:solidFill>
                <a:latin typeface="Georgia" pitchFamily="34" charset="0"/>
                <a:ea typeface="Georgia" pitchFamily="34" charset="-122"/>
                <a:cs typeface="Georgia" pitchFamily="34" charset="-120"/>
              </a:rPr>
              <a:t>Ganadería · 8 colab.</a:t>
            </a:r>
            <a:endParaRPr lang="en-US" sz="1875" dirty="0"/>
          </a:p>
        </p:txBody>
      </p:sp>
      <p:sp>
        <p:nvSpPr>
          <p:cNvPr id="5" name="Shape 3"/>
          <p:cNvSpPr/>
          <p:nvPr/>
        </p:nvSpPr>
        <p:spPr>
          <a:xfrm>
            <a:off x="3428932" y="2605453"/>
            <a:ext cx="1542625" cy="171398"/>
          </a:xfrm>
          <a:prstGeom prst="rect">
            <a:avLst/>
          </a:prstGeom>
          <a:solidFill>
            <a:srgbClr val="B4552F"/>
          </a:solidFill>
          <a:ln/>
        </p:spPr>
        <p:txBody>
          <a:bodyPr/>
          <a:lstStyle/>
          <a:p>
            <a:endParaRPr lang="es-AR"/>
          </a:p>
        </p:txBody>
      </p:sp>
      <p:sp>
        <p:nvSpPr>
          <p:cNvPr id="6" name="Text 4"/>
          <p:cNvSpPr/>
          <p:nvPr/>
        </p:nvSpPr>
        <p:spPr>
          <a:xfrm>
            <a:off x="8058137" y="2536403"/>
            <a:ext cx="742933" cy="347667"/>
          </a:xfrm>
          <a:prstGeom prst="rect">
            <a:avLst/>
          </a:prstGeom>
          <a:noFill/>
          <a:ln/>
        </p:spPr>
        <p:txBody>
          <a:bodyPr wrap="square" lIns="25400" tIns="25400" rIns="25400" bIns="25400" rtlCol="0" anchor="t">
            <a:normAutofit lnSpcReduction="10000"/>
          </a:bodyPr>
          <a:lstStyle/>
          <a:p>
            <a:pPr marL="0" indent="0" algn="r">
              <a:buNone/>
            </a:pPr>
            <a:r>
              <a:rPr lang="en-US" sz="2100" b="1" dirty="0">
                <a:solidFill>
                  <a:srgbClr val="16120E"/>
                </a:solidFill>
                <a:latin typeface="Arial" pitchFamily="34" charset="0"/>
                <a:ea typeface="Arial" pitchFamily="34" charset="-122"/>
                <a:cs typeface="Arial" pitchFamily="34" charset="-120"/>
              </a:rPr>
              <a:t>1.7</a:t>
            </a:r>
            <a:endParaRPr lang="en-US" sz="2100" dirty="0"/>
          </a:p>
        </p:txBody>
      </p:sp>
      <p:sp>
        <p:nvSpPr>
          <p:cNvPr id="7" name="Text 5"/>
          <p:cNvSpPr/>
          <p:nvPr/>
        </p:nvSpPr>
        <p:spPr>
          <a:xfrm>
            <a:off x="1047733" y="3152031"/>
            <a:ext cx="2266934" cy="693126"/>
          </a:xfrm>
          <a:prstGeom prst="rect">
            <a:avLst/>
          </a:prstGeom>
          <a:noFill/>
          <a:ln/>
        </p:spPr>
        <p:txBody>
          <a:bodyPr wrap="square" lIns="25400" tIns="25400" rIns="25400" bIns="25400" rtlCol="0" anchor="t">
            <a:noAutofit/>
          </a:bodyPr>
          <a:lstStyle/>
          <a:p>
            <a:pPr marL="0" indent="0" algn="l">
              <a:buNone/>
            </a:pPr>
            <a:r>
              <a:rPr lang="en-US" sz="1800" dirty="0">
                <a:solidFill>
                  <a:srgbClr val="4A423A"/>
                </a:solidFill>
                <a:latin typeface="Georgia" pitchFamily="34" charset="0"/>
                <a:ea typeface="Georgia" pitchFamily="34" charset="-122"/>
                <a:cs typeface="Georgia" pitchFamily="34" charset="-120"/>
              </a:rPr>
              <a:t>Agricultura · 25 colab.</a:t>
            </a:r>
            <a:endParaRPr lang="en-US" sz="1875" dirty="0"/>
          </a:p>
        </p:txBody>
      </p:sp>
      <p:sp>
        <p:nvSpPr>
          <p:cNvPr id="8" name="Shape 6"/>
          <p:cNvSpPr/>
          <p:nvPr/>
        </p:nvSpPr>
        <p:spPr>
          <a:xfrm>
            <a:off x="3428932" y="3393811"/>
            <a:ext cx="1542625" cy="171398"/>
          </a:xfrm>
          <a:prstGeom prst="rect">
            <a:avLst/>
          </a:prstGeom>
          <a:solidFill>
            <a:srgbClr val="B4552F"/>
          </a:solidFill>
          <a:ln/>
        </p:spPr>
        <p:txBody>
          <a:bodyPr/>
          <a:lstStyle/>
          <a:p>
            <a:endParaRPr lang="es-AR"/>
          </a:p>
        </p:txBody>
      </p:sp>
      <p:sp>
        <p:nvSpPr>
          <p:cNvPr id="9" name="Text 7"/>
          <p:cNvSpPr/>
          <p:nvPr/>
        </p:nvSpPr>
        <p:spPr>
          <a:xfrm>
            <a:off x="8058137" y="3324761"/>
            <a:ext cx="742933" cy="347667"/>
          </a:xfrm>
          <a:prstGeom prst="rect">
            <a:avLst/>
          </a:prstGeom>
          <a:noFill/>
          <a:ln/>
        </p:spPr>
        <p:txBody>
          <a:bodyPr wrap="square" lIns="25400" tIns="25400" rIns="25400" bIns="25400" rtlCol="0" anchor="t">
            <a:normAutofit lnSpcReduction="10000"/>
          </a:bodyPr>
          <a:lstStyle/>
          <a:p>
            <a:pPr marL="0" indent="0" algn="r">
              <a:buNone/>
            </a:pPr>
            <a:r>
              <a:rPr lang="en-US" sz="2100" b="1" dirty="0">
                <a:solidFill>
                  <a:srgbClr val="16120E"/>
                </a:solidFill>
                <a:latin typeface="Arial" pitchFamily="34" charset="0"/>
                <a:ea typeface="Arial" pitchFamily="34" charset="-122"/>
                <a:cs typeface="Arial" pitchFamily="34" charset="-120"/>
              </a:rPr>
              <a:t>1.7</a:t>
            </a:r>
            <a:endParaRPr lang="en-US" sz="2100" dirty="0"/>
          </a:p>
        </p:txBody>
      </p:sp>
      <p:sp>
        <p:nvSpPr>
          <p:cNvPr id="10" name="Text 8"/>
          <p:cNvSpPr/>
          <p:nvPr/>
        </p:nvSpPr>
        <p:spPr>
          <a:xfrm>
            <a:off x="1047733" y="3940389"/>
            <a:ext cx="2409807" cy="365613"/>
          </a:xfrm>
          <a:prstGeom prst="rect">
            <a:avLst/>
          </a:prstGeom>
          <a:noFill/>
          <a:ln/>
        </p:spPr>
        <p:txBody>
          <a:bodyPr wrap="square" lIns="25400" tIns="25400" rIns="25400" bIns="25400" rtlCol="0" anchor="t">
            <a:noAutofit/>
          </a:bodyPr>
          <a:lstStyle/>
          <a:p>
            <a:pPr marL="0" indent="0" algn="l">
              <a:buNone/>
            </a:pPr>
            <a:r>
              <a:rPr lang="en-US" sz="1800" dirty="0">
                <a:solidFill>
                  <a:srgbClr val="4A423A"/>
                </a:solidFill>
                <a:latin typeface="Georgia" pitchFamily="34" charset="0"/>
                <a:ea typeface="Georgia" pitchFamily="34" charset="-122"/>
                <a:cs typeface="Georgia" pitchFamily="34" charset="-120"/>
              </a:rPr>
              <a:t>Ganadería · 8 colab.</a:t>
            </a:r>
            <a:endParaRPr lang="en-US" sz="1875" dirty="0"/>
          </a:p>
        </p:txBody>
      </p:sp>
      <p:sp>
        <p:nvSpPr>
          <p:cNvPr id="11" name="Shape 9"/>
          <p:cNvSpPr/>
          <p:nvPr/>
        </p:nvSpPr>
        <p:spPr>
          <a:xfrm>
            <a:off x="3428932" y="4018413"/>
            <a:ext cx="1806000" cy="171398"/>
          </a:xfrm>
          <a:prstGeom prst="rect">
            <a:avLst/>
          </a:prstGeom>
          <a:solidFill>
            <a:srgbClr val="B4552F"/>
          </a:solidFill>
          <a:ln/>
        </p:spPr>
        <p:txBody>
          <a:bodyPr/>
          <a:lstStyle/>
          <a:p>
            <a:endParaRPr lang="es-AR"/>
          </a:p>
        </p:txBody>
      </p:sp>
      <p:sp>
        <p:nvSpPr>
          <p:cNvPr id="12" name="Text 10"/>
          <p:cNvSpPr/>
          <p:nvPr/>
        </p:nvSpPr>
        <p:spPr>
          <a:xfrm>
            <a:off x="8058137" y="3949363"/>
            <a:ext cx="742933" cy="347667"/>
          </a:xfrm>
          <a:prstGeom prst="rect">
            <a:avLst/>
          </a:prstGeom>
          <a:noFill/>
          <a:ln/>
        </p:spPr>
        <p:txBody>
          <a:bodyPr wrap="square" lIns="25400" tIns="25400" rIns="25400" bIns="25400" rtlCol="0" anchor="t">
            <a:normAutofit lnSpcReduction="10000"/>
          </a:bodyPr>
          <a:lstStyle/>
          <a:p>
            <a:pPr marL="0" indent="0" algn="r">
              <a:buNone/>
            </a:pPr>
            <a:r>
              <a:rPr lang="en-US" sz="2100" b="1" dirty="0">
                <a:solidFill>
                  <a:srgbClr val="16120E"/>
                </a:solidFill>
                <a:latin typeface="Arial" pitchFamily="34" charset="0"/>
                <a:ea typeface="Arial" pitchFamily="34" charset="-122"/>
                <a:cs typeface="Arial" pitchFamily="34" charset="-120"/>
              </a:rPr>
              <a:t>2.0</a:t>
            </a:r>
            <a:endParaRPr lang="en-US" sz="2100" dirty="0"/>
          </a:p>
        </p:txBody>
      </p:sp>
      <p:sp>
        <p:nvSpPr>
          <p:cNvPr id="13" name="Text 11"/>
          <p:cNvSpPr/>
          <p:nvPr/>
        </p:nvSpPr>
        <p:spPr>
          <a:xfrm>
            <a:off x="1047733" y="4401235"/>
            <a:ext cx="2409807" cy="693126"/>
          </a:xfrm>
          <a:prstGeom prst="rect">
            <a:avLst/>
          </a:prstGeom>
          <a:noFill/>
          <a:ln/>
        </p:spPr>
        <p:txBody>
          <a:bodyPr wrap="square" lIns="25400" tIns="25400" rIns="25400" bIns="25400" rtlCol="0" anchor="t">
            <a:noAutofit/>
          </a:bodyPr>
          <a:lstStyle/>
          <a:p>
            <a:pPr marL="0" indent="0" algn="l">
              <a:buNone/>
            </a:pPr>
            <a:r>
              <a:rPr lang="en-US" sz="1800" dirty="0">
                <a:solidFill>
                  <a:srgbClr val="4A423A"/>
                </a:solidFill>
                <a:latin typeface="Georgia" pitchFamily="34" charset="0"/>
                <a:ea typeface="Georgia" pitchFamily="34" charset="-122"/>
                <a:cs typeface="Georgia" pitchFamily="34" charset="-120"/>
              </a:rPr>
              <a:t>Agricultura · 3 colab.</a:t>
            </a:r>
            <a:endParaRPr lang="en-US" sz="1875" dirty="0"/>
          </a:p>
        </p:txBody>
      </p:sp>
      <p:sp>
        <p:nvSpPr>
          <p:cNvPr id="14" name="Shape 12"/>
          <p:cNvSpPr/>
          <p:nvPr/>
        </p:nvSpPr>
        <p:spPr>
          <a:xfrm>
            <a:off x="3428932" y="4643015"/>
            <a:ext cx="1994125" cy="171398"/>
          </a:xfrm>
          <a:prstGeom prst="rect">
            <a:avLst/>
          </a:prstGeom>
          <a:solidFill>
            <a:srgbClr val="B4552F"/>
          </a:solidFill>
          <a:ln/>
        </p:spPr>
        <p:txBody>
          <a:bodyPr/>
          <a:lstStyle/>
          <a:p>
            <a:endParaRPr lang="es-AR"/>
          </a:p>
        </p:txBody>
      </p:sp>
      <p:sp>
        <p:nvSpPr>
          <p:cNvPr id="15" name="Text 13"/>
          <p:cNvSpPr/>
          <p:nvPr/>
        </p:nvSpPr>
        <p:spPr>
          <a:xfrm>
            <a:off x="8058137" y="4573965"/>
            <a:ext cx="742933" cy="347667"/>
          </a:xfrm>
          <a:prstGeom prst="rect">
            <a:avLst/>
          </a:prstGeom>
          <a:noFill/>
          <a:ln/>
        </p:spPr>
        <p:txBody>
          <a:bodyPr wrap="square" lIns="25400" tIns="25400" rIns="25400" bIns="25400" rtlCol="0" anchor="t">
            <a:normAutofit lnSpcReduction="10000"/>
          </a:bodyPr>
          <a:lstStyle/>
          <a:p>
            <a:pPr marL="0" indent="0" algn="r">
              <a:buNone/>
            </a:pPr>
            <a:r>
              <a:rPr lang="en-US" sz="2100" b="1" dirty="0">
                <a:solidFill>
                  <a:srgbClr val="16120E"/>
                </a:solidFill>
                <a:latin typeface="Arial" pitchFamily="34" charset="0"/>
                <a:ea typeface="Arial" pitchFamily="34" charset="-122"/>
                <a:cs typeface="Arial" pitchFamily="34" charset="-120"/>
              </a:rPr>
              <a:t>2.2</a:t>
            </a:r>
            <a:endParaRPr lang="en-US" sz="2100" dirty="0"/>
          </a:p>
        </p:txBody>
      </p:sp>
      <p:sp>
        <p:nvSpPr>
          <p:cNvPr id="16" name="Text 14"/>
          <p:cNvSpPr/>
          <p:nvPr/>
        </p:nvSpPr>
        <p:spPr>
          <a:xfrm>
            <a:off x="1047733" y="5353350"/>
            <a:ext cx="2409807" cy="365613"/>
          </a:xfrm>
          <a:prstGeom prst="rect">
            <a:avLst/>
          </a:prstGeom>
          <a:noFill/>
          <a:ln/>
        </p:spPr>
        <p:txBody>
          <a:bodyPr wrap="square" lIns="25400" tIns="25400" rIns="25400" bIns="25400" rtlCol="0" anchor="t">
            <a:noAutofit/>
          </a:bodyPr>
          <a:lstStyle/>
          <a:p>
            <a:pPr marL="0" indent="0" algn="l">
              <a:buNone/>
            </a:pPr>
            <a:r>
              <a:rPr lang="en-US" sz="1800" dirty="0">
                <a:solidFill>
                  <a:srgbClr val="4A423A"/>
                </a:solidFill>
                <a:latin typeface="Georgia" pitchFamily="34" charset="0"/>
                <a:ea typeface="Georgia" pitchFamily="34" charset="-122"/>
                <a:cs typeface="Georgia" pitchFamily="34" charset="-120"/>
              </a:rPr>
              <a:t>Ganadería · 8 colab.</a:t>
            </a:r>
            <a:endParaRPr lang="en-US" sz="1875" dirty="0"/>
          </a:p>
        </p:txBody>
      </p:sp>
      <p:sp>
        <p:nvSpPr>
          <p:cNvPr id="17" name="Shape 15"/>
          <p:cNvSpPr/>
          <p:nvPr/>
        </p:nvSpPr>
        <p:spPr>
          <a:xfrm>
            <a:off x="3428932" y="5431374"/>
            <a:ext cx="2483250" cy="171398"/>
          </a:xfrm>
          <a:prstGeom prst="rect">
            <a:avLst/>
          </a:prstGeom>
          <a:solidFill>
            <a:srgbClr val="C9962F"/>
          </a:solidFill>
          <a:ln/>
        </p:spPr>
        <p:txBody>
          <a:bodyPr/>
          <a:lstStyle/>
          <a:p>
            <a:endParaRPr lang="es-AR"/>
          </a:p>
        </p:txBody>
      </p:sp>
      <p:sp>
        <p:nvSpPr>
          <p:cNvPr id="18" name="Text 16"/>
          <p:cNvSpPr/>
          <p:nvPr/>
        </p:nvSpPr>
        <p:spPr>
          <a:xfrm>
            <a:off x="8058137" y="5362324"/>
            <a:ext cx="742933" cy="347667"/>
          </a:xfrm>
          <a:prstGeom prst="rect">
            <a:avLst/>
          </a:prstGeom>
          <a:noFill/>
          <a:ln/>
        </p:spPr>
        <p:txBody>
          <a:bodyPr wrap="square" lIns="25400" tIns="25400" rIns="25400" bIns="25400" rtlCol="0" anchor="t">
            <a:normAutofit lnSpcReduction="10000"/>
          </a:bodyPr>
          <a:lstStyle/>
          <a:p>
            <a:pPr marL="0" indent="0" algn="r">
              <a:buNone/>
            </a:pPr>
            <a:r>
              <a:rPr lang="en-US" sz="2100" b="1" dirty="0">
                <a:solidFill>
                  <a:srgbClr val="16120E"/>
                </a:solidFill>
                <a:latin typeface="Arial" pitchFamily="34" charset="0"/>
                <a:ea typeface="Arial" pitchFamily="34" charset="-122"/>
                <a:cs typeface="Arial" pitchFamily="34" charset="-120"/>
              </a:rPr>
              <a:t>2.8</a:t>
            </a:r>
            <a:endParaRPr lang="en-US" sz="2100" dirty="0"/>
          </a:p>
        </p:txBody>
      </p:sp>
      <p:sp>
        <p:nvSpPr>
          <p:cNvPr id="19" name="Text 17"/>
          <p:cNvSpPr/>
          <p:nvPr/>
        </p:nvSpPr>
        <p:spPr>
          <a:xfrm>
            <a:off x="1047733" y="5977952"/>
            <a:ext cx="2409807" cy="365613"/>
          </a:xfrm>
          <a:prstGeom prst="rect">
            <a:avLst/>
          </a:prstGeom>
          <a:noFill/>
          <a:ln/>
        </p:spPr>
        <p:txBody>
          <a:bodyPr wrap="square" lIns="25400" tIns="25400" rIns="25400" bIns="25400" rtlCol="0" anchor="t">
            <a:noAutofit/>
          </a:bodyPr>
          <a:lstStyle/>
          <a:p>
            <a:pPr marL="0" indent="0" algn="l">
              <a:buNone/>
            </a:pPr>
            <a:r>
              <a:rPr lang="en-US" sz="1800" dirty="0">
                <a:solidFill>
                  <a:srgbClr val="4A423A"/>
                </a:solidFill>
                <a:latin typeface="Georgia" pitchFamily="34" charset="0"/>
                <a:ea typeface="Georgia" pitchFamily="34" charset="-122"/>
                <a:cs typeface="Georgia" pitchFamily="34" charset="-120"/>
              </a:rPr>
              <a:t>Ganadería · 8 colab.</a:t>
            </a:r>
            <a:endParaRPr lang="en-US" sz="1875" dirty="0"/>
          </a:p>
        </p:txBody>
      </p:sp>
      <p:sp>
        <p:nvSpPr>
          <p:cNvPr id="20" name="Shape 18"/>
          <p:cNvSpPr/>
          <p:nvPr/>
        </p:nvSpPr>
        <p:spPr>
          <a:xfrm>
            <a:off x="3428932" y="6055976"/>
            <a:ext cx="2483250" cy="171398"/>
          </a:xfrm>
          <a:prstGeom prst="rect">
            <a:avLst/>
          </a:prstGeom>
          <a:solidFill>
            <a:srgbClr val="C9962F"/>
          </a:solidFill>
          <a:ln/>
        </p:spPr>
        <p:txBody>
          <a:bodyPr/>
          <a:lstStyle/>
          <a:p>
            <a:endParaRPr lang="es-AR"/>
          </a:p>
        </p:txBody>
      </p:sp>
      <p:sp>
        <p:nvSpPr>
          <p:cNvPr id="21" name="Text 19"/>
          <p:cNvSpPr/>
          <p:nvPr/>
        </p:nvSpPr>
        <p:spPr>
          <a:xfrm>
            <a:off x="8058137" y="5986926"/>
            <a:ext cx="742933" cy="347667"/>
          </a:xfrm>
          <a:prstGeom prst="rect">
            <a:avLst/>
          </a:prstGeom>
          <a:noFill/>
          <a:ln/>
        </p:spPr>
        <p:txBody>
          <a:bodyPr wrap="square" lIns="25400" tIns="25400" rIns="25400" bIns="25400" rtlCol="0" anchor="t">
            <a:normAutofit lnSpcReduction="10000"/>
          </a:bodyPr>
          <a:lstStyle/>
          <a:p>
            <a:pPr marL="0" indent="0" algn="r">
              <a:buNone/>
            </a:pPr>
            <a:r>
              <a:rPr lang="en-US" sz="2100" b="1" dirty="0">
                <a:solidFill>
                  <a:srgbClr val="16120E"/>
                </a:solidFill>
                <a:latin typeface="Arial" pitchFamily="34" charset="0"/>
                <a:ea typeface="Arial" pitchFamily="34" charset="-122"/>
                <a:cs typeface="Arial" pitchFamily="34" charset="-120"/>
              </a:rPr>
              <a:t>2.8</a:t>
            </a:r>
            <a:endParaRPr lang="en-US" sz="2100" dirty="0"/>
          </a:p>
        </p:txBody>
      </p:sp>
      <p:sp>
        <p:nvSpPr>
          <p:cNvPr id="22" name="Text 20"/>
          <p:cNvSpPr/>
          <p:nvPr/>
        </p:nvSpPr>
        <p:spPr>
          <a:xfrm>
            <a:off x="1047733" y="6438798"/>
            <a:ext cx="2266934" cy="693126"/>
          </a:xfrm>
          <a:prstGeom prst="rect">
            <a:avLst/>
          </a:prstGeom>
          <a:noFill/>
          <a:ln/>
        </p:spPr>
        <p:txBody>
          <a:bodyPr wrap="square" lIns="25400" tIns="25400" rIns="25400" bIns="25400" rtlCol="0" anchor="t">
            <a:noAutofit/>
          </a:bodyPr>
          <a:lstStyle/>
          <a:p>
            <a:pPr marL="0" indent="0" algn="l">
              <a:buNone/>
            </a:pPr>
            <a:r>
              <a:rPr lang="en-US" sz="1800" dirty="0">
                <a:solidFill>
                  <a:srgbClr val="4A423A"/>
                </a:solidFill>
                <a:latin typeface="Georgia" pitchFamily="34" charset="0"/>
                <a:ea typeface="Georgia" pitchFamily="34" charset="-122"/>
                <a:cs typeface="Georgia" pitchFamily="34" charset="-120"/>
              </a:rPr>
              <a:t>Tambo / Lechería · 3 colab.</a:t>
            </a:r>
            <a:endParaRPr lang="en-US" sz="1875" dirty="0"/>
          </a:p>
        </p:txBody>
      </p:sp>
      <p:sp>
        <p:nvSpPr>
          <p:cNvPr id="23" name="Shape 21"/>
          <p:cNvSpPr/>
          <p:nvPr/>
        </p:nvSpPr>
        <p:spPr>
          <a:xfrm>
            <a:off x="3428932" y="6680578"/>
            <a:ext cx="2483250" cy="171398"/>
          </a:xfrm>
          <a:prstGeom prst="rect">
            <a:avLst/>
          </a:prstGeom>
          <a:solidFill>
            <a:srgbClr val="C9962F"/>
          </a:solidFill>
          <a:ln/>
        </p:spPr>
        <p:txBody>
          <a:bodyPr/>
          <a:lstStyle/>
          <a:p>
            <a:endParaRPr lang="es-AR"/>
          </a:p>
        </p:txBody>
      </p:sp>
      <p:sp>
        <p:nvSpPr>
          <p:cNvPr id="24" name="Text 22"/>
          <p:cNvSpPr/>
          <p:nvPr/>
        </p:nvSpPr>
        <p:spPr>
          <a:xfrm>
            <a:off x="8058137" y="6611528"/>
            <a:ext cx="742933" cy="347667"/>
          </a:xfrm>
          <a:prstGeom prst="rect">
            <a:avLst/>
          </a:prstGeom>
          <a:noFill/>
          <a:ln/>
        </p:spPr>
        <p:txBody>
          <a:bodyPr wrap="square" lIns="25400" tIns="25400" rIns="25400" bIns="25400" rtlCol="0" anchor="t">
            <a:normAutofit lnSpcReduction="10000"/>
          </a:bodyPr>
          <a:lstStyle/>
          <a:p>
            <a:pPr marL="0" indent="0" algn="r">
              <a:buNone/>
            </a:pPr>
            <a:r>
              <a:rPr lang="en-US" sz="2100" b="1" dirty="0">
                <a:solidFill>
                  <a:srgbClr val="16120E"/>
                </a:solidFill>
                <a:latin typeface="Arial" pitchFamily="34" charset="0"/>
                <a:ea typeface="Arial" pitchFamily="34" charset="-122"/>
                <a:cs typeface="Arial" pitchFamily="34" charset="-120"/>
              </a:rPr>
              <a:t>2.8</a:t>
            </a:r>
            <a:endParaRPr lang="en-US" sz="2100" dirty="0"/>
          </a:p>
        </p:txBody>
      </p:sp>
      <p:sp>
        <p:nvSpPr>
          <p:cNvPr id="25" name="Text 23"/>
          <p:cNvSpPr/>
          <p:nvPr/>
        </p:nvSpPr>
        <p:spPr>
          <a:xfrm>
            <a:off x="1047733" y="7063400"/>
            <a:ext cx="2409807" cy="693126"/>
          </a:xfrm>
          <a:prstGeom prst="rect">
            <a:avLst/>
          </a:prstGeom>
          <a:noFill/>
          <a:ln/>
        </p:spPr>
        <p:txBody>
          <a:bodyPr wrap="square" lIns="25400" tIns="25400" rIns="25400" bIns="25400" rtlCol="0" anchor="t">
            <a:noAutofit/>
          </a:bodyPr>
          <a:lstStyle/>
          <a:p>
            <a:pPr marL="0" indent="0" algn="l">
              <a:buNone/>
            </a:pPr>
            <a:r>
              <a:rPr lang="en-US" sz="1800" dirty="0">
                <a:solidFill>
                  <a:srgbClr val="4A423A"/>
                </a:solidFill>
                <a:latin typeface="Georgia" pitchFamily="34" charset="0"/>
                <a:ea typeface="Georgia" pitchFamily="34" charset="-122"/>
                <a:cs typeface="Georgia" pitchFamily="34" charset="-120"/>
              </a:rPr>
              <a:t>Ganadería · 75 colab.</a:t>
            </a:r>
            <a:endParaRPr lang="en-US" sz="1875" dirty="0"/>
          </a:p>
        </p:txBody>
      </p:sp>
      <p:sp>
        <p:nvSpPr>
          <p:cNvPr id="26" name="Shape 24"/>
          <p:cNvSpPr/>
          <p:nvPr/>
        </p:nvSpPr>
        <p:spPr>
          <a:xfrm>
            <a:off x="3428932" y="7305180"/>
            <a:ext cx="2671374" cy="171398"/>
          </a:xfrm>
          <a:prstGeom prst="rect">
            <a:avLst/>
          </a:prstGeom>
          <a:solidFill>
            <a:srgbClr val="C9962F"/>
          </a:solidFill>
          <a:ln/>
        </p:spPr>
        <p:txBody>
          <a:bodyPr/>
          <a:lstStyle/>
          <a:p>
            <a:endParaRPr lang="es-AR"/>
          </a:p>
        </p:txBody>
      </p:sp>
      <p:sp>
        <p:nvSpPr>
          <p:cNvPr id="27" name="Text 25"/>
          <p:cNvSpPr/>
          <p:nvPr/>
        </p:nvSpPr>
        <p:spPr>
          <a:xfrm>
            <a:off x="8058137" y="7236130"/>
            <a:ext cx="742933" cy="347667"/>
          </a:xfrm>
          <a:prstGeom prst="rect">
            <a:avLst/>
          </a:prstGeom>
          <a:noFill/>
          <a:ln/>
        </p:spPr>
        <p:txBody>
          <a:bodyPr wrap="square" lIns="25400" tIns="25400" rIns="25400" bIns="25400" rtlCol="0" anchor="t">
            <a:normAutofit lnSpcReduction="10000"/>
          </a:bodyPr>
          <a:lstStyle/>
          <a:p>
            <a:pPr marL="0" indent="0" algn="r">
              <a:buNone/>
            </a:pPr>
            <a:r>
              <a:rPr lang="en-US" sz="2100" b="1" dirty="0">
                <a:solidFill>
                  <a:srgbClr val="16120E"/>
                </a:solidFill>
                <a:latin typeface="Arial" pitchFamily="34" charset="0"/>
                <a:ea typeface="Arial" pitchFamily="34" charset="-122"/>
                <a:cs typeface="Arial" pitchFamily="34" charset="-120"/>
              </a:rPr>
              <a:t>3.0</a:t>
            </a:r>
            <a:endParaRPr lang="en-US" sz="2100" dirty="0"/>
          </a:p>
        </p:txBody>
      </p:sp>
      <p:sp>
        <p:nvSpPr>
          <p:cNvPr id="28" name="Text 26"/>
          <p:cNvSpPr/>
          <p:nvPr/>
        </p:nvSpPr>
        <p:spPr>
          <a:xfrm>
            <a:off x="1047733" y="7688002"/>
            <a:ext cx="2266934" cy="693126"/>
          </a:xfrm>
          <a:prstGeom prst="rect">
            <a:avLst/>
          </a:prstGeom>
          <a:noFill/>
          <a:ln/>
        </p:spPr>
        <p:txBody>
          <a:bodyPr wrap="square" lIns="25400" tIns="25400" rIns="25400" bIns="25400" rtlCol="0" anchor="t">
            <a:noAutofit/>
          </a:bodyPr>
          <a:lstStyle/>
          <a:p>
            <a:pPr marL="0" indent="0" algn="l">
              <a:buNone/>
            </a:pPr>
            <a:r>
              <a:rPr lang="en-US" sz="1800" dirty="0">
                <a:solidFill>
                  <a:srgbClr val="4A423A"/>
                </a:solidFill>
                <a:latin typeface="Georgia" pitchFamily="34" charset="0"/>
                <a:ea typeface="Georgia" pitchFamily="34" charset="-122"/>
                <a:cs typeface="Georgia" pitchFamily="34" charset="-120"/>
              </a:rPr>
              <a:t>Producción mixta · 3 colab.</a:t>
            </a:r>
            <a:endParaRPr lang="en-US" sz="1875" dirty="0"/>
          </a:p>
        </p:txBody>
      </p:sp>
      <p:sp>
        <p:nvSpPr>
          <p:cNvPr id="29" name="Shape 27"/>
          <p:cNvSpPr/>
          <p:nvPr/>
        </p:nvSpPr>
        <p:spPr>
          <a:xfrm>
            <a:off x="3428932" y="7929782"/>
            <a:ext cx="2709000" cy="171398"/>
          </a:xfrm>
          <a:prstGeom prst="rect">
            <a:avLst/>
          </a:prstGeom>
          <a:solidFill>
            <a:srgbClr val="C9962F"/>
          </a:solidFill>
          <a:ln/>
        </p:spPr>
        <p:txBody>
          <a:bodyPr/>
          <a:lstStyle/>
          <a:p>
            <a:endParaRPr lang="es-AR"/>
          </a:p>
        </p:txBody>
      </p:sp>
      <p:sp>
        <p:nvSpPr>
          <p:cNvPr id="30" name="Text 28"/>
          <p:cNvSpPr/>
          <p:nvPr/>
        </p:nvSpPr>
        <p:spPr>
          <a:xfrm>
            <a:off x="8058137" y="7860732"/>
            <a:ext cx="742933" cy="347667"/>
          </a:xfrm>
          <a:prstGeom prst="rect">
            <a:avLst/>
          </a:prstGeom>
          <a:noFill/>
          <a:ln/>
        </p:spPr>
        <p:txBody>
          <a:bodyPr wrap="square" lIns="25400" tIns="25400" rIns="25400" bIns="25400" rtlCol="0" anchor="t">
            <a:normAutofit lnSpcReduction="10000"/>
          </a:bodyPr>
          <a:lstStyle/>
          <a:p>
            <a:pPr marL="0" indent="0" algn="r">
              <a:buNone/>
            </a:pPr>
            <a:r>
              <a:rPr lang="en-US" sz="2100" b="1" dirty="0">
                <a:solidFill>
                  <a:srgbClr val="16120E"/>
                </a:solidFill>
                <a:latin typeface="Arial" pitchFamily="34" charset="0"/>
                <a:ea typeface="Arial" pitchFamily="34" charset="-122"/>
                <a:cs typeface="Arial" pitchFamily="34" charset="-120"/>
              </a:rPr>
              <a:t>3.0</a:t>
            </a:r>
            <a:endParaRPr lang="en-US" sz="2100" dirty="0"/>
          </a:p>
        </p:txBody>
      </p:sp>
      <p:sp>
        <p:nvSpPr>
          <p:cNvPr id="31" name="Text 29"/>
          <p:cNvSpPr/>
          <p:nvPr/>
        </p:nvSpPr>
        <p:spPr>
          <a:xfrm>
            <a:off x="9486800" y="2363673"/>
            <a:ext cx="2266934" cy="693126"/>
          </a:xfrm>
          <a:prstGeom prst="rect">
            <a:avLst/>
          </a:prstGeom>
          <a:noFill/>
          <a:ln/>
        </p:spPr>
        <p:txBody>
          <a:bodyPr wrap="square" lIns="25400" tIns="25400" rIns="25400" bIns="25400" rtlCol="0" anchor="t">
            <a:noAutofit/>
          </a:bodyPr>
          <a:lstStyle/>
          <a:p>
            <a:pPr marL="0" indent="0" algn="l">
              <a:buNone/>
            </a:pPr>
            <a:r>
              <a:rPr lang="en-US" sz="1800" dirty="0">
                <a:solidFill>
                  <a:srgbClr val="4A423A"/>
                </a:solidFill>
                <a:latin typeface="Georgia" pitchFamily="34" charset="0"/>
                <a:ea typeface="Georgia" pitchFamily="34" charset="-122"/>
                <a:cs typeface="Georgia" pitchFamily="34" charset="-120"/>
              </a:rPr>
              <a:t>Producción mixta · 25 colab.</a:t>
            </a:r>
            <a:endParaRPr lang="en-US" sz="1875" dirty="0"/>
          </a:p>
        </p:txBody>
      </p:sp>
      <p:sp>
        <p:nvSpPr>
          <p:cNvPr id="32" name="Shape 30"/>
          <p:cNvSpPr/>
          <p:nvPr/>
        </p:nvSpPr>
        <p:spPr>
          <a:xfrm>
            <a:off x="11867999" y="2605453"/>
            <a:ext cx="2709000" cy="171398"/>
          </a:xfrm>
          <a:prstGeom prst="rect">
            <a:avLst/>
          </a:prstGeom>
          <a:solidFill>
            <a:srgbClr val="C9962F"/>
          </a:solidFill>
          <a:ln/>
        </p:spPr>
        <p:txBody>
          <a:bodyPr/>
          <a:lstStyle/>
          <a:p>
            <a:endParaRPr lang="es-AR"/>
          </a:p>
        </p:txBody>
      </p:sp>
      <p:sp>
        <p:nvSpPr>
          <p:cNvPr id="33" name="Text 31"/>
          <p:cNvSpPr/>
          <p:nvPr/>
        </p:nvSpPr>
        <p:spPr>
          <a:xfrm>
            <a:off x="16497274" y="2536403"/>
            <a:ext cx="742933" cy="347667"/>
          </a:xfrm>
          <a:prstGeom prst="rect">
            <a:avLst/>
          </a:prstGeom>
          <a:noFill/>
          <a:ln/>
        </p:spPr>
        <p:txBody>
          <a:bodyPr wrap="square" lIns="25400" tIns="25400" rIns="25400" bIns="25400" rtlCol="0" anchor="t">
            <a:normAutofit lnSpcReduction="10000"/>
          </a:bodyPr>
          <a:lstStyle/>
          <a:p>
            <a:pPr marL="0" indent="0" algn="r">
              <a:buNone/>
            </a:pPr>
            <a:r>
              <a:rPr lang="en-US" sz="2100" b="1" dirty="0">
                <a:solidFill>
                  <a:srgbClr val="16120E"/>
                </a:solidFill>
                <a:latin typeface="Arial" pitchFamily="34" charset="0"/>
                <a:ea typeface="Arial" pitchFamily="34" charset="-122"/>
                <a:cs typeface="Arial" pitchFamily="34" charset="-120"/>
              </a:rPr>
              <a:t>3.0</a:t>
            </a:r>
            <a:endParaRPr lang="en-US" sz="2100" dirty="0"/>
          </a:p>
        </p:txBody>
      </p:sp>
      <p:sp>
        <p:nvSpPr>
          <p:cNvPr id="34" name="Text 32"/>
          <p:cNvSpPr/>
          <p:nvPr/>
        </p:nvSpPr>
        <p:spPr>
          <a:xfrm>
            <a:off x="9486800" y="3152031"/>
            <a:ext cx="2266934" cy="693126"/>
          </a:xfrm>
          <a:prstGeom prst="rect">
            <a:avLst/>
          </a:prstGeom>
          <a:noFill/>
          <a:ln/>
        </p:spPr>
        <p:txBody>
          <a:bodyPr wrap="square" lIns="25400" tIns="25400" rIns="25400" bIns="25400" rtlCol="0" anchor="t">
            <a:noAutofit/>
          </a:bodyPr>
          <a:lstStyle/>
          <a:p>
            <a:pPr marL="0" indent="0" algn="l">
              <a:buNone/>
            </a:pPr>
            <a:r>
              <a:rPr lang="en-US" sz="1800" dirty="0">
                <a:solidFill>
                  <a:srgbClr val="4A423A"/>
                </a:solidFill>
                <a:latin typeface="Georgia" pitchFamily="34" charset="0"/>
                <a:ea typeface="Georgia" pitchFamily="34" charset="-122"/>
                <a:cs typeface="Georgia" pitchFamily="34" charset="-120"/>
              </a:rPr>
              <a:t>Producción mixta · 75 colab.</a:t>
            </a:r>
            <a:endParaRPr lang="en-US" sz="1875" dirty="0"/>
          </a:p>
        </p:txBody>
      </p:sp>
      <p:sp>
        <p:nvSpPr>
          <p:cNvPr id="35" name="Shape 33"/>
          <p:cNvSpPr/>
          <p:nvPr/>
        </p:nvSpPr>
        <p:spPr>
          <a:xfrm>
            <a:off x="11867999" y="3393811"/>
            <a:ext cx="2909666" cy="171398"/>
          </a:xfrm>
          <a:prstGeom prst="rect">
            <a:avLst/>
          </a:prstGeom>
          <a:solidFill>
            <a:srgbClr val="C9962F"/>
          </a:solidFill>
          <a:ln/>
        </p:spPr>
        <p:txBody>
          <a:bodyPr/>
          <a:lstStyle/>
          <a:p>
            <a:endParaRPr lang="es-AR"/>
          </a:p>
        </p:txBody>
      </p:sp>
      <p:sp>
        <p:nvSpPr>
          <p:cNvPr id="36" name="Text 34"/>
          <p:cNvSpPr/>
          <p:nvPr/>
        </p:nvSpPr>
        <p:spPr>
          <a:xfrm>
            <a:off x="16497274" y="3324761"/>
            <a:ext cx="742933" cy="347667"/>
          </a:xfrm>
          <a:prstGeom prst="rect">
            <a:avLst/>
          </a:prstGeom>
          <a:noFill/>
          <a:ln/>
        </p:spPr>
        <p:txBody>
          <a:bodyPr wrap="square" lIns="25400" tIns="25400" rIns="25400" bIns="25400" rtlCol="0" anchor="t">
            <a:normAutofit lnSpcReduction="10000"/>
          </a:bodyPr>
          <a:lstStyle/>
          <a:p>
            <a:pPr marL="0" indent="0" algn="r">
              <a:buNone/>
            </a:pPr>
            <a:r>
              <a:rPr lang="en-US" sz="2100" b="1" dirty="0">
                <a:solidFill>
                  <a:srgbClr val="16120E"/>
                </a:solidFill>
                <a:latin typeface="Arial" pitchFamily="34" charset="0"/>
                <a:ea typeface="Arial" pitchFamily="34" charset="-122"/>
                <a:cs typeface="Arial" pitchFamily="34" charset="-120"/>
              </a:rPr>
              <a:t>3.2</a:t>
            </a:r>
            <a:endParaRPr lang="en-US" sz="2100" dirty="0"/>
          </a:p>
        </p:txBody>
      </p:sp>
      <p:sp>
        <p:nvSpPr>
          <p:cNvPr id="37" name="Text 35"/>
          <p:cNvSpPr/>
          <p:nvPr/>
        </p:nvSpPr>
        <p:spPr>
          <a:xfrm>
            <a:off x="9486800" y="3776633"/>
            <a:ext cx="2409807" cy="693126"/>
          </a:xfrm>
          <a:prstGeom prst="rect">
            <a:avLst/>
          </a:prstGeom>
          <a:noFill/>
          <a:ln/>
        </p:spPr>
        <p:txBody>
          <a:bodyPr wrap="square" lIns="25400" tIns="25400" rIns="25400" bIns="25400" rtlCol="0" anchor="t">
            <a:noAutofit/>
          </a:bodyPr>
          <a:lstStyle/>
          <a:p>
            <a:pPr marL="0" indent="0" algn="l">
              <a:buNone/>
            </a:pPr>
            <a:r>
              <a:rPr lang="en-US" sz="1800" dirty="0">
                <a:solidFill>
                  <a:srgbClr val="4A423A"/>
                </a:solidFill>
                <a:latin typeface="Georgia" pitchFamily="34" charset="0"/>
                <a:ea typeface="Georgia" pitchFamily="34" charset="-122"/>
                <a:cs typeface="Georgia" pitchFamily="34" charset="-120"/>
              </a:rPr>
              <a:t>Producción mixta · 25 colab.</a:t>
            </a:r>
            <a:endParaRPr lang="en-US" sz="1875" dirty="0"/>
          </a:p>
        </p:txBody>
      </p:sp>
      <p:sp>
        <p:nvSpPr>
          <p:cNvPr id="38" name="Shape 36"/>
          <p:cNvSpPr/>
          <p:nvPr/>
        </p:nvSpPr>
        <p:spPr>
          <a:xfrm>
            <a:off x="11867999" y="4018413"/>
            <a:ext cx="3085250" cy="171398"/>
          </a:xfrm>
          <a:prstGeom prst="rect">
            <a:avLst/>
          </a:prstGeom>
          <a:solidFill>
            <a:srgbClr val="C9962F"/>
          </a:solidFill>
          <a:ln/>
        </p:spPr>
        <p:txBody>
          <a:bodyPr/>
          <a:lstStyle/>
          <a:p>
            <a:endParaRPr lang="es-AR"/>
          </a:p>
        </p:txBody>
      </p:sp>
      <p:sp>
        <p:nvSpPr>
          <p:cNvPr id="39" name="Text 37"/>
          <p:cNvSpPr/>
          <p:nvPr/>
        </p:nvSpPr>
        <p:spPr>
          <a:xfrm>
            <a:off x="16497274" y="3949363"/>
            <a:ext cx="742933" cy="347667"/>
          </a:xfrm>
          <a:prstGeom prst="rect">
            <a:avLst/>
          </a:prstGeom>
          <a:noFill/>
          <a:ln/>
        </p:spPr>
        <p:txBody>
          <a:bodyPr wrap="square" lIns="25400" tIns="25400" rIns="25400" bIns="25400" rtlCol="0" anchor="t">
            <a:normAutofit lnSpcReduction="10000"/>
          </a:bodyPr>
          <a:lstStyle/>
          <a:p>
            <a:pPr marL="0" indent="0" algn="r">
              <a:buNone/>
            </a:pPr>
            <a:r>
              <a:rPr lang="en-US" sz="2100" b="1" dirty="0">
                <a:solidFill>
                  <a:srgbClr val="16120E"/>
                </a:solidFill>
                <a:latin typeface="Arial" pitchFamily="34" charset="0"/>
                <a:ea typeface="Arial" pitchFamily="34" charset="-122"/>
                <a:cs typeface="Arial" pitchFamily="34" charset="-120"/>
              </a:rPr>
              <a:t>3.4</a:t>
            </a:r>
            <a:endParaRPr lang="en-US" sz="2100" dirty="0"/>
          </a:p>
        </p:txBody>
      </p:sp>
      <p:sp>
        <p:nvSpPr>
          <p:cNvPr id="40" name="Text 38"/>
          <p:cNvSpPr/>
          <p:nvPr/>
        </p:nvSpPr>
        <p:spPr>
          <a:xfrm>
            <a:off x="9486800" y="4401235"/>
            <a:ext cx="2266934" cy="693126"/>
          </a:xfrm>
          <a:prstGeom prst="rect">
            <a:avLst/>
          </a:prstGeom>
          <a:noFill/>
          <a:ln/>
        </p:spPr>
        <p:txBody>
          <a:bodyPr wrap="square" lIns="25400" tIns="25400" rIns="25400" bIns="25400" rtlCol="0" anchor="t">
            <a:noAutofit/>
          </a:bodyPr>
          <a:lstStyle/>
          <a:p>
            <a:pPr marL="0" indent="0" algn="l">
              <a:buNone/>
            </a:pPr>
            <a:r>
              <a:rPr lang="en-US" sz="1800" dirty="0">
                <a:solidFill>
                  <a:srgbClr val="4A423A"/>
                </a:solidFill>
                <a:latin typeface="Georgia" pitchFamily="34" charset="0"/>
                <a:ea typeface="Georgia" pitchFamily="34" charset="-122"/>
                <a:cs typeface="Georgia" pitchFamily="34" charset="-120"/>
              </a:rPr>
              <a:t>Agricultura · 8 colab.</a:t>
            </a:r>
            <a:endParaRPr lang="en-US" sz="1875" dirty="0"/>
          </a:p>
        </p:txBody>
      </p:sp>
      <p:sp>
        <p:nvSpPr>
          <p:cNvPr id="41" name="Shape 39"/>
          <p:cNvSpPr/>
          <p:nvPr/>
        </p:nvSpPr>
        <p:spPr>
          <a:xfrm>
            <a:off x="11867999" y="4643015"/>
            <a:ext cx="3085250" cy="171398"/>
          </a:xfrm>
          <a:prstGeom prst="rect">
            <a:avLst/>
          </a:prstGeom>
          <a:solidFill>
            <a:srgbClr val="C9962F"/>
          </a:solidFill>
          <a:ln/>
        </p:spPr>
        <p:txBody>
          <a:bodyPr/>
          <a:lstStyle/>
          <a:p>
            <a:endParaRPr lang="es-AR"/>
          </a:p>
        </p:txBody>
      </p:sp>
      <p:sp>
        <p:nvSpPr>
          <p:cNvPr id="42" name="Text 40"/>
          <p:cNvSpPr/>
          <p:nvPr/>
        </p:nvSpPr>
        <p:spPr>
          <a:xfrm>
            <a:off x="16497274" y="4573965"/>
            <a:ext cx="742933" cy="347667"/>
          </a:xfrm>
          <a:prstGeom prst="rect">
            <a:avLst/>
          </a:prstGeom>
          <a:noFill/>
          <a:ln/>
        </p:spPr>
        <p:txBody>
          <a:bodyPr wrap="square" lIns="25400" tIns="25400" rIns="25400" bIns="25400" rtlCol="0" anchor="t">
            <a:normAutofit lnSpcReduction="10000"/>
          </a:bodyPr>
          <a:lstStyle/>
          <a:p>
            <a:pPr marL="0" indent="0" algn="r">
              <a:buNone/>
            </a:pPr>
            <a:r>
              <a:rPr lang="en-US" sz="2100" b="1" dirty="0">
                <a:solidFill>
                  <a:srgbClr val="16120E"/>
                </a:solidFill>
                <a:latin typeface="Arial" pitchFamily="34" charset="0"/>
                <a:ea typeface="Arial" pitchFamily="34" charset="-122"/>
                <a:cs typeface="Arial" pitchFamily="34" charset="-120"/>
              </a:rPr>
              <a:t>3.4</a:t>
            </a:r>
            <a:endParaRPr lang="en-US" sz="2100" dirty="0"/>
          </a:p>
        </p:txBody>
      </p:sp>
      <p:sp>
        <p:nvSpPr>
          <p:cNvPr id="43" name="Text 41"/>
          <p:cNvSpPr/>
          <p:nvPr/>
        </p:nvSpPr>
        <p:spPr>
          <a:xfrm>
            <a:off x="9486800" y="5189594"/>
            <a:ext cx="2266934" cy="693126"/>
          </a:xfrm>
          <a:prstGeom prst="rect">
            <a:avLst/>
          </a:prstGeom>
          <a:noFill/>
          <a:ln/>
        </p:spPr>
        <p:txBody>
          <a:bodyPr wrap="square" lIns="25400" tIns="25400" rIns="25400" bIns="25400" rtlCol="0" anchor="t">
            <a:noAutofit/>
          </a:bodyPr>
          <a:lstStyle/>
          <a:p>
            <a:pPr marL="0" indent="0" algn="l">
              <a:buNone/>
            </a:pPr>
            <a:r>
              <a:rPr lang="en-US" sz="1800" dirty="0">
                <a:solidFill>
                  <a:srgbClr val="4A423A"/>
                </a:solidFill>
                <a:latin typeface="Georgia" pitchFamily="34" charset="0"/>
                <a:ea typeface="Georgia" pitchFamily="34" charset="-122"/>
                <a:cs typeface="Georgia" pitchFamily="34" charset="-120"/>
              </a:rPr>
              <a:t>Agricultura · 3 colab.</a:t>
            </a:r>
            <a:endParaRPr lang="en-US" sz="1875" dirty="0"/>
          </a:p>
        </p:txBody>
      </p:sp>
      <p:sp>
        <p:nvSpPr>
          <p:cNvPr id="44" name="Shape 42"/>
          <p:cNvSpPr/>
          <p:nvPr/>
        </p:nvSpPr>
        <p:spPr>
          <a:xfrm>
            <a:off x="11867999" y="5431374"/>
            <a:ext cx="3348625" cy="171398"/>
          </a:xfrm>
          <a:prstGeom prst="rect">
            <a:avLst/>
          </a:prstGeom>
          <a:solidFill>
            <a:srgbClr val="7FA85C"/>
          </a:solidFill>
          <a:ln/>
        </p:spPr>
        <p:txBody>
          <a:bodyPr/>
          <a:lstStyle/>
          <a:p>
            <a:endParaRPr lang="es-AR"/>
          </a:p>
        </p:txBody>
      </p:sp>
      <p:sp>
        <p:nvSpPr>
          <p:cNvPr id="45" name="Text 43"/>
          <p:cNvSpPr/>
          <p:nvPr/>
        </p:nvSpPr>
        <p:spPr>
          <a:xfrm>
            <a:off x="16497274" y="5362324"/>
            <a:ext cx="742933" cy="347667"/>
          </a:xfrm>
          <a:prstGeom prst="rect">
            <a:avLst/>
          </a:prstGeom>
          <a:noFill/>
          <a:ln/>
        </p:spPr>
        <p:txBody>
          <a:bodyPr wrap="square" lIns="25400" tIns="25400" rIns="25400" bIns="25400" rtlCol="0" anchor="t">
            <a:normAutofit lnSpcReduction="10000"/>
          </a:bodyPr>
          <a:lstStyle/>
          <a:p>
            <a:pPr marL="0" indent="0" algn="r">
              <a:buNone/>
            </a:pPr>
            <a:r>
              <a:rPr lang="en-US" sz="2100" b="1" dirty="0">
                <a:solidFill>
                  <a:srgbClr val="16120E"/>
                </a:solidFill>
                <a:latin typeface="Arial" pitchFamily="34" charset="0"/>
                <a:ea typeface="Arial" pitchFamily="34" charset="-122"/>
                <a:cs typeface="Arial" pitchFamily="34" charset="-120"/>
              </a:rPr>
              <a:t>3.7</a:t>
            </a:r>
            <a:endParaRPr lang="en-US" sz="2100" dirty="0"/>
          </a:p>
        </p:txBody>
      </p:sp>
      <p:sp>
        <p:nvSpPr>
          <p:cNvPr id="46" name="Text 44"/>
          <p:cNvSpPr/>
          <p:nvPr/>
        </p:nvSpPr>
        <p:spPr>
          <a:xfrm>
            <a:off x="9486800" y="5814196"/>
            <a:ext cx="2409807" cy="693126"/>
          </a:xfrm>
          <a:prstGeom prst="rect">
            <a:avLst/>
          </a:prstGeom>
          <a:noFill/>
          <a:ln/>
        </p:spPr>
        <p:txBody>
          <a:bodyPr wrap="square" lIns="25400" tIns="25400" rIns="25400" bIns="25400" rtlCol="0" anchor="t">
            <a:noAutofit/>
          </a:bodyPr>
          <a:lstStyle/>
          <a:p>
            <a:pPr marL="0" indent="0" algn="l">
              <a:buNone/>
            </a:pPr>
            <a:r>
              <a:rPr lang="en-US" sz="1800" dirty="0">
                <a:solidFill>
                  <a:srgbClr val="4A423A"/>
                </a:solidFill>
                <a:latin typeface="Georgia" pitchFamily="34" charset="0"/>
                <a:ea typeface="Georgia" pitchFamily="34" charset="-122"/>
                <a:cs typeface="Georgia" pitchFamily="34" charset="-120"/>
              </a:rPr>
              <a:t>Agricultura · 8 colab.</a:t>
            </a:r>
            <a:endParaRPr lang="en-US" sz="1875" dirty="0"/>
          </a:p>
        </p:txBody>
      </p:sp>
      <p:sp>
        <p:nvSpPr>
          <p:cNvPr id="47" name="Shape 45"/>
          <p:cNvSpPr/>
          <p:nvPr/>
        </p:nvSpPr>
        <p:spPr>
          <a:xfrm>
            <a:off x="11867999" y="6055976"/>
            <a:ext cx="3386250" cy="171398"/>
          </a:xfrm>
          <a:prstGeom prst="rect">
            <a:avLst/>
          </a:prstGeom>
          <a:solidFill>
            <a:srgbClr val="7FA85C"/>
          </a:solidFill>
          <a:ln/>
        </p:spPr>
        <p:txBody>
          <a:bodyPr/>
          <a:lstStyle/>
          <a:p>
            <a:endParaRPr lang="es-AR"/>
          </a:p>
        </p:txBody>
      </p:sp>
      <p:sp>
        <p:nvSpPr>
          <p:cNvPr id="48" name="Text 46"/>
          <p:cNvSpPr/>
          <p:nvPr/>
        </p:nvSpPr>
        <p:spPr>
          <a:xfrm>
            <a:off x="16497274" y="5986926"/>
            <a:ext cx="742933" cy="347667"/>
          </a:xfrm>
          <a:prstGeom prst="rect">
            <a:avLst/>
          </a:prstGeom>
          <a:noFill/>
          <a:ln/>
        </p:spPr>
        <p:txBody>
          <a:bodyPr wrap="square" lIns="25400" tIns="25400" rIns="25400" bIns="25400" rtlCol="0" anchor="t">
            <a:normAutofit lnSpcReduction="10000"/>
          </a:bodyPr>
          <a:lstStyle/>
          <a:p>
            <a:pPr marL="0" indent="0" algn="r">
              <a:buNone/>
            </a:pPr>
            <a:r>
              <a:rPr lang="en-US" sz="2100" b="1" dirty="0">
                <a:solidFill>
                  <a:srgbClr val="16120E"/>
                </a:solidFill>
                <a:latin typeface="Arial" pitchFamily="34" charset="0"/>
                <a:ea typeface="Arial" pitchFamily="34" charset="-122"/>
                <a:cs typeface="Arial" pitchFamily="34" charset="-120"/>
              </a:rPr>
              <a:t>3.8</a:t>
            </a:r>
            <a:endParaRPr lang="en-US" sz="2100" dirty="0"/>
          </a:p>
        </p:txBody>
      </p:sp>
      <p:sp>
        <p:nvSpPr>
          <p:cNvPr id="49" name="Text 47"/>
          <p:cNvSpPr/>
          <p:nvPr/>
        </p:nvSpPr>
        <p:spPr>
          <a:xfrm>
            <a:off x="9486800" y="6438798"/>
            <a:ext cx="2266934" cy="693126"/>
          </a:xfrm>
          <a:prstGeom prst="rect">
            <a:avLst/>
          </a:prstGeom>
          <a:noFill/>
          <a:ln/>
        </p:spPr>
        <p:txBody>
          <a:bodyPr wrap="square" lIns="25400" tIns="25400" rIns="25400" bIns="25400" rtlCol="0" anchor="t">
            <a:noAutofit/>
          </a:bodyPr>
          <a:lstStyle/>
          <a:p>
            <a:pPr marL="0" indent="0" algn="l">
              <a:buNone/>
            </a:pPr>
            <a:r>
              <a:rPr lang="en-US" sz="1800" dirty="0">
                <a:solidFill>
                  <a:srgbClr val="4A423A"/>
                </a:solidFill>
                <a:latin typeface="Georgia" pitchFamily="34" charset="0"/>
                <a:ea typeface="Georgia" pitchFamily="34" charset="-122"/>
                <a:cs typeface="Georgia" pitchFamily="34" charset="-120"/>
              </a:rPr>
              <a:t>Agricultura · 25 colab.</a:t>
            </a:r>
            <a:endParaRPr lang="en-US" sz="1875" dirty="0"/>
          </a:p>
        </p:txBody>
      </p:sp>
      <p:sp>
        <p:nvSpPr>
          <p:cNvPr id="50" name="Shape 48"/>
          <p:cNvSpPr/>
          <p:nvPr/>
        </p:nvSpPr>
        <p:spPr>
          <a:xfrm>
            <a:off x="11867999" y="6680578"/>
            <a:ext cx="3461499" cy="171398"/>
          </a:xfrm>
          <a:prstGeom prst="rect">
            <a:avLst/>
          </a:prstGeom>
          <a:solidFill>
            <a:srgbClr val="7FA85C"/>
          </a:solidFill>
          <a:ln/>
        </p:spPr>
        <p:txBody>
          <a:bodyPr/>
          <a:lstStyle/>
          <a:p>
            <a:endParaRPr lang="es-AR"/>
          </a:p>
        </p:txBody>
      </p:sp>
      <p:sp>
        <p:nvSpPr>
          <p:cNvPr id="51" name="Text 49"/>
          <p:cNvSpPr/>
          <p:nvPr/>
        </p:nvSpPr>
        <p:spPr>
          <a:xfrm>
            <a:off x="16497274" y="6611528"/>
            <a:ext cx="742933" cy="347667"/>
          </a:xfrm>
          <a:prstGeom prst="rect">
            <a:avLst/>
          </a:prstGeom>
          <a:noFill/>
          <a:ln/>
        </p:spPr>
        <p:txBody>
          <a:bodyPr wrap="square" lIns="25400" tIns="25400" rIns="25400" bIns="25400" rtlCol="0" anchor="t">
            <a:normAutofit lnSpcReduction="10000"/>
          </a:bodyPr>
          <a:lstStyle/>
          <a:p>
            <a:pPr marL="0" indent="0" algn="r">
              <a:buNone/>
            </a:pPr>
            <a:r>
              <a:rPr lang="en-US" sz="2100" b="1" dirty="0">
                <a:solidFill>
                  <a:srgbClr val="16120E"/>
                </a:solidFill>
                <a:latin typeface="Arial" pitchFamily="34" charset="0"/>
                <a:ea typeface="Arial" pitchFamily="34" charset="-122"/>
                <a:cs typeface="Arial" pitchFamily="34" charset="-120"/>
              </a:rPr>
              <a:t>3.8</a:t>
            </a:r>
            <a:endParaRPr lang="en-US" sz="2100" dirty="0"/>
          </a:p>
        </p:txBody>
      </p:sp>
      <p:sp>
        <p:nvSpPr>
          <p:cNvPr id="52" name="Text 50"/>
          <p:cNvSpPr/>
          <p:nvPr/>
        </p:nvSpPr>
        <p:spPr>
          <a:xfrm>
            <a:off x="9486800" y="7227156"/>
            <a:ext cx="2409807" cy="365613"/>
          </a:xfrm>
          <a:prstGeom prst="rect">
            <a:avLst/>
          </a:prstGeom>
          <a:noFill/>
          <a:ln/>
        </p:spPr>
        <p:txBody>
          <a:bodyPr wrap="square" lIns="25400" tIns="25400" rIns="25400" bIns="25400" rtlCol="0" anchor="t">
            <a:noAutofit/>
          </a:bodyPr>
          <a:lstStyle/>
          <a:p>
            <a:pPr marL="0" indent="0" algn="l">
              <a:buNone/>
            </a:pPr>
            <a:r>
              <a:rPr lang="en-US" sz="1800" dirty="0">
                <a:solidFill>
                  <a:srgbClr val="4A423A"/>
                </a:solidFill>
                <a:latin typeface="Georgia" pitchFamily="34" charset="0"/>
                <a:ea typeface="Georgia" pitchFamily="34" charset="-122"/>
                <a:cs typeface="Georgia" pitchFamily="34" charset="-120"/>
              </a:rPr>
              <a:t>Ganadería · 8 colab.</a:t>
            </a:r>
            <a:endParaRPr lang="en-US" sz="1875" dirty="0"/>
          </a:p>
        </p:txBody>
      </p:sp>
      <p:sp>
        <p:nvSpPr>
          <p:cNvPr id="53" name="Shape 51"/>
          <p:cNvSpPr/>
          <p:nvPr/>
        </p:nvSpPr>
        <p:spPr>
          <a:xfrm>
            <a:off x="11867999" y="7305180"/>
            <a:ext cx="3762500" cy="171398"/>
          </a:xfrm>
          <a:prstGeom prst="rect">
            <a:avLst/>
          </a:prstGeom>
          <a:solidFill>
            <a:srgbClr val="7FA85C"/>
          </a:solidFill>
          <a:ln/>
        </p:spPr>
        <p:txBody>
          <a:bodyPr/>
          <a:lstStyle/>
          <a:p>
            <a:endParaRPr lang="es-AR"/>
          </a:p>
        </p:txBody>
      </p:sp>
      <p:sp>
        <p:nvSpPr>
          <p:cNvPr id="54" name="Text 52"/>
          <p:cNvSpPr/>
          <p:nvPr/>
        </p:nvSpPr>
        <p:spPr>
          <a:xfrm>
            <a:off x="16497274" y="7236130"/>
            <a:ext cx="742933" cy="347667"/>
          </a:xfrm>
          <a:prstGeom prst="rect">
            <a:avLst/>
          </a:prstGeom>
          <a:noFill/>
          <a:ln/>
        </p:spPr>
        <p:txBody>
          <a:bodyPr wrap="square" lIns="25400" tIns="25400" rIns="25400" bIns="25400" rtlCol="0" anchor="t">
            <a:normAutofit lnSpcReduction="10000"/>
          </a:bodyPr>
          <a:lstStyle/>
          <a:p>
            <a:pPr marL="0" indent="0" algn="r">
              <a:buNone/>
            </a:pPr>
            <a:r>
              <a:rPr lang="en-US" sz="2100" b="1" dirty="0">
                <a:solidFill>
                  <a:srgbClr val="16120E"/>
                </a:solidFill>
                <a:latin typeface="Arial" pitchFamily="34" charset="0"/>
                <a:ea typeface="Arial" pitchFamily="34" charset="-122"/>
                <a:cs typeface="Arial" pitchFamily="34" charset="-120"/>
              </a:rPr>
              <a:t>4.2</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16120E"/>
        </a:solidFill>
        <a:effectLst/>
      </p:bgPr>
    </p:bg>
    <p:spTree>
      <p:nvGrpSpPr>
        <p:cNvPr id="1" name=""/>
        <p:cNvGrpSpPr/>
        <p:nvPr/>
      </p:nvGrpSpPr>
      <p:grpSpPr>
        <a:xfrm>
          <a:off x="0" y="0"/>
          <a:ext cx="0" cy="0"/>
          <a:chOff x="0" y="0"/>
          <a:chExt cx="0" cy="0"/>
        </a:xfrm>
      </p:grpSpPr>
      <p:sp>
        <p:nvSpPr>
          <p:cNvPr id="2" name="Text 0"/>
          <p:cNvSpPr/>
          <p:nvPr/>
        </p:nvSpPr>
        <p:spPr>
          <a:xfrm>
            <a:off x="1047733" y="952465"/>
            <a:ext cx="17811721" cy="758180"/>
          </a:xfrm>
          <a:prstGeom prst="rect">
            <a:avLst/>
          </a:prstGeom>
          <a:noFill/>
          <a:ln/>
        </p:spPr>
        <p:txBody>
          <a:bodyPr wrap="square" lIns="25400" tIns="25400" rIns="25400" bIns="25400" rtlCol="0" anchor="t">
            <a:normAutofit lnSpcReduction="10000"/>
          </a:bodyPr>
          <a:lstStyle/>
          <a:p>
            <a:pPr marL="0" indent="0" algn="l">
              <a:lnSpc>
                <a:spcPct val="91716"/>
              </a:lnSpc>
              <a:buNone/>
            </a:pPr>
            <a:r>
              <a:rPr lang="en-US" sz="5400" b="1" kern="0" spc="-108" dirty="0">
                <a:solidFill>
                  <a:srgbClr val="F2EDE3"/>
                </a:solidFill>
                <a:latin typeface="Arial" pitchFamily="34" charset="0"/>
                <a:ea typeface="Arial" pitchFamily="34" charset="-122"/>
                <a:cs typeface="Arial" pitchFamily="34" charset="-120"/>
              </a:rPr>
              <a:t>La radiografía de 17 empresas</a:t>
            </a:r>
            <a:endParaRPr lang="en-US" sz="5400" dirty="0"/>
          </a:p>
        </p:txBody>
      </p:sp>
      <p:sp>
        <p:nvSpPr>
          <p:cNvPr id="3" name="Shape 1"/>
          <p:cNvSpPr/>
          <p:nvPr/>
        </p:nvSpPr>
        <p:spPr>
          <a:xfrm>
            <a:off x="1047733" y="2205876"/>
            <a:ext cx="5092714" cy="44865"/>
          </a:xfrm>
          <a:prstGeom prst="rect">
            <a:avLst/>
          </a:prstGeom>
          <a:solidFill>
            <a:srgbClr val="B4552F"/>
          </a:solidFill>
          <a:ln/>
        </p:spPr>
        <p:txBody>
          <a:bodyPr/>
          <a:lstStyle/>
          <a:p>
            <a:endParaRPr lang="es-AR"/>
          </a:p>
        </p:txBody>
      </p:sp>
      <p:sp>
        <p:nvSpPr>
          <p:cNvPr id="4" name="Text 2"/>
          <p:cNvSpPr/>
          <p:nvPr/>
        </p:nvSpPr>
        <p:spPr>
          <a:xfrm>
            <a:off x="1047733" y="2536473"/>
            <a:ext cx="5601986" cy="952501"/>
          </a:xfrm>
          <a:prstGeom prst="rect">
            <a:avLst/>
          </a:prstGeom>
          <a:noFill/>
          <a:ln/>
        </p:spPr>
        <p:txBody>
          <a:bodyPr wrap="square" lIns="25400" tIns="25400" rIns="25400" bIns="25400" rtlCol="0" anchor="t">
            <a:normAutofit lnSpcReduction="10000"/>
          </a:bodyPr>
          <a:lstStyle/>
          <a:p>
            <a:pPr marL="0" indent="0" algn="l">
              <a:lnSpc>
                <a:spcPct val="86729"/>
              </a:lnSpc>
              <a:buNone/>
            </a:pPr>
            <a:r>
              <a:rPr lang="en-US" sz="7200" b="1" dirty="0">
                <a:solidFill>
                  <a:srgbClr val="B4552F"/>
                </a:solidFill>
                <a:latin typeface="Arial" pitchFamily="34" charset="0"/>
                <a:ea typeface="Arial" pitchFamily="34" charset="-122"/>
                <a:cs typeface="Arial" pitchFamily="34" charset="-120"/>
              </a:rPr>
              <a:t>24%</a:t>
            </a:r>
            <a:endParaRPr lang="en-US" sz="7200" dirty="0"/>
          </a:p>
        </p:txBody>
      </p:sp>
      <p:sp>
        <p:nvSpPr>
          <p:cNvPr id="5" name="Text 3"/>
          <p:cNvSpPr/>
          <p:nvPr/>
        </p:nvSpPr>
        <p:spPr>
          <a:xfrm>
            <a:off x="1047733" y="3527003"/>
            <a:ext cx="5601986" cy="477775"/>
          </a:xfrm>
          <a:prstGeom prst="rect">
            <a:avLst/>
          </a:prstGeom>
          <a:noFill/>
          <a:ln/>
        </p:spPr>
        <p:txBody>
          <a:bodyPr wrap="square" lIns="25400" tIns="25400" rIns="25400" bIns="25400" rtlCol="0" anchor="t">
            <a:normAutofit lnSpcReduction="10000"/>
          </a:bodyPr>
          <a:lstStyle/>
          <a:p>
            <a:pPr marL="0" indent="0" algn="l">
              <a:buNone/>
            </a:pPr>
            <a:r>
              <a:rPr lang="en-US" sz="3000" b="1" dirty="0">
                <a:solidFill>
                  <a:srgbClr val="F2EDE3"/>
                </a:solidFill>
                <a:latin typeface="Arial" pitchFamily="34" charset="0"/>
                <a:ea typeface="Arial" pitchFamily="34" charset="-122"/>
                <a:cs typeface="Arial" pitchFamily="34" charset="-120"/>
              </a:rPr>
              <a:t>Reactivo</a:t>
            </a:r>
            <a:endParaRPr lang="en-US" sz="3000" dirty="0"/>
          </a:p>
        </p:txBody>
      </p:sp>
      <p:sp>
        <p:nvSpPr>
          <p:cNvPr id="6" name="Text 4"/>
          <p:cNvSpPr/>
          <p:nvPr/>
        </p:nvSpPr>
        <p:spPr>
          <a:xfrm>
            <a:off x="1047733" y="4176211"/>
            <a:ext cx="5245496" cy="891512"/>
          </a:xfrm>
          <a:prstGeom prst="rect">
            <a:avLst/>
          </a:prstGeom>
          <a:noFill/>
          <a:ln/>
        </p:spPr>
        <p:txBody>
          <a:bodyPr wrap="square" lIns="25400" tIns="25400" rIns="25400" bIns="25400" rtlCol="0" anchor="t">
            <a:normAutofit lnSpcReduction="10000"/>
          </a:bodyPr>
          <a:lstStyle/>
          <a:p>
            <a:pPr marL="0" indent="0" algn="l">
              <a:lnSpc>
                <a:spcPct val="123523"/>
              </a:lnSpc>
              <a:buNone/>
            </a:pPr>
            <a:r>
              <a:rPr lang="en-US" sz="2400" dirty="0">
                <a:solidFill>
                  <a:srgbClr val="D6CBB9"/>
                </a:solidFill>
                <a:latin typeface="Georgia" pitchFamily="34" charset="0"/>
                <a:ea typeface="Georgia" pitchFamily="34" charset="-122"/>
                <a:cs typeface="Georgia" pitchFamily="34" charset="-120"/>
              </a:rPr>
              <a:t>La urgencia manda. Operan en emergencia.</a:t>
            </a:r>
            <a:endParaRPr lang="en-US" sz="2400" dirty="0"/>
          </a:p>
        </p:txBody>
      </p:sp>
      <p:sp>
        <p:nvSpPr>
          <p:cNvPr id="7" name="Shape 5"/>
          <p:cNvSpPr/>
          <p:nvPr/>
        </p:nvSpPr>
        <p:spPr>
          <a:xfrm>
            <a:off x="6597578" y="2205876"/>
            <a:ext cx="5092714" cy="44865"/>
          </a:xfrm>
          <a:prstGeom prst="rect">
            <a:avLst/>
          </a:prstGeom>
          <a:solidFill>
            <a:srgbClr val="E0A32E"/>
          </a:solidFill>
          <a:ln/>
        </p:spPr>
        <p:txBody>
          <a:bodyPr/>
          <a:lstStyle/>
          <a:p>
            <a:endParaRPr lang="es-AR"/>
          </a:p>
        </p:txBody>
      </p:sp>
      <p:sp>
        <p:nvSpPr>
          <p:cNvPr id="8" name="Text 6"/>
          <p:cNvSpPr/>
          <p:nvPr/>
        </p:nvSpPr>
        <p:spPr>
          <a:xfrm>
            <a:off x="6597578" y="2536473"/>
            <a:ext cx="5601986" cy="952501"/>
          </a:xfrm>
          <a:prstGeom prst="rect">
            <a:avLst/>
          </a:prstGeom>
          <a:noFill/>
          <a:ln/>
        </p:spPr>
        <p:txBody>
          <a:bodyPr wrap="square" lIns="25400" tIns="25400" rIns="25400" bIns="25400" rtlCol="0" anchor="t">
            <a:normAutofit lnSpcReduction="10000"/>
          </a:bodyPr>
          <a:lstStyle/>
          <a:p>
            <a:pPr marL="0" indent="0" algn="l">
              <a:lnSpc>
                <a:spcPct val="86729"/>
              </a:lnSpc>
              <a:buNone/>
            </a:pPr>
            <a:r>
              <a:rPr lang="en-US" sz="7200" b="1" dirty="0">
                <a:solidFill>
                  <a:srgbClr val="E0A32E"/>
                </a:solidFill>
                <a:latin typeface="Arial" pitchFamily="34" charset="0"/>
                <a:ea typeface="Arial" pitchFamily="34" charset="-122"/>
                <a:cs typeface="Arial" pitchFamily="34" charset="-120"/>
              </a:rPr>
              <a:t>53%</a:t>
            </a:r>
            <a:endParaRPr lang="en-US" sz="7200" dirty="0"/>
          </a:p>
        </p:txBody>
      </p:sp>
      <p:sp>
        <p:nvSpPr>
          <p:cNvPr id="9" name="Text 7"/>
          <p:cNvSpPr/>
          <p:nvPr/>
        </p:nvSpPr>
        <p:spPr>
          <a:xfrm>
            <a:off x="6597578" y="3527003"/>
            <a:ext cx="5601986" cy="477775"/>
          </a:xfrm>
          <a:prstGeom prst="rect">
            <a:avLst/>
          </a:prstGeom>
          <a:noFill/>
          <a:ln/>
        </p:spPr>
        <p:txBody>
          <a:bodyPr wrap="square" lIns="25400" tIns="25400" rIns="25400" bIns="25400" rtlCol="0" anchor="t">
            <a:normAutofit lnSpcReduction="10000"/>
          </a:bodyPr>
          <a:lstStyle/>
          <a:p>
            <a:pPr marL="0" indent="0" algn="l">
              <a:buNone/>
            </a:pPr>
            <a:r>
              <a:rPr lang="en-US" sz="3000" b="1" dirty="0">
                <a:solidFill>
                  <a:srgbClr val="F2EDE3"/>
                </a:solidFill>
                <a:latin typeface="Arial" pitchFamily="34" charset="0"/>
                <a:ea typeface="Arial" pitchFamily="34" charset="-122"/>
                <a:cs typeface="Arial" pitchFamily="34" charset="-120"/>
              </a:rPr>
              <a:t>Definido</a:t>
            </a:r>
            <a:endParaRPr lang="en-US" sz="3000" dirty="0"/>
          </a:p>
        </p:txBody>
      </p:sp>
      <p:sp>
        <p:nvSpPr>
          <p:cNvPr id="10" name="Text 8"/>
          <p:cNvSpPr/>
          <p:nvPr/>
        </p:nvSpPr>
        <p:spPr>
          <a:xfrm>
            <a:off x="6597578" y="4176211"/>
            <a:ext cx="5245496" cy="1318219"/>
          </a:xfrm>
          <a:prstGeom prst="rect">
            <a:avLst/>
          </a:prstGeom>
          <a:noFill/>
          <a:ln/>
        </p:spPr>
        <p:txBody>
          <a:bodyPr wrap="square" lIns="25400" tIns="25400" rIns="25400" bIns="25400" rtlCol="0" anchor="t">
            <a:normAutofit lnSpcReduction="10000"/>
          </a:bodyPr>
          <a:lstStyle/>
          <a:p>
            <a:pPr marL="0" indent="0" algn="l">
              <a:lnSpc>
                <a:spcPct val="123523"/>
              </a:lnSpc>
              <a:buNone/>
            </a:pPr>
            <a:r>
              <a:rPr lang="en-US" sz="2400" dirty="0">
                <a:solidFill>
                  <a:srgbClr val="D6CBB9"/>
                </a:solidFill>
                <a:latin typeface="Georgia" pitchFamily="34" charset="0"/>
                <a:ea typeface="Georgia" pitchFamily="34" charset="-122"/>
                <a:cs typeface="Georgia" pitchFamily="34" charset="-120"/>
              </a:rPr>
              <a:t>Hay piso, falta diseño. Salieron de la urgencia pura, pero operan en una zona de indefinición estructural.</a:t>
            </a:r>
            <a:endParaRPr lang="en-US" sz="2400" dirty="0"/>
          </a:p>
        </p:txBody>
      </p:sp>
      <p:sp>
        <p:nvSpPr>
          <p:cNvPr id="11" name="Shape 9"/>
          <p:cNvSpPr/>
          <p:nvPr/>
        </p:nvSpPr>
        <p:spPr>
          <a:xfrm>
            <a:off x="12147422" y="2205876"/>
            <a:ext cx="5092784" cy="44865"/>
          </a:xfrm>
          <a:prstGeom prst="rect">
            <a:avLst/>
          </a:prstGeom>
          <a:solidFill>
            <a:srgbClr val="7FA85C"/>
          </a:solidFill>
          <a:ln/>
        </p:spPr>
        <p:txBody>
          <a:bodyPr/>
          <a:lstStyle/>
          <a:p>
            <a:endParaRPr lang="es-AR"/>
          </a:p>
        </p:txBody>
      </p:sp>
      <p:sp>
        <p:nvSpPr>
          <p:cNvPr id="12" name="Text 10"/>
          <p:cNvSpPr/>
          <p:nvPr/>
        </p:nvSpPr>
        <p:spPr>
          <a:xfrm>
            <a:off x="12147422" y="2536473"/>
            <a:ext cx="5602063" cy="952501"/>
          </a:xfrm>
          <a:prstGeom prst="rect">
            <a:avLst/>
          </a:prstGeom>
          <a:noFill/>
          <a:ln/>
        </p:spPr>
        <p:txBody>
          <a:bodyPr wrap="square" lIns="25400" tIns="25400" rIns="25400" bIns="25400" rtlCol="0" anchor="t">
            <a:normAutofit lnSpcReduction="10000"/>
          </a:bodyPr>
          <a:lstStyle/>
          <a:p>
            <a:pPr marL="0" indent="0" algn="l">
              <a:lnSpc>
                <a:spcPct val="86729"/>
              </a:lnSpc>
              <a:buNone/>
            </a:pPr>
            <a:r>
              <a:rPr lang="en-US" sz="7200" b="1" dirty="0">
                <a:solidFill>
                  <a:srgbClr val="7FA85C"/>
                </a:solidFill>
                <a:latin typeface="Arial" pitchFamily="34" charset="0"/>
                <a:ea typeface="Arial" pitchFamily="34" charset="-122"/>
                <a:cs typeface="Arial" pitchFamily="34" charset="-120"/>
              </a:rPr>
              <a:t>24%</a:t>
            </a:r>
            <a:endParaRPr lang="en-US" sz="7200" dirty="0"/>
          </a:p>
        </p:txBody>
      </p:sp>
      <p:sp>
        <p:nvSpPr>
          <p:cNvPr id="13" name="Text 11"/>
          <p:cNvSpPr/>
          <p:nvPr/>
        </p:nvSpPr>
        <p:spPr>
          <a:xfrm>
            <a:off x="12147422" y="3527003"/>
            <a:ext cx="5602063" cy="477775"/>
          </a:xfrm>
          <a:prstGeom prst="rect">
            <a:avLst/>
          </a:prstGeom>
          <a:noFill/>
          <a:ln/>
        </p:spPr>
        <p:txBody>
          <a:bodyPr wrap="square" lIns="25400" tIns="25400" rIns="25400" bIns="25400" rtlCol="0" anchor="t">
            <a:normAutofit lnSpcReduction="10000"/>
          </a:bodyPr>
          <a:lstStyle/>
          <a:p>
            <a:pPr marL="0" indent="0" algn="l">
              <a:buNone/>
            </a:pPr>
            <a:r>
              <a:rPr lang="en-US" sz="3000" b="1" dirty="0">
                <a:solidFill>
                  <a:srgbClr val="F2EDE3"/>
                </a:solidFill>
                <a:latin typeface="Arial" pitchFamily="34" charset="0"/>
                <a:ea typeface="Arial" pitchFamily="34" charset="-122"/>
                <a:cs typeface="Arial" pitchFamily="34" charset="-120"/>
              </a:rPr>
              <a:t>Estratégico</a:t>
            </a:r>
            <a:endParaRPr lang="en-US" sz="3000" dirty="0"/>
          </a:p>
        </p:txBody>
      </p:sp>
      <p:sp>
        <p:nvSpPr>
          <p:cNvPr id="14" name="Text 12"/>
          <p:cNvSpPr/>
          <p:nvPr/>
        </p:nvSpPr>
        <p:spPr>
          <a:xfrm>
            <a:off x="12147422" y="4176211"/>
            <a:ext cx="5245568" cy="891512"/>
          </a:xfrm>
          <a:prstGeom prst="rect">
            <a:avLst/>
          </a:prstGeom>
          <a:noFill/>
          <a:ln/>
        </p:spPr>
        <p:txBody>
          <a:bodyPr wrap="square" lIns="25400" tIns="25400" rIns="25400" bIns="25400" rtlCol="0" anchor="t">
            <a:normAutofit lnSpcReduction="10000"/>
          </a:bodyPr>
          <a:lstStyle/>
          <a:p>
            <a:pPr marL="0" indent="0" algn="l">
              <a:lnSpc>
                <a:spcPct val="123523"/>
              </a:lnSpc>
              <a:buNone/>
            </a:pPr>
            <a:r>
              <a:rPr lang="en-US" sz="2400" dirty="0">
                <a:solidFill>
                  <a:srgbClr val="D6CBB9"/>
                </a:solidFill>
                <a:latin typeface="Georgia" pitchFamily="34" charset="0"/>
                <a:ea typeface="Georgia" pitchFamily="34" charset="-122"/>
                <a:cs typeface="Georgia" pitchFamily="34" charset="-120"/>
              </a:rPr>
              <a:t>Gestión integrada al negocio. Decisiones basadas en datos.</a:t>
            </a:r>
            <a:endParaRPr lang="en-US" sz="2400" dirty="0"/>
          </a:p>
        </p:txBody>
      </p:sp>
      <p:sp>
        <p:nvSpPr>
          <p:cNvPr id="15" name="Text 13"/>
          <p:cNvSpPr/>
          <p:nvPr/>
        </p:nvSpPr>
        <p:spPr>
          <a:xfrm>
            <a:off x="1047733" y="8999246"/>
            <a:ext cx="17811721" cy="563859"/>
          </a:xfrm>
          <a:prstGeom prst="rect">
            <a:avLst/>
          </a:prstGeom>
          <a:noFill/>
          <a:ln/>
        </p:spPr>
        <p:txBody>
          <a:bodyPr wrap="square" lIns="25400" tIns="25400" rIns="25400" bIns="25400" rtlCol="0" anchor="t">
            <a:normAutofit lnSpcReduction="10000"/>
          </a:bodyPr>
          <a:lstStyle/>
          <a:p>
            <a:pPr marL="0" indent="0" algn="l">
              <a:lnSpc>
                <a:spcPct val="104636"/>
              </a:lnSpc>
              <a:buNone/>
            </a:pPr>
            <a:r>
              <a:rPr lang="en-US" sz="3450" b="1" dirty="0">
                <a:solidFill>
                  <a:srgbClr val="E0A32E"/>
                </a:solidFill>
                <a:latin typeface="Arial" pitchFamily="34" charset="0"/>
                <a:ea typeface="Arial" pitchFamily="34" charset="-122"/>
                <a:cs typeface="Arial" pitchFamily="34" charset="-120"/>
              </a:rPr>
              <a:t>El 76% de las empresas (13 de 17) aún no diseñó su forma de gestionar personas.</a:t>
            </a:r>
            <a:endParaRPr lang="en-US" sz="3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6120E"/>
        </a:solidFill>
        <a:effectLst/>
      </p:bgPr>
    </p:bg>
    <p:spTree>
      <p:nvGrpSpPr>
        <p:cNvPr id="1" name=""/>
        <p:cNvGrpSpPr/>
        <p:nvPr/>
      </p:nvGrpSpPr>
      <p:grpSpPr>
        <a:xfrm>
          <a:off x="0" y="0"/>
          <a:ext cx="0" cy="0"/>
          <a:chOff x="0" y="0"/>
          <a:chExt cx="0" cy="0"/>
        </a:xfrm>
      </p:grpSpPr>
      <p:sp>
        <p:nvSpPr>
          <p:cNvPr id="2" name="TextBox 1"/>
          <p:cNvSpPr txBox="1"/>
          <p:nvPr/>
        </p:nvSpPr>
        <p:spPr>
          <a:xfrm>
            <a:off x="1051560" y="950976"/>
            <a:ext cx="16184880" cy="822960"/>
          </a:xfrm>
          <a:prstGeom prst="rect">
            <a:avLst/>
          </a:prstGeom>
          <a:noFill/>
        </p:spPr>
        <p:txBody>
          <a:bodyPr wrap="square" lIns="0" tIns="0" rIns="0" bIns="0" anchor="t">
            <a:spAutoFit/>
          </a:bodyPr>
          <a:lstStyle/>
          <a:p>
            <a:pPr algn="l"/>
            <a:r>
              <a:rPr sz="5400" b="1">
                <a:solidFill>
                  <a:srgbClr val="F2EDE3"/>
                </a:solidFill>
                <a:latin typeface="Arial"/>
              </a:rPr>
              <a:t>Escala no es madurez</a:t>
            </a:r>
          </a:p>
        </p:txBody>
      </p:sp>
      <p:sp>
        <p:nvSpPr>
          <p:cNvPr id="3" name="Rectangle 2"/>
          <p:cNvSpPr/>
          <p:nvPr/>
        </p:nvSpPr>
        <p:spPr>
          <a:xfrm>
            <a:off x="1051560" y="2331720"/>
            <a:ext cx="5093208" cy="45720"/>
          </a:xfrm>
          <a:prstGeom prst="rect">
            <a:avLst/>
          </a:prstGeom>
          <a:solidFill>
            <a:srgbClr val="B455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51560" y="2651760"/>
            <a:ext cx="5212080" cy="1005840"/>
          </a:xfrm>
          <a:prstGeom prst="rect">
            <a:avLst/>
          </a:prstGeom>
          <a:noFill/>
        </p:spPr>
        <p:txBody>
          <a:bodyPr wrap="square" lIns="0" tIns="0" rIns="0" bIns="0" anchor="t">
            <a:spAutoFit/>
          </a:bodyPr>
          <a:lstStyle/>
          <a:p>
            <a:pPr algn="l"/>
            <a:r>
              <a:rPr sz="7200" b="1">
                <a:solidFill>
                  <a:srgbClr val="B4552F"/>
                </a:solidFill>
                <a:latin typeface="Arial"/>
              </a:rPr>
              <a:t>3.7 a 4.2</a:t>
            </a:r>
          </a:p>
        </p:txBody>
      </p:sp>
      <p:sp>
        <p:nvSpPr>
          <p:cNvPr id="5" name="TextBox 4"/>
          <p:cNvSpPr txBox="1"/>
          <p:nvPr/>
        </p:nvSpPr>
        <p:spPr>
          <a:xfrm>
            <a:off x="1051560" y="3794760"/>
            <a:ext cx="5120640" cy="502920"/>
          </a:xfrm>
          <a:prstGeom prst="rect">
            <a:avLst/>
          </a:prstGeom>
          <a:noFill/>
        </p:spPr>
        <p:txBody>
          <a:bodyPr wrap="square" lIns="0" tIns="0" rIns="0" bIns="0" anchor="t">
            <a:spAutoFit/>
          </a:bodyPr>
          <a:lstStyle/>
          <a:p>
            <a:pPr algn="l"/>
            <a:r>
              <a:rPr sz="2800" b="1">
                <a:solidFill>
                  <a:srgbClr val="F2EDE3"/>
                </a:solidFill>
                <a:latin typeface="Arial"/>
              </a:rPr>
              <a:t>Las cuatro mejores</a:t>
            </a:r>
          </a:p>
        </p:txBody>
      </p:sp>
      <p:sp>
        <p:nvSpPr>
          <p:cNvPr id="6" name="TextBox 5"/>
          <p:cNvSpPr txBox="1"/>
          <p:nvPr/>
        </p:nvSpPr>
        <p:spPr>
          <a:xfrm>
            <a:off x="1051560" y="4480560"/>
            <a:ext cx="4937760" cy="2011680"/>
          </a:xfrm>
          <a:prstGeom prst="rect">
            <a:avLst/>
          </a:prstGeom>
          <a:noFill/>
        </p:spPr>
        <p:txBody>
          <a:bodyPr wrap="square" lIns="0" tIns="0" rIns="0" bIns="0" anchor="t">
            <a:spAutoFit/>
          </a:bodyPr>
          <a:lstStyle/>
          <a:p>
            <a:pPr algn="l">
              <a:lnSpc>
                <a:spcPct val="110000"/>
              </a:lnSpc>
            </a:pPr>
            <a:r>
              <a:rPr sz="2200" b="0">
                <a:solidFill>
                  <a:srgbClr val="D6CBB9"/>
                </a:solidFill>
                <a:latin typeface="Georgia"/>
              </a:rPr>
              <a:t>Empresas de 3 a 25 colaboradores. Ninguna de 75.</a:t>
            </a:r>
          </a:p>
        </p:txBody>
      </p:sp>
      <p:sp>
        <p:nvSpPr>
          <p:cNvPr id="7" name="Rectangle 6"/>
          <p:cNvSpPr/>
          <p:nvPr/>
        </p:nvSpPr>
        <p:spPr>
          <a:xfrm>
            <a:off x="6601968" y="2331720"/>
            <a:ext cx="5093208" cy="45720"/>
          </a:xfrm>
          <a:prstGeom prst="rect">
            <a:avLst/>
          </a:prstGeom>
          <a:solidFill>
            <a:srgbClr val="E0A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01968" y="2651760"/>
            <a:ext cx="5212080" cy="1005840"/>
          </a:xfrm>
          <a:prstGeom prst="rect">
            <a:avLst/>
          </a:prstGeom>
          <a:noFill/>
        </p:spPr>
        <p:txBody>
          <a:bodyPr wrap="square" lIns="0" tIns="0" rIns="0" bIns="0" anchor="t">
            <a:spAutoFit/>
          </a:bodyPr>
          <a:lstStyle/>
          <a:p>
            <a:pPr algn="l"/>
            <a:r>
              <a:rPr sz="7200" b="1">
                <a:solidFill>
                  <a:srgbClr val="E0A32E"/>
                </a:solidFill>
                <a:latin typeface="Arial"/>
              </a:rPr>
              <a:t>3.0 y 3.2</a:t>
            </a:r>
          </a:p>
        </p:txBody>
      </p:sp>
      <p:sp>
        <p:nvSpPr>
          <p:cNvPr id="9" name="TextBox 8"/>
          <p:cNvSpPr txBox="1"/>
          <p:nvPr/>
        </p:nvSpPr>
        <p:spPr>
          <a:xfrm>
            <a:off x="6601968" y="3794760"/>
            <a:ext cx="5120640" cy="502920"/>
          </a:xfrm>
          <a:prstGeom prst="rect">
            <a:avLst/>
          </a:prstGeom>
          <a:noFill/>
        </p:spPr>
        <p:txBody>
          <a:bodyPr wrap="square" lIns="0" tIns="0" rIns="0" bIns="0" anchor="t">
            <a:spAutoFit/>
          </a:bodyPr>
          <a:lstStyle/>
          <a:p>
            <a:pPr algn="l"/>
            <a:r>
              <a:rPr sz="2800" b="1">
                <a:solidFill>
                  <a:srgbClr val="F2EDE3"/>
                </a:solidFill>
                <a:latin typeface="Arial"/>
              </a:rPr>
              <a:t>Las 2 de 75 colab.</a:t>
            </a:r>
          </a:p>
        </p:txBody>
      </p:sp>
      <p:sp>
        <p:nvSpPr>
          <p:cNvPr id="10" name="TextBox 9"/>
          <p:cNvSpPr txBox="1"/>
          <p:nvPr/>
        </p:nvSpPr>
        <p:spPr>
          <a:xfrm>
            <a:off x="6601968" y="4480560"/>
            <a:ext cx="4937760" cy="2011680"/>
          </a:xfrm>
          <a:prstGeom prst="rect">
            <a:avLst/>
          </a:prstGeom>
          <a:noFill/>
        </p:spPr>
        <p:txBody>
          <a:bodyPr wrap="square" lIns="0" tIns="0" rIns="0" bIns="0" anchor="t">
            <a:spAutoFit/>
          </a:bodyPr>
          <a:lstStyle/>
          <a:p>
            <a:pPr algn="l">
              <a:lnSpc>
                <a:spcPct val="110000"/>
              </a:lnSpc>
            </a:pPr>
            <a:r>
              <a:rPr sz="2200" b="0">
                <a:solidFill>
                  <a:srgbClr val="D6CBB9"/>
                </a:solidFill>
                <a:latin typeface="Georgia"/>
              </a:rPr>
              <a:t>Tienen piso. Ninguna llegó arriba.</a:t>
            </a:r>
          </a:p>
        </p:txBody>
      </p:sp>
      <p:sp>
        <p:nvSpPr>
          <p:cNvPr id="11" name="Rectangle 10"/>
          <p:cNvSpPr/>
          <p:nvPr/>
        </p:nvSpPr>
        <p:spPr>
          <a:xfrm>
            <a:off x="12152376" y="2331720"/>
            <a:ext cx="5093208" cy="45720"/>
          </a:xfrm>
          <a:prstGeom prst="rect">
            <a:avLst/>
          </a:prstGeom>
          <a:solidFill>
            <a:srgbClr val="D6CB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152376" y="2651760"/>
            <a:ext cx="5212080" cy="1005840"/>
          </a:xfrm>
          <a:prstGeom prst="rect">
            <a:avLst/>
          </a:prstGeom>
          <a:noFill/>
        </p:spPr>
        <p:txBody>
          <a:bodyPr wrap="square" lIns="0" tIns="0" rIns="0" bIns="0" anchor="t">
            <a:spAutoFit/>
          </a:bodyPr>
          <a:lstStyle/>
          <a:p>
            <a:pPr algn="l"/>
            <a:r>
              <a:rPr sz="7200" b="1">
                <a:solidFill>
                  <a:srgbClr val="D6CBB9"/>
                </a:solidFill>
                <a:latin typeface="Arial"/>
              </a:rPr>
              <a:t>≤ 3.0</a:t>
            </a:r>
          </a:p>
        </p:txBody>
      </p:sp>
      <p:sp>
        <p:nvSpPr>
          <p:cNvPr id="13" name="TextBox 12"/>
          <p:cNvSpPr txBox="1"/>
          <p:nvPr/>
        </p:nvSpPr>
        <p:spPr>
          <a:xfrm>
            <a:off x="12152376" y="3794760"/>
            <a:ext cx="5120640" cy="502920"/>
          </a:xfrm>
          <a:prstGeom prst="rect">
            <a:avLst/>
          </a:prstGeom>
          <a:noFill/>
        </p:spPr>
        <p:txBody>
          <a:bodyPr wrap="square" lIns="0" tIns="0" rIns="0" bIns="0" anchor="t">
            <a:spAutoFit/>
          </a:bodyPr>
          <a:lstStyle/>
          <a:p>
            <a:pPr algn="l"/>
            <a:r>
              <a:rPr sz="2800" b="1">
                <a:solidFill>
                  <a:srgbClr val="F2EDE3"/>
                </a:solidFill>
                <a:latin typeface="Arial"/>
              </a:rPr>
              <a:t>Las 6 ganaderas</a:t>
            </a:r>
          </a:p>
        </p:txBody>
      </p:sp>
      <p:sp>
        <p:nvSpPr>
          <p:cNvPr id="14" name="TextBox 13"/>
          <p:cNvSpPr txBox="1"/>
          <p:nvPr/>
        </p:nvSpPr>
        <p:spPr>
          <a:xfrm>
            <a:off x="12152376" y="4480560"/>
            <a:ext cx="4937760" cy="2011680"/>
          </a:xfrm>
          <a:prstGeom prst="rect">
            <a:avLst/>
          </a:prstGeom>
          <a:noFill/>
        </p:spPr>
        <p:txBody>
          <a:bodyPr wrap="square" lIns="0" tIns="0" rIns="0" bIns="0" anchor="t">
            <a:spAutoFit/>
          </a:bodyPr>
          <a:lstStyle/>
          <a:p>
            <a:pPr algn="l">
              <a:lnSpc>
                <a:spcPct val="110000"/>
              </a:lnSpc>
            </a:pPr>
            <a:r>
              <a:rPr sz="2200" b="0">
                <a:solidFill>
                  <a:srgbClr val="D6CBB9"/>
                </a:solidFill>
                <a:latin typeface="Georgia"/>
              </a:rPr>
              <a:t>Cinco de las seis. La sexta es la mejor del estudio: 4.2.</a:t>
            </a:r>
          </a:p>
        </p:txBody>
      </p:sp>
      <p:sp>
        <p:nvSpPr>
          <p:cNvPr id="15" name="TextBox 14"/>
          <p:cNvSpPr txBox="1"/>
          <p:nvPr/>
        </p:nvSpPr>
        <p:spPr>
          <a:xfrm>
            <a:off x="1051559" y="7040880"/>
            <a:ext cx="16530587" cy="1041375"/>
          </a:xfrm>
          <a:prstGeom prst="rect">
            <a:avLst/>
          </a:prstGeom>
          <a:noFill/>
        </p:spPr>
        <p:txBody>
          <a:bodyPr wrap="square" lIns="0" tIns="0" rIns="0" bIns="0" anchor="t">
            <a:spAutoFit/>
          </a:bodyPr>
          <a:lstStyle/>
          <a:p>
            <a:pPr algn="l">
              <a:lnSpc>
                <a:spcPct val="110000"/>
              </a:lnSpc>
            </a:pPr>
            <a:r>
              <a:rPr sz="3200" b="1" dirty="0">
                <a:solidFill>
                  <a:srgbClr val="E0A32E"/>
                </a:solidFill>
                <a:latin typeface="Arial"/>
              </a:rPr>
              <a:t>El tamaño te da un piso.</a:t>
            </a:r>
          </a:p>
          <a:p>
            <a:pPr algn="l">
              <a:lnSpc>
                <a:spcPct val="110000"/>
              </a:lnSpc>
            </a:pPr>
            <a:r>
              <a:rPr sz="3200" b="1" dirty="0">
                <a:solidFill>
                  <a:srgbClr val="E0A32E"/>
                </a:solidFill>
                <a:latin typeface="Arial"/>
              </a:rPr>
              <a:t>No te da diseño.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6120E"/>
        </a:solidFill>
        <a:effectLst/>
      </p:bgPr>
    </p:bg>
    <p:spTree>
      <p:nvGrpSpPr>
        <p:cNvPr id="1" name=""/>
        <p:cNvGrpSpPr/>
        <p:nvPr/>
      </p:nvGrpSpPr>
      <p:grpSpPr>
        <a:xfrm>
          <a:off x="0" y="0"/>
          <a:ext cx="0" cy="0"/>
          <a:chOff x="0" y="0"/>
          <a:chExt cx="0" cy="0"/>
        </a:xfrm>
      </p:grpSpPr>
      <p:sp>
        <p:nvSpPr>
          <p:cNvPr id="2" name="TextBox 1"/>
          <p:cNvSpPr txBox="1"/>
          <p:nvPr/>
        </p:nvSpPr>
        <p:spPr>
          <a:xfrm>
            <a:off x="1051560" y="950976"/>
            <a:ext cx="16184880" cy="822960"/>
          </a:xfrm>
          <a:prstGeom prst="rect">
            <a:avLst/>
          </a:prstGeom>
          <a:noFill/>
        </p:spPr>
        <p:txBody>
          <a:bodyPr wrap="square" lIns="0" tIns="0" rIns="0" bIns="0" anchor="t">
            <a:spAutoFit/>
          </a:bodyPr>
          <a:lstStyle/>
          <a:p>
            <a:pPr algn="l"/>
            <a:r>
              <a:rPr sz="5400" b="1">
                <a:solidFill>
                  <a:srgbClr val="F2EDE3"/>
                </a:solidFill>
                <a:latin typeface="Arial"/>
              </a:rPr>
              <a:t>Una empresa, dos miradas</a:t>
            </a:r>
          </a:p>
        </p:txBody>
      </p:sp>
      <p:sp>
        <p:nvSpPr>
          <p:cNvPr id="3" name="Rectangle 2"/>
          <p:cNvSpPr/>
          <p:nvPr/>
        </p:nvSpPr>
        <p:spPr>
          <a:xfrm>
            <a:off x="1051560" y="2331720"/>
            <a:ext cx="5093208" cy="45720"/>
          </a:xfrm>
          <a:prstGeom prst="rect">
            <a:avLst/>
          </a:prstGeom>
          <a:solidFill>
            <a:srgbClr val="B455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51560" y="2651760"/>
            <a:ext cx="5212080" cy="1005840"/>
          </a:xfrm>
          <a:prstGeom prst="rect">
            <a:avLst/>
          </a:prstGeom>
          <a:noFill/>
        </p:spPr>
        <p:txBody>
          <a:bodyPr wrap="square" lIns="0" tIns="0" rIns="0" bIns="0" anchor="t">
            <a:spAutoFit/>
          </a:bodyPr>
          <a:lstStyle/>
          <a:p>
            <a:pPr algn="l"/>
            <a:r>
              <a:rPr sz="7200" b="1">
                <a:solidFill>
                  <a:srgbClr val="B4552F"/>
                </a:solidFill>
                <a:latin typeface="Arial"/>
              </a:rPr>
              <a:t>3.2 y 4.5</a:t>
            </a:r>
          </a:p>
        </p:txBody>
      </p:sp>
      <p:sp>
        <p:nvSpPr>
          <p:cNvPr id="5" name="TextBox 4"/>
          <p:cNvSpPr txBox="1"/>
          <p:nvPr/>
        </p:nvSpPr>
        <p:spPr>
          <a:xfrm>
            <a:off x="1051560" y="3794760"/>
            <a:ext cx="5120640" cy="502920"/>
          </a:xfrm>
          <a:prstGeom prst="rect">
            <a:avLst/>
          </a:prstGeom>
          <a:noFill/>
        </p:spPr>
        <p:txBody>
          <a:bodyPr wrap="square" lIns="0" tIns="0" rIns="0" bIns="0" anchor="t">
            <a:spAutoFit/>
          </a:bodyPr>
          <a:lstStyle/>
          <a:p>
            <a:pPr algn="l"/>
            <a:r>
              <a:rPr sz="2800" b="1">
                <a:solidFill>
                  <a:srgbClr val="F2EDE3"/>
                </a:solidFill>
                <a:latin typeface="Arial"/>
              </a:rPr>
              <a:t>Una empresa de la región</a:t>
            </a:r>
          </a:p>
        </p:txBody>
      </p:sp>
      <p:sp>
        <p:nvSpPr>
          <p:cNvPr id="6" name="TextBox 5"/>
          <p:cNvSpPr txBox="1"/>
          <p:nvPr/>
        </p:nvSpPr>
        <p:spPr>
          <a:xfrm>
            <a:off x="1051560" y="4480560"/>
            <a:ext cx="4937760" cy="2011680"/>
          </a:xfrm>
          <a:prstGeom prst="rect">
            <a:avLst/>
          </a:prstGeom>
          <a:noFill/>
        </p:spPr>
        <p:txBody>
          <a:bodyPr wrap="square" lIns="0" tIns="0" rIns="0" bIns="0" anchor="t">
            <a:spAutoFit/>
          </a:bodyPr>
          <a:lstStyle/>
          <a:p>
            <a:pPr algn="l">
              <a:lnSpc>
                <a:spcPct val="110000"/>
              </a:lnSpc>
            </a:pPr>
            <a:r>
              <a:rPr sz="2200" b="0">
                <a:solidFill>
                  <a:srgbClr val="D6CBB9"/>
                </a:solidFill>
                <a:latin typeface="Georgia"/>
              </a:rPr>
              <a:t>Dos personas, misma empresa, mismo instrumento. 1.3 puntos de distancia.</a:t>
            </a:r>
          </a:p>
        </p:txBody>
      </p:sp>
      <p:sp>
        <p:nvSpPr>
          <p:cNvPr id="7" name="Rectangle 6"/>
          <p:cNvSpPr/>
          <p:nvPr/>
        </p:nvSpPr>
        <p:spPr>
          <a:xfrm>
            <a:off x="6601968" y="2331720"/>
            <a:ext cx="5093208" cy="45720"/>
          </a:xfrm>
          <a:prstGeom prst="rect">
            <a:avLst/>
          </a:prstGeom>
          <a:solidFill>
            <a:srgbClr val="E0A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01968" y="2651760"/>
            <a:ext cx="5212080" cy="1005840"/>
          </a:xfrm>
          <a:prstGeom prst="rect">
            <a:avLst/>
          </a:prstGeom>
          <a:noFill/>
        </p:spPr>
        <p:txBody>
          <a:bodyPr wrap="square" lIns="0" tIns="0" rIns="0" bIns="0" anchor="t">
            <a:spAutoFit/>
          </a:bodyPr>
          <a:lstStyle/>
          <a:p>
            <a:pPr algn="l"/>
            <a:r>
              <a:rPr sz="7200" b="1">
                <a:solidFill>
                  <a:srgbClr val="E0A32E"/>
                </a:solidFill>
                <a:latin typeface="Arial"/>
              </a:rPr>
              <a:t>3.8 y 2.2</a:t>
            </a:r>
          </a:p>
        </p:txBody>
      </p:sp>
      <p:sp>
        <p:nvSpPr>
          <p:cNvPr id="9" name="TextBox 8"/>
          <p:cNvSpPr txBox="1"/>
          <p:nvPr/>
        </p:nvSpPr>
        <p:spPr>
          <a:xfrm>
            <a:off x="6601968" y="3794760"/>
            <a:ext cx="5120640" cy="502920"/>
          </a:xfrm>
          <a:prstGeom prst="rect">
            <a:avLst/>
          </a:prstGeom>
          <a:noFill/>
        </p:spPr>
        <p:txBody>
          <a:bodyPr wrap="square" lIns="0" tIns="0" rIns="0" bIns="0" anchor="t">
            <a:spAutoFit/>
          </a:bodyPr>
          <a:lstStyle/>
          <a:p>
            <a:pPr algn="l"/>
            <a:r>
              <a:rPr sz="2800" b="1">
                <a:solidFill>
                  <a:srgbClr val="F2EDE3"/>
                </a:solidFill>
                <a:latin typeface="Arial"/>
              </a:rPr>
              <a:t>Otra empresa del estudio</a:t>
            </a:r>
          </a:p>
        </p:txBody>
      </p:sp>
      <p:sp>
        <p:nvSpPr>
          <p:cNvPr id="10" name="TextBox 9"/>
          <p:cNvSpPr txBox="1"/>
          <p:nvPr/>
        </p:nvSpPr>
        <p:spPr>
          <a:xfrm>
            <a:off x="6601968" y="4480560"/>
            <a:ext cx="4937760" cy="2011680"/>
          </a:xfrm>
          <a:prstGeom prst="rect">
            <a:avLst/>
          </a:prstGeom>
          <a:noFill/>
        </p:spPr>
        <p:txBody>
          <a:bodyPr wrap="square" lIns="0" tIns="0" rIns="0" bIns="0" anchor="t">
            <a:spAutoFit/>
          </a:bodyPr>
          <a:lstStyle/>
          <a:p>
            <a:pPr algn="l">
              <a:lnSpc>
                <a:spcPct val="110000"/>
              </a:lnSpc>
            </a:pPr>
            <a:r>
              <a:rPr sz="2200" b="0">
                <a:solidFill>
                  <a:srgbClr val="D6CBB9"/>
                </a:solidFill>
                <a:latin typeface="Georgia"/>
              </a:rPr>
              <a:t>Una la ve estratégica. La otra, reactiva.</a:t>
            </a:r>
          </a:p>
        </p:txBody>
      </p:sp>
      <p:sp>
        <p:nvSpPr>
          <p:cNvPr id="11" name="Rectangle 10"/>
          <p:cNvSpPr/>
          <p:nvPr/>
        </p:nvSpPr>
        <p:spPr>
          <a:xfrm>
            <a:off x="12152376" y="2331720"/>
            <a:ext cx="5093208" cy="45720"/>
          </a:xfrm>
          <a:prstGeom prst="rect">
            <a:avLst/>
          </a:prstGeom>
          <a:solidFill>
            <a:srgbClr val="D6CB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152376" y="2651760"/>
            <a:ext cx="5212080" cy="1005840"/>
          </a:xfrm>
          <a:prstGeom prst="rect">
            <a:avLst/>
          </a:prstGeom>
          <a:noFill/>
        </p:spPr>
        <p:txBody>
          <a:bodyPr wrap="square" lIns="0" tIns="0" rIns="0" bIns="0" anchor="t">
            <a:spAutoFit/>
          </a:bodyPr>
          <a:lstStyle/>
          <a:p>
            <a:pPr algn="l"/>
            <a:r>
              <a:rPr sz="7200" b="1">
                <a:solidFill>
                  <a:srgbClr val="D6CBB9"/>
                </a:solidFill>
                <a:latin typeface="Arial"/>
              </a:rPr>
              <a:t>2.3 a 3.9</a:t>
            </a:r>
          </a:p>
        </p:txBody>
      </p:sp>
      <p:sp>
        <p:nvSpPr>
          <p:cNvPr id="13" name="TextBox 12"/>
          <p:cNvSpPr txBox="1"/>
          <p:nvPr/>
        </p:nvSpPr>
        <p:spPr>
          <a:xfrm>
            <a:off x="12152376" y="3794760"/>
            <a:ext cx="5120640" cy="502920"/>
          </a:xfrm>
          <a:prstGeom prst="rect">
            <a:avLst/>
          </a:prstGeom>
          <a:noFill/>
        </p:spPr>
        <p:txBody>
          <a:bodyPr wrap="square" lIns="0" tIns="0" rIns="0" bIns="0" anchor="t">
            <a:spAutoFit/>
          </a:bodyPr>
          <a:lstStyle/>
          <a:p>
            <a:pPr algn="l"/>
            <a:r>
              <a:rPr sz="2800" b="1">
                <a:solidFill>
                  <a:srgbClr val="F2EDE3"/>
                </a:solidFill>
                <a:latin typeface="Arial"/>
              </a:rPr>
              <a:t>Una tercera: 8 respuestas</a:t>
            </a:r>
          </a:p>
        </p:txBody>
      </p:sp>
      <p:sp>
        <p:nvSpPr>
          <p:cNvPr id="14" name="TextBox 13"/>
          <p:cNvSpPr txBox="1"/>
          <p:nvPr/>
        </p:nvSpPr>
        <p:spPr>
          <a:xfrm>
            <a:off x="12152376" y="4480560"/>
            <a:ext cx="4937760" cy="2011680"/>
          </a:xfrm>
          <a:prstGeom prst="rect">
            <a:avLst/>
          </a:prstGeom>
          <a:noFill/>
        </p:spPr>
        <p:txBody>
          <a:bodyPr wrap="square" lIns="0" tIns="0" rIns="0" bIns="0" anchor="t">
            <a:spAutoFit/>
          </a:bodyPr>
          <a:lstStyle/>
          <a:p>
            <a:pPr algn="l">
              <a:lnSpc>
                <a:spcPct val="110000"/>
              </a:lnSpc>
            </a:pPr>
            <a:r>
              <a:rPr sz="2200" b="0">
                <a:solidFill>
                  <a:srgbClr val="D6CBB9"/>
                </a:solidFill>
                <a:latin typeface="Georgia"/>
              </a:rPr>
              <a:t>Ocho personas, ocho miradas. 1.6 puntos entre la más baja y la más alta.</a:t>
            </a:r>
          </a:p>
        </p:txBody>
      </p:sp>
      <p:sp>
        <p:nvSpPr>
          <p:cNvPr id="15" name="TextBox 14"/>
          <p:cNvSpPr txBox="1"/>
          <p:nvPr/>
        </p:nvSpPr>
        <p:spPr>
          <a:xfrm>
            <a:off x="1051559" y="7040880"/>
            <a:ext cx="16530587" cy="1041375"/>
          </a:xfrm>
          <a:prstGeom prst="rect">
            <a:avLst/>
          </a:prstGeom>
          <a:noFill/>
        </p:spPr>
        <p:txBody>
          <a:bodyPr wrap="square" lIns="0" tIns="0" rIns="0" bIns="0" anchor="t">
            <a:spAutoFit/>
          </a:bodyPr>
          <a:lstStyle/>
          <a:p>
            <a:pPr algn="l">
              <a:lnSpc>
                <a:spcPct val="110000"/>
              </a:lnSpc>
            </a:pPr>
            <a:r>
              <a:rPr sz="3200" b="1" dirty="0">
                <a:solidFill>
                  <a:srgbClr val="E0A32E"/>
                </a:solidFill>
                <a:latin typeface="Arial"/>
              </a:rPr>
              <a:t>Misma empresa, distinta realidad.</a:t>
            </a:r>
          </a:p>
          <a:p>
            <a:pPr algn="l">
              <a:lnSpc>
                <a:spcPct val="110000"/>
              </a:lnSpc>
            </a:pPr>
            <a:r>
              <a:rPr sz="3200" b="1" dirty="0">
                <a:solidFill>
                  <a:srgbClr val="E0A32E"/>
                </a:solidFill>
                <a:latin typeface="Arial"/>
              </a:rPr>
              <a:t>Ese también es el punto ciego.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2EDE3"/>
        </a:solidFill>
        <a:effectLst/>
      </p:bgPr>
    </p:bg>
    <p:spTree>
      <p:nvGrpSpPr>
        <p:cNvPr id="1" name=""/>
        <p:cNvGrpSpPr/>
        <p:nvPr/>
      </p:nvGrpSpPr>
      <p:grpSpPr>
        <a:xfrm>
          <a:off x="0" y="0"/>
          <a:ext cx="0" cy="0"/>
          <a:chOff x="0" y="0"/>
          <a:chExt cx="0" cy="0"/>
        </a:xfrm>
      </p:grpSpPr>
      <p:sp>
        <p:nvSpPr>
          <p:cNvPr id="2" name="Text 0"/>
          <p:cNvSpPr/>
          <p:nvPr/>
        </p:nvSpPr>
        <p:spPr>
          <a:xfrm>
            <a:off x="1047733" y="857198"/>
            <a:ext cx="17811721" cy="678124"/>
          </a:xfrm>
          <a:prstGeom prst="rect">
            <a:avLst/>
          </a:prstGeom>
          <a:noFill/>
          <a:ln/>
        </p:spPr>
        <p:txBody>
          <a:bodyPr wrap="square" lIns="25400" tIns="25400" rIns="25400" bIns="25400" rtlCol="0" anchor="t">
            <a:normAutofit lnSpcReduction="10000"/>
          </a:bodyPr>
          <a:lstStyle/>
          <a:p>
            <a:pPr marL="0" indent="0" algn="l">
              <a:lnSpc>
                <a:spcPct val="91454"/>
              </a:lnSpc>
              <a:buNone/>
            </a:pPr>
            <a:r>
              <a:rPr lang="en-US" sz="4800" b="1" kern="0" spc="-96" dirty="0">
                <a:solidFill>
                  <a:srgbClr val="16120E"/>
                </a:solidFill>
                <a:latin typeface="Arial" pitchFamily="34" charset="0"/>
                <a:ea typeface="Arial" pitchFamily="34" charset="-122"/>
                <a:cs typeface="Arial" pitchFamily="34" charset="-120"/>
              </a:rPr>
              <a:t>El desnivel estructural</a:t>
            </a:r>
            <a:endParaRPr lang="en-US" sz="4800" dirty="0"/>
          </a:p>
        </p:txBody>
      </p:sp>
      <p:sp>
        <p:nvSpPr>
          <p:cNvPr id="4" name="Text 1"/>
          <p:cNvSpPr/>
          <p:nvPr/>
        </p:nvSpPr>
        <p:spPr>
          <a:xfrm rot="-5400000">
            <a:off x="-1000125" y="5421472"/>
            <a:ext cx="3316034" cy="304800"/>
          </a:xfrm>
          <a:prstGeom prst="rect">
            <a:avLst/>
          </a:prstGeom>
          <a:noFill/>
          <a:ln/>
        </p:spPr>
        <p:txBody>
          <a:bodyPr wrap="none" lIns="25400" tIns="25400" rIns="25400" bIns="25400" rtlCol="0" anchor="t">
            <a:normAutofit lnSpcReduction="10000"/>
          </a:bodyPr>
          <a:lstStyle/>
          <a:p>
            <a:pPr marL="0" indent="0" algn="l">
              <a:buNone/>
            </a:pPr>
            <a:r>
              <a:rPr lang="en-US" sz="1800" b="1" dirty="0">
                <a:solidFill>
                  <a:srgbClr val="6B6157"/>
                </a:solidFill>
                <a:latin typeface="Arial" pitchFamily="34" charset="0"/>
                <a:ea typeface="Arial" pitchFamily="34" charset="-122"/>
                <a:cs typeface="Arial" pitchFamily="34" charset="-120"/>
              </a:rPr>
              <a:t>Vínculo, cultura e incentivos →</a:t>
            </a:r>
            <a:endParaRPr lang="en-US" sz="1800" dirty="0"/>
          </a:p>
        </p:txBody>
      </p:sp>
      <p:sp>
        <p:nvSpPr>
          <p:cNvPr id="5" name="Text 2"/>
          <p:cNvSpPr/>
          <p:nvPr/>
        </p:nvSpPr>
        <p:spPr>
          <a:xfrm>
            <a:off x="3847226" y="8280288"/>
            <a:ext cx="3647984" cy="307289"/>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6B6157"/>
                </a:solidFill>
                <a:latin typeface="Arial" pitchFamily="34" charset="0"/>
                <a:ea typeface="Arial" pitchFamily="34" charset="-122"/>
                <a:cs typeface="Arial" pitchFamily="34" charset="-120"/>
              </a:rPr>
              <a:t>Roles, procesos y resultados →</a:t>
            </a:r>
            <a:endParaRPr lang="en-US" sz="1800" dirty="0"/>
          </a:p>
        </p:txBody>
      </p:sp>
      <p:sp>
        <p:nvSpPr>
          <p:cNvPr id="6" name="Text 3"/>
          <p:cNvSpPr/>
          <p:nvPr/>
        </p:nvSpPr>
        <p:spPr>
          <a:xfrm>
            <a:off x="10382133" y="3714735"/>
            <a:ext cx="7543804" cy="876300"/>
          </a:xfrm>
          <a:prstGeom prst="rect">
            <a:avLst/>
          </a:prstGeom>
          <a:noFill/>
          <a:ln/>
        </p:spPr>
        <p:txBody>
          <a:bodyPr wrap="square" lIns="25400" tIns="25400" rIns="25400" bIns="25400" rtlCol="0" anchor="t">
            <a:normAutofit lnSpcReduction="10000"/>
          </a:bodyPr>
          <a:lstStyle/>
          <a:p>
            <a:pPr marL="0" indent="0" algn="l">
              <a:lnSpc>
                <a:spcPct val="86897"/>
              </a:lnSpc>
              <a:buNone/>
            </a:pPr>
            <a:r>
              <a:rPr lang="en-US" sz="6600" b="1" dirty="0">
                <a:solidFill>
                  <a:srgbClr val="B4552F"/>
                </a:solidFill>
                <a:latin typeface="Arial" pitchFamily="34" charset="0"/>
                <a:ea typeface="Arial" pitchFamily="34" charset="-122"/>
                <a:cs typeface="Arial" pitchFamily="34" charset="-120"/>
              </a:rPr>
              <a:t>12 de 17</a:t>
            </a:r>
            <a:endParaRPr lang="en-US" sz="6600" dirty="0"/>
          </a:p>
        </p:txBody>
      </p:sp>
      <p:sp>
        <p:nvSpPr>
          <p:cNvPr id="7" name="Text 4"/>
          <p:cNvSpPr/>
          <p:nvPr/>
        </p:nvSpPr>
        <p:spPr>
          <a:xfrm>
            <a:off x="10382133" y="4667200"/>
            <a:ext cx="7063744" cy="1318219"/>
          </a:xfrm>
          <a:prstGeom prst="rect">
            <a:avLst/>
          </a:prstGeom>
          <a:noFill/>
          <a:ln/>
        </p:spPr>
        <p:txBody>
          <a:bodyPr wrap="square" lIns="25400" tIns="25400" rIns="25400" bIns="25400" rtlCol="0" anchor="t">
            <a:normAutofit lnSpcReduction="10000"/>
          </a:bodyPr>
          <a:lstStyle/>
          <a:p>
            <a:pPr marL="0" indent="0" algn="l">
              <a:lnSpc>
                <a:spcPct val="123523"/>
              </a:lnSpc>
              <a:buNone/>
            </a:pPr>
            <a:r>
              <a:rPr lang="en-US" sz="2400" dirty="0">
                <a:solidFill>
                  <a:srgbClr val="4A423A"/>
                </a:solidFill>
                <a:latin typeface="Georgia" pitchFamily="34" charset="0"/>
                <a:ea typeface="Georgia" pitchFamily="34" charset="-122"/>
                <a:cs typeface="Georgia" pitchFamily="34" charset="-120"/>
              </a:rPr>
              <a:t>Tienen la estructura como su mayor brecha. Los roles y la evaluación quedan últimos en la lista del dueño.</a:t>
            </a:r>
            <a:endParaRPr lang="en-US" sz="2400" dirty="0"/>
          </a:p>
        </p:txBody>
      </p:sp>
      <p:sp>
        <p:nvSpPr>
          <p:cNvPr id="8" name="Text 5"/>
          <p:cNvSpPr/>
          <p:nvPr/>
        </p:nvSpPr>
        <p:spPr>
          <a:xfrm>
            <a:off x="10382133" y="6442584"/>
            <a:ext cx="7543804" cy="876300"/>
          </a:xfrm>
          <a:prstGeom prst="rect">
            <a:avLst/>
          </a:prstGeom>
          <a:noFill/>
          <a:ln/>
        </p:spPr>
        <p:txBody>
          <a:bodyPr wrap="square" lIns="25400" tIns="25400" rIns="25400" bIns="25400" rtlCol="0" anchor="t">
            <a:normAutofit lnSpcReduction="10000"/>
          </a:bodyPr>
          <a:lstStyle/>
          <a:p>
            <a:pPr marL="0" indent="0" algn="l">
              <a:lnSpc>
                <a:spcPct val="86897"/>
              </a:lnSpc>
              <a:buNone/>
            </a:pPr>
            <a:r>
              <a:rPr lang="en-US" sz="6600" b="1" dirty="0">
                <a:solidFill>
                  <a:srgbClr val="4F7A3A"/>
                </a:solidFill>
                <a:latin typeface="Arial" pitchFamily="34" charset="0"/>
                <a:ea typeface="Arial" pitchFamily="34" charset="-122"/>
                <a:cs typeface="Arial" pitchFamily="34" charset="-120"/>
              </a:rPr>
              <a:t>11 de 17</a:t>
            </a:r>
            <a:endParaRPr lang="en-US" sz="6600" dirty="0"/>
          </a:p>
        </p:txBody>
      </p:sp>
      <p:sp>
        <p:nvSpPr>
          <p:cNvPr id="9" name="Text 6"/>
          <p:cNvSpPr/>
          <p:nvPr/>
        </p:nvSpPr>
        <p:spPr>
          <a:xfrm>
            <a:off x="10382133" y="7395049"/>
            <a:ext cx="7543804" cy="464806"/>
          </a:xfrm>
          <a:prstGeom prst="rect">
            <a:avLst/>
          </a:prstGeom>
          <a:noFill/>
          <a:ln/>
        </p:spPr>
        <p:txBody>
          <a:bodyPr wrap="square" lIns="25400" tIns="25400" rIns="25400" bIns="25400" rtlCol="0" anchor="t">
            <a:normAutofit lnSpcReduction="10000"/>
          </a:bodyPr>
          <a:lstStyle/>
          <a:p>
            <a:pPr marL="0" indent="0" algn="l">
              <a:lnSpc>
                <a:spcPct val="123523"/>
              </a:lnSpc>
              <a:buNone/>
            </a:pPr>
            <a:r>
              <a:rPr lang="en-US" sz="2400" dirty="0">
                <a:solidFill>
                  <a:srgbClr val="4A423A"/>
                </a:solidFill>
                <a:latin typeface="Georgia" pitchFamily="34" charset="0"/>
                <a:ea typeface="Georgia" pitchFamily="34" charset="-122"/>
                <a:cs typeface="Georgia" pitchFamily="34" charset="-120"/>
              </a:rPr>
              <a:t>Tienen la cultura como su punto más fuerte.</a:t>
            </a:r>
            <a:endParaRPr lang="en-US" sz="2400" dirty="0"/>
          </a:p>
        </p:txBody>
      </p:sp>
      <p:sp>
        <p:nvSpPr>
          <p:cNvPr id="3" name="Zona punto ciego"/>
          <p:cNvSpPr/>
          <p:nvPr/>
        </p:nvSpPr>
        <p:spPr>
          <a:xfrm>
            <a:off x="2457000" y="3315000"/>
            <a:ext cx="6253000" cy="4595000"/>
          </a:xfrm>
          <a:custGeom>
            <a:avLst/>
            <a:gdLst/>
            <a:ahLst/>
            <a:cxnLst/>
            <a:rect l="l" t="t" r="r" b="b"/>
            <a:pathLst>
              <a:path w="6253000" h="4595000">
                <a:moveTo>
                  <a:pt x="0" y="4595000"/>
                </a:moveTo>
                <a:lnTo>
                  <a:pt x="0" y="0"/>
                </a:lnTo>
                <a:lnTo>
                  <a:pt x="6253000" y="0"/>
                </a:lnTo>
                <a:lnTo>
                  <a:pt x="0" y="4595000"/>
                </a:lnTo>
                <a:close/>
              </a:path>
            </a:pathLst>
          </a:custGeom>
          <a:solidFill>
            <a:srgbClr val="E8D3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Diagonal"/>
          <p:cNvCxnSpPr/>
          <p:nvPr/>
        </p:nvCxnSpPr>
        <p:spPr>
          <a:xfrm flipV="1">
            <a:off x="2457000" y="3315000"/>
            <a:ext cx="6253000" cy="4595000"/>
          </a:xfrm>
          <a:prstGeom prst="line">
            <a:avLst/>
          </a:prstGeom>
          <a:ln w="19050">
            <a:solidFill>
              <a:srgbClr val="A8A298"/>
            </a:solidFill>
            <a:prstDash val="dash"/>
          </a:ln>
        </p:spPr>
        <p:style>
          <a:lnRef idx="2">
            <a:schemeClr val="accent1"/>
          </a:lnRef>
          <a:fillRef idx="0">
            <a:schemeClr val="accent1"/>
          </a:fillRef>
          <a:effectRef idx="1">
            <a:schemeClr val="accent1"/>
          </a:effectRef>
          <a:fontRef idx="minor">
            <a:schemeClr val="tx1"/>
          </a:fontRef>
        </p:style>
      </p:cxnSp>
      <p:cxnSp>
        <p:nvCxnSpPr>
          <p:cNvPr id="11" name="Eje Y"/>
          <p:cNvCxnSpPr/>
          <p:nvPr/>
        </p:nvCxnSpPr>
        <p:spPr>
          <a:xfrm>
            <a:off x="2457000" y="3315000"/>
            <a:ext cx="0" cy="4595000"/>
          </a:xfrm>
          <a:prstGeom prst="line">
            <a:avLst/>
          </a:prstGeom>
          <a:ln w="50800">
            <a:solidFill>
              <a:srgbClr val="1A1612"/>
            </a:solidFill>
          </a:ln>
        </p:spPr>
        <p:style>
          <a:lnRef idx="2">
            <a:schemeClr val="accent1"/>
          </a:lnRef>
          <a:fillRef idx="0">
            <a:schemeClr val="accent1"/>
          </a:fillRef>
          <a:effectRef idx="1">
            <a:schemeClr val="accent1"/>
          </a:effectRef>
          <a:fontRef idx="minor">
            <a:schemeClr val="tx1"/>
          </a:fontRef>
        </p:style>
      </p:cxnSp>
      <p:cxnSp>
        <p:nvCxnSpPr>
          <p:cNvPr id="12" name="Eje X"/>
          <p:cNvCxnSpPr/>
          <p:nvPr/>
        </p:nvCxnSpPr>
        <p:spPr>
          <a:xfrm>
            <a:off x="2457000" y="7910000"/>
            <a:ext cx="6253000" cy="0"/>
          </a:xfrm>
          <a:prstGeom prst="line">
            <a:avLst/>
          </a:prstGeom>
          <a:ln w="50800">
            <a:solidFill>
              <a:srgbClr val="1A1612"/>
            </a:solidFill>
          </a:ln>
        </p:spPr>
        <p:style>
          <a:lnRef idx="2">
            <a:schemeClr val="accent1"/>
          </a:lnRef>
          <a:fillRef idx="0">
            <a:schemeClr val="accent1"/>
          </a:fillRef>
          <a:effectRef idx="1">
            <a:schemeClr val="accent1"/>
          </a:effectRef>
          <a:fontRef idx="minor">
            <a:schemeClr val="tx1"/>
          </a:fontRef>
        </p:style>
      </p:cxnSp>
      <p:sp>
        <p:nvSpPr>
          <p:cNvPr id="13" name="Empresa 1"/>
          <p:cNvSpPr/>
          <p:nvPr/>
        </p:nvSpPr>
        <p:spPr>
          <a:xfrm>
            <a:off x="3266395" y="7041666"/>
            <a:ext cx="205000" cy="205000"/>
          </a:xfrm>
          <a:prstGeom prst="ellipse">
            <a:avLst/>
          </a:prstGeom>
          <a:solidFill>
            <a:srgbClr val="4A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Empresa 2"/>
          <p:cNvSpPr/>
          <p:nvPr/>
        </p:nvSpPr>
        <p:spPr>
          <a:xfrm>
            <a:off x="3005854" y="7233125"/>
            <a:ext cx="205000" cy="205000"/>
          </a:xfrm>
          <a:prstGeom prst="ellipse">
            <a:avLst/>
          </a:prstGeom>
          <a:solidFill>
            <a:srgbClr val="4A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Empresa 3"/>
          <p:cNvSpPr/>
          <p:nvPr/>
        </p:nvSpPr>
        <p:spPr>
          <a:xfrm>
            <a:off x="3657208" y="6275833"/>
            <a:ext cx="205000" cy="205000"/>
          </a:xfrm>
          <a:prstGeom prst="ellipse">
            <a:avLst/>
          </a:prstGeom>
          <a:solidFill>
            <a:srgbClr val="4A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Empresa 4"/>
          <p:cNvSpPr/>
          <p:nvPr/>
        </p:nvSpPr>
        <p:spPr>
          <a:xfrm>
            <a:off x="3917750" y="6084375"/>
            <a:ext cx="205000" cy="205000"/>
          </a:xfrm>
          <a:prstGeom prst="ellipse">
            <a:avLst/>
          </a:prstGeom>
          <a:solidFill>
            <a:srgbClr val="4A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Empresa 5"/>
          <p:cNvSpPr/>
          <p:nvPr/>
        </p:nvSpPr>
        <p:spPr>
          <a:xfrm>
            <a:off x="4829645" y="5510000"/>
            <a:ext cx="205000" cy="205000"/>
          </a:xfrm>
          <a:prstGeom prst="ellipse">
            <a:avLst/>
          </a:prstGeom>
          <a:solidFill>
            <a:srgbClr val="4A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Empresa 6"/>
          <p:cNvSpPr/>
          <p:nvPr/>
        </p:nvSpPr>
        <p:spPr>
          <a:xfrm>
            <a:off x="4829645" y="5510000"/>
            <a:ext cx="205000" cy="205000"/>
          </a:xfrm>
          <a:prstGeom prst="ellipse">
            <a:avLst/>
          </a:prstGeom>
          <a:solidFill>
            <a:srgbClr val="4A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Empresa 7"/>
          <p:cNvSpPr/>
          <p:nvPr/>
        </p:nvSpPr>
        <p:spPr>
          <a:xfrm>
            <a:off x="4959916" y="5510000"/>
            <a:ext cx="205000" cy="205000"/>
          </a:xfrm>
          <a:prstGeom prst="ellipse">
            <a:avLst/>
          </a:prstGeom>
          <a:solidFill>
            <a:srgbClr val="4A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mpresa 8"/>
          <p:cNvSpPr/>
          <p:nvPr/>
        </p:nvSpPr>
        <p:spPr>
          <a:xfrm>
            <a:off x="5220458" y="5318541"/>
            <a:ext cx="205000" cy="205000"/>
          </a:xfrm>
          <a:prstGeom prst="ellipse">
            <a:avLst/>
          </a:prstGeom>
          <a:solidFill>
            <a:srgbClr val="4A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Empresa 9"/>
          <p:cNvSpPr/>
          <p:nvPr/>
        </p:nvSpPr>
        <p:spPr>
          <a:xfrm>
            <a:off x="4569104" y="4552708"/>
            <a:ext cx="205000" cy="205000"/>
          </a:xfrm>
          <a:prstGeom prst="ellipse">
            <a:avLst/>
          </a:prstGeom>
          <a:solidFill>
            <a:srgbClr val="4A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mpresa 10"/>
          <p:cNvSpPr/>
          <p:nvPr/>
        </p:nvSpPr>
        <p:spPr>
          <a:xfrm>
            <a:off x="5481000" y="5701458"/>
            <a:ext cx="205000" cy="205000"/>
          </a:xfrm>
          <a:prstGeom prst="ellipse">
            <a:avLst/>
          </a:prstGeom>
          <a:solidFill>
            <a:srgbClr val="4A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Empresa 11"/>
          <p:cNvSpPr/>
          <p:nvPr/>
        </p:nvSpPr>
        <p:spPr>
          <a:xfrm>
            <a:off x="5741541" y="4999444"/>
            <a:ext cx="205000" cy="205000"/>
          </a:xfrm>
          <a:prstGeom prst="ellipse">
            <a:avLst/>
          </a:prstGeom>
          <a:solidFill>
            <a:srgbClr val="4A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mpresa 12"/>
          <p:cNvSpPr/>
          <p:nvPr/>
        </p:nvSpPr>
        <p:spPr>
          <a:xfrm>
            <a:off x="5741541" y="4552708"/>
            <a:ext cx="205000" cy="205000"/>
          </a:xfrm>
          <a:prstGeom prst="ellipse">
            <a:avLst/>
          </a:prstGeom>
          <a:solidFill>
            <a:srgbClr val="4A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Empresa 13"/>
          <p:cNvSpPr/>
          <p:nvPr/>
        </p:nvSpPr>
        <p:spPr>
          <a:xfrm>
            <a:off x="5611270" y="3978333"/>
            <a:ext cx="205000" cy="205000"/>
          </a:xfrm>
          <a:prstGeom prst="ellipse">
            <a:avLst/>
          </a:prstGeom>
          <a:solidFill>
            <a:srgbClr val="4A4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mpresa 14"/>
          <p:cNvSpPr/>
          <p:nvPr/>
        </p:nvSpPr>
        <p:spPr>
          <a:xfrm>
            <a:off x="6002083" y="3978333"/>
            <a:ext cx="205000" cy="205000"/>
          </a:xfrm>
          <a:prstGeom prst="ellipse">
            <a:avLst/>
          </a:prstGeom>
          <a:solidFill>
            <a:srgbClr val="7EA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Empresa 15"/>
          <p:cNvSpPr/>
          <p:nvPr/>
        </p:nvSpPr>
        <p:spPr>
          <a:xfrm>
            <a:off x="6523166" y="4361250"/>
            <a:ext cx="205000" cy="205000"/>
          </a:xfrm>
          <a:prstGeom prst="ellipse">
            <a:avLst/>
          </a:prstGeom>
          <a:solidFill>
            <a:srgbClr val="7EA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Empresa 16"/>
          <p:cNvSpPr/>
          <p:nvPr/>
        </p:nvSpPr>
        <p:spPr>
          <a:xfrm>
            <a:off x="6718572" y="4648437"/>
            <a:ext cx="205000" cy="205000"/>
          </a:xfrm>
          <a:prstGeom prst="ellipse">
            <a:avLst/>
          </a:prstGeom>
          <a:solidFill>
            <a:srgbClr val="7EA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Empresa 17"/>
          <p:cNvSpPr/>
          <p:nvPr/>
        </p:nvSpPr>
        <p:spPr>
          <a:xfrm>
            <a:off x="6913979" y="3978333"/>
            <a:ext cx="205000" cy="205000"/>
          </a:xfrm>
          <a:prstGeom prst="ellipse">
            <a:avLst/>
          </a:prstGeom>
          <a:solidFill>
            <a:srgbClr val="7EA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Etiqueta punto ciego"/>
          <p:cNvSpPr txBox="1"/>
          <p:nvPr/>
        </p:nvSpPr>
        <p:spPr>
          <a:xfrm>
            <a:off x="2607000" y="3435000"/>
            <a:ext cx="3300000" cy="420000"/>
          </a:xfrm>
          <a:prstGeom prst="rect">
            <a:avLst/>
          </a:prstGeom>
          <a:noFill/>
        </p:spPr>
        <p:txBody>
          <a:bodyPr wrap="none">
            <a:spAutoFit/>
          </a:bodyPr>
          <a:lstStyle/>
          <a:p>
            <a:r>
              <a:rPr sz="2400" b="1">
                <a:solidFill>
                  <a:srgbClr val="8B3A1C"/>
                </a:solidFill>
              </a:rPr>
              <a:t>El punto ciego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b="3480"/>
          <a:stretch>
            <a:fillRect/>
          </a:stretch>
        </p:blipFill>
        <p:spPr>
          <a:xfrm>
            <a:off x="0" y="42864"/>
            <a:ext cx="18288000" cy="10244136"/>
          </a:xfrm>
          <a:prstGeom prst="rect">
            <a:avLst/>
          </a:prstGeom>
        </p:spPr>
      </p:pic>
      <p:sp>
        <p:nvSpPr>
          <p:cNvPr id="3" name="Panel cultura"/>
          <p:cNvSpPr/>
          <p:nvPr/>
        </p:nvSpPr>
        <p:spPr>
          <a:xfrm>
            <a:off x="800100" y="2537460"/>
            <a:ext cx="7886700" cy="2994660"/>
          </a:xfrm>
          <a:prstGeom prst="roundRect">
            <a:avLst>
              <a:gd name="adj" fmla="val 6000"/>
            </a:avLst>
          </a:prstGeom>
          <a:solidFill>
            <a:srgbClr val="F6F1E6"/>
          </a:solidFill>
          <a:ln w="12700">
            <a:solidFill>
              <a:srgbClr val="D9CFBC"/>
            </a:solidFill>
          </a:ln>
        </p:spPr>
        <p:style>
          <a:lnRef idx="1">
            <a:schemeClr val="accent1"/>
          </a:lnRef>
          <a:fillRef idx="3">
            <a:schemeClr val="accent1"/>
          </a:fillRef>
          <a:effectRef idx="2">
            <a:schemeClr val="accent1"/>
          </a:effectRef>
          <a:fontRef idx="minor">
            <a:schemeClr val="lt1"/>
          </a:fontRef>
        </p:style>
        <p:txBody>
          <a:bodyPr rtlCol="0" anchor="ctr" wrap="square" lIns="300000" rIns="300000"/>
          <a:lstStyle/>
          <a:p>
            <a:pPr algn="l"/>
            <a:r>
              <a:rPr sz="2800" b="1">
                <a:solidFill>
                  <a:srgbClr val="1A1612"/>
                </a:solidFill>
                <a:latin typeface="Arial"/>
              </a:rPr>
              <a:t>Proyección y cultura (3.2)</a:t>
            </a:r>
          </a:p>
          <a:p>
            <a:pPr algn="l">
              <a:spcBef>
                <a:spcPts val="600"/>
              </a:spcBef>
            </a:pPr>
            <a:r>
              <a:rPr sz="2300">
                <a:solidFill>
                  <a:srgbClr val="3A342E"/>
                </a:solidFill>
                <a:latin typeface="Arial"/>
              </a:rPr>
              <a:t>Buen clima, esfuerzo, identidad.</a:t>
            </a:r>
          </a:p>
          <a:p>
            <a:pPr algn="l">
              <a:spcBef>
                <a:spcPts val="600"/>
              </a:spcBef>
            </a:pPr>
            <a:r>
              <a:rPr sz="2300">
                <a:solidFill>
                  <a:srgbClr val="3A342E"/>
                </a:solidFill>
                <a:latin typeface="Arial"/>
              </a:rPr>
              <a:t>El motor del campo sigue siendo la mística.</a:t>
            </a:r>
          </a:p>
          <a:p>
            <a:pPr algn="l">
              <a:spcBef>
                <a:spcPts val="600"/>
              </a:spcBef>
            </a:pPr>
            <a:r>
              <a:rPr sz="2300">
                <a:solidFill>
                  <a:srgbClr val="3A342E"/>
                </a:solidFill>
                <a:latin typeface="Arial"/>
              </a:rPr>
              <a:t>11 de 17 la tienen como su punto más fuerte.</a:t>
            </a:r>
          </a:p>
        </p:txBody>
      </p:sp>
      <p:sp>
        <p:nvSpPr>
          <p:cNvPr id="4" name="Panel estructura"/>
          <p:cNvSpPr/>
          <p:nvPr/>
        </p:nvSpPr>
        <p:spPr>
          <a:xfrm>
            <a:off x="800100" y="6835140"/>
            <a:ext cx="7886700" cy="2994660"/>
          </a:xfrm>
          <a:prstGeom prst="roundRect">
            <a:avLst>
              <a:gd name="adj" fmla="val 6000"/>
            </a:avLst>
          </a:prstGeom>
          <a:solidFill>
            <a:srgbClr val="2B241E"/>
          </a:solidFill>
          <a:ln w="12700">
            <a:solidFill>
              <a:srgbClr val="5A4E42"/>
            </a:solidFill>
          </a:ln>
        </p:spPr>
        <p:style>
          <a:lnRef idx="1">
            <a:schemeClr val="accent1"/>
          </a:lnRef>
          <a:fillRef idx="3">
            <a:schemeClr val="accent1"/>
          </a:fillRef>
          <a:effectRef idx="2">
            <a:schemeClr val="accent1"/>
          </a:effectRef>
          <a:fontRef idx="minor">
            <a:schemeClr val="lt1"/>
          </a:fontRef>
        </p:style>
        <p:txBody>
          <a:bodyPr rtlCol="0" anchor="ctr" wrap="square" lIns="300000" rIns="300000"/>
          <a:lstStyle/>
          <a:p>
            <a:pPr algn="l"/>
            <a:r>
              <a:rPr sz="2800" b="1">
                <a:solidFill>
                  <a:srgbClr val="FFFFFF"/>
                </a:solidFill>
                <a:latin typeface="Arial"/>
              </a:rPr>
              <a:t>Estructura y procesos (2.8)</a:t>
            </a:r>
          </a:p>
          <a:p>
            <a:pPr algn="l">
              <a:spcBef>
                <a:spcPts val="600"/>
              </a:spcBef>
            </a:pPr>
            <a:r>
              <a:rPr sz="2300">
                <a:solidFill>
                  <a:srgbClr val="EEE8DC"/>
                </a:solidFill>
                <a:latin typeface="Arial"/>
              </a:rPr>
              <a:t>Hacemos las cosas bien, sin saber si es lo que más conviene, ni documentar cómo se hace.</a:t>
            </a:r>
          </a:p>
          <a:p>
            <a:pPr algn="l">
              <a:spcBef>
                <a:spcPts val="600"/>
              </a:spcBef>
            </a:pPr>
            <a:r>
              <a:rPr sz="2300">
                <a:solidFill>
                  <a:srgbClr val="EEE8DC"/>
                </a:solidFill>
                <a:latin typeface="Arial"/>
              </a:rPr>
              <a:t>12 de 17 la tienen como su mayor brecha.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16120E"/>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2553" b="5958"/>
          <a:stretch/>
        </p:blipFill>
        <p:spPr>
          <a:xfrm>
            <a:off x="0" y="7429469"/>
            <a:ext cx="18287940" cy="2857467"/>
          </a:xfrm>
          <a:prstGeom prst="rect">
            <a:avLst/>
          </a:prstGeom>
        </p:spPr>
      </p:pic>
      <p:sp>
        <p:nvSpPr>
          <p:cNvPr id="3" name="Shape 0"/>
          <p:cNvSpPr/>
          <p:nvPr/>
        </p:nvSpPr>
        <p:spPr>
          <a:xfrm>
            <a:off x="0" y="6572271"/>
            <a:ext cx="18287940" cy="857198"/>
          </a:xfrm>
          <a:prstGeom prst="rect">
            <a:avLst/>
          </a:prstGeom>
          <a:gradFill rotWithShape="1">
            <a:gsLst>
              <a:gs pos="0">
                <a:srgbClr val="16120E">
                  <a:alpha val="100000"/>
                </a:srgbClr>
              </a:gs>
              <a:gs pos="100000">
                <a:srgbClr val="16120E">
                  <a:alpha val="0"/>
                </a:srgbClr>
              </a:gs>
            </a:gsLst>
            <a:lin ang="5400000" scaled="0"/>
          </a:gradFill>
          <a:ln/>
        </p:spPr>
        <p:txBody>
          <a:bodyPr/>
          <a:lstStyle/>
          <a:p>
            <a:endParaRPr lang="es-AR"/>
          </a:p>
        </p:txBody>
      </p:sp>
      <p:sp>
        <p:nvSpPr>
          <p:cNvPr id="4" name="Shape 1"/>
          <p:cNvSpPr/>
          <p:nvPr/>
        </p:nvSpPr>
        <p:spPr>
          <a:xfrm>
            <a:off x="0" y="7400938"/>
            <a:ext cx="18287940" cy="28531"/>
          </a:xfrm>
          <a:prstGeom prst="rect">
            <a:avLst/>
          </a:prstGeom>
          <a:solidFill>
            <a:srgbClr val="E0A32E">
              <a:alpha val="85000"/>
            </a:srgbClr>
          </a:solidFill>
          <a:ln/>
        </p:spPr>
        <p:txBody>
          <a:bodyPr/>
          <a:lstStyle/>
          <a:p>
            <a:endParaRPr lang="es-AR"/>
          </a:p>
        </p:txBody>
      </p:sp>
      <p:sp>
        <p:nvSpPr>
          <p:cNvPr id="5" name="Text 2"/>
          <p:cNvSpPr/>
          <p:nvPr/>
        </p:nvSpPr>
        <p:spPr>
          <a:xfrm>
            <a:off x="759768" y="2871206"/>
            <a:ext cx="16768405" cy="1466833"/>
          </a:xfrm>
          <a:prstGeom prst="rect">
            <a:avLst/>
          </a:prstGeom>
          <a:noFill/>
          <a:ln/>
        </p:spPr>
        <p:txBody>
          <a:bodyPr wrap="square" lIns="25400" tIns="25400" rIns="25400" bIns="25400" rtlCol="0" anchor="t">
            <a:normAutofit lnSpcReduction="10000"/>
          </a:bodyPr>
          <a:lstStyle/>
          <a:p>
            <a:pPr marL="0" indent="0" algn="ctr">
              <a:lnSpc>
                <a:spcPct val="87248"/>
              </a:lnSpc>
              <a:buNone/>
            </a:pPr>
            <a:r>
              <a:rPr lang="en-US" sz="11250" b="1" kern="0" spc="-337" dirty="0">
                <a:solidFill>
                  <a:srgbClr val="F2EDE3"/>
                </a:solidFill>
                <a:latin typeface="Arial" pitchFamily="34" charset="0"/>
                <a:ea typeface="Arial" pitchFamily="34" charset="-122"/>
                <a:cs typeface="Arial" pitchFamily="34" charset="-120"/>
              </a:rPr>
              <a:t>Pero la mística no escala.</a:t>
            </a:r>
            <a:endParaRPr lang="en-US" sz="11250" dirty="0"/>
          </a:p>
        </p:txBody>
      </p:sp>
      <p:sp>
        <p:nvSpPr>
          <p:cNvPr id="6" name="Text 3"/>
          <p:cNvSpPr/>
          <p:nvPr/>
        </p:nvSpPr>
        <p:spPr>
          <a:xfrm>
            <a:off x="4726534" y="4642805"/>
            <a:ext cx="8834803" cy="715558"/>
          </a:xfrm>
          <a:prstGeom prst="rect">
            <a:avLst/>
          </a:prstGeom>
          <a:noFill/>
          <a:ln/>
        </p:spPr>
        <p:txBody>
          <a:bodyPr wrap="square" lIns="25400" tIns="25400" rIns="25400" bIns="25400" rtlCol="0" anchor="t">
            <a:normAutofit lnSpcReduction="10000"/>
          </a:bodyPr>
          <a:lstStyle/>
          <a:p>
            <a:pPr marL="0" indent="0" algn="ctr">
              <a:buNone/>
            </a:pPr>
            <a:r>
              <a:rPr lang="en-US" sz="4650" b="1" dirty="0">
                <a:solidFill>
                  <a:srgbClr val="E0A32E"/>
                </a:solidFill>
                <a:latin typeface="Arial" pitchFamily="34" charset="0"/>
                <a:ea typeface="Arial" pitchFamily="34" charset="-122"/>
                <a:cs typeface="Arial" pitchFamily="34" charset="-120"/>
              </a:rPr>
              <a:t>Y la biología no es un sistema.</a:t>
            </a:r>
            <a:endParaRPr lang="en-US" sz="4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2EDE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2224" b="2224"/>
          <a:stretch/>
        </p:blipFill>
        <p:spPr>
          <a:xfrm>
            <a:off x="0" y="0"/>
            <a:ext cx="18287940" cy="2285931"/>
          </a:xfrm>
          <a:prstGeom prst="rect">
            <a:avLst/>
          </a:prstGeom>
        </p:spPr>
      </p:pic>
      <p:sp>
        <p:nvSpPr>
          <p:cNvPr id="3" name="Shape 0"/>
          <p:cNvSpPr/>
          <p:nvPr/>
        </p:nvSpPr>
        <p:spPr>
          <a:xfrm>
            <a:off x="0" y="2285931"/>
            <a:ext cx="18287940" cy="28531"/>
          </a:xfrm>
          <a:prstGeom prst="rect">
            <a:avLst/>
          </a:prstGeom>
          <a:solidFill>
            <a:srgbClr val="E0A32E"/>
          </a:solidFill>
          <a:ln/>
        </p:spPr>
        <p:txBody>
          <a:bodyPr/>
          <a:lstStyle/>
          <a:p>
            <a:endParaRPr lang="es-AR"/>
          </a:p>
        </p:txBody>
      </p:sp>
      <p:sp>
        <p:nvSpPr>
          <p:cNvPr id="4" name="Text 1"/>
          <p:cNvSpPr/>
          <p:nvPr/>
        </p:nvSpPr>
        <p:spPr>
          <a:xfrm>
            <a:off x="1047733" y="4003692"/>
            <a:ext cx="17811721" cy="325235"/>
          </a:xfrm>
          <a:prstGeom prst="rect">
            <a:avLst/>
          </a:prstGeom>
          <a:noFill/>
          <a:ln/>
        </p:spPr>
        <p:txBody>
          <a:bodyPr wrap="square" lIns="25400" tIns="25400" rIns="25400" bIns="25400" rtlCol="0" anchor="t">
            <a:normAutofit lnSpcReduction="10000"/>
          </a:bodyPr>
          <a:lstStyle/>
          <a:p>
            <a:pPr marL="0" indent="0" algn="l">
              <a:buNone/>
            </a:pPr>
            <a:r>
              <a:rPr lang="en-US" sz="1950" b="1" kern="0" spc="429" dirty="0">
                <a:solidFill>
                  <a:srgbClr val="8A6A1F"/>
                </a:solidFill>
                <a:latin typeface="Arial" pitchFamily="34" charset="0"/>
                <a:ea typeface="Arial" pitchFamily="34" charset="-122"/>
                <a:cs typeface="Arial" pitchFamily="34" charset="-120"/>
              </a:rPr>
              <a:t>SEGUNDA PARTE</a:t>
            </a:r>
            <a:endParaRPr lang="en-US" sz="1950" dirty="0"/>
          </a:p>
        </p:txBody>
      </p:sp>
      <p:sp>
        <p:nvSpPr>
          <p:cNvPr id="5" name="Text 2"/>
          <p:cNvSpPr/>
          <p:nvPr/>
        </p:nvSpPr>
        <p:spPr>
          <a:xfrm>
            <a:off x="1047733" y="4671756"/>
            <a:ext cx="16678247" cy="2465005"/>
          </a:xfrm>
          <a:prstGeom prst="rect">
            <a:avLst/>
          </a:prstGeom>
          <a:noFill/>
          <a:ln/>
        </p:spPr>
        <p:txBody>
          <a:bodyPr wrap="square" lIns="25400" tIns="25400" rIns="25400" bIns="25400" rtlCol="0" anchor="t">
            <a:normAutofit lnSpcReduction="10000"/>
          </a:bodyPr>
          <a:lstStyle/>
          <a:p>
            <a:pPr marL="0" indent="0" algn="l">
              <a:lnSpc>
                <a:spcPct val="85324"/>
              </a:lnSpc>
              <a:buNone/>
            </a:pPr>
            <a:r>
              <a:rPr lang="en-US" sz="9750" b="1" kern="0" spc="-292" dirty="0">
                <a:solidFill>
                  <a:srgbClr val="16120E"/>
                </a:solidFill>
                <a:latin typeface="Arial" pitchFamily="34" charset="0"/>
                <a:ea typeface="Arial" pitchFamily="34" charset="-122"/>
                <a:cs typeface="Arial" pitchFamily="34" charset="-120"/>
              </a:rPr>
              <a:t>Tres patrones. Tres vulnerabilidades.</a:t>
            </a:r>
            <a:endParaRPr lang="en-US" sz="9750" dirty="0"/>
          </a:p>
        </p:txBody>
      </p:sp>
      <p:sp>
        <p:nvSpPr>
          <p:cNvPr id="6" name="Text 3"/>
          <p:cNvSpPr/>
          <p:nvPr/>
        </p:nvSpPr>
        <p:spPr>
          <a:xfrm>
            <a:off x="1047733" y="7555791"/>
            <a:ext cx="11772834" cy="1051483"/>
          </a:xfrm>
          <a:prstGeom prst="rect">
            <a:avLst/>
          </a:prstGeom>
          <a:noFill/>
          <a:ln/>
        </p:spPr>
        <p:txBody>
          <a:bodyPr wrap="square" lIns="25400" tIns="25400" rIns="25400" bIns="25400" rtlCol="0" anchor="t">
            <a:normAutofit lnSpcReduction="10000"/>
          </a:bodyPr>
          <a:lstStyle/>
          <a:p>
            <a:pPr marL="0" indent="0" algn="l">
              <a:lnSpc>
                <a:spcPct val="122767"/>
              </a:lnSpc>
              <a:buNone/>
            </a:pPr>
            <a:r>
              <a:rPr lang="en-US" sz="2850" dirty="0">
                <a:solidFill>
                  <a:srgbClr val="4A423A"/>
                </a:solidFill>
                <a:latin typeface="Georgia" pitchFamily="34" charset="0"/>
                <a:ea typeface="Georgia" pitchFamily="34" charset="-122"/>
                <a:cs typeface="Georgia" pitchFamily="34" charset="-120"/>
              </a:rPr>
              <a:t>Cada uno tiene un síntoma visible en la operación y una causa invisible en el diseño.</a:t>
            </a:r>
            <a:endParaRPr lang="en-US" sz="2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16120E"/>
        </a:solidFill>
        <a:effectLst/>
      </p:bgPr>
    </p:bg>
    <p:spTree>
      <p:nvGrpSpPr>
        <p:cNvPr id="1" name=""/>
        <p:cNvGrpSpPr/>
        <p:nvPr/>
      </p:nvGrpSpPr>
      <p:grpSpPr>
        <a:xfrm>
          <a:off x="0" y="0"/>
          <a:ext cx="0" cy="0"/>
          <a:chOff x="0" y="0"/>
          <a:chExt cx="0" cy="0"/>
        </a:xfrm>
      </p:grpSpPr>
      <p:sp>
        <p:nvSpPr>
          <p:cNvPr id="2" name="Text 0"/>
          <p:cNvSpPr/>
          <p:nvPr/>
        </p:nvSpPr>
        <p:spPr>
          <a:xfrm>
            <a:off x="1047733" y="3737447"/>
            <a:ext cx="7894661" cy="325235"/>
          </a:xfrm>
          <a:prstGeom prst="rect">
            <a:avLst/>
          </a:prstGeom>
          <a:noFill/>
          <a:ln/>
        </p:spPr>
        <p:txBody>
          <a:bodyPr wrap="square" lIns="25400" tIns="25400" rIns="25400" bIns="25400" rtlCol="0" anchor="t">
            <a:normAutofit lnSpcReduction="10000"/>
          </a:bodyPr>
          <a:lstStyle/>
          <a:p>
            <a:pPr marL="0" indent="0" algn="l">
              <a:buNone/>
            </a:pPr>
            <a:r>
              <a:rPr lang="en-US" sz="1950" b="1" kern="0" spc="429" dirty="0">
                <a:solidFill>
                  <a:srgbClr val="B4552F"/>
                </a:solidFill>
                <a:latin typeface="Arial" pitchFamily="34" charset="0"/>
                <a:ea typeface="Arial" pitchFamily="34" charset="-122"/>
                <a:cs typeface="Arial" pitchFamily="34" charset="-120"/>
              </a:rPr>
              <a:t>VULNERABILIDAD 01</a:t>
            </a:r>
            <a:endParaRPr lang="en-US" sz="1950" dirty="0"/>
          </a:p>
        </p:txBody>
      </p:sp>
      <p:sp>
        <p:nvSpPr>
          <p:cNvPr id="3" name="Text 1"/>
          <p:cNvSpPr/>
          <p:nvPr/>
        </p:nvSpPr>
        <p:spPr>
          <a:xfrm>
            <a:off x="1047733" y="4215047"/>
            <a:ext cx="7894661" cy="1752566"/>
          </a:xfrm>
          <a:prstGeom prst="rect">
            <a:avLst/>
          </a:prstGeom>
          <a:noFill/>
          <a:ln/>
        </p:spPr>
        <p:txBody>
          <a:bodyPr wrap="square" lIns="25400" tIns="25400" rIns="25400" bIns="25400" rtlCol="0" anchor="t">
            <a:normAutofit lnSpcReduction="10000"/>
          </a:bodyPr>
          <a:lstStyle/>
          <a:p>
            <a:pPr marL="0" indent="0" algn="l">
              <a:lnSpc>
                <a:spcPct val="78309"/>
              </a:lnSpc>
              <a:buNone/>
            </a:pPr>
            <a:r>
              <a:rPr lang="en-US" sz="15000" b="1" dirty="0">
                <a:solidFill>
                  <a:srgbClr val="B4552F"/>
                </a:solidFill>
                <a:latin typeface="Arial" pitchFamily="34" charset="0"/>
                <a:ea typeface="Arial" pitchFamily="34" charset="-122"/>
                <a:cs typeface="Arial" pitchFamily="34" charset="-120"/>
              </a:rPr>
              <a:t>94%</a:t>
            </a:r>
            <a:endParaRPr lang="en-US" sz="15000" dirty="0"/>
          </a:p>
        </p:txBody>
      </p:sp>
      <p:sp>
        <p:nvSpPr>
          <p:cNvPr id="4" name="Text 2"/>
          <p:cNvSpPr/>
          <p:nvPr/>
        </p:nvSpPr>
        <p:spPr>
          <a:xfrm>
            <a:off x="1047733" y="6119978"/>
            <a:ext cx="7894661" cy="658145"/>
          </a:xfrm>
          <a:prstGeom prst="rect">
            <a:avLst/>
          </a:prstGeom>
          <a:noFill/>
          <a:ln/>
        </p:spPr>
        <p:txBody>
          <a:bodyPr wrap="square" lIns="25400" tIns="25400" rIns="25400" bIns="25400" rtlCol="0" anchor="t">
            <a:normAutofit lnSpcReduction="10000"/>
          </a:bodyPr>
          <a:lstStyle/>
          <a:p>
            <a:pPr marL="0" indent="0" algn="l">
              <a:lnSpc>
                <a:spcPct val="91530"/>
              </a:lnSpc>
              <a:buNone/>
            </a:pPr>
            <a:r>
              <a:rPr lang="en-US" sz="4650" b="1" dirty="0">
                <a:solidFill>
                  <a:srgbClr val="F2EDE3"/>
                </a:solidFill>
                <a:latin typeface="Arial" pitchFamily="34" charset="0"/>
                <a:ea typeface="Arial" pitchFamily="34" charset="-122"/>
                <a:cs typeface="Arial" pitchFamily="34" charset="-120"/>
              </a:rPr>
              <a:t>Dueño-dependencia</a:t>
            </a:r>
            <a:endParaRPr lang="en-US" sz="4650" dirty="0"/>
          </a:p>
        </p:txBody>
      </p:sp>
      <p:sp>
        <p:nvSpPr>
          <p:cNvPr id="5" name="Text 3"/>
          <p:cNvSpPr/>
          <p:nvPr/>
        </p:nvSpPr>
        <p:spPr>
          <a:xfrm>
            <a:off x="8986628" y="3021994"/>
            <a:ext cx="8501114" cy="1446924"/>
          </a:xfrm>
          <a:prstGeom prst="rect">
            <a:avLst/>
          </a:prstGeom>
          <a:noFill/>
          <a:ln/>
        </p:spPr>
        <p:txBody>
          <a:bodyPr wrap="square" lIns="25400" tIns="25400" rIns="25400" bIns="25400" rtlCol="0" anchor="t">
            <a:normAutofit lnSpcReduction="10000"/>
          </a:bodyPr>
          <a:lstStyle/>
          <a:p>
            <a:pPr marL="0" indent="0" algn="l">
              <a:lnSpc>
                <a:spcPct val="127642"/>
              </a:lnSpc>
              <a:buNone/>
            </a:pPr>
            <a:r>
              <a:rPr lang="en-US" sz="2550" dirty="0">
                <a:solidFill>
                  <a:srgbClr val="D6CBB9"/>
                </a:solidFill>
                <a:latin typeface="Georgia" pitchFamily="34" charset="0"/>
                <a:ea typeface="Georgia" pitchFamily="34" charset="-122"/>
                <a:cs typeface="Georgia" pitchFamily="34" charset="-120"/>
              </a:rPr>
              <a:t>En 16 de las 17 empresas, el liderazgo de mandos medios no llega a nivel 4. Sin mandos medios, todo pasa por una sola mente. Si el líder falta o se enferma, la empresa tambalea.</a:t>
            </a:r>
            <a:endParaRPr lang="en-US" sz="2550" dirty="0"/>
          </a:p>
        </p:txBody>
      </p:sp>
      <p:sp>
        <p:nvSpPr>
          <p:cNvPr id="6" name="Shape 4"/>
          <p:cNvSpPr/>
          <p:nvPr/>
        </p:nvSpPr>
        <p:spPr>
          <a:xfrm>
            <a:off x="8986628" y="4849884"/>
            <a:ext cx="8253509" cy="26919"/>
          </a:xfrm>
          <a:prstGeom prst="rect">
            <a:avLst/>
          </a:prstGeom>
          <a:solidFill>
            <a:srgbClr val="4A423A"/>
          </a:solidFill>
          <a:ln/>
        </p:spPr>
        <p:txBody>
          <a:bodyPr/>
          <a:lstStyle/>
          <a:p>
            <a:endParaRPr lang="es-AR"/>
          </a:p>
        </p:txBody>
      </p:sp>
      <p:sp>
        <p:nvSpPr>
          <p:cNvPr id="7" name="Text 5"/>
          <p:cNvSpPr/>
          <p:nvPr/>
        </p:nvSpPr>
        <p:spPr>
          <a:xfrm>
            <a:off x="8986628" y="5143467"/>
            <a:ext cx="9078860" cy="347667"/>
          </a:xfrm>
          <a:prstGeom prst="rect">
            <a:avLst/>
          </a:prstGeom>
          <a:noFill/>
          <a:ln/>
        </p:spPr>
        <p:txBody>
          <a:bodyPr wrap="square" lIns="25400" tIns="25400" rIns="25400" bIns="25400" rtlCol="0" anchor="t">
            <a:normAutofit lnSpcReduction="10000"/>
          </a:bodyPr>
          <a:lstStyle/>
          <a:p>
            <a:pPr marL="0" indent="0" algn="l">
              <a:buNone/>
            </a:pPr>
            <a:r>
              <a:rPr lang="en-US" sz="2100" b="1" kern="0" spc="168" dirty="0">
                <a:solidFill>
                  <a:srgbClr val="9C9086"/>
                </a:solidFill>
                <a:latin typeface="Arial" pitchFamily="34" charset="0"/>
                <a:ea typeface="Arial" pitchFamily="34" charset="-122"/>
                <a:cs typeface="Arial" pitchFamily="34" charset="-120"/>
              </a:rPr>
              <a:t>SÍNTOMA VISIBLE</a:t>
            </a:r>
            <a:endParaRPr lang="en-US" sz="2100" dirty="0"/>
          </a:p>
        </p:txBody>
      </p:sp>
      <p:sp>
        <p:nvSpPr>
          <p:cNvPr id="8" name="Text 6"/>
          <p:cNvSpPr/>
          <p:nvPr/>
        </p:nvSpPr>
        <p:spPr>
          <a:xfrm>
            <a:off x="8986628" y="5548232"/>
            <a:ext cx="9078860" cy="509180"/>
          </a:xfrm>
          <a:prstGeom prst="rect">
            <a:avLst/>
          </a:prstGeom>
          <a:noFill/>
          <a:ln/>
        </p:spPr>
        <p:txBody>
          <a:bodyPr wrap="square" lIns="25400" tIns="25400" rIns="25400" bIns="25400" rtlCol="0" anchor="t">
            <a:normAutofit/>
          </a:bodyPr>
          <a:lstStyle/>
          <a:p>
            <a:pPr marL="0" indent="0" algn="l">
              <a:buNone/>
            </a:pPr>
            <a:r>
              <a:rPr lang="en-US" sz="2700" dirty="0">
                <a:solidFill>
                  <a:srgbClr val="F2EDE3"/>
                </a:solidFill>
                <a:latin typeface="Georgia" pitchFamily="34" charset="0"/>
                <a:ea typeface="Georgia" pitchFamily="34" charset="-122"/>
                <a:cs typeface="Georgia" pitchFamily="34" charset="-120"/>
              </a:rPr>
              <a:t>Empresa de una sola cabeza.</a:t>
            </a:r>
            <a:endParaRPr lang="en-US" sz="2700" dirty="0"/>
          </a:p>
        </p:txBody>
      </p:sp>
      <p:sp>
        <p:nvSpPr>
          <p:cNvPr id="9" name="Shape 7"/>
          <p:cNvSpPr/>
          <p:nvPr/>
        </p:nvSpPr>
        <p:spPr>
          <a:xfrm>
            <a:off x="8986628" y="6285977"/>
            <a:ext cx="8253509" cy="26919"/>
          </a:xfrm>
          <a:prstGeom prst="rect">
            <a:avLst/>
          </a:prstGeom>
          <a:solidFill>
            <a:srgbClr val="4A423A"/>
          </a:solidFill>
          <a:ln/>
        </p:spPr>
        <p:txBody>
          <a:bodyPr/>
          <a:lstStyle/>
          <a:p>
            <a:endParaRPr lang="es-AR"/>
          </a:p>
        </p:txBody>
      </p:sp>
      <p:sp>
        <p:nvSpPr>
          <p:cNvPr id="10" name="Text 8"/>
          <p:cNvSpPr/>
          <p:nvPr/>
        </p:nvSpPr>
        <p:spPr>
          <a:xfrm>
            <a:off x="8986628" y="6579562"/>
            <a:ext cx="9078860" cy="347667"/>
          </a:xfrm>
          <a:prstGeom prst="rect">
            <a:avLst/>
          </a:prstGeom>
          <a:noFill/>
          <a:ln/>
        </p:spPr>
        <p:txBody>
          <a:bodyPr wrap="square" lIns="25400" tIns="25400" rIns="25400" bIns="25400" rtlCol="0" anchor="t">
            <a:normAutofit lnSpcReduction="10000"/>
          </a:bodyPr>
          <a:lstStyle/>
          <a:p>
            <a:pPr marL="0" indent="0" algn="l">
              <a:buNone/>
            </a:pPr>
            <a:r>
              <a:rPr lang="en-US" sz="2100" b="1" kern="0" spc="168" dirty="0">
                <a:solidFill>
                  <a:srgbClr val="9C9086"/>
                </a:solidFill>
                <a:latin typeface="Arial" pitchFamily="34" charset="0"/>
                <a:ea typeface="Arial" pitchFamily="34" charset="-122"/>
                <a:cs typeface="Arial" pitchFamily="34" charset="-120"/>
              </a:rPr>
              <a:t>CAUSA INVISIBLE</a:t>
            </a:r>
            <a:endParaRPr lang="en-US" sz="2100" dirty="0"/>
          </a:p>
        </p:txBody>
      </p:sp>
      <p:sp>
        <p:nvSpPr>
          <p:cNvPr id="11" name="Text 9"/>
          <p:cNvSpPr/>
          <p:nvPr/>
        </p:nvSpPr>
        <p:spPr>
          <a:xfrm>
            <a:off x="8986628" y="6984326"/>
            <a:ext cx="9078860" cy="509180"/>
          </a:xfrm>
          <a:prstGeom prst="rect">
            <a:avLst/>
          </a:prstGeom>
          <a:noFill/>
          <a:ln/>
        </p:spPr>
        <p:txBody>
          <a:bodyPr wrap="square" lIns="25400" tIns="25400" rIns="25400" bIns="25400" rtlCol="0" anchor="t">
            <a:normAutofit/>
          </a:bodyPr>
          <a:lstStyle/>
          <a:p>
            <a:pPr marL="0" indent="0" algn="l">
              <a:buNone/>
            </a:pPr>
            <a:r>
              <a:rPr lang="en-US" sz="2700" dirty="0">
                <a:solidFill>
                  <a:srgbClr val="F2EDE3"/>
                </a:solidFill>
                <a:latin typeface="Georgia" pitchFamily="34" charset="0"/>
                <a:ea typeface="Georgia" pitchFamily="34" charset="-122"/>
                <a:cs typeface="Georgia" pitchFamily="34" charset="-120"/>
              </a:rPr>
              <a:t>Cultura fuerte sin estructura.</a:t>
            </a:r>
            <a:endParaRPr lang="en-US" sz="2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16120E"/>
        </a:solidFill>
        <a:effectLst/>
      </p:bgPr>
    </p:bg>
    <p:spTree>
      <p:nvGrpSpPr>
        <p:cNvPr id="1" name=""/>
        <p:cNvGrpSpPr/>
        <p:nvPr/>
      </p:nvGrpSpPr>
      <p:grpSpPr>
        <a:xfrm>
          <a:off x="0" y="0"/>
          <a:ext cx="0" cy="0"/>
          <a:chOff x="0" y="0"/>
          <a:chExt cx="0" cy="0"/>
        </a:xfrm>
      </p:grpSpPr>
      <p:sp>
        <p:nvSpPr>
          <p:cNvPr id="2" name="Text 0"/>
          <p:cNvSpPr/>
          <p:nvPr/>
        </p:nvSpPr>
        <p:spPr>
          <a:xfrm>
            <a:off x="1047733" y="3737447"/>
            <a:ext cx="7894661" cy="325235"/>
          </a:xfrm>
          <a:prstGeom prst="rect">
            <a:avLst/>
          </a:prstGeom>
          <a:noFill/>
          <a:ln/>
        </p:spPr>
        <p:txBody>
          <a:bodyPr wrap="square" lIns="25400" tIns="25400" rIns="25400" bIns="25400" rtlCol="0" anchor="t">
            <a:normAutofit lnSpcReduction="10000"/>
          </a:bodyPr>
          <a:lstStyle/>
          <a:p>
            <a:pPr marL="0" indent="0" algn="l">
              <a:buNone/>
            </a:pPr>
            <a:r>
              <a:rPr lang="en-US" sz="1950" b="1" kern="0" spc="429" dirty="0">
                <a:solidFill>
                  <a:srgbClr val="E0A32E"/>
                </a:solidFill>
                <a:latin typeface="Arial" pitchFamily="34" charset="0"/>
                <a:ea typeface="Arial" pitchFamily="34" charset="-122"/>
                <a:cs typeface="Arial" pitchFamily="34" charset="-120"/>
              </a:rPr>
              <a:t>VULNERABILIDAD 02</a:t>
            </a:r>
            <a:endParaRPr lang="en-US" sz="1950" dirty="0"/>
          </a:p>
        </p:txBody>
      </p:sp>
      <p:sp>
        <p:nvSpPr>
          <p:cNvPr id="3" name="Text 1"/>
          <p:cNvSpPr/>
          <p:nvPr/>
        </p:nvSpPr>
        <p:spPr>
          <a:xfrm>
            <a:off x="1047733" y="4215047"/>
            <a:ext cx="7894661" cy="1752566"/>
          </a:xfrm>
          <a:prstGeom prst="rect">
            <a:avLst/>
          </a:prstGeom>
          <a:noFill/>
          <a:ln/>
        </p:spPr>
        <p:txBody>
          <a:bodyPr wrap="square" lIns="25400" tIns="25400" rIns="25400" bIns="25400" rtlCol="0" anchor="t">
            <a:normAutofit lnSpcReduction="10000"/>
          </a:bodyPr>
          <a:lstStyle/>
          <a:p>
            <a:pPr marL="0" indent="0" algn="l">
              <a:lnSpc>
                <a:spcPct val="78309"/>
              </a:lnSpc>
              <a:buNone/>
            </a:pPr>
            <a:r>
              <a:rPr lang="en-US" sz="15000" b="1" dirty="0">
                <a:solidFill>
                  <a:srgbClr val="E0A32E"/>
                </a:solidFill>
                <a:latin typeface="Arial" pitchFamily="34" charset="0"/>
                <a:ea typeface="Arial" pitchFamily="34" charset="-122"/>
                <a:cs typeface="Arial" pitchFamily="34" charset="-120"/>
              </a:rPr>
              <a:t>29%</a:t>
            </a:r>
            <a:endParaRPr lang="en-US" sz="15000" dirty="0"/>
          </a:p>
        </p:txBody>
      </p:sp>
      <p:sp>
        <p:nvSpPr>
          <p:cNvPr id="4" name="Text 2"/>
          <p:cNvSpPr/>
          <p:nvPr/>
        </p:nvSpPr>
        <p:spPr>
          <a:xfrm>
            <a:off x="1047733" y="6119978"/>
            <a:ext cx="7894661" cy="658145"/>
          </a:xfrm>
          <a:prstGeom prst="rect">
            <a:avLst/>
          </a:prstGeom>
          <a:noFill/>
          <a:ln/>
        </p:spPr>
        <p:txBody>
          <a:bodyPr wrap="square" lIns="25400" tIns="25400" rIns="25400" bIns="25400" rtlCol="0" anchor="t">
            <a:normAutofit lnSpcReduction="10000"/>
          </a:bodyPr>
          <a:lstStyle/>
          <a:p>
            <a:pPr marL="0" indent="0" algn="l">
              <a:lnSpc>
                <a:spcPct val="91530"/>
              </a:lnSpc>
              <a:buNone/>
            </a:pPr>
            <a:r>
              <a:rPr lang="en-US" sz="4650" b="1" dirty="0">
                <a:solidFill>
                  <a:srgbClr val="F2EDE3"/>
                </a:solidFill>
                <a:latin typeface="Arial" pitchFamily="34" charset="0"/>
                <a:ea typeface="Arial" pitchFamily="34" charset="-122"/>
                <a:cs typeface="Arial" pitchFamily="34" charset="-120"/>
              </a:rPr>
              <a:t>Entrenar para el vecino</a:t>
            </a:r>
            <a:endParaRPr lang="en-US" sz="4650" dirty="0"/>
          </a:p>
        </p:txBody>
      </p:sp>
      <p:sp>
        <p:nvSpPr>
          <p:cNvPr id="5" name="Text 3"/>
          <p:cNvSpPr/>
          <p:nvPr/>
        </p:nvSpPr>
        <p:spPr>
          <a:xfrm>
            <a:off x="8986628" y="2551685"/>
            <a:ext cx="8501114" cy="1916533"/>
          </a:xfrm>
          <a:prstGeom prst="rect">
            <a:avLst/>
          </a:prstGeom>
          <a:noFill/>
          <a:ln/>
        </p:spPr>
        <p:txBody>
          <a:bodyPr wrap="square" lIns="25400" tIns="25400" rIns="25400" bIns="25400" rtlCol="0" anchor="t">
            <a:normAutofit lnSpcReduction="10000"/>
          </a:bodyPr>
          <a:lstStyle/>
          <a:p>
            <a:pPr marL="0" indent="0" algn="l">
              <a:lnSpc>
                <a:spcPct val="127642"/>
              </a:lnSpc>
              <a:buNone/>
            </a:pPr>
            <a:r>
              <a:rPr lang="en-US" sz="2550" dirty="0">
                <a:solidFill>
                  <a:srgbClr val="D6CBB9"/>
                </a:solidFill>
                <a:latin typeface="Georgia" pitchFamily="34" charset="0"/>
                <a:ea typeface="Georgia" pitchFamily="34" charset="-122"/>
                <a:cs typeface="Georgia" pitchFamily="34" charset="-120"/>
              </a:rPr>
              <a:t>Formamos talento técnico pero no ofrecemos un horizonte claro. El resultado es un gasto ciego: terminamos capacitando gente para que se vaya a trabajar a la empresa de al lado.</a:t>
            </a:r>
            <a:endParaRPr lang="en-US" sz="2550" dirty="0"/>
          </a:p>
        </p:txBody>
      </p:sp>
      <p:sp>
        <p:nvSpPr>
          <p:cNvPr id="6" name="Shape 4"/>
          <p:cNvSpPr/>
          <p:nvPr/>
        </p:nvSpPr>
        <p:spPr>
          <a:xfrm>
            <a:off x="8986628" y="4849183"/>
            <a:ext cx="8253509" cy="26919"/>
          </a:xfrm>
          <a:prstGeom prst="rect">
            <a:avLst/>
          </a:prstGeom>
          <a:solidFill>
            <a:srgbClr val="4A423A"/>
          </a:solidFill>
          <a:ln/>
        </p:spPr>
        <p:txBody>
          <a:bodyPr/>
          <a:lstStyle/>
          <a:p>
            <a:endParaRPr lang="es-AR"/>
          </a:p>
        </p:txBody>
      </p:sp>
      <p:sp>
        <p:nvSpPr>
          <p:cNvPr id="7" name="Text 5"/>
          <p:cNvSpPr/>
          <p:nvPr/>
        </p:nvSpPr>
        <p:spPr>
          <a:xfrm>
            <a:off x="8986628" y="5142767"/>
            <a:ext cx="9078860" cy="347667"/>
          </a:xfrm>
          <a:prstGeom prst="rect">
            <a:avLst/>
          </a:prstGeom>
          <a:noFill/>
          <a:ln/>
        </p:spPr>
        <p:txBody>
          <a:bodyPr wrap="square" lIns="25400" tIns="25400" rIns="25400" bIns="25400" rtlCol="0" anchor="t">
            <a:normAutofit lnSpcReduction="10000"/>
          </a:bodyPr>
          <a:lstStyle/>
          <a:p>
            <a:pPr marL="0" indent="0" algn="l">
              <a:buNone/>
            </a:pPr>
            <a:r>
              <a:rPr lang="en-US" sz="2100" b="1" kern="0" spc="168" dirty="0">
                <a:solidFill>
                  <a:srgbClr val="9C9086"/>
                </a:solidFill>
                <a:latin typeface="Arial" pitchFamily="34" charset="0"/>
                <a:ea typeface="Arial" pitchFamily="34" charset="-122"/>
                <a:cs typeface="Arial" pitchFamily="34" charset="-120"/>
              </a:rPr>
              <a:t>SÍNTOMA VISIBLE</a:t>
            </a:r>
            <a:endParaRPr lang="en-US" sz="2100" dirty="0"/>
          </a:p>
        </p:txBody>
      </p:sp>
      <p:sp>
        <p:nvSpPr>
          <p:cNvPr id="8" name="Text 6"/>
          <p:cNvSpPr/>
          <p:nvPr/>
        </p:nvSpPr>
        <p:spPr>
          <a:xfrm>
            <a:off x="8986628" y="5547531"/>
            <a:ext cx="8501114" cy="980261"/>
          </a:xfrm>
          <a:prstGeom prst="rect">
            <a:avLst/>
          </a:prstGeom>
          <a:noFill/>
          <a:ln/>
        </p:spPr>
        <p:txBody>
          <a:bodyPr wrap="square" lIns="25400" tIns="25400" rIns="25400" bIns="25400" rtlCol="0" anchor="t">
            <a:normAutofit/>
          </a:bodyPr>
          <a:lstStyle/>
          <a:p>
            <a:pPr marL="0" indent="0" algn="l">
              <a:buNone/>
            </a:pPr>
            <a:r>
              <a:rPr lang="en-US" sz="2700" dirty="0">
                <a:solidFill>
                  <a:srgbClr val="F2EDE3"/>
                </a:solidFill>
                <a:latin typeface="Georgia" pitchFamily="34" charset="0"/>
                <a:ea typeface="Georgia" pitchFamily="34" charset="-122"/>
                <a:cs typeface="Georgia" pitchFamily="34" charset="-120"/>
              </a:rPr>
              <a:t>Capacitación alta (nivel 4 o 5), retención baja (nivel 1 a 3).</a:t>
            </a:r>
            <a:endParaRPr lang="en-US" sz="2700" dirty="0"/>
          </a:p>
        </p:txBody>
      </p:sp>
      <p:sp>
        <p:nvSpPr>
          <p:cNvPr id="9" name="Shape 7"/>
          <p:cNvSpPr/>
          <p:nvPr/>
        </p:nvSpPr>
        <p:spPr>
          <a:xfrm>
            <a:off x="8986628" y="6756357"/>
            <a:ext cx="8253509" cy="26919"/>
          </a:xfrm>
          <a:prstGeom prst="rect">
            <a:avLst/>
          </a:prstGeom>
          <a:solidFill>
            <a:srgbClr val="4A423A"/>
          </a:solidFill>
          <a:ln/>
        </p:spPr>
        <p:txBody>
          <a:bodyPr/>
          <a:lstStyle/>
          <a:p>
            <a:endParaRPr lang="es-AR"/>
          </a:p>
        </p:txBody>
      </p:sp>
      <p:sp>
        <p:nvSpPr>
          <p:cNvPr id="10" name="Text 8"/>
          <p:cNvSpPr/>
          <p:nvPr/>
        </p:nvSpPr>
        <p:spPr>
          <a:xfrm>
            <a:off x="8986628" y="7049941"/>
            <a:ext cx="9078860" cy="347667"/>
          </a:xfrm>
          <a:prstGeom prst="rect">
            <a:avLst/>
          </a:prstGeom>
          <a:noFill/>
          <a:ln/>
        </p:spPr>
        <p:txBody>
          <a:bodyPr wrap="square" lIns="25400" tIns="25400" rIns="25400" bIns="25400" rtlCol="0" anchor="t">
            <a:normAutofit lnSpcReduction="10000"/>
          </a:bodyPr>
          <a:lstStyle/>
          <a:p>
            <a:pPr marL="0" indent="0" algn="l">
              <a:buNone/>
            </a:pPr>
            <a:r>
              <a:rPr lang="en-US" sz="2100" b="1" kern="0" spc="168" dirty="0">
                <a:solidFill>
                  <a:srgbClr val="9C9086"/>
                </a:solidFill>
                <a:latin typeface="Arial" pitchFamily="34" charset="0"/>
                <a:ea typeface="Arial" pitchFamily="34" charset="-122"/>
                <a:cs typeface="Arial" pitchFamily="34" charset="-120"/>
              </a:rPr>
              <a:t>CAUSA INVISIBLE</a:t>
            </a:r>
            <a:endParaRPr lang="en-US" sz="2100" dirty="0"/>
          </a:p>
        </p:txBody>
      </p:sp>
      <p:sp>
        <p:nvSpPr>
          <p:cNvPr id="11" name="Text 9"/>
          <p:cNvSpPr/>
          <p:nvPr/>
        </p:nvSpPr>
        <p:spPr>
          <a:xfrm>
            <a:off x="8986628" y="7454705"/>
            <a:ext cx="9078860" cy="509180"/>
          </a:xfrm>
          <a:prstGeom prst="rect">
            <a:avLst/>
          </a:prstGeom>
          <a:noFill/>
          <a:ln/>
        </p:spPr>
        <p:txBody>
          <a:bodyPr wrap="square" lIns="25400" tIns="25400" rIns="25400" bIns="25400" rtlCol="0" anchor="t">
            <a:normAutofit/>
          </a:bodyPr>
          <a:lstStyle/>
          <a:p>
            <a:pPr marL="0" indent="0" algn="l">
              <a:buNone/>
            </a:pPr>
            <a:r>
              <a:rPr lang="en-US" sz="2700" dirty="0">
                <a:solidFill>
                  <a:srgbClr val="F2EDE3"/>
                </a:solidFill>
                <a:latin typeface="Georgia" pitchFamily="34" charset="0"/>
                <a:ea typeface="Georgia" pitchFamily="34" charset="-122"/>
                <a:cs typeface="Georgia" pitchFamily="34" charset="-120"/>
              </a:rPr>
              <a:t>Crecimiento sin andamiaje.</a:t>
            </a:r>
            <a:endParaRPr lang="en-US" sz="2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16120E"/>
        </a:solidFill>
        <a:effectLst/>
      </p:bgPr>
    </p:bg>
    <p:spTree>
      <p:nvGrpSpPr>
        <p:cNvPr id="1" name=""/>
        <p:cNvGrpSpPr/>
        <p:nvPr/>
      </p:nvGrpSpPr>
      <p:grpSpPr>
        <a:xfrm>
          <a:off x="0" y="0"/>
          <a:ext cx="0" cy="0"/>
          <a:chOff x="0" y="0"/>
          <a:chExt cx="0" cy="0"/>
        </a:xfrm>
      </p:grpSpPr>
      <p:sp>
        <p:nvSpPr>
          <p:cNvPr id="2" name="Text 0"/>
          <p:cNvSpPr/>
          <p:nvPr/>
        </p:nvSpPr>
        <p:spPr>
          <a:xfrm>
            <a:off x="1047733" y="3737447"/>
            <a:ext cx="7894661" cy="325235"/>
          </a:xfrm>
          <a:prstGeom prst="rect">
            <a:avLst/>
          </a:prstGeom>
          <a:noFill/>
          <a:ln/>
        </p:spPr>
        <p:txBody>
          <a:bodyPr wrap="square" lIns="25400" tIns="25400" rIns="25400" bIns="25400" rtlCol="0" anchor="t">
            <a:normAutofit lnSpcReduction="10000"/>
          </a:bodyPr>
          <a:lstStyle/>
          <a:p>
            <a:pPr marL="0" indent="0" algn="l">
              <a:buNone/>
            </a:pPr>
            <a:r>
              <a:rPr lang="en-US" sz="1950" b="1" kern="0" spc="429" dirty="0">
                <a:solidFill>
                  <a:srgbClr val="7FA85C"/>
                </a:solidFill>
                <a:latin typeface="Arial" pitchFamily="34" charset="0"/>
                <a:ea typeface="Arial" pitchFamily="34" charset="-122"/>
                <a:cs typeface="Arial" pitchFamily="34" charset="-120"/>
              </a:rPr>
              <a:t>VULNERABILIDAD 03</a:t>
            </a:r>
            <a:endParaRPr lang="en-US" sz="1950" dirty="0"/>
          </a:p>
        </p:txBody>
      </p:sp>
      <p:sp>
        <p:nvSpPr>
          <p:cNvPr id="3" name="Text 1"/>
          <p:cNvSpPr/>
          <p:nvPr/>
        </p:nvSpPr>
        <p:spPr>
          <a:xfrm>
            <a:off x="1047733" y="4215047"/>
            <a:ext cx="7894661" cy="1752566"/>
          </a:xfrm>
          <a:prstGeom prst="rect">
            <a:avLst/>
          </a:prstGeom>
          <a:noFill/>
          <a:ln/>
        </p:spPr>
        <p:txBody>
          <a:bodyPr wrap="square" lIns="25400" tIns="25400" rIns="25400" bIns="25400" rtlCol="0" anchor="t">
            <a:normAutofit lnSpcReduction="10000"/>
          </a:bodyPr>
          <a:lstStyle/>
          <a:p>
            <a:pPr marL="0" indent="0" algn="l">
              <a:lnSpc>
                <a:spcPct val="78309"/>
              </a:lnSpc>
              <a:buNone/>
            </a:pPr>
            <a:r>
              <a:rPr lang="en-US" sz="15000" b="1" dirty="0">
                <a:solidFill>
                  <a:srgbClr val="7FA85C"/>
                </a:solidFill>
                <a:latin typeface="Arial" pitchFamily="34" charset="0"/>
                <a:ea typeface="Arial" pitchFamily="34" charset="-122"/>
                <a:cs typeface="Arial" pitchFamily="34" charset="-120"/>
              </a:rPr>
              <a:t>12%</a:t>
            </a:r>
            <a:endParaRPr lang="en-US" sz="15000" dirty="0"/>
          </a:p>
        </p:txBody>
      </p:sp>
      <p:sp>
        <p:nvSpPr>
          <p:cNvPr id="4" name="Text 2"/>
          <p:cNvSpPr/>
          <p:nvPr/>
        </p:nvSpPr>
        <p:spPr>
          <a:xfrm>
            <a:off x="1047733" y="6119978"/>
            <a:ext cx="7894661" cy="658145"/>
          </a:xfrm>
          <a:prstGeom prst="rect">
            <a:avLst/>
          </a:prstGeom>
          <a:noFill/>
          <a:ln/>
        </p:spPr>
        <p:txBody>
          <a:bodyPr wrap="square" lIns="25400" tIns="25400" rIns="25400" bIns="25400" rtlCol="0" anchor="t">
            <a:normAutofit lnSpcReduction="10000"/>
          </a:bodyPr>
          <a:lstStyle/>
          <a:p>
            <a:pPr marL="0" indent="0" algn="l">
              <a:lnSpc>
                <a:spcPct val="91530"/>
              </a:lnSpc>
              <a:buNone/>
            </a:pPr>
            <a:r>
              <a:rPr lang="en-US" sz="4650" b="1" dirty="0">
                <a:solidFill>
                  <a:srgbClr val="F2EDE3"/>
                </a:solidFill>
                <a:latin typeface="Arial" pitchFamily="34" charset="0"/>
                <a:ea typeface="Arial" pitchFamily="34" charset="-122"/>
                <a:cs typeface="Arial" pitchFamily="34" charset="-120"/>
              </a:rPr>
              <a:t>Incentivos a ciegas</a:t>
            </a:r>
            <a:endParaRPr lang="en-US" sz="4650" dirty="0"/>
          </a:p>
        </p:txBody>
      </p:sp>
      <p:sp>
        <p:nvSpPr>
          <p:cNvPr id="5" name="Text 3"/>
          <p:cNvSpPr/>
          <p:nvPr/>
        </p:nvSpPr>
        <p:spPr>
          <a:xfrm>
            <a:off x="8986628" y="2786454"/>
            <a:ext cx="8501114" cy="1446924"/>
          </a:xfrm>
          <a:prstGeom prst="rect">
            <a:avLst/>
          </a:prstGeom>
          <a:noFill/>
          <a:ln/>
        </p:spPr>
        <p:txBody>
          <a:bodyPr wrap="square" lIns="25400" tIns="25400" rIns="25400" bIns="25400" rtlCol="0" anchor="t">
            <a:normAutofit lnSpcReduction="10000"/>
          </a:bodyPr>
          <a:lstStyle/>
          <a:p>
            <a:pPr marL="0" indent="0" algn="l">
              <a:lnSpc>
                <a:spcPct val="127642"/>
              </a:lnSpc>
              <a:buNone/>
            </a:pPr>
            <a:r>
              <a:rPr lang="en-US" sz="2550" dirty="0">
                <a:solidFill>
                  <a:srgbClr val="D6CBB9"/>
                </a:solidFill>
                <a:latin typeface="Georgia" pitchFamily="34" charset="0"/>
                <a:ea typeface="Georgia" pitchFamily="34" charset="-122"/>
                <a:cs typeface="Georgia" pitchFamily="34" charset="-120"/>
              </a:rPr>
              <a:t>Premiamos económicamente resultados que no estamos midiendo. El incentivo corre a ciegas y genera derechos adquiridos en lugar de verdadero rendimiento.</a:t>
            </a:r>
            <a:endParaRPr lang="en-US" sz="2550" dirty="0"/>
          </a:p>
        </p:txBody>
      </p:sp>
      <p:sp>
        <p:nvSpPr>
          <p:cNvPr id="6" name="Shape 4"/>
          <p:cNvSpPr/>
          <p:nvPr/>
        </p:nvSpPr>
        <p:spPr>
          <a:xfrm>
            <a:off x="8986628" y="4614344"/>
            <a:ext cx="8253509" cy="26919"/>
          </a:xfrm>
          <a:prstGeom prst="rect">
            <a:avLst/>
          </a:prstGeom>
          <a:solidFill>
            <a:srgbClr val="4A423A"/>
          </a:solidFill>
          <a:ln/>
        </p:spPr>
        <p:txBody>
          <a:bodyPr/>
          <a:lstStyle/>
          <a:p>
            <a:endParaRPr lang="es-AR"/>
          </a:p>
        </p:txBody>
      </p:sp>
      <p:sp>
        <p:nvSpPr>
          <p:cNvPr id="7" name="Text 5"/>
          <p:cNvSpPr/>
          <p:nvPr/>
        </p:nvSpPr>
        <p:spPr>
          <a:xfrm>
            <a:off x="8986628" y="4907928"/>
            <a:ext cx="9078860" cy="347667"/>
          </a:xfrm>
          <a:prstGeom prst="rect">
            <a:avLst/>
          </a:prstGeom>
          <a:noFill/>
          <a:ln/>
        </p:spPr>
        <p:txBody>
          <a:bodyPr wrap="square" lIns="25400" tIns="25400" rIns="25400" bIns="25400" rtlCol="0" anchor="t">
            <a:normAutofit lnSpcReduction="10000"/>
          </a:bodyPr>
          <a:lstStyle/>
          <a:p>
            <a:pPr marL="0" indent="0" algn="l">
              <a:buNone/>
            </a:pPr>
            <a:r>
              <a:rPr lang="en-US" sz="2100" b="1" kern="0" spc="168" dirty="0">
                <a:solidFill>
                  <a:srgbClr val="9C9086"/>
                </a:solidFill>
                <a:latin typeface="Arial" pitchFamily="34" charset="0"/>
                <a:ea typeface="Arial" pitchFamily="34" charset="-122"/>
                <a:cs typeface="Arial" pitchFamily="34" charset="-120"/>
              </a:rPr>
              <a:t>SÍNTOMA VISIBLE</a:t>
            </a:r>
            <a:endParaRPr lang="en-US" sz="2100" dirty="0"/>
          </a:p>
        </p:txBody>
      </p:sp>
      <p:sp>
        <p:nvSpPr>
          <p:cNvPr id="8" name="Text 6"/>
          <p:cNvSpPr/>
          <p:nvPr/>
        </p:nvSpPr>
        <p:spPr>
          <a:xfrm>
            <a:off x="8986628" y="5312692"/>
            <a:ext cx="8501114" cy="980261"/>
          </a:xfrm>
          <a:prstGeom prst="rect">
            <a:avLst/>
          </a:prstGeom>
          <a:noFill/>
          <a:ln/>
        </p:spPr>
        <p:txBody>
          <a:bodyPr wrap="square" lIns="25400" tIns="25400" rIns="25400" bIns="25400" rtlCol="0" anchor="t">
            <a:normAutofit/>
          </a:bodyPr>
          <a:lstStyle/>
          <a:p>
            <a:pPr marL="0" indent="0" algn="l">
              <a:buNone/>
            </a:pPr>
            <a:r>
              <a:rPr lang="en-US" sz="2700" dirty="0">
                <a:solidFill>
                  <a:srgbClr val="F2EDE3"/>
                </a:solidFill>
                <a:latin typeface="Georgia" pitchFamily="34" charset="0"/>
                <a:ea typeface="Georgia" pitchFamily="34" charset="-122"/>
                <a:cs typeface="Georgia" pitchFamily="34" charset="-120"/>
              </a:rPr>
              <a:t>Incentivos y premios en nivel 4 a 5; indicadores y métricas en nivel 1 a 2.</a:t>
            </a:r>
            <a:endParaRPr lang="en-US" sz="2700" dirty="0"/>
          </a:p>
        </p:txBody>
      </p:sp>
      <p:sp>
        <p:nvSpPr>
          <p:cNvPr id="9" name="Shape 7"/>
          <p:cNvSpPr/>
          <p:nvPr/>
        </p:nvSpPr>
        <p:spPr>
          <a:xfrm>
            <a:off x="8986628" y="6521518"/>
            <a:ext cx="8253509" cy="26919"/>
          </a:xfrm>
          <a:prstGeom prst="rect">
            <a:avLst/>
          </a:prstGeom>
          <a:solidFill>
            <a:srgbClr val="4A423A"/>
          </a:solidFill>
          <a:ln/>
        </p:spPr>
        <p:txBody>
          <a:bodyPr/>
          <a:lstStyle/>
          <a:p>
            <a:endParaRPr lang="es-AR"/>
          </a:p>
        </p:txBody>
      </p:sp>
      <p:sp>
        <p:nvSpPr>
          <p:cNvPr id="10" name="Text 8"/>
          <p:cNvSpPr/>
          <p:nvPr/>
        </p:nvSpPr>
        <p:spPr>
          <a:xfrm>
            <a:off x="8986628" y="6815102"/>
            <a:ext cx="9078860" cy="347667"/>
          </a:xfrm>
          <a:prstGeom prst="rect">
            <a:avLst/>
          </a:prstGeom>
          <a:noFill/>
          <a:ln/>
        </p:spPr>
        <p:txBody>
          <a:bodyPr wrap="square" lIns="25400" tIns="25400" rIns="25400" bIns="25400" rtlCol="0" anchor="t">
            <a:normAutofit lnSpcReduction="10000"/>
          </a:bodyPr>
          <a:lstStyle/>
          <a:p>
            <a:pPr marL="0" indent="0" algn="l">
              <a:buNone/>
            </a:pPr>
            <a:r>
              <a:rPr lang="en-US" sz="2100" b="1" kern="0" spc="168" dirty="0">
                <a:solidFill>
                  <a:srgbClr val="9C9086"/>
                </a:solidFill>
                <a:latin typeface="Arial" pitchFamily="34" charset="0"/>
                <a:ea typeface="Arial" pitchFamily="34" charset="-122"/>
                <a:cs typeface="Arial" pitchFamily="34" charset="-120"/>
              </a:rPr>
              <a:t>CAUSA INVISIBLE</a:t>
            </a:r>
            <a:endParaRPr lang="en-US" sz="2100" dirty="0"/>
          </a:p>
        </p:txBody>
      </p:sp>
      <p:sp>
        <p:nvSpPr>
          <p:cNvPr id="11" name="Text 9"/>
          <p:cNvSpPr/>
          <p:nvPr/>
        </p:nvSpPr>
        <p:spPr>
          <a:xfrm>
            <a:off x="8986628" y="7219866"/>
            <a:ext cx="9078860" cy="509180"/>
          </a:xfrm>
          <a:prstGeom prst="rect">
            <a:avLst/>
          </a:prstGeom>
          <a:noFill/>
          <a:ln/>
        </p:spPr>
        <p:txBody>
          <a:bodyPr wrap="square" lIns="25400" tIns="25400" rIns="25400" bIns="25400" rtlCol="0" anchor="t">
            <a:normAutofit/>
          </a:bodyPr>
          <a:lstStyle/>
          <a:p>
            <a:pPr marL="0" indent="0" algn="l">
              <a:buNone/>
            </a:pPr>
            <a:r>
              <a:rPr lang="en-US" sz="2700" dirty="0">
                <a:solidFill>
                  <a:srgbClr val="F2EDE3"/>
                </a:solidFill>
                <a:latin typeface="Georgia" pitchFamily="34" charset="0"/>
                <a:ea typeface="Georgia" pitchFamily="34" charset="-122"/>
                <a:cs typeface="Georgia" pitchFamily="34" charset="-120"/>
              </a:rPr>
              <a:t>Operación prolija, rumbo difuso.</a:t>
            </a:r>
            <a:endParaRPr lang="en-US" sz="2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1">
    <p:bg>
      <p:bgPr>
        <a:solidFill>
          <a:srgbClr val="F2EDE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2224" b="2224"/>
          <a:stretch/>
        </p:blipFill>
        <p:spPr>
          <a:xfrm>
            <a:off x="0" y="0"/>
            <a:ext cx="18287940" cy="2285931"/>
          </a:xfrm>
          <a:prstGeom prst="rect">
            <a:avLst/>
          </a:prstGeom>
        </p:spPr>
      </p:pic>
      <p:sp>
        <p:nvSpPr>
          <p:cNvPr id="3" name="Shape 0"/>
          <p:cNvSpPr/>
          <p:nvPr/>
        </p:nvSpPr>
        <p:spPr>
          <a:xfrm>
            <a:off x="0" y="2285931"/>
            <a:ext cx="18287940" cy="28531"/>
          </a:xfrm>
          <a:prstGeom prst="rect">
            <a:avLst/>
          </a:prstGeom>
          <a:solidFill>
            <a:srgbClr val="E0A32E"/>
          </a:solidFill>
          <a:ln/>
        </p:spPr>
        <p:txBody>
          <a:bodyPr/>
          <a:lstStyle/>
          <a:p>
            <a:endParaRPr lang="es-AR"/>
          </a:p>
        </p:txBody>
      </p:sp>
      <p:sp>
        <p:nvSpPr>
          <p:cNvPr id="4" name="Text 1"/>
          <p:cNvSpPr/>
          <p:nvPr/>
        </p:nvSpPr>
        <p:spPr>
          <a:xfrm>
            <a:off x="1047733" y="4003692"/>
            <a:ext cx="17811721" cy="325235"/>
          </a:xfrm>
          <a:prstGeom prst="rect">
            <a:avLst/>
          </a:prstGeom>
          <a:noFill/>
          <a:ln/>
        </p:spPr>
        <p:txBody>
          <a:bodyPr wrap="square" lIns="25400" tIns="25400" rIns="25400" bIns="25400" rtlCol="0" anchor="t">
            <a:normAutofit lnSpcReduction="10000"/>
          </a:bodyPr>
          <a:lstStyle/>
          <a:p>
            <a:pPr marL="0" indent="0" algn="l">
              <a:buNone/>
            </a:pPr>
            <a:r>
              <a:rPr lang="en-US" sz="1950" b="1" kern="0" spc="429" dirty="0">
                <a:solidFill>
                  <a:srgbClr val="8A6A1F"/>
                </a:solidFill>
                <a:latin typeface="Arial" pitchFamily="34" charset="0"/>
                <a:ea typeface="Arial" pitchFamily="34" charset="-122"/>
                <a:cs typeface="Arial" pitchFamily="34" charset="-120"/>
              </a:rPr>
              <a:t>TERCERA PARTE</a:t>
            </a:r>
            <a:endParaRPr lang="en-US" sz="1950" dirty="0"/>
          </a:p>
        </p:txBody>
      </p:sp>
      <p:sp>
        <p:nvSpPr>
          <p:cNvPr id="5" name="Text 2"/>
          <p:cNvSpPr/>
          <p:nvPr/>
        </p:nvSpPr>
        <p:spPr>
          <a:xfrm>
            <a:off x="1047733" y="4671756"/>
            <a:ext cx="16678247" cy="2465005"/>
          </a:xfrm>
          <a:prstGeom prst="rect">
            <a:avLst/>
          </a:prstGeom>
          <a:noFill/>
          <a:ln/>
        </p:spPr>
        <p:txBody>
          <a:bodyPr wrap="square" lIns="25400" tIns="25400" rIns="25400" bIns="25400" rtlCol="0" anchor="t">
            <a:normAutofit/>
          </a:bodyPr>
          <a:lstStyle/>
          <a:p>
            <a:pPr marL="0" indent="0" algn="l">
              <a:lnSpc>
                <a:spcPct val="85324"/>
              </a:lnSpc>
              <a:buNone/>
            </a:pPr>
            <a:r>
              <a:rPr lang="en-US" sz="9750" b="1" kern="0" spc="-292" dirty="0">
                <a:solidFill>
                  <a:srgbClr val="16120E"/>
                </a:solidFill>
                <a:latin typeface="Arial" pitchFamily="34" charset="0"/>
                <a:ea typeface="Arial" pitchFamily="34" charset="-122"/>
                <a:cs typeface="Arial" pitchFamily="34" charset="-120"/>
              </a:rPr>
              <a:t>Pregunta por pregunta.</a:t>
            </a:r>
            <a:endParaRPr lang="en-US" sz="9750" dirty="0"/>
          </a:p>
        </p:txBody>
      </p:sp>
      <p:sp>
        <p:nvSpPr>
          <p:cNvPr id="6" name="Text 3"/>
          <p:cNvSpPr/>
          <p:nvPr/>
        </p:nvSpPr>
        <p:spPr>
          <a:xfrm>
            <a:off x="1047733" y="7555791"/>
            <a:ext cx="11772834" cy="1051483"/>
          </a:xfrm>
          <a:prstGeom prst="rect">
            <a:avLst/>
          </a:prstGeom>
          <a:noFill/>
          <a:ln/>
        </p:spPr>
        <p:txBody>
          <a:bodyPr wrap="square" lIns="25400" tIns="25400" rIns="25400" bIns="25400" rtlCol="0" anchor="t">
            <a:normAutofit lnSpcReduction="10000"/>
          </a:bodyPr>
          <a:lstStyle/>
          <a:p>
            <a:pPr marL="0" indent="0" algn="l">
              <a:lnSpc>
                <a:spcPct val="122767"/>
              </a:lnSpc>
              <a:buNone/>
            </a:pPr>
            <a:r>
              <a:rPr lang="en-US" sz="2850" dirty="0">
                <a:solidFill>
                  <a:srgbClr val="4A423A"/>
                </a:solidFill>
                <a:latin typeface="Georgia" pitchFamily="34" charset="0"/>
                <a:ea typeface="Georgia" pitchFamily="34" charset="-122"/>
                <a:cs typeface="Georgia" pitchFamily="34" charset="-120"/>
              </a:rPr>
              <a:t>Las 17 empresas frente a 89 diagnósticos del resto del país: qué nos distingue y por dónde empezar.</a:t>
            </a:r>
            <a:endParaRPr lang="en-US" sz="2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F2EDE3"/>
        </a:solidFill>
        <a:effectLst/>
      </p:bgPr>
    </p:bg>
    <p:spTree>
      <p:nvGrpSpPr>
        <p:cNvPr id="1" name=""/>
        <p:cNvGrpSpPr/>
        <p:nvPr/>
      </p:nvGrpSpPr>
      <p:grpSpPr>
        <a:xfrm>
          <a:off x="0" y="0"/>
          <a:ext cx="0" cy="0"/>
          <a:chOff x="0" y="0"/>
          <a:chExt cx="0" cy="0"/>
        </a:xfrm>
      </p:grpSpPr>
      <p:sp>
        <p:nvSpPr>
          <p:cNvPr id="2" name="TextBox 1"/>
          <p:cNvSpPr txBox="1"/>
          <p:nvPr/>
        </p:nvSpPr>
        <p:spPr>
          <a:xfrm>
            <a:off x="1051560" y="859536"/>
            <a:ext cx="16184880" cy="822960"/>
          </a:xfrm>
          <a:prstGeom prst="rect">
            <a:avLst/>
          </a:prstGeom>
          <a:noFill/>
        </p:spPr>
        <p:txBody>
          <a:bodyPr wrap="square" lIns="0" tIns="0" rIns="0" bIns="0" anchor="t">
            <a:spAutoFit/>
          </a:bodyPr>
          <a:lstStyle/>
          <a:p>
            <a:pPr algn="l"/>
            <a:r>
              <a:rPr sz="4800" b="1">
                <a:solidFill>
                  <a:srgbClr val="16120E"/>
                </a:solidFill>
                <a:latin typeface="Arial"/>
              </a:rPr>
              <a:t>Mismo corazón, otra conducción</a:t>
            </a:r>
          </a:p>
        </p:txBody>
      </p:sp>
      <p:sp>
        <p:nvSpPr>
          <p:cNvPr id="3" name="TextBox 2"/>
          <p:cNvSpPr txBox="1"/>
          <p:nvPr/>
        </p:nvSpPr>
        <p:spPr>
          <a:xfrm>
            <a:off x="1051560" y="1691640"/>
            <a:ext cx="16184880" cy="457200"/>
          </a:xfrm>
          <a:prstGeom prst="rect">
            <a:avLst/>
          </a:prstGeom>
          <a:noFill/>
        </p:spPr>
        <p:txBody>
          <a:bodyPr wrap="square" lIns="0" tIns="0" rIns="0" bIns="0" anchor="t">
            <a:spAutoFit/>
          </a:bodyPr>
          <a:lstStyle/>
          <a:p>
            <a:pPr algn="l"/>
            <a:r>
              <a:rPr sz="2200" b="0">
                <a:solidFill>
                  <a:srgbClr val="6B6157"/>
                </a:solidFill>
                <a:latin typeface="Georgia"/>
              </a:rPr>
              <a:t>Promedio por pregunta, escala 1 a 5. Las 17 de la región frente a 89 diagnósticos del resto del país.</a:t>
            </a:r>
          </a:p>
        </p:txBody>
      </p:sp>
      <p:graphicFrame>
        <p:nvGraphicFramePr>
          <p:cNvPr id="4" name="Chart 3"/>
          <p:cNvGraphicFramePr>
            <a:graphicFrameLocks noGrp="1"/>
          </p:cNvGraphicFramePr>
          <p:nvPr/>
        </p:nvGraphicFramePr>
        <p:xfrm>
          <a:off x="914400" y="2468880"/>
          <a:ext cx="11155680" cy="74066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p:cNvSpPr txBox="1"/>
          <p:nvPr/>
        </p:nvSpPr>
        <p:spPr>
          <a:xfrm>
            <a:off x="12801600" y="3200400"/>
            <a:ext cx="4480560" cy="457200"/>
          </a:xfrm>
          <a:prstGeom prst="rect">
            <a:avLst/>
          </a:prstGeom>
          <a:noFill/>
        </p:spPr>
        <p:txBody>
          <a:bodyPr wrap="square" lIns="0" tIns="0" rIns="0" bIns="0" anchor="t">
            <a:spAutoFit/>
          </a:bodyPr>
          <a:lstStyle/>
          <a:p>
            <a:pPr algn="l"/>
            <a:r>
              <a:rPr sz="2600" b="1">
                <a:solidFill>
                  <a:srgbClr val="4F7A3A"/>
                </a:solidFill>
                <a:latin typeface="Arial"/>
              </a:rPr>
              <a:t>Iguales al resto</a:t>
            </a:r>
          </a:p>
        </p:txBody>
      </p:sp>
      <p:sp>
        <p:nvSpPr>
          <p:cNvPr id="6" name="TextBox 5"/>
          <p:cNvSpPr txBox="1"/>
          <p:nvPr/>
        </p:nvSpPr>
        <p:spPr>
          <a:xfrm>
            <a:off x="12801600" y="3794760"/>
            <a:ext cx="4480560" cy="1737360"/>
          </a:xfrm>
          <a:prstGeom prst="rect">
            <a:avLst/>
          </a:prstGeom>
          <a:noFill/>
        </p:spPr>
        <p:txBody>
          <a:bodyPr wrap="square" lIns="0" tIns="0" rIns="0" bIns="0" anchor="t">
            <a:spAutoFit/>
          </a:bodyPr>
          <a:lstStyle/>
          <a:p>
            <a:pPr algn="l">
              <a:lnSpc>
                <a:spcPct val="110000"/>
              </a:lnSpc>
            </a:pPr>
            <a:r>
              <a:rPr sz="2100" b="0">
                <a:solidFill>
                  <a:srgbClr val="4A423A"/>
                </a:solidFill>
                <a:latin typeface="Georgia"/>
              </a:rPr>
              <a:t>Cultura, estrategia, coordinación y capacitación. La voluntad está.</a:t>
            </a:r>
          </a:p>
        </p:txBody>
      </p:sp>
      <p:sp>
        <p:nvSpPr>
          <p:cNvPr id="7" name="Rectangle 6"/>
          <p:cNvSpPr/>
          <p:nvPr/>
        </p:nvSpPr>
        <p:spPr>
          <a:xfrm>
            <a:off x="12801600" y="5715000"/>
            <a:ext cx="4206240" cy="36576"/>
          </a:xfrm>
          <a:prstGeom prst="rect">
            <a:avLst/>
          </a:prstGeom>
          <a:solidFill>
            <a:srgbClr val="E7DC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801600" y="5989320"/>
            <a:ext cx="4480560" cy="457200"/>
          </a:xfrm>
          <a:prstGeom prst="rect">
            <a:avLst/>
          </a:prstGeom>
          <a:noFill/>
        </p:spPr>
        <p:txBody>
          <a:bodyPr wrap="square" lIns="0" tIns="0" rIns="0" bIns="0" anchor="t">
            <a:spAutoFit/>
          </a:bodyPr>
          <a:lstStyle/>
          <a:p>
            <a:pPr algn="l"/>
            <a:r>
              <a:rPr sz="2600" b="1">
                <a:solidFill>
                  <a:srgbClr val="B4552F"/>
                </a:solidFill>
                <a:latin typeface="Arial"/>
              </a:rPr>
              <a:t>Por debajo</a:t>
            </a:r>
          </a:p>
        </p:txBody>
      </p:sp>
      <p:sp>
        <p:nvSpPr>
          <p:cNvPr id="9" name="TextBox 8"/>
          <p:cNvSpPr txBox="1"/>
          <p:nvPr/>
        </p:nvSpPr>
        <p:spPr>
          <a:xfrm>
            <a:off x="12801600" y="6583680"/>
            <a:ext cx="4480560" cy="2377440"/>
          </a:xfrm>
          <a:prstGeom prst="rect">
            <a:avLst/>
          </a:prstGeom>
          <a:noFill/>
        </p:spPr>
        <p:txBody>
          <a:bodyPr wrap="square" lIns="0" tIns="0" rIns="0" bIns="0" anchor="t">
            <a:spAutoFit/>
          </a:bodyPr>
          <a:lstStyle/>
          <a:p>
            <a:pPr algn="l">
              <a:lnSpc>
                <a:spcPct val="110000"/>
              </a:lnSpc>
            </a:pPr>
            <a:r>
              <a:rPr sz="2100" b="0">
                <a:solidFill>
                  <a:srgbClr val="4A423A"/>
                </a:solidFill>
                <a:latin typeface="Georgia"/>
              </a:rPr>
              <a:t>En todo lo que depende de quien conduce: medir, evaluar, documentar, comunicar y dar horizonte.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7">
    <p:bg>
      <p:bgPr>
        <a:solidFill>
          <a:srgbClr val="16120E"/>
        </a:solidFill>
        <a:effectLst/>
      </p:bgPr>
    </p:bg>
    <p:spTree>
      <p:nvGrpSpPr>
        <p:cNvPr id="1" name=""/>
        <p:cNvGrpSpPr/>
        <p:nvPr/>
      </p:nvGrpSpPr>
      <p:grpSpPr>
        <a:xfrm>
          <a:off x="0" y="0"/>
          <a:ext cx="0" cy="0"/>
          <a:chOff x="0" y="0"/>
          <a:chExt cx="0" cy="0"/>
        </a:xfrm>
      </p:grpSpPr>
      <p:sp>
        <p:nvSpPr>
          <p:cNvPr id="2" name="TextBox 1"/>
          <p:cNvSpPr txBox="1"/>
          <p:nvPr/>
        </p:nvSpPr>
        <p:spPr>
          <a:xfrm>
            <a:off x="1051560" y="950976"/>
            <a:ext cx="16184880" cy="822960"/>
          </a:xfrm>
          <a:prstGeom prst="rect">
            <a:avLst/>
          </a:prstGeom>
          <a:noFill/>
        </p:spPr>
        <p:txBody>
          <a:bodyPr wrap="square" lIns="0" tIns="0" rIns="0" bIns="0" anchor="t">
            <a:spAutoFit/>
          </a:bodyPr>
          <a:lstStyle/>
          <a:p>
            <a:pPr algn="l"/>
            <a:r>
              <a:rPr sz="5400" b="1">
                <a:solidFill>
                  <a:srgbClr val="F2EDE3"/>
                </a:solidFill>
                <a:latin typeface="Arial"/>
              </a:rPr>
              <a:t>El eslabón que falta: el mando medio</a:t>
            </a:r>
          </a:p>
        </p:txBody>
      </p:sp>
      <p:sp>
        <p:nvSpPr>
          <p:cNvPr id="3" name="Rectangle 2"/>
          <p:cNvSpPr/>
          <p:nvPr/>
        </p:nvSpPr>
        <p:spPr>
          <a:xfrm>
            <a:off x="1051560" y="2331720"/>
            <a:ext cx="5093208" cy="45720"/>
          </a:xfrm>
          <a:prstGeom prst="rect">
            <a:avLst/>
          </a:prstGeom>
          <a:solidFill>
            <a:srgbClr val="B455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51560" y="2651760"/>
            <a:ext cx="5212080" cy="1005840"/>
          </a:xfrm>
          <a:prstGeom prst="rect">
            <a:avLst/>
          </a:prstGeom>
          <a:noFill/>
        </p:spPr>
        <p:txBody>
          <a:bodyPr wrap="square" lIns="0" tIns="0" rIns="0" bIns="0" anchor="t">
            <a:spAutoFit/>
          </a:bodyPr>
          <a:lstStyle/>
          <a:p>
            <a:pPr algn="l"/>
            <a:r>
              <a:rPr sz="7200" b="1">
                <a:solidFill>
                  <a:srgbClr val="B4552F"/>
                </a:solidFill>
                <a:latin typeface="Arial"/>
              </a:rPr>
              <a:t>1 de 17</a:t>
            </a:r>
          </a:p>
        </p:txBody>
      </p:sp>
      <p:sp>
        <p:nvSpPr>
          <p:cNvPr id="5" name="TextBox 4"/>
          <p:cNvSpPr txBox="1"/>
          <p:nvPr/>
        </p:nvSpPr>
        <p:spPr>
          <a:xfrm>
            <a:off x="1051560" y="3794760"/>
            <a:ext cx="5120640" cy="502920"/>
          </a:xfrm>
          <a:prstGeom prst="rect">
            <a:avLst/>
          </a:prstGeom>
          <a:noFill/>
        </p:spPr>
        <p:txBody>
          <a:bodyPr wrap="square" lIns="0" tIns="0" rIns="0" bIns="0" anchor="t">
            <a:spAutoFit/>
          </a:bodyPr>
          <a:lstStyle/>
          <a:p>
            <a:pPr algn="l"/>
            <a:r>
              <a:rPr sz="2800" b="1">
                <a:solidFill>
                  <a:srgbClr val="F2EDE3"/>
                </a:solidFill>
                <a:latin typeface="Arial"/>
              </a:rPr>
              <a:t>Liderazgo de mandos medios</a:t>
            </a:r>
          </a:p>
        </p:txBody>
      </p:sp>
      <p:sp>
        <p:nvSpPr>
          <p:cNvPr id="6" name="TextBox 5"/>
          <p:cNvSpPr txBox="1"/>
          <p:nvPr/>
        </p:nvSpPr>
        <p:spPr>
          <a:xfrm>
            <a:off x="1051560" y="4480560"/>
            <a:ext cx="4937760" cy="2011680"/>
          </a:xfrm>
          <a:prstGeom prst="rect">
            <a:avLst/>
          </a:prstGeom>
          <a:noFill/>
        </p:spPr>
        <p:txBody>
          <a:bodyPr wrap="square" lIns="0" tIns="0" rIns="0" bIns="0" anchor="t">
            <a:spAutoFit/>
          </a:bodyPr>
          <a:lstStyle/>
          <a:p>
            <a:pPr algn="l">
              <a:lnSpc>
                <a:spcPct val="110000"/>
              </a:lnSpc>
            </a:pPr>
            <a:r>
              <a:rPr sz="2200" b="0">
                <a:solidFill>
                  <a:srgbClr val="D6CBB9"/>
                </a:solidFill>
                <a:latin typeface="Georgia"/>
              </a:rPr>
              <a:t>Solo una llega a nivel 4 o 5. En el resto del país, casi 4 de cada 10.</a:t>
            </a:r>
          </a:p>
        </p:txBody>
      </p:sp>
      <p:sp>
        <p:nvSpPr>
          <p:cNvPr id="7" name="Rectangle 6"/>
          <p:cNvSpPr/>
          <p:nvPr/>
        </p:nvSpPr>
        <p:spPr>
          <a:xfrm>
            <a:off x="6601968" y="2331720"/>
            <a:ext cx="5093208" cy="45720"/>
          </a:xfrm>
          <a:prstGeom prst="rect">
            <a:avLst/>
          </a:prstGeom>
          <a:solidFill>
            <a:srgbClr val="E0A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01968" y="2651760"/>
            <a:ext cx="5212080" cy="1005840"/>
          </a:xfrm>
          <a:prstGeom prst="rect">
            <a:avLst/>
          </a:prstGeom>
          <a:noFill/>
        </p:spPr>
        <p:txBody>
          <a:bodyPr wrap="square" lIns="0" tIns="0" rIns="0" bIns="0" anchor="t">
            <a:spAutoFit/>
          </a:bodyPr>
          <a:lstStyle/>
          <a:p>
            <a:pPr algn="l"/>
            <a:r>
              <a:rPr sz="7200" b="1">
                <a:solidFill>
                  <a:srgbClr val="E0A32E"/>
                </a:solidFill>
                <a:latin typeface="Arial"/>
              </a:rPr>
              <a:t>11 de 17</a:t>
            </a:r>
          </a:p>
        </p:txBody>
      </p:sp>
      <p:sp>
        <p:nvSpPr>
          <p:cNvPr id="9" name="TextBox 8"/>
          <p:cNvSpPr txBox="1"/>
          <p:nvPr/>
        </p:nvSpPr>
        <p:spPr>
          <a:xfrm>
            <a:off x="6601968" y="3794760"/>
            <a:ext cx="5120640" cy="502920"/>
          </a:xfrm>
          <a:prstGeom prst="rect">
            <a:avLst/>
          </a:prstGeom>
          <a:noFill/>
        </p:spPr>
        <p:txBody>
          <a:bodyPr wrap="square" lIns="0" tIns="0" rIns="0" bIns="0" anchor="t">
            <a:spAutoFit/>
          </a:bodyPr>
          <a:lstStyle/>
          <a:p>
            <a:pPr algn="l"/>
            <a:r>
              <a:rPr sz="2800" b="1">
                <a:solidFill>
                  <a:srgbClr val="F2EDE3"/>
                </a:solidFill>
                <a:latin typeface="Arial"/>
              </a:rPr>
              <a:t>Productividad por puesto</a:t>
            </a:r>
          </a:p>
        </p:txBody>
      </p:sp>
      <p:sp>
        <p:nvSpPr>
          <p:cNvPr id="10" name="TextBox 9"/>
          <p:cNvSpPr txBox="1"/>
          <p:nvPr/>
        </p:nvSpPr>
        <p:spPr>
          <a:xfrm>
            <a:off x="6601968" y="4480560"/>
            <a:ext cx="4937760" cy="2011680"/>
          </a:xfrm>
          <a:prstGeom prst="rect">
            <a:avLst/>
          </a:prstGeom>
          <a:noFill/>
        </p:spPr>
        <p:txBody>
          <a:bodyPr wrap="square" lIns="0" tIns="0" rIns="0" bIns="0" anchor="t">
            <a:spAutoFit/>
          </a:bodyPr>
          <a:lstStyle/>
          <a:p>
            <a:pPr algn="l">
              <a:lnSpc>
                <a:spcPct val="110000"/>
              </a:lnSpc>
            </a:pPr>
            <a:r>
              <a:rPr sz="2200" b="0">
                <a:solidFill>
                  <a:srgbClr val="D6CBB9"/>
                </a:solidFill>
                <a:latin typeface="Georgia"/>
              </a:rPr>
              <a:t>No sabe qué rinde cada puesto. En el resto del país, más de 4 de cada 10.</a:t>
            </a:r>
          </a:p>
        </p:txBody>
      </p:sp>
      <p:sp>
        <p:nvSpPr>
          <p:cNvPr id="11" name="Rectangle 10"/>
          <p:cNvSpPr/>
          <p:nvPr/>
        </p:nvSpPr>
        <p:spPr>
          <a:xfrm>
            <a:off x="12152376" y="2331720"/>
            <a:ext cx="5093208" cy="45720"/>
          </a:xfrm>
          <a:prstGeom prst="rect">
            <a:avLst/>
          </a:prstGeom>
          <a:solidFill>
            <a:srgbClr val="D6CB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152376" y="2651760"/>
            <a:ext cx="5212080" cy="1005840"/>
          </a:xfrm>
          <a:prstGeom prst="rect">
            <a:avLst/>
          </a:prstGeom>
          <a:noFill/>
        </p:spPr>
        <p:txBody>
          <a:bodyPr wrap="square" lIns="0" tIns="0" rIns="0" bIns="0" anchor="t">
            <a:spAutoFit/>
          </a:bodyPr>
          <a:lstStyle/>
          <a:p>
            <a:pPr algn="l"/>
            <a:r>
              <a:rPr sz="7200" b="1">
                <a:solidFill>
                  <a:srgbClr val="D6CBB9"/>
                </a:solidFill>
                <a:latin typeface="Arial"/>
              </a:rPr>
              <a:t>4 de 17</a:t>
            </a:r>
          </a:p>
        </p:txBody>
      </p:sp>
      <p:sp>
        <p:nvSpPr>
          <p:cNvPr id="13" name="TextBox 12"/>
          <p:cNvSpPr txBox="1"/>
          <p:nvPr/>
        </p:nvSpPr>
        <p:spPr>
          <a:xfrm>
            <a:off x="12152376" y="3794760"/>
            <a:ext cx="5120640" cy="502920"/>
          </a:xfrm>
          <a:prstGeom prst="rect">
            <a:avLst/>
          </a:prstGeom>
          <a:noFill/>
        </p:spPr>
        <p:txBody>
          <a:bodyPr wrap="square" lIns="0" tIns="0" rIns="0" bIns="0" anchor="t">
            <a:spAutoFit/>
          </a:bodyPr>
          <a:lstStyle/>
          <a:p>
            <a:pPr algn="l"/>
            <a:r>
              <a:rPr sz="2800" b="1">
                <a:solidFill>
                  <a:srgbClr val="F2EDE3"/>
                </a:solidFill>
                <a:latin typeface="Arial"/>
              </a:rPr>
              <a:t>Horizonte para los mejores</a:t>
            </a:r>
          </a:p>
        </p:txBody>
      </p:sp>
      <p:sp>
        <p:nvSpPr>
          <p:cNvPr id="14" name="TextBox 13"/>
          <p:cNvSpPr txBox="1"/>
          <p:nvPr/>
        </p:nvSpPr>
        <p:spPr>
          <a:xfrm>
            <a:off x="12152376" y="4480560"/>
            <a:ext cx="4937760" cy="2011680"/>
          </a:xfrm>
          <a:prstGeom prst="rect">
            <a:avLst/>
          </a:prstGeom>
          <a:noFill/>
        </p:spPr>
        <p:txBody>
          <a:bodyPr wrap="square" lIns="0" tIns="0" rIns="0" bIns="0" anchor="t">
            <a:spAutoFit/>
          </a:bodyPr>
          <a:lstStyle/>
          <a:p>
            <a:pPr algn="l">
              <a:lnSpc>
                <a:spcPct val="110000"/>
              </a:lnSpc>
            </a:pPr>
            <a:r>
              <a:rPr sz="2200" b="0">
                <a:solidFill>
                  <a:srgbClr val="D6CBB9"/>
                </a:solidFill>
                <a:latin typeface="Georgia"/>
              </a:rPr>
              <a:t>Muestra a su mejor gente un futuro en la empresa. En el resto del país, casi la mitad.</a:t>
            </a:r>
          </a:p>
        </p:txBody>
      </p:sp>
      <p:sp>
        <p:nvSpPr>
          <p:cNvPr id="15" name="TextBox 14"/>
          <p:cNvSpPr txBox="1"/>
          <p:nvPr/>
        </p:nvSpPr>
        <p:spPr>
          <a:xfrm>
            <a:off x="1051559" y="7040880"/>
            <a:ext cx="16530587" cy="1041375"/>
          </a:xfrm>
          <a:prstGeom prst="rect">
            <a:avLst/>
          </a:prstGeom>
          <a:noFill/>
        </p:spPr>
        <p:txBody>
          <a:bodyPr wrap="square" lIns="0" tIns="0" rIns="0" bIns="0" anchor="t">
            <a:spAutoFit/>
          </a:bodyPr>
          <a:lstStyle/>
          <a:p>
            <a:pPr algn="l">
              <a:lnSpc>
                <a:spcPct val="110000"/>
              </a:lnSpc>
            </a:pPr>
            <a:r>
              <a:rPr sz="3200" b="1" dirty="0">
                <a:solidFill>
                  <a:srgbClr val="E0A32E"/>
                </a:solidFill>
                <a:latin typeface="Arial"/>
              </a:rPr>
              <a:t>En el </a:t>
            </a:r>
            <a:r>
              <a:rPr sz="3200" b="1" dirty="0" err="1">
                <a:solidFill>
                  <a:srgbClr val="E0A32E"/>
                </a:solidFill>
                <a:latin typeface="Arial"/>
              </a:rPr>
              <a:t>país</a:t>
            </a:r>
            <a:r>
              <a:rPr sz="3200" b="1" dirty="0">
                <a:solidFill>
                  <a:srgbClr val="E0A32E"/>
                </a:solidFill>
                <a:latin typeface="Arial"/>
              </a:rPr>
              <a:t>, </a:t>
            </a:r>
            <a:r>
              <a:rPr sz="3200" b="1" dirty="0" err="1">
                <a:solidFill>
                  <a:srgbClr val="E0A32E"/>
                </a:solidFill>
                <a:latin typeface="Arial"/>
              </a:rPr>
              <a:t>cuando</a:t>
            </a:r>
            <a:r>
              <a:rPr sz="3200" b="1" dirty="0">
                <a:solidFill>
                  <a:srgbClr val="E0A32E"/>
                </a:solidFill>
                <a:latin typeface="Arial"/>
              </a:rPr>
              <a:t> el </a:t>
            </a:r>
            <a:r>
              <a:rPr sz="3200" b="1" dirty="0" err="1">
                <a:solidFill>
                  <a:srgbClr val="E0A32E"/>
                </a:solidFill>
                <a:latin typeface="Arial"/>
              </a:rPr>
              <a:t>liderazgo</a:t>
            </a:r>
            <a:r>
              <a:rPr sz="3200" b="1" dirty="0">
                <a:solidFill>
                  <a:srgbClr val="E0A32E"/>
                </a:solidFill>
                <a:latin typeface="Arial"/>
              </a:rPr>
              <a:t> es </a:t>
            </a:r>
            <a:r>
              <a:rPr sz="3200" b="1" dirty="0" err="1">
                <a:solidFill>
                  <a:srgbClr val="E0A32E"/>
                </a:solidFill>
                <a:latin typeface="Arial"/>
              </a:rPr>
              <a:t>fuerte</a:t>
            </a:r>
            <a:r>
              <a:rPr sz="3200" b="1" dirty="0">
                <a:solidFill>
                  <a:srgbClr val="E0A32E"/>
                </a:solidFill>
                <a:latin typeface="Arial"/>
              </a:rPr>
              <a:t>, el 73% </a:t>
            </a:r>
            <a:r>
              <a:rPr sz="3200" b="1" dirty="0" err="1">
                <a:solidFill>
                  <a:srgbClr val="E0A32E"/>
                </a:solidFill>
                <a:latin typeface="Arial"/>
              </a:rPr>
              <a:t>conecta</a:t>
            </a:r>
            <a:r>
              <a:rPr sz="3200" b="1" dirty="0">
                <a:solidFill>
                  <a:srgbClr val="E0A32E"/>
                </a:solidFill>
                <a:latin typeface="Arial"/>
              </a:rPr>
              <a:t> a </a:t>
            </a:r>
            <a:r>
              <a:rPr sz="3200" b="1" dirty="0" err="1">
                <a:solidFill>
                  <a:srgbClr val="E0A32E"/>
                </a:solidFill>
                <a:latin typeface="Arial"/>
              </a:rPr>
              <a:t>su</a:t>
            </a:r>
            <a:r>
              <a:rPr sz="3200" b="1" dirty="0">
                <a:solidFill>
                  <a:srgbClr val="E0A32E"/>
                </a:solidFill>
                <a:latin typeface="Arial"/>
              </a:rPr>
              <a:t> </a:t>
            </a:r>
            <a:r>
              <a:rPr sz="3200" b="1" dirty="0" err="1">
                <a:solidFill>
                  <a:srgbClr val="E0A32E"/>
                </a:solidFill>
                <a:latin typeface="Arial"/>
              </a:rPr>
              <a:t>gente</a:t>
            </a:r>
            <a:r>
              <a:rPr sz="3200" b="1" dirty="0">
                <a:solidFill>
                  <a:srgbClr val="E0A32E"/>
                </a:solidFill>
                <a:latin typeface="Arial"/>
              </a:rPr>
              <a:t> con la </a:t>
            </a:r>
            <a:r>
              <a:rPr sz="3200" b="1" dirty="0" err="1">
                <a:solidFill>
                  <a:srgbClr val="E0A32E"/>
                </a:solidFill>
                <a:latin typeface="Arial"/>
              </a:rPr>
              <a:t>estrategia</a:t>
            </a:r>
            <a:r>
              <a:rPr sz="3200" b="1" dirty="0">
                <a:solidFill>
                  <a:srgbClr val="E0A32E"/>
                </a:solidFill>
                <a:latin typeface="Arial"/>
              </a:rPr>
              <a:t>.</a:t>
            </a:r>
          </a:p>
          <a:p>
            <a:pPr algn="l">
              <a:lnSpc>
                <a:spcPct val="110000"/>
              </a:lnSpc>
            </a:pPr>
            <a:r>
              <a:rPr sz="3200" b="1" dirty="0">
                <a:solidFill>
                  <a:srgbClr val="E0A32E"/>
                </a:solidFill>
                <a:latin typeface="Arial"/>
              </a:rPr>
              <a:t>Cuando es </a:t>
            </a:r>
            <a:r>
              <a:rPr sz="3200" b="1" dirty="0" err="1">
                <a:solidFill>
                  <a:srgbClr val="E0A32E"/>
                </a:solidFill>
                <a:latin typeface="Arial"/>
              </a:rPr>
              <a:t>débil</a:t>
            </a:r>
            <a:r>
              <a:rPr sz="3200" b="1" dirty="0">
                <a:solidFill>
                  <a:srgbClr val="E0A32E"/>
                </a:solidFill>
                <a:latin typeface="Arial"/>
              </a:rPr>
              <a:t>, el 22%.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7">
    <p:bg>
      <p:bgPr>
        <a:solidFill>
          <a:srgbClr val="16120E"/>
        </a:solidFill>
        <a:effectLst/>
      </p:bgPr>
    </p:bg>
    <p:spTree>
      <p:nvGrpSpPr>
        <p:cNvPr id="1" name=""/>
        <p:cNvGrpSpPr/>
        <p:nvPr/>
      </p:nvGrpSpPr>
      <p:grpSpPr>
        <a:xfrm>
          <a:off x="0" y="0"/>
          <a:ext cx="0" cy="0"/>
          <a:chOff x="0" y="0"/>
          <a:chExt cx="0" cy="0"/>
        </a:xfrm>
      </p:grpSpPr>
      <p:sp>
        <p:nvSpPr>
          <p:cNvPr id="2" name="TextBox 1"/>
          <p:cNvSpPr txBox="1"/>
          <p:nvPr/>
        </p:nvSpPr>
        <p:spPr>
          <a:xfrm>
            <a:off x="1051560" y="950976"/>
            <a:ext cx="16184880" cy="822960"/>
          </a:xfrm>
          <a:prstGeom prst="rect">
            <a:avLst/>
          </a:prstGeom>
          <a:noFill/>
        </p:spPr>
        <p:txBody>
          <a:bodyPr wrap="square" lIns="0" tIns="0" rIns="0" bIns="0" anchor="t">
            <a:spAutoFit/>
          </a:bodyPr>
          <a:lstStyle/>
          <a:p>
            <a:pPr algn="l"/>
            <a:r>
              <a:rPr sz="5400" b="1">
                <a:solidFill>
                  <a:srgbClr val="F2EDE3"/>
                </a:solidFill>
                <a:latin typeface="Arial"/>
              </a:rPr>
              <a:t>Una buena noticia: acá la cultura no es discurso</a:t>
            </a:r>
          </a:p>
        </p:txBody>
      </p:sp>
      <p:sp>
        <p:nvSpPr>
          <p:cNvPr id="3" name="TextBox 2"/>
          <p:cNvSpPr txBox="1"/>
          <p:nvPr/>
        </p:nvSpPr>
        <p:spPr>
          <a:xfrm>
            <a:off x="1051560" y="1874519"/>
            <a:ext cx="15727680" cy="369332"/>
          </a:xfrm>
          <a:prstGeom prst="rect">
            <a:avLst/>
          </a:prstGeom>
          <a:noFill/>
        </p:spPr>
        <p:txBody>
          <a:bodyPr wrap="square" lIns="0" tIns="0" rIns="0" bIns="0" anchor="t">
            <a:spAutoFit/>
          </a:bodyPr>
          <a:lstStyle/>
          <a:p>
            <a:pPr algn="l"/>
            <a:r>
              <a:rPr sz="2400" b="0" dirty="0">
                <a:solidFill>
                  <a:schemeClr val="accent4">
                    <a:lumMod val="40000"/>
                    <a:lumOff val="60000"/>
                  </a:schemeClr>
                </a:solidFill>
                <a:latin typeface="Georgia"/>
              </a:rPr>
              <a:t>Entre las </a:t>
            </a:r>
            <a:r>
              <a:rPr sz="2400" b="0" dirty="0" err="1">
                <a:solidFill>
                  <a:schemeClr val="accent4">
                    <a:lumMod val="40000"/>
                    <a:lumOff val="60000"/>
                  </a:schemeClr>
                </a:solidFill>
                <a:latin typeface="Georgia"/>
              </a:rPr>
              <a:t>empresas</a:t>
            </a:r>
            <a:r>
              <a:rPr sz="2400" b="0" dirty="0">
                <a:solidFill>
                  <a:schemeClr val="accent4">
                    <a:lumMod val="40000"/>
                    <a:lumOff val="60000"/>
                  </a:schemeClr>
                </a:solidFill>
                <a:latin typeface="Georgia"/>
              </a:rPr>
              <a:t> </a:t>
            </a:r>
            <a:r>
              <a:rPr sz="2400" b="0" dirty="0" err="1">
                <a:solidFill>
                  <a:schemeClr val="accent4">
                    <a:lumMod val="40000"/>
                    <a:lumOff val="60000"/>
                  </a:schemeClr>
                </a:solidFill>
                <a:latin typeface="Georgia"/>
              </a:rPr>
              <a:t>que</a:t>
            </a:r>
            <a:r>
              <a:rPr sz="2400" b="0" dirty="0">
                <a:solidFill>
                  <a:schemeClr val="accent4">
                    <a:lumMod val="40000"/>
                    <a:lumOff val="60000"/>
                  </a:schemeClr>
                </a:solidFill>
                <a:latin typeface="Georgia"/>
              </a:rPr>
              <a:t> </a:t>
            </a:r>
            <a:r>
              <a:rPr sz="2400" b="0" dirty="0" err="1">
                <a:solidFill>
                  <a:schemeClr val="accent4">
                    <a:lumMod val="40000"/>
                    <a:lumOff val="60000"/>
                  </a:schemeClr>
                </a:solidFill>
                <a:latin typeface="Georgia"/>
              </a:rPr>
              <a:t>reconocen</a:t>
            </a:r>
            <a:r>
              <a:rPr sz="2400" b="0" dirty="0">
                <a:solidFill>
                  <a:schemeClr val="accent4">
                    <a:lumMod val="40000"/>
                    <a:lumOff val="60000"/>
                  </a:schemeClr>
                </a:solidFill>
                <a:latin typeface="Georgia"/>
              </a:rPr>
              <a:t> </a:t>
            </a:r>
            <a:r>
              <a:rPr sz="2400" b="0" dirty="0" err="1">
                <a:solidFill>
                  <a:schemeClr val="accent4">
                    <a:lumMod val="40000"/>
                    <a:lumOff val="60000"/>
                  </a:schemeClr>
                </a:solidFill>
                <a:latin typeface="Georgia"/>
              </a:rPr>
              <a:t>comunicar</a:t>
            </a:r>
            <a:r>
              <a:rPr sz="2400" b="0" dirty="0">
                <a:solidFill>
                  <a:schemeClr val="accent4">
                    <a:lumMod val="40000"/>
                    <a:lumOff val="60000"/>
                  </a:schemeClr>
                </a:solidFill>
                <a:latin typeface="Georgia"/>
              </a:rPr>
              <a:t> poco con </a:t>
            </a:r>
            <a:r>
              <a:rPr sz="2400" b="0" dirty="0" err="1">
                <a:solidFill>
                  <a:schemeClr val="accent4">
                    <a:lumMod val="40000"/>
                    <a:lumOff val="60000"/>
                  </a:schemeClr>
                </a:solidFill>
                <a:latin typeface="Georgia"/>
              </a:rPr>
              <a:t>su</a:t>
            </a:r>
            <a:r>
              <a:rPr sz="2400" b="0" dirty="0">
                <a:solidFill>
                  <a:schemeClr val="accent4">
                    <a:lumMod val="40000"/>
                    <a:lumOff val="60000"/>
                  </a:schemeClr>
                </a:solidFill>
                <a:latin typeface="Georgia"/>
              </a:rPr>
              <a:t> </a:t>
            </a:r>
            <a:r>
              <a:rPr sz="2400" b="0" dirty="0" err="1">
                <a:solidFill>
                  <a:schemeClr val="accent4">
                    <a:lumMod val="40000"/>
                    <a:lumOff val="60000"/>
                  </a:schemeClr>
                </a:solidFill>
                <a:latin typeface="Georgia"/>
              </a:rPr>
              <a:t>equipo</a:t>
            </a:r>
            <a:r>
              <a:rPr sz="2400" b="0" dirty="0">
                <a:solidFill>
                  <a:schemeClr val="accent4">
                    <a:lumMod val="40000"/>
                    <a:lumOff val="60000"/>
                  </a:schemeClr>
                </a:solidFill>
                <a:latin typeface="Georgia"/>
              </a:rPr>
              <a:t>, ¿</a:t>
            </a:r>
            <a:r>
              <a:rPr sz="2400" b="0" dirty="0" err="1">
                <a:solidFill>
                  <a:schemeClr val="accent4">
                    <a:lumMod val="40000"/>
                    <a:lumOff val="60000"/>
                  </a:schemeClr>
                </a:solidFill>
                <a:latin typeface="Georgia"/>
              </a:rPr>
              <a:t>cuántas</a:t>
            </a:r>
            <a:r>
              <a:rPr sz="2400" b="0" dirty="0">
                <a:solidFill>
                  <a:schemeClr val="accent4">
                    <a:lumMod val="40000"/>
                    <a:lumOff val="60000"/>
                  </a:schemeClr>
                </a:solidFill>
                <a:latin typeface="Georgia"/>
              </a:rPr>
              <a:t> </a:t>
            </a:r>
            <a:r>
              <a:rPr sz="2400" b="0" dirty="0" err="1">
                <a:solidFill>
                  <a:schemeClr val="accent4">
                    <a:lumMod val="40000"/>
                    <a:lumOff val="60000"/>
                  </a:schemeClr>
                </a:solidFill>
                <a:latin typeface="Georgia"/>
              </a:rPr>
              <a:t>dicen</a:t>
            </a:r>
            <a:r>
              <a:rPr sz="2400" b="0" dirty="0">
                <a:solidFill>
                  <a:schemeClr val="accent4">
                    <a:lumMod val="40000"/>
                    <a:lumOff val="60000"/>
                  </a:schemeClr>
                </a:solidFill>
                <a:latin typeface="Georgia"/>
              </a:rPr>
              <a:t> </a:t>
            </a:r>
            <a:r>
              <a:rPr sz="2400" b="0" dirty="0" err="1">
                <a:solidFill>
                  <a:schemeClr val="accent4">
                    <a:lumMod val="40000"/>
                    <a:lumOff val="60000"/>
                  </a:schemeClr>
                </a:solidFill>
                <a:latin typeface="Georgia"/>
              </a:rPr>
              <a:t>igual</a:t>
            </a:r>
            <a:r>
              <a:rPr sz="2400" b="0" dirty="0">
                <a:solidFill>
                  <a:schemeClr val="accent4">
                    <a:lumMod val="40000"/>
                    <a:lumOff val="60000"/>
                  </a:schemeClr>
                </a:solidFill>
                <a:latin typeface="Georgia"/>
              </a:rPr>
              <a:t> </a:t>
            </a:r>
            <a:r>
              <a:rPr sz="2400" b="0" dirty="0" err="1">
                <a:solidFill>
                  <a:schemeClr val="accent4">
                    <a:lumMod val="40000"/>
                    <a:lumOff val="60000"/>
                  </a:schemeClr>
                </a:solidFill>
                <a:latin typeface="Georgia"/>
              </a:rPr>
              <a:t>que</a:t>
            </a:r>
            <a:r>
              <a:rPr sz="2400" b="0" dirty="0">
                <a:solidFill>
                  <a:schemeClr val="accent4">
                    <a:lumMod val="40000"/>
                    <a:lumOff val="60000"/>
                  </a:schemeClr>
                </a:solidFill>
                <a:latin typeface="Georgia"/>
              </a:rPr>
              <a:t> </a:t>
            </a:r>
            <a:r>
              <a:rPr sz="2400" b="0" dirty="0" err="1">
                <a:solidFill>
                  <a:schemeClr val="accent4">
                    <a:lumMod val="40000"/>
                    <a:lumOff val="60000"/>
                  </a:schemeClr>
                </a:solidFill>
                <a:latin typeface="Georgia"/>
              </a:rPr>
              <a:t>su</a:t>
            </a:r>
            <a:r>
              <a:rPr sz="2400" b="0" dirty="0">
                <a:solidFill>
                  <a:schemeClr val="accent4">
                    <a:lumMod val="40000"/>
                    <a:lumOff val="60000"/>
                  </a:schemeClr>
                </a:solidFill>
                <a:latin typeface="Georgia"/>
              </a:rPr>
              <a:t> </a:t>
            </a:r>
            <a:r>
              <a:rPr sz="2400" b="0" dirty="0" err="1">
                <a:solidFill>
                  <a:schemeClr val="accent4">
                    <a:lumMod val="40000"/>
                    <a:lumOff val="60000"/>
                  </a:schemeClr>
                </a:solidFill>
                <a:latin typeface="Georgia"/>
              </a:rPr>
              <a:t>cultura</a:t>
            </a:r>
            <a:r>
              <a:rPr sz="2400" b="0" dirty="0">
                <a:solidFill>
                  <a:schemeClr val="accent4">
                    <a:lumMod val="40000"/>
                    <a:lumOff val="60000"/>
                  </a:schemeClr>
                </a:solidFill>
                <a:latin typeface="Georgia"/>
              </a:rPr>
              <a:t> </a:t>
            </a:r>
            <a:r>
              <a:rPr sz="2400" b="0" dirty="0" err="1">
                <a:solidFill>
                  <a:schemeClr val="accent4">
                    <a:lumMod val="40000"/>
                    <a:lumOff val="60000"/>
                  </a:schemeClr>
                </a:solidFill>
                <a:latin typeface="Georgia"/>
              </a:rPr>
              <a:t>está</a:t>
            </a:r>
            <a:r>
              <a:rPr sz="2400" b="0" dirty="0">
                <a:solidFill>
                  <a:schemeClr val="accent4">
                    <a:lumMod val="40000"/>
                    <a:lumOff val="60000"/>
                  </a:schemeClr>
                </a:solidFill>
                <a:latin typeface="Georgia"/>
              </a:rPr>
              <a:t> viva?</a:t>
            </a:r>
          </a:p>
        </p:txBody>
      </p:sp>
      <p:sp>
        <p:nvSpPr>
          <p:cNvPr id="4" name="Rectangle 3"/>
          <p:cNvSpPr/>
          <p:nvPr/>
        </p:nvSpPr>
        <p:spPr>
          <a:xfrm>
            <a:off x="1051560" y="3017520"/>
            <a:ext cx="6949440" cy="45720"/>
          </a:xfrm>
          <a:prstGeom prst="rect">
            <a:avLst/>
          </a:prstGeom>
          <a:solidFill>
            <a:srgbClr val="7FA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3337560"/>
            <a:ext cx="7132320" cy="1280160"/>
          </a:xfrm>
          <a:prstGeom prst="rect">
            <a:avLst/>
          </a:prstGeom>
          <a:noFill/>
        </p:spPr>
        <p:txBody>
          <a:bodyPr wrap="square" lIns="0" tIns="0" rIns="0" bIns="0" anchor="t">
            <a:spAutoFit/>
          </a:bodyPr>
          <a:lstStyle/>
          <a:p>
            <a:pPr algn="l"/>
            <a:r>
              <a:rPr sz="9600" b="1">
                <a:solidFill>
                  <a:srgbClr val="7FA85C"/>
                </a:solidFill>
                <a:latin typeface="Arial"/>
              </a:rPr>
              <a:t>1 de 5</a:t>
            </a:r>
          </a:p>
        </p:txBody>
      </p:sp>
      <p:sp>
        <p:nvSpPr>
          <p:cNvPr id="6" name="TextBox 5"/>
          <p:cNvSpPr txBox="1"/>
          <p:nvPr/>
        </p:nvSpPr>
        <p:spPr>
          <a:xfrm>
            <a:off x="1051560" y="4709160"/>
            <a:ext cx="6949440" cy="502920"/>
          </a:xfrm>
          <a:prstGeom prst="rect">
            <a:avLst/>
          </a:prstGeom>
          <a:noFill/>
        </p:spPr>
        <p:txBody>
          <a:bodyPr wrap="square" lIns="0" tIns="0" rIns="0" bIns="0" anchor="t">
            <a:spAutoFit/>
          </a:bodyPr>
          <a:lstStyle/>
          <a:p>
            <a:pPr algn="l"/>
            <a:r>
              <a:rPr sz="3000" b="1">
                <a:solidFill>
                  <a:srgbClr val="F2EDE3"/>
                </a:solidFill>
                <a:latin typeface="Arial"/>
              </a:rPr>
              <a:t>En la región</a:t>
            </a:r>
          </a:p>
        </p:txBody>
      </p:sp>
      <p:sp>
        <p:nvSpPr>
          <p:cNvPr id="7" name="TextBox 6"/>
          <p:cNvSpPr txBox="1"/>
          <p:nvPr/>
        </p:nvSpPr>
        <p:spPr>
          <a:xfrm>
            <a:off x="1051560" y="5394960"/>
            <a:ext cx="6583680" cy="1463040"/>
          </a:xfrm>
          <a:prstGeom prst="rect">
            <a:avLst/>
          </a:prstGeom>
          <a:noFill/>
        </p:spPr>
        <p:txBody>
          <a:bodyPr wrap="square" lIns="0" tIns="0" rIns="0" bIns="0" anchor="t">
            <a:spAutoFit/>
          </a:bodyPr>
          <a:lstStyle/>
          <a:p>
            <a:pPr algn="l">
              <a:lnSpc>
                <a:spcPct val="110000"/>
              </a:lnSpc>
            </a:pPr>
            <a:r>
              <a:rPr sz="2300" b="0">
                <a:solidFill>
                  <a:srgbClr val="D6CBB9"/>
                </a:solidFill>
                <a:latin typeface="Georgia"/>
              </a:rPr>
              <a:t>La cultura se sostiene en la conversación diaria. Si no hay conversación, lo reconocen.</a:t>
            </a:r>
          </a:p>
        </p:txBody>
      </p:sp>
      <p:sp>
        <p:nvSpPr>
          <p:cNvPr id="8" name="Rectangle 7"/>
          <p:cNvSpPr/>
          <p:nvPr/>
        </p:nvSpPr>
        <p:spPr>
          <a:xfrm>
            <a:off x="8915400" y="3017520"/>
            <a:ext cx="6949440" cy="45720"/>
          </a:xfrm>
          <a:prstGeom prst="rect">
            <a:avLst/>
          </a:prstGeom>
          <a:solidFill>
            <a:srgbClr val="D6CB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915400" y="3337560"/>
            <a:ext cx="7132320" cy="1280160"/>
          </a:xfrm>
          <a:prstGeom prst="rect">
            <a:avLst/>
          </a:prstGeom>
          <a:noFill/>
        </p:spPr>
        <p:txBody>
          <a:bodyPr wrap="square" lIns="0" tIns="0" rIns="0" bIns="0" anchor="t">
            <a:spAutoFit/>
          </a:bodyPr>
          <a:lstStyle/>
          <a:p>
            <a:pPr algn="l"/>
            <a:r>
              <a:rPr sz="9600" b="1">
                <a:solidFill>
                  <a:srgbClr val="D6CBB9"/>
                </a:solidFill>
                <a:latin typeface="Arial"/>
              </a:rPr>
              <a:t>1 de 2</a:t>
            </a:r>
          </a:p>
        </p:txBody>
      </p:sp>
      <p:sp>
        <p:nvSpPr>
          <p:cNvPr id="10" name="TextBox 9"/>
          <p:cNvSpPr txBox="1"/>
          <p:nvPr/>
        </p:nvSpPr>
        <p:spPr>
          <a:xfrm>
            <a:off x="8915400" y="4709160"/>
            <a:ext cx="6949440" cy="502920"/>
          </a:xfrm>
          <a:prstGeom prst="rect">
            <a:avLst/>
          </a:prstGeom>
          <a:noFill/>
        </p:spPr>
        <p:txBody>
          <a:bodyPr wrap="square" lIns="0" tIns="0" rIns="0" bIns="0" anchor="t">
            <a:spAutoFit/>
          </a:bodyPr>
          <a:lstStyle/>
          <a:p>
            <a:pPr algn="l"/>
            <a:r>
              <a:rPr sz="3000" b="1">
                <a:solidFill>
                  <a:srgbClr val="F2EDE3"/>
                </a:solidFill>
                <a:latin typeface="Arial"/>
              </a:rPr>
              <a:t>En el resto del país</a:t>
            </a:r>
          </a:p>
        </p:txBody>
      </p:sp>
      <p:sp>
        <p:nvSpPr>
          <p:cNvPr id="11" name="TextBox 10"/>
          <p:cNvSpPr txBox="1"/>
          <p:nvPr/>
        </p:nvSpPr>
        <p:spPr>
          <a:xfrm>
            <a:off x="8915400" y="5394960"/>
            <a:ext cx="6583680" cy="1463040"/>
          </a:xfrm>
          <a:prstGeom prst="rect">
            <a:avLst/>
          </a:prstGeom>
          <a:noFill/>
        </p:spPr>
        <p:txBody>
          <a:bodyPr wrap="square" lIns="0" tIns="0" rIns="0" bIns="0" anchor="t">
            <a:spAutoFit/>
          </a:bodyPr>
          <a:lstStyle/>
          <a:p>
            <a:pPr algn="l">
              <a:lnSpc>
                <a:spcPct val="110000"/>
              </a:lnSpc>
            </a:pPr>
            <a:r>
              <a:rPr sz="2300" b="0">
                <a:solidFill>
                  <a:srgbClr val="D6CBB9"/>
                </a:solidFill>
                <a:latin typeface="Georgia"/>
              </a:rPr>
              <a:t>La mitad declara una cultura fuerte que no se comunica. Es cultura de discurso.</a:t>
            </a:r>
          </a:p>
        </p:txBody>
      </p:sp>
      <p:sp>
        <p:nvSpPr>
          <p:cNvPr id="12" name="TextBox 11"/>
          <p:cNvSpPr txBox="1"/>
          <p:nvPr/>
        </p:nvSpPr>
        <p:spPr>
          <a:xfrm>
            <a:off x="1051560" y="7406640"/>
            <a:ext cx="16184880" cy="1188720"/>
          </a:xfrm>
          <a:prstGeom prst="rect">
            <a:avLst/>
          </a:prstGeom>
          <a:noFill/>
        </p:spPr>
        <p:txBody>
          <a:bodyPr wrap="square" lIns="0" tIns="0" rIns="0" bIns="0" anchor="t">
            <a:spAutoFit/>
          </a:bodyPr>
          <a:lstStyle/>
          <a:p>
            <a:pPr algn="l">
              <a:lnSpc>
                <a:spcPct val="110000"/>
              </a:lnSpc>
            </a:pPr>
            <a:r>
              <a:rPr sz="2800" b="1">
                <a:solidFill>
                  <a:srgbClr val="E0A32E"/>
                </a:solidFill>
                <a:latin typeface="Arial"/>
              </a:rPr>
              <a:t>Acá, cuando se habla de cultura, hay con qué respaldarla.</a:t>
            </a:r>
          </a:p>
          <a:p>
            <a:pPr algn="l">
              <a:lnSpc>
                <a:spcPct val="110000"/>
              </a:lnSpc>
            </a:pPr>
            <a:r>
              <a:rPr sz="2800" b="1">
                <a:solidFill>
                  <a:srgbClr val="E0A32E"/>
                </a:solidFill>
                <a:latin typeface="Arial"/>
              </a:rPr>
              <a:t>Es el mejor punto de apoyo para construir la estructura que falta.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5">
    <p:bg>
      <p:bgPr>
        <a:solidFill>
          <a:srgbClr val="F2EDE3"/>
        </a:solidFill>
        <a:effectLst/>
      </p:bgPr>
    </p:bg>
    <p:spTree>
      <p:nvGrpSpPr>
        <p:cNvPr id="1" name=""/>
        <p:cNvGrpSpPr/>
        <p:nvPr/>
      </p:nvGrpSpPr>
      <p:grpSpPr>
        <a:xfrm>
          <a:off x="0" y="0"/>
          <a:ext cx="0" cy="0"/>
          <a:chOff x="0" y="0"/>
          <a:chExt cx="0" cy="0"/>
        </a:xfrm>
      </p:grpSpPr>
      <p:sp>
        <p:nvSpPr>
          <p:cNvPr id="2" name="TextBox 1"/>
          <p:cNvSpPr txBox="1"/>
          <p:nvPr/>
        </p:nvSpPr>
        <p:spPr>
          <a:xfrm>
            <a:off x="1051560" y="859536"/>
            <a:ext cx="16184880" cy="822960"/>
          </a:xfrm>
          <a:prstGeom prst="rect">
            <a:avLst/>
          </a:prstGeom>
          <a:noFill/>
        </p:spPr>
        <p:txBody>
          <a:bodyPr wrap="square" lIns="0" tIns="0" rIns="0" bIns="0" anchor="t">
            <a:spAutoFit/>
          </a:bodyPr>
          <a:lstStyle/>
          <a:p>
            <a:pPr algn="l"/>
            <a:r>
              <a:rPr sz="4800" b="1">
                <a:solidFill>
                  <a:srgbClr val="16120E"/>
                </a:solidFill>
                <a:latin typeface="Arial"/>
              </a:rPr>
              <a:t>Por dónde empezar: cinco palancas</a:t>
            </a:r>
          </a:p>
        </p:txBody>
      </p:sp>
      <p:sp>
        <p:nvSpPr>
          <p:cNvPr id="3" name="TextBox 2"/>
          <p:cNvSpPr txBox="1"/>
          <p:nvPr/>
        </p:nvSpPr>
        <p:spPr>
          <a:xfrm>
            <a:off x="1051560" y="1691640"/>
            <a:ext cx="16184880" cy="457200"/>
          </a:xfrm>
          <a:prstGeom prst="rect">
            <a:avLst/>
          </a:prstGeom>
          <a:noFill/>
        </p:spPr>
        <p:txBody>
          <a:bodyPr wrap="square" lIns="0" tIns="0" rIns="0" bIns="0" anchor="t">
            <a:spAutoFit/>
          </a:bodyPr>
          <a:lstStyle/>
          <a:p>
            <a:pPr algn="l"/>
            <a:r>
              <a:rPr sz="2200" b="0">
                <a:solidFill>
                  <a:srgbClr val="6B6157"/>
                </a:solidFill>
                <a:latin typeface="Georgia"/>
              </a:rPr>
              <a:t>Preguntas con puntaje bajo en la región que, cuando se mueven, arrastran al resto del diagnóstico.</a:t>
            </a:r>
          </a:p>
        </p:txBody>
      </p:sp>
      <p:sp>
        <p:nvSpPr>
          <p:cNvPr id="4" name="Rectangle 3"/>
          <p:cNvSpPr/>
          <p:nvPr/>
        </p:nvSpPr>
        <p:spPr>
          <a:xfrm>
            <a:off x="1051560" y="2606040"/>
            <a:ext cx="16184880" cy="27432"/>
          </a:xfrm>
          <a:prstGeom prst="rect">
            <a:avLst/>
          </a:prstGeom>
          <a:solidFill>
            <a:srgbClr val="E7DC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2834640"/>
            <a:ext cx="731520" cy="914400"/>
          </a:xfrm>
          <a:prstGeom prst="rect">
            <a:avLst/>
          </a:prstGeom>
          <a:noFill/>
        </p:spPr>
        <p:txBody>
          <a:bodyPr wrap="square" lIns="0" tIns="0" rIns="0" bIns="0" anchor="t">
            <a:spAutoFit/>
          </a:bodyPr>
          <a:lstStyle/>
          <a:p>
            <a:pPr algn="l"/>
            <a:r>
              <a:rPr sz="4400" b="1">
                <a:solidFill>
                  <a:srgbClr val="B4552F"/>
                </a:solidFill>
                <a:latin typeface="Arial"/>
              </a:rPr>
              <a:t>1</a:t>
            </a:r>
          </a:p>
        </p:txBody>
      </p:sp>
      <p:sp>
        <p:nvSpPr>
          <p:cNvPr id="6" name="TextBox 5"/>
          <p:cNvSpPr txBox="1"/>
          <p:nvPr/>
        </p:nvSpPr>
        <p:spPr>
          <a:xfrm>
            <a:off x="2011680" y="2971800"/>
            <a:ext cx="6217920" cy="731520"/>
          </a:xfrm>
          <a:prstGeom prst="rect">
            <a:avLst/>
          </a:prstGeom>
          <a:noFill/>
        </p:spPr>
        <p:txBody>
          <a:bodyPr wrap="square" lIns="0" tIns="0" rIns="0" bIns="0" anchor="t">
            <a:spAutoFit/>
          </a:bodyPr>
          <a:lstStyle/>
          <a:p>
            <a:pPr algn="l"/>
            <a:r>
              <a:rPr sz="2800" b="1">
                <a:solidFill>
                  <a:srgbClr val="16120E"/>
                </a:solidFill>
                <a:latin typeface="Arial"/>
              </a:rPr>
              <a:t>Comunicación con el equipo</a:t>
            </a:r>
          </a:p>
        </p:txBody>
      </p:sp>
      <p:sp>
        <p:nvSpPr>
          <p:cNvPr id="7" name="TextBox 6"/>
          <p:cNvSpPr txBox="1"/>
          <p:nvPr/>
        </p:nvSpPr>
        <p:spPr>
          <a:xfrm>
            <a:off x="8595360" y="2971800"/>
            <a:ext cx="8595360" cy="822960"/>
          </a:xfrm>
          <a:prstGeom prst="rect">
            <a:avLst/>
          </a:prstGeom>
          <a:noFill/>
        </p:spPr>
        <p:txBody>
          <a:bodyPr wrap="square" lIns="0" tIns="0" rIns="0" bIns="0" anchor="t">
            <a:spAutoFit/>
          </a:bodyPr>
          <a:lstStyle/>
          <a:p>
            <a:pPr algn="l"/>
            <a:r>
              <a:rPr sz="2300" b="0">
                <a:solidFill>
                  <a:srgbClr val="4A423A"/>
                </a:solidFill>
                <a:latin typeface="Georgia"/>
              </a:rPr>
              <a:t>Una reunión corta y fija por semana: cómo venimos y qué sigue.</a:t>
            </a:r>
          </a:p>
        </p:txBody>
      </p:sp>
      <p:sp>
        <p:nvSpPr>
          <p:cNvPr id="8" name="Rectangle 7"/>
          <p:cNvSpPr/>
          <p:nvPr/>
        </p:nvSpPr>
        <p:spPr>
          <a:xfrm>
            <a:off x="1051560" y="3977639"/>
            <a:ext cx="16184880" cy="27432"/>
          </a:xfrm>
          <a:prstGeom prst="rect">
            <a:avLst/>
          </a:prstGeom>
          <a:solidFill>
            <a:srgbClr val="E7DC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4206240"/>
            <a:ext cx="731520" cy="914400"/>
          </a:xfrm>
          <a:prstGeom prst="rect">
            <a:avLst/>
          </a:prstGeom>
          <a:noFill/>
        </p:spPr>
        <p:txBody>
          <a:bodyPr wrap="square" lIns="0" tIns="0" rIns="0" bIns="0" anchor="t">
            <a:spAutoFit/>
          </a:bodyPr>
          <a:lstStyle/>
          <a:p>
            <a:pPr algn="l"/>
            <a:r>
              <a:rPr sz="4400" b="1">
                <a:solidFill>
                  <a:srgbClr val="B4552F"/>
                </a:solidFill>
                <a:latin typeface="Arial"/>
              </a:rPr>
              <a:t>2</a:t>
            </a:r>
          </a:p>
        </p:txBody>
      </p:sp>
      <p:sp>
        <p:nvSpPr>
          <p:cNvPr id="10" name="TextBox 9"/>
          <p:cNvSpPr txBox="1"/>
          <p:nvPr/>
        </p:nvSpPr>
        <p:spPr>
          <a:xfrm>
            <a:off x="2011680" y="4343400"/>
            <a:ext cx="6217920" cy="731520"/>
          </a:xfrm>
          <a:prstGeom prst="rect">
            <a:avLst/>
          </a:prstGeom>
          <a:noFill/>
        </p:spPr>
        <p:txBody>
          <a:bodyPr wrap="square" lIns="0" tIns="0" rIns="0" bIns="0" anchor="t">
            <a:spAutoFit/>
          </a:bodyPr>
          <a:lstStyle/>
          <a:p>
            <a:pPr algn="l"/>
            <a:r>
              <a:rPr sz="2800" b="1">
                <a:solidFill>
                  <a:srgbClr val="16120E"/>
                </a:solidFill>
                <a:latin typeface="Arial"/>
              </a:rPr>
              <a:t>Un responsable de la gente</a:t>
            </a:r>
          </a:p>
        </p:txBody>
      </p:sp>
      <p:sp>
        <p:nvSpPr>
          <p:cNvPr id="11" name="TextBox 10"/>
          <p:cNvSpPr txBox="1"/>
          <p:nvPr/>
        </p:nvSpPr>
        <p:spPr>
          <a:xfrm>
            <a:off x="8595360" y="4343400"/>
            <a:ext cx="8595360" cy="822960"/>
          </a:xfrm>
          <a:prstGeom prst="rect">
            <a:avLst/>
          </a:prstGeom>
          <a:noFill/>
        </p:spPr>
        <p:txBody>
          <a:bodyPr wrap="square" lIns="0" tIns="0" rIns="0" bIns="0" anchor="t">
            <a:spAutoFit/>
          </a:bodyPr>
          <a:lstStyle/>
          <a:p>
            <a:pPr algn="l"/>
            <a:r>
              <a:rPr sz="2300" b="0">
                <a:solidFill>
                  <a:srgbClr val="4A423A"/>
                </a:solidFill>
                <a:latin typeface="Georgia"/>
              </a:rPr>
              <a:t>Alguien con nombre y horas asignadas, aunque sea part-time.</a:t>
            </a:r>
          </a:p>
        </p:txBody>
      </p:sp>
      <p:sp>
        <p:nvSpPr>
          <p:cNvPr id="12" name="Rectangle 11"/>
          <p:cNvSpPr/>
          <p:nvPr/>
        </p:nvSpPr>
        <p:spPr>
          <a:xfrm>
            <a:off x="1051560" y="5349240"/>
            <a:ext cx="16184880" cy="27432"/>
          </a:xfrm>
          <a:prstGeom prst="rect">
            <a:avLst/>
          </a:prstGeom>
          <a:solidFill>
            <a:srgbClr val="E7DC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51560" y="5577840"/>
            <a:ext cx="731520" cy="914400"/>
          </a:xfrm>
          <a:prstGeom prst="rect">
            <a:avLst/>
          </a:prstGeom>
          <a:noFill/>
        </p:spPr>
        <p:txBody>
          <a:bodyPr wrap="square" lIns="0" tIns="0" rIns="0" bIns="0" anchor="t">
            <a:spAutoFit/>
          </a:bodyPr>
          <a:lstStyle/>
          <a:p>
            <a:pPr algn="l"/>
            <a:r>
              <a:rPr sz="4400" b="1">
                <a:solidFill>
                  <a:srgbClr val="C9962F"/>
                </a:solidFill>
                <a:latin typeface="Arial"/>
              </a:rPr>
              <a:t>3</a:t>
            </a:r>
          </a:p>
        </p:txBody>
      </p:sp>
      <p:sp>
        <p:nvSpPr>
          <p:cNvPr id="14" name="TextBox 13"/>
          <p:cNvSpPr txBox="1"/>
          <p:nvPr/>
        </p:nvSpPr>
        <p:spPr>
          <a:xfrm>
            <a:off x="2011680" y="5715000"/>
            <a:ext cx="6217920" cy="731520"/>
          </a:xfrm>
          <a:prstGeom prst="rect">
            <a:avLst/>
          </a:prstGeom>
          <a:noFill/>
        </p:spPr>
        <p:txBody>
          <a:bodyPr wrap="square" lIns="0" tIns="0" rIns="0" bIns="0" anchor="t">
            <a:spAutoFit/>
          </a:bodyPr>
          <a:lstStyle/>
          <a:p>
            <a:pPr algn="l"/>
            <a:r>
              <a:rPr sz="2800" b="1">
                <a:solidFill>
                  <a:srgbClr val="16120E"/>
                </a:solidFill>
                <a:latin typeface="Arial"/>
              </a:rPr>
              <a:t>Reconocimiento</a:t>
            </a:r>
          </a:p>
        </p:txBody>
      </p:sp>
      <p:sp>
        <p:nvSpPr>
          <p:cNvPr id="15" name="TextBox 14"/>
          <p:cNvSpPr txBox="1"/>
          <p:nvPr/>
        </p:nvSpPr>
        <p:spPr>
          <a:xfrm>
            <a:off x="8595360" y="5715000"/>
            <a:ext cx="8595360" cy="822960"/>
          </a:xfrm>
          <a:prstGeom prst="rect">
            <a:avLst/>
          </a:prstGeom>
          <a:noFill/>
        </p:spPr>
        <p:txBody>
          <a:bodyPr wrap="square" lIns="0" tIns="0" rIns="0" bIns="0" anchor="t">
            <a:spAutoFit/>
          </a:bodyPr>
          <a:lstStyle/>
          <a:p>
            <a:pPr algn="l"/>
            <a:r>
              <a:rPr sz="2300" b="0">
                <a:solidFill>
                  <a:srgbClr val="4A423A"/>
                </a:solidFill>
                <a:latin typeface="Georgia"/>
              </a:rPr>
              <a:t>Decir en voz alta lo que salió bien, en el momento en que pasa.</a:t>
            </a:r>
          </a:p>
        </p:txBody>
      </p:sp>
      <p:sp>
        <p:nvSpPr>
          <p:cNvPr id="16" name="Rectangle 15"/>
          <p:cNvSpPr/>
          <p:nvPr/>
        </p:nvSpPr>
        <p:spPr>
          <a:xfrm>
            <a:off x="1051560" y="6720840"/>
            <a:ext cx="16184880" cy="27432"/>
          </a:xfrm>
          <a:prstGeom prst="rect">
            <a:avLst/>
          </a:prstGeom>
          <a:solidFill>
            <a:srgbClr val="E7DC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51560" y="6949440"/>
            <a:ext cx="731520" cy="914400"/>
          </a:xfrm>
          <a:prstGeom prst="rect">
            <a:avLst/>
          </a:prstGeom>
          <a:noFill/>
        </p:spPr>
        <p:txBody>
          <a:bodyPr wrap="square" lIns="0" tIns="0" rIns="0" bIns="0" anchor="t">
            <a:spAutoFit/>
          </a:bodyPr>
          <a:lstStyle/>
          <a:p>
            <a:pPr algn="l"/>
            <a:r>
              <a:rPr sz="4400" b="1">
                <a:solidFill>
                  <a:srgbClr val="C9962F"/>
                </a:solidFill>
                <a:latin typeface="Arial"/>
              </a:rPr>
              <a:t>4</a:t>
            </a:r>
          </a:p>
        </p:txBody>
      </p:sp>
      <p:sp>
        <p:nvSpPr>
          <p:cNvPr id="18" name="TextBox 17"/>
          <p:cNvSpPr txBox="1"/>
          <p:nvPr/>
        </p:nvSpPr>
        <p:spPr>
          <a:xfrm>
            <a:off x="2011680" y="7086600"/>
            <a:ext cx="6217920" cy="731520"/>
          </a:xfrm>
          <a:prstGeom prst="rect">
            <a:avLst/>
          </a:prstGeom>
          <a:noFill/>
        </p:spPr>
        <p:txBody>
          <a:bodyPr wrap="square" lIns="0" tIns="0" rIns="0" bIns="0" anchor="t">
            <a:spAutoFit/>
          </a:bodyPr>
          <a:lstStyle/>
          <a:p>
            <a:pPr algn="l"/>
            <a:r>
              <a:rPr sz="2800" b="1">
                <a:solidFill>
                  <a:srgbClr val="16120E"/>
                </a:solidFill>
                <a:latin typeface="Arial"/>
              </a:rPr>
              <a:t>Conocimiento documentado</a:t>
            </a:r>
          </a:p>
        </p:txBody>
      </p:sp>
      <p:sp>
        <p:nvSpPr>
          <p:cNvPr id="19" name="TextBox 18"/>
          <p:cNvSpPr txBox="1"/>
          <p:nvPr/>
        </p:nvSpPr>
        <p:spPr>
          <a:xfrm>
            <a:off x="8595360" y="7086600"/>
            <a:ext cx="8595360" cy="822960"/>
          </a:xfrm>
          <a:prstGeom prst="rect">
            <a:avLst/>
          </a:prstGeom>
          <a:noFill/>
        </p:spPr>
        <p:txBody>
          <a:bodyPr wrap="square" lIns="0" tIns="0" rIns="0" bIns="0" anchor="t">
            <a:spAutoFit/>
          </a:bodyPr>
          <a:lstStyle/>
          <a:p>
            <a:pPr algn="l"/>
            <a:r>
              <a:rPr sz="2300" b="0">
                <a:solidFill>
                  <a:srgbClr val="4A423A"/>
                </a:solidFill>
                <a:latin typeface="Georgia"/>
              </a:rPr>
              <a:t>La tarea que se rompe cuando falta el dueño, escrita en media página.</a:t>
            </a:r>
          </a:p>
        </p:txBody>
      </p:sp>
      <p:sp>
        <p:nvSpPr>
          <p:cNvPr id="20" name="Rectangle 19"/>
          <p:cNvSpPr/>
          <p:nvPr/>
        </p:nvSpPr>
        <p:spPr>
          <a:xfrm>
            <a:off x="1051560" y="8092440"/>
            <a:ext cx="16184880" cy="27432"/>
          </a:xfrm>
          <a:prstGeom prst="rect">
            <a:avLst/>
          </a:prstGeom>
          <a:solidFill>
            <a:srgbClr val="E7DC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51560" y="8321040"/>
            <a:ext cx="731520" cy="914400"/>
          </a:xfrm>
          <a:prstGeom prst="rect">
            <a:avLst/>
          </a:prstGeom>
          <a:noFill/>
        </p:spPr>
        <p:txBody>
          <a:bodyPr wrap="square" lIns="0" tIns="0" rIns="0" bIns="0" anchor="t">
            <a:spAutoFit/>
          </a:bodyPr>
          <a:lstStyle/>
          <a:p>
            <a:pPr algn="l"/>
            <a:r>
              <a:rPr sz="4400" b="1">
                <a:solidFill>
                  <a:srgbClr val="4F7A3A"/>
                </a:solidFill>
                <a:latin typeface="Arial"/>
              </a:rPr>
              <a:t>5</a:t>
            </a:r>
          </a:p>
        </p:txBody>
      </p:sp>
      <p:sp>
        <p:nvSpPr>
          <p:cNvPr id="22" name="TextBox 21"/>
          <p:cNvSpPr txBox="1"/>
          <p:nvPr/>
        </p:nvSpPr>
        <p:spPr>
          <a:xfrm>
            <a:off x="2011680" y="8458200"/>
            <a:ext cx="6217920" cy="731520"/>
          </a:xfrm>
          <a:prstGeom prst="rect">
            <a:avLst/>
          </a:prstGeom>
          <a:noFill/>
        </p:spPr>
        <p:txBody>
          <a:bodyPr wrap="square" lIns="0" tIns="0" rIns="0" bIns="0" anchor="t">
            <a:spAutoFit/>
          </a:bodyPr>
          <a:lstStyle/>
          <a:p>
            <a:pPr algn="l"/>
            <a:r>
              <a:rPr sz="2800" b="1">
                <a:solidFill>
                  <a:srgbClr val="16120E"/>
                </a:solidFill>
                <a:latin typeface="Arial"/>
              </a:rPr>
              <a:t>Horizonte para los mejores</a:t>
            </a:r>
          </a:p>
        </p:txBody>
      </p:sp>
      <p:sp>
        <p:nvSpPr>
          <p:cNvPr id="23" name="TextBox 22"/>
          <p:cNvSpPr txBox="1"/>
          <p:nvPr/>
        </p:nvSpPr>
        <p:spPr>
          <a:xfrm>
            <a:off x="8595360" y="8458200"/>
            <a:ext cx="8595360" cy="822960"/>
          </a:xfrm>
          <a:prstGeom prst="rect">
            <a:avLst/>
          </a:prstGeom>
          <a:noFill/>
        </p:spPr>
        <p:txBody>
          <a:bodyPr wrap="square" lIns="0" tIns="0" rIns="0" bIns="0" anchor="t">
            <a:spAutoFit/>
          </a:bodyPr>
          <a:lstStyle/>
          <a:p>
            <a:pPr algn="l"/>
            <a:r>
              <a:rPr sz="2300" b="0">
                <a:solidFill>
                  <a:srgbClr val="4A423A"/>
                </a:solidFill>
                <a:latin typeface="Georgia"/>
              </a:rPr>
              <a:t>Una conversación por año con cada uno sobre hacia dónde puede crecer.</a:t>
            </a:r>
          </a:p>
        </p:txBody>
      </p:sp>
      <p:sp>
        <p:nvSpPr>
          <p:cNvPr id="24" name="Rectangle 23"/>
          <p:cNvSpPr/>
          <p:nvPr/>
        </p:nvSpPr>
        <p:spPr>
          <a:xfrm>
            <a:off x="1051560" y="9464040"/>
            <a:ext cx="16184880" cy="27432"/>
          </a:xfrm>
          <a:prstGeom prst="rect">
            <a:avLst/>
          </a:prstGeom>
          <a:solidFill>
            <a:srgbClr val="E7DC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b="2816"/>
          <a:stretch>
            <a:fillRect/>
          </a:stretch>
        </p:blipFill>
        <p:spPr>
          <a:xfrm>
            <a:off x="0" y="42863"/>
            <a:ext cx="18288000" cy="10244137"/>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b="3314"/>
          <a:stretch>
            <a:fillRect/>
          </a:stretch>
        </p:blipFill>
        <p:spPr>
          <a:xfrm>
            <a:off x="16933" y="42863"/>
            <a:ext cx="18288000" cy="1024413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7">
    <p:bg>
      <p:bgPr>
        <a:solidFill>
          <a:srgbClr val="F2EDE3"/>
        </a:solidFill>
        <a:effectLst/>
      </p:bgPr>
    </p:bg>
    <p:spTree>
      <p:nvGrpSpPr>
        <p:cNvPr id="1" name=""/>
        <p:cNvGrpSpPr/>
        <p:nvPr/>
      </p:nvGrpSpPr>
      <p:grpSpPr>
        <a:xfrm>
          <a:off x="0" y="0"/>
          <a:ext cx="0" cy="0"/>
          <a:chOff x="0" y="0"/>
          <a:chExt cx="0" cy="0"/>
        </a:xfrm>
      </p:grpSpPr>
      <p:sp>
        <p:nvSpPr>
          <p:cNvPr id="2" name="Text 0"/>
          <p:cNvSpPr/>
          <p:nvPr/>
        </p:nvSpPr>
        <p:spPr>
          <a:xfrm>
            <a:off x="1047733" y="857198"/>
            <a:ext cx="17811721" cy="678124"/>
          </a:xfrm>
          <a:prstGeom prst="rect">
            <a:avLst/>
          </a:prstGeom>
          <a:noFill/>
          <a:ln/>
        </p:spPr>
        <p:txBody>
          <a:bodyPr wrap="square" lIns="25400" tIns="25400" rIns="25400" bIns="25400" rtlCol="0" anchor="t">
            <a:normAutofit lnSpcReduction="10000"/>
          </a:bodyPr>
          <a:lstStyle/>
          <a:p>
            <a:pPr marL="0" indent="0" algn="l">
              <a:lnSpc>
                <a:spcPct val="91454"/>
              </a:lnSpc>
              <a:buNone/>
            </a:pPr>
            <a:r>
              <a:rPr lang="en-US" sz="4800" b="1" kern="0" spc="-96" dirty="0">
                <a:solidFill>
                  <a:srgbClr val="16120E"/>
                </a:solidFill>
                <a:latin typeface="Arial" pitchFamily="34" charset="0"/>
                <a:ea typeface="Arial" pitchFamily="34" charset="-122"/>
                <a:cs typeface="Arial" pitchFamily="34" charset="-120"/>
              </a:rPr>
              <a:t>La hoja de ruta</a:t>
            </a:r>
            <a:endParaRPr lang="en-US" sz="4800" dirty="0"/>
          </a:p>
        </p:txBody>
      </p:sp>
      <p:sp>
        <p:nvSpPr>
          <p:cNvPr id="3" name="Text 1"/>
          <p:cNvSpPr/>
          <p:nvPr/>
        </p:nvSpPr>
        <p:spPr>
          <a:xfrm>
            <a:off x="1047732" y="1821930"/>
            <a:ext cx="17811721" cy="455343"/>
          </a:xfrm>
          <a:prstGeom prst="rect">
            <a:avLst/>
          </a:prstGeom>
          <a:noFill/>
          <a:ln/>
        </p:spPr>
        <p:txBody>
          <a:bodyPr wrap="square" lIns="25400" tIns="25400" rIns="25400" bIns="25400" rtlCol="0" anchor="t">
            <a:normAutofit fontScale="92500" lnSpcReduction="20000"/>
          </a:bodyPr>
          <a:lstStyle/>
          <a:p>
            <a:pPr marL="0" indent="0" algn="l">
              <a:buNone/>
            </a:pPr>
            <a:r>
              <a:rPr lang="en-US" sz="3200" dirty="0">
                <a:solidFill>
                  <a:srgbClr val="6B6157"/>
                </a:solidFill>
                <a:latin typeface="Georgia" pitchFamily="34" charset="0"/>
                <a:ea typeface="Georgia" pitchFamily="34" charset="-122"/>
                <a:cs typeface="Georgia" pitchFamily="34" charset="-120"/>
              </a:rPr>
              <a:t>El punto de partida para equipos de 5 a 15 personas.</a:t>
            </a:r>
            <a:endParaRPr lang="en-US" sz="3200" dirty="0"/>
          </a:p>
        </p:txBody>
      </p:sp>
      <p:sp>
        <p:nvSpPr>
          <p:cNvPr id="4" name="Shape 2"/>
          <p:cNvSpPr/>
          <p:nvPr/>
        </p:nvSpPr>
        <p:spPr>
          <a:xfrm>
            <a:off x="1047733" y="2523995"/>
            <a:ext cx="5041891" cy="35892"/>
          </a:xfrm>
          <a:prstGeom prst="rect">
            <a:avLst/>
          </a:prstGeom>
          <a:solidFill>
            <a:srgbClr val="16120E"/>
          </a:solidFill>
          <a:ln/>
        </p:spPr>
        <p:txBody>
          <a:bodyPr/>
          <a:lstStyle/>
          <a:p>
            <a:endParaRPr lang="es-AR"/>
          </a:p>
        </p:txBody>
      </p:sp>
      <p:pic>
        <p:nvPicPr>
          <p:cNvPr id="5" name="Image 0" descr="preencoded.png"/>
          <p:cNvPicPr>
            <a:picLocks noChangeAspect="1"/>
          </p:cNvPicPr>
          <p:nvPr/>
        </p:nvPicPr>
        <p:blipFill>
          <a:blip r:embed="rId3"/>
          <a:srcRect/>
          <a:stretch/>
        </p:blipFill>
        <p:spPr>
          <a:xfrm>
            <a:off x="1047733" y="2826552"/>
            <a:ext cx="1428733" cy="1428733"/>
          </a:xfrm>
          <a:prstGeom prst="ellipse">
            <a:avLst/>
          </a:prstGeom>
        </p:spPr>
      </p:pic>
      <p:sp>
        <p:nvSpPr>
          <p:cNvPr id="6" name="Text 3"/>
          <p:cNvSpPr/>
          <p:nvPr/>
        </p:nvSpPr>
        <p:spPr>
          <a:xfrm>
            <a:off x="1047733" y="4464818"/>
            <a:ext cx="5546080" cy="723900"/>
          </a:xfrm>
          <a:prstGeom prst="rect">
            <a:avLst/>
          </a:prstGeom>
          <a:noFill/>
          <a:ln/>
        </p:spPr>
        <p:txBody>
          <a:bodyPr wrap="square" lIns="25400" tIns="25400" rIns="25400" bIns="25400" rtlCol="0" anchor="t">
            <a:normAutofit lnSpcReduction="10000"/>
          </a:bodyPr>
          <a:lstStyle/>
          <a:p>
            <a:pPr marL="0" indent="0" algn="l">
              <a:lnSpc>
                <a:spcPct val="87348"/>
              </a:lnSpc>
              <a:buNone/>
            </a:pPr>
            <a:r>
              <a:rPr lang="en-US" sz="5400" b="1" dirty="0">
                <a:solidFill>
                  <a:srgbClr val="B4552F"/>
                </a:solidFill>
                <a:latin typeface="Arial" pitchFamily="34" charset="0"/>
                <a:ea typeface="Arial" pitchFamily="34" charset="-122"/>
                <a:cs typeface="Arial" pitchFamily="34" charset="-120"/>
              </a:rPr>
              <a:t>1</a:t>
            </a:r>
            <a:endParaRPr lang="en-US" sz="5400" dirty="0"/>
          </a:p>
        </p:txBody>
      </p:sp>
      <p:sp>
        <p:nvSpPr>
          <p:cNvPr id="7" name="Text 4"/>
          <p:cNvSpPr/>
          <p:nvPr/>
        </p:nvSpPr>
        <p:spPr>
          <a:xfrm>
            <a:off x="1047733" y="5322016"/>
            <a:ext cx="5193148" cy="914365"/>
          </a:xfrm>
          <a:prstGeom prst="rect">
            <a:avLst/>
          </a:prstGeom>
          <a:noFill/>
          <a:ln/>
        </p:spPr>
        <p:txBody>
          <a:bodyPr wrap="square" lIns="25400" tIns="25400" rIns="25400" bIns="25400" rtlCol="0" anchor="t">
            <a:normAutofit lnSpcReduction="10000"/>
          </a:bodyPr>
          <a:lstStyle/>
          <a:p>
            <a:pPr marL="0" indent="0" algn="l">
              <a:lnSpc>
                <a:spcPct val="99653"/>
              </a:lnSpc>
              <a:buNone/>
            </a:pPr>
            <a:r>
              <a:rPr lang="en-US" sz="3000" b="1" dirty="0">
                <a:solidFill>
                  <a:srgbClr val="16120E"/>
                </a:solidFill>
                <a:latin typeface="Arial" pitchFamily="34" charset="0"/>
                <a:ea typeface="Arial" pitchFamily="34" charset="-122"/>
                <a:cs typeface="Arial" pitchFamily="34" charset="-120"/>
              </a:rPr>
              <a:t>Estructura. Designar a un responsable.</a:t>
            </a:r>
            <a:endParaRPr lang="en-US" sz="3000" dirty="0"/>
          </a:p>
        </p:txBody>
      </p:sp>
      <p:sp>
        <p:nvSpPr>
          <p:cNvPr id="8" name="Text 5"/>
          <p:cNvSpPr/>
          <p:nvPr/>
        </p:nvSpPr>
        <p:spPr>
          <a:xfrm>
            <a:off x="1047733" y="6388746"/>
            <a:ext cx="5193148" cy="1238093"/>
          </a:xfrm>
          <a:prstGeom prst="rect">
            <a:avLst/>
          </a:prstGeom>
          <a:noFill/>
          <a:ln/>
        </p:spPr>
        <p:txBody>
          <a:bodyPr wrap="square" lIns="25400" tIns="25400" rIns="25400" bIns="25400" rtlCol="0" anchor="t">
            <a:normAutofit lnSpcReduction="10000"/>
          </a:bodyPr>
          <a:lstStyle/>
          <a:p>
            <a:pPr marL="0" indent="0" algn="l">
              <a:lnSpc>
                <a:spcPct val="123844"/>
              </a:lnSpc>
              <a:buNone/>
            </a:pPr>
            <a:r>
              <a:rPr lang="en-US" sz="2250" dirty="0">
                <a:solidFill>
                  <a:srgbClr val="4A423A"/>
                </a:solidFill>
                <a:latin typeface="Georgia" pitchFamily="34" charset="0"/>
                <a:ea typeface="Georgia" pitchFamily="34" charset="-122"/>
                <a:cs typeface="Georgia" pitchFamily="34" charset="-120"/>
              </a:rPr>
              <a:t>Aunque sea part-time. Sin un doliente, la gestión queda enterrada bajo la urgencia de la cosecha.</a:t>
            </a:r>
            <a:endParaRPr lang="en-US" sz="2250" dirty="0"/>
          </a:p>
        </p:txBody>
      </p:sp>
      <p:sp>
        <p:nvSpPr>
          <p:cNvPr id="9" name="Shape 6"/>
          <p:cNvSpPr/>
          <p:nvPr/>
        </p:nvSpPr>
        <p:spPr>
          <a:xfrm>
            <a:off x="1047733" y="7855404"/>
            <a:ext cx="5041891" cy="1142790"/>
          </a:xfrm>
          <a:prstGeom prst="rect">
            <a:avLst/>
          </a:prstGeom>
          <a:solidFill>
            <a:srgbClr val="E7DCC6"/>
          </a:solidFill>
          <a:ln/>
        </p:spPr>
        <p:txBody>
          <a:bodyPr/>
          <a:lstStyle/>
          <a:p>
            <a:endParaRPr lang="es-AR"/>
          </a:p>
        </p:txBody>
      </p:sp>
      <p:sp>
        <p:nvSpPr>
          <p:cNvPr id="10" name="Text 7"/>
          <p:cNvSpPr/>
          <p:nvPr/>
        </p:nvSpPr>
        <p:spPr>
          <a:xfrm>
            <a:off x="1257283" y="8026854"/>
            <a:ext cx="4774048" cy="837990"/>
          </a:xfrm>
          <a:prstGeom prst="rect">
            <a:avLst/>
          </a:prstGeom>
          <a:noFill/>
          <a:ln/>
        </p:spPr>
        <p:txBody>
          <a:bodyPr wrap="square" lIns="25400" tIns="25400" rIns="25400" bIns="25400" rtlCol="0" anchor="t">
            <a:normAutofit lnSpcReduction="10000"/>
          </a:bodyPr>
          <a:lstStyle/>
          <a:p>
            <a:pPr marL="0" indent="0" algn="l">
              <a:lnSpc>
                <a:spcPct val="123844"/>
              </a:lnSpc>
              <a:buNone/>
            </a:pPr>
            <a:r>
              <a:rPr lang="en-US" sz="2250" b="1" dirty="0">
                <a:solidFill>
                  <a:srgbClr val="16120E"/>
                </a:solidFill>
                <a:latin typeface="Arial" pitchFamily="34" charset="0"/>
                <a:ea typeface="Arial" pitchFamily="34" charset="-122"/>
                <a:cs typeface="Arial" pitchFamily="34" charset="-120"/>
              </a:rPr>
              <a:t>Acción: </a:t>
            </a:r>
            <a:r>
              <a:rPr lang="en-US" sz="2250" dirty="0">
                <a:solidFill>
                  <a:srgbClr val="16120E"/>
                </a:solidFill>
                <a:highlight>
                  <a:srgbClr val="E7DCC6"/>
                </a:highlight>
                <a:latin typeface="Georgia" pitchFamily="34" charset="0"/>
                <a:ea typeface="Georgia" pitchFamily="34" charset="-122"/>
                <a:cs typeface="Georgia" pitchFamily="34" charset="-120"/>
              </a:rPr>
              <a:t>dibujá el organigrama real de hoy, no el ideal de un libro.</a:t>
            </a:r>
            <a:endParaRPr lang="en-US" sz="2250" dirty="0"/>
          </a:p>
        </p:txBody>
      </p:sp>
      <p:sp>
        <p:nvSpPr>
          <p:cNvPr id="11" name="Shape 8"/>
          <p:cNvSpPr/>
          <p:nvPr/>
        </p:nvSpPr>
        <p:spPr>
          <a:xfrm>
            <a:off x="6622954" y="2523995"/>
            <a:ext cx="5041961" cy="35892"/>
          </a:xfrm>
          <a:prstGeom prst="rect">
            <a:avLst/>
          </a:prstGeom>
          <a:solidFill>
            <a:srgbClr val="16120E"/>
          </a:solidFill>
          <a:ln/>
        </p:spPr>
        <p:txBody>
          <a:bodyPr/>
          <a:lstStyle/>
          <a:p>
            <a:endParaRPr lang="es-AR"/>
          </a:p>
        </p:txBody>
      </p:sp>
      <p:pic>
        <p:nvPicPr>
          <p:cNvPr id="12" name="Image 1" descr="preencoded.png"/>
          <p:cNvPicPr>
            <a:picLocks noChangeAspect="1"/>
          </p:cNvPicPr>
          <p:nvPr/>
        </p:nvPicPr>
        <p:blipFill>
          <a:blip r:embed="rId4"/>
          <a:srcRect/>
          <a:stretch/>
        </p:blipFill>
        <p:spPr>
          <a:xfrm>
            <a:off x="6622954" y="2826552"/>
            <a:ext cx="1428733" cy="1428733"/>
          </a:xfrm>
          <a:prstGeom prst="ellipse">
            <a:avLst/>
          </a:prstGeom>
        </p:spPr>
      </p:pic>
      <p:sp>
        <p:nvSpPr>
          <p:cNvPr id="13" name="Text 9"/>
          <p:cNvSpPr/>
          <p:nvPr/>
        </p:nvSpPr>
        <p:spPr>
          <a:xfrm>
            <a:off x="6622954" y="4464818"/>
            <a:ext cx="5546158" cy="723900"/>
          </a:xfrm>
          <a:prstGeom prst="rect">
            <a:avLst/>
          </a:prstGeom>
          <a:noFill/>
          <a:ln/>
        </p:spPr>
        <p:txBody>
          <a:bodyPr wrap="square" lIns="25400" tIns="25400" rIns="25400" bIns="25400" rtlCol="0" anchor="t">
            <a:normAutofit lnSpcReduction="10000"/>
          </a:bodyPr>
          <a:lstStyle/>
          <a:p>
            <a:pPr marL="0" indent="0" algn="l">
              <a:lnSpc>
                <a:spcPct val="87348"/>
              </a:lnSpc>
              <a:buNone/>
            </a:pPr>
            <a:r>
              <a:rPr lang="en-US" sz="5400" b="1" dirty="0">
                <a:solidFill>
                  <a:srgbClr val="C9962F"/>
                </a:solidFill>
                <a:latin typeface="Arial" pitchFamily="34" charset="0"/>
                <a:ea typeface="Arial" pitchFamily="34" charset="-122"/>
                <a:cs typeface="Arial" pitchFamily="34" charset="-120"/>
              </a:rPr>
              <a:t>2</a:t>
            </a:r>
            <a:endParaRPr lang="en-US" sz="5400" dirty="0"/>
          </a:p>
        </p:txBody>
      </p:sp>
      <p:sp>
        <p:nvSpPr>
          <p:cNvPr id="14" name="Text 10"/>
          <p:cNvSpPr/>
          <p:nvPr/>
        </p:nvSpPr>
        <p:spPr>
          <a:xfrm>
            <a:off x="6622954" y="5322016"/>
            <a:ext cx="5193220" cy="914365"/>
          </a:xfrm>
          <a:prstGeom prst="rect">
            <a:avLst/>
          </a:prstGeom>
          <a:noFill/>
          <a:ln/>
        </p:spPr>
        <p:txBody>
          <a:bodyPr wrap="square" lIns="25400" tIns="25400" rIns="25400" bIns="25400" rtlCol="0" anchor="t">
            <a:normAutofit lnSpcReduction="10000"/>
          </a:bodyPr>
          <a:lstStyle/>
          <a:p>
            <a:pPr marL="0" indent="0" algn="l">
              <a:lnSpc>
                <a:spcPct val="99653"/>
              </a:lnSpc>
              <a:buNone/>
            </a:pPr>
            <a:r>
              <a:rPr lang="en-US" sz="3000" b="1" dirty="0">
                <a:solidFill>
                  <a:srgbClr val="16120E"/>
                </a:solidFill>
                <a:latin typeface="Arial" pitchFamily="34" charset="0"/>
                <a:ea typeface="Arial" pitchFamily="34" charset="-122"/>
                <a:cs typeface="Arial" pitchFamily="34" charset="-120"/>
              </a:rPr>
              <a:t>Procesos. Documentar la supervivencia.</a:t>
            </a:r>
            <a:endParaRPr lang="en-US" sz="3000" dirty="0"/>
          </a:p>
        </p:txBody>
      </p:sp>
      <p:sp>
        <p:nvSpPr>
          <p:cNvPr id="15" name="Text 11"/>
          <p:cNvSpPr/>
          <p:nvPr/>
        </p:nvSpPr>
        <p:spPr>
          <a:xfrm>
            <a:off x="6622954" y="6388746"/>
            <a:ext cx="5546158" cy="438098"/>
          </a:xfrm>
          <a:prstGeom prst="rect">
            <a:avLst/>
          </a:prstGeom>
          <a:noFill/>
          <a:ln/>
        </p:spPr>
        <p:txBody>
          <a:bodyPr wrap="square" lIns="25400" tIns="25400" rIns="25400" bIns="25400" rtlCol="0" anchor="t">
            <a:normAutofit lnSpcReduction="10000"/>
          </a:bodyPr>
          <a:lstStyle/>
          <a:p>
            <a:pPr marL="0" indent="0" algn="l">
              <a:lnSpc>
                <a:spcPct val="123844"/>
              </a:lnSpc>
              <a:buNone/>
            </a:pPr>
            <a:r>
              <a:rPr lang="en-US" sz="2250" dirty="0">
                <a:solidFill>
                  <a:srgbClr val="4A423A"/>
                </a:solidFill>
                <a:latin typeface="Georgia" pitchFamily="34" charset="0"/>
                <a:ea typeface="Georgia" pitchFamily="34" charset="-122"/>
                <a:cs typeface="Georgia" pitchFamily="34" charset="-120"/>
              </a:rPr>
              <a:t>No hagas un manual entero.</a:t>
            </a:r>
            <a:endParaRPr lang="en-US" sz="2250" dirty="0"/>
          </a:p>
        </p:txBody>
      </p:sp>
      <p:sp>
        <p:nvSpPr>
          <p:cNvPr id="16" name="Shape 12"/>
          <p:cNvSpPr/>
          <p:nvPr/>
        </p:nvSpPr>
        <p:spPr>
          <a:xfrm>
            <a:off x="6564663" y="7855404"/>
            <a:ext cx="5041961" cy="1542788"/>
          </a:xfrm>
          <a:prstGeom prst="rect">
            <a:avLst/>
          </a:prstGeom>
          <a:solidFill>
            <a:srgbClr val="E7DCC6"/>
          </a:solidFill>
          <a:ln/>
        </p:spPr>
        <p:txBody>
          <a:bodyPr/>
          <a:lstStyle/>
          <a:p>
            <a:endParaRPr lang="es-AR"/>
          </a:p>
        </p:txBody>
      </p:sp>
      <p:sp>
        <p:nvSpPr>
          <p:cNvPr id="17" name="Text 13"/>
          <p:cNvSpPr/>
          <p:nvPr/>
        </p:nvSpPr>
        <p:spPr>
          <a:xfrm>
            <a:off x="6832504" y="7992868"/>
            <a:ext cx="4774120" cy="1237988"/>
          </a:xfrm>
          <a:prstGeom prst="rect">
            <a:avLst/>
          </a:prstGeom>
          <a:noFill/>
          <a:ln/>
        </p:spPr>
        <p:txBody>
          <a:bodyPr wrap="square" lIns="25400" tIns="25400" rIns="25400" bIns="25400" rtlCol="0" anchor="t">
            <a:normAutofit lnSpcReduction="10000"/>
          </a:bodyPr>
          <a:lstStyle/>
          <a:p>
            <a:pPr marL="0" indent="0" algn="l">
              <a:lnSpc>
                <a:spcPct val="123844"/>
              </a:lnSpc>
              <a:buNone/>
            </a:pPr>
            <a:r>
              <a:rPr lang="en-US" sz="2250" b="1" dirty="0">
                <a:solidFill>
                  <a:srgbClr val="16120E"/>
                </a:solidFill>
                <a:latin typeface="Arial" pitchFamily="34" charset="0"/>
                <a:ea typeface="Arial" pitchFamily="34" charset="-122"/>
                <a:cs typeface="Arial" pitchFamily="34" charset="-120"/>
              </a:rPr>
              <a:t>Acción: </a:t>
            </a:r>
            <a:r>
              <a:rPr lang="en-US" sz="2250" dirty="0">
                <a:solidFill>
                  <a:srgbClr val="16120E"/>
                </a:solidFill>
                <a:highlight>
                  <a:srgbClr val="E7DCC6"/>
                </a:highlight>
                <a:latin typeface="Georgia" pitchFamily="34" charset="0"/>
                <a:ea typeface="Georgia" pitchFamily="34" charset="-122"/>
                <a:cs typeface="Georgia" pitchFamily="34" charset="-120"/>
              </a:rPr>
              <a:t>identificá la única tarea que se rompe cuando el dueño no está y escribila en media página.</a:t>
            </a:r>
            <a:endParaRPr lang="en-US" sz="2250" dirty="0"/>
          </a:p>
        </p:txBody>
      </p:sp>
      <p:sp>
        <p:nvSpPr>
          <p:cNvPr id="18" name="Shape 14"/>
          <p:cNvSpPr/>
          <p:nvPr/>
        </p:nvSpPr>
        <p:spPr>
          <a:xfrm>
            <a:off x="12198246" y="2523995"/>
            <a:ext cx="5041891" cy="35892"/>
          </a:xfrm>
          <a:prstGeom prst="rect">
            <a:avLst/>
          </a:prstGeom>
          <a:solidFill>
            <a:srgbClr val="16120E"/>
          </a:solidFill>
          <a:ln/>
        </p:spPr>
        <p:txBody>
          <a:bodyPr/>
          <a:lstStyle/>
          <a:p>
            <a:endParaRPr lang="es-AR"/>
          </a:p>
        </p:txBody>
      </p:sp>
      <p:pic>
        <p:nvPicPr>
          <p:cNvPr id="19" name="Image 2" descr="preencoded.png"/>
          <p:cNvPicPr>
            <a:picLocks noChangeAspect="1"/>
          </p:cNvPicPr>
          <p:nvPr/>
        </p:nvPicPr>
        <p:blipFill>
          <a:blip r:embed="rId5"/>
          <a:srcRect/>
          <a:stretch/>
        </p:blipFill>
        <p:spPr>
          <a:xfrm>
            <a:off x="12198246" y="2826552"/>
            <a:ext cx="1428733" cy="1428733"/>
          </a:xfrm>
          <a:prstGeom prst="ellipse">
            <a:avLst/>
          </a:prstGeom>
        </p:spPr>
      </p:pic>
      <p:sp>
        <p:nvSpPr>
          <p:cNvPr id="20" name="Text 15"/>
          <p:cNvSpPr/>
          <p:nvPr/>
        </p:nvSpPr>
        <p:spPr>
          <a:xfrm>
            <a:off x="12198246" y="4464818"/>
            <a:ext cx="5546080" cy="723900"/>
          </a:xfrm>
          <a:prstGeom prst="rect">
            <a:avLst/>
          </a:prstGeom>
          <a:noFill/>
          <a:ln/>
        </p:spPr>
        <p:txBody>
          <a:bodyPr wrap="square" lIns="25400" tIns="25400" rIns="25400" bIns="25400" rtlCol="0" anchor="t">
            <a:normAutofit lnSpcReduction="10000"/>
          </a:bodyPr>
          <a:lstStyle/>
          <a:p>
            <a:pPr marL="0" indent="0" algn="l">
              <a:lnSpc>
                <a:spcPct val="87348"/>
              </a:lnSpc>
              <a:buNone/>
            </a:pPr>
            <a:r>
              <a:rPr lang="en-US" sz="5400" b="1" dirty="0">
                <a:solidFill>
                  <a:srgbClr val="4F7A3A"/>
                </a:solidFill>
                <a:latin typeface="Arial" pitchFamily="34" charset="0"/>
                <a:ea typeface="Arial" pitchFamily="34" charset="-122"/>
                <a:cs typeface="Arial" pitchFamily="34" charset="-120"/>
              </a:rPr>
              <a:t>3</a:t>
            </a:r>
            <a:endParaRPr lang="en-US" sz="5400" dirty="0"/>
          </a:p>
        </p:txBody>
      </p:sp>
      <p:sp>
        <p:nvSpPr>
          <p:cNvPr id="21" name="Text 16"/>
          <p:cNvSpPr/>
          <p:nvPr/>
        </p:nvSpPr>
        <p:spPr>
          <a:xfrm>
            <a:off x="12198246" y="5322016"/>
            <a:ext cx="5193148" cy="914365"/>
          </a:xfrm>
          <a:prstGeom prst="rect">
            <a:avLst/>
          </a:prstGeom>
          <a:noFill/>
          <a:ln/>
        </p:spPr>
        <p:txBody>
          <a:bodyPr wrap="square" lIns="25400" tIns="25400" rIns="25400" bIns="25400" rtlCol="0" anchor="t">
            <a:normAutofit lnSpcReduction="10000"/>
          </a:bodyPr>
          <a:lstStyle/>
          <a:p>
            <a:pPr marL="0" indent="0" algn="l">
              <a:lnSpc>
                <a:spcPct val="99653"/>
              </a:lnSpc>
              <a:buNone/>
            </a:pPr>
            <a:r>
              <a:rPr lang="en-US" sz="3000" b="1" dirty="0">
                <a:solidFill>
                  <a:srgbClr val="16120E"/>
                </a:solidFill>
                <a:latin typeface="Arial" pitchFamily="34" charset="0"/>
                <a:ea typeface="Arial" pitchFamily="34" charset="-122"/>
                <a:cs typeface="Arial" pitchFamily="34" charset="-120"/>
              </a:rPr>
              <a:t>Desarrollo. Delegar con criterio escrito.</a:t>
            </a:r>
            <a:endParaRPr lang="en-US" sz="3000" dirty="0"/>
          </a:p>
        </p:txBody>
      </p:sp>
      <p:sp>
        <p:nvSpPr>
          <p:cNvPr id="22" name="Text 17"/>
          <p:cNvSpPr/>
          <p:nvPr/>
        </p:nvSpPr>
        <p:spPr>
          <a:xfrm>
            <a:off x="12198246" y="6388746"/>
            <a:ext cx="5546080" cy="438098"/>
          </a:xfrm>
          <a:prstGeom prst="rect">
            <a:avLst/>
          </a:prstGeom>
          <a:noFill/>
          <a:ln/>
        </p:spPr>
        <p:txBody>
          <a:bodyPr wrap="square" lIns="25400" tIns="25400" rIns="25400" bIns="25400" rtlCol="0" anchor="t">
            <a:normAutofit lnSpcReduction="10000"/>
          </a:bodyPr>
          <a:lstStyle/>
          <a:p>
            <a:pPr marL="0" indent="0" algn="l">
              <a:lnSpc>
                <a:spcPct val="123844"/>
              </a:lnSpc>
              <a:buNone/>
            </a:pPr>
            <a:r>
              <a:rPr lang="en-US" sz="2250" dirty="0">
                <a:solidFill>
                  <a:srgbClr val="4A423A"/>
                </a:solidFill>
                <a:latin typeface="Georgia" pitchFamily="34" charset="0"/>
                <a:ea typeface="Georgia" pitchFamily="34" charset="-122"/>
                <a:cs typeface="Georgia" pitchFamily="34" charset="-120"/>
              </a:rPr>
              <a:t>No delegás la tarea: delegás el criterio.</a:t>
            </a:r>
            <a:endParaRPr lang="en-US" sz="2250" dirty="0"/>
          </a:p>
        </p:txBody>
      </p:sp>
      <p:sp>
        <p:nvSpPr>
          <p:cNvPr id="23" name="Shape 18"/>
          <p:cNvSpPr/>
          <p:nvPr/>
        </p:nvSpPr>
        <p:spPr>
          <a:xfrm>
            <a:off x="12088912" y="7693453"/>
            <a:ext cx="5041891" cy="1542788"/>
          </a:xfrm>
          <a:prstGeom prst="rect">
            <a:avLst/>
          </a:prstGeom>
          <a:solidFill>
            <a:srgbClr val="E7DCC6"/>
          </a:solidFill>
          <a:ln/>
        </p:spPr>
        <p:txBody>
          <a:bodyPr/>
          <a:lstStyle/>
          <a:p>
            <a:endParaRPr lang="es-AR"/>
          </a:p>
        </p:txBody>
      </p:sp>
      <p:sp>
        <p:nvSpPr>
          <p:cNvPr id="24" name="Text 19"/>
          <p:cNvSpPr/>
          <p:nvPr/>
        </p:nvSpPr>
        <p:spPr>
          <a:xfrm>
            <a:off x="12407796" y="7807805"/>
            <a:ext cx="4774048" cy="1237988"/>
          </a:xfrm>
          <a:prstGeom prst="rect">
            <a:avLst/>
          </a:prstGeom>
          <a:noFill/>
          <a:ln/>
        </p:spPr>
        <p:txBody>
          <a:bodyPr wrap="square" lIns="25400" tIns="25400" rIns="25400" bIns="25400" rtlCol="0" anchor="t">
            <a:normAutofit lnSpcReduction="10000"/>
          </a:bodyPr>
          <a:lstStyle/>
          <a:p>
            <a:pPr marL="0" indent="0" algn="l">
              <a:lnSpc>
                <a:spcPct val="123844"/>
              </a:lnSpc>
              <a:buNone/>
            </a:pPr>
            <a:r>
              <a:rPr lang="en-US" sz="2250" b="1" dirty="0">
                <a:solidFill>
                  <a:srgbClr val="16120E"/>
                </a:solidFill>
                <a:latin typeface="Arial" pitchFamily="34" charset="0"/>
                <a:ea typeface="Arial" pitchFamily="34" charset="-122"/>
                <a:cs typeface="Arial" pitchFamily="34" charset="-120"/>
              </a:rPr>
              <a:t>Acción: </a:t>
            </a:r>
            <a:r>
              <a:rPr lang="en-US" sz="2250" dirty="0">
                <a:solidFill>
                  <a:srgbClr val="16120E"/>
                </a:solidFill>
                <a:highlight>
                  <a:srgbClr val="E7DCC6"/>
                </a:highlight>
                <a:latin typeface="Georgia" pitchFamily="34" charset="0"/>
                <a:ea typeface="Georgia" pitchFamily="34" charset="-122"/>
                <a:cs typeface="Georgia" pitchFamily="34" charset="-120"/>
              </a:rPr>
              <a:t>elegí una sola decisión cotidiana y escribí 3 criterios objetivos para resolverla.</a:t>
            </a:r>
            <a:endParaRPr lang="en-US" sz="2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8">
    <p:bg>
      <p:bgPr>
        <a:solidFill>
          <a:srgbClr val="16120E"/>
        </a:solidFill>
        <a:effectLst/>
      </p:bgPr>
    </p:bg>
    <p:spTree>
      <p:nvGrpSpPr>
        <p:cNvPr id="1" name=""/>
        <p:cNvGrpSpPr/>
        <p:nvPr/>
      </p:nvGrpSpPr>
      <p:grpSpPr>
        <a:xfrm>
          <a:off x="0" y="0"/>
          <a:ext cx="0" cy="0"/>
          <a:chOff x="0" y="0"/>
          <a:chExt cx="0" cy="0"/>
        </a:xfrm>
      </p:grpSpPr>
      <p:sp>
        <p:nvSpPr>
          <p:cNvPr id="2" name="Text 0"/>
          <p:cNvSpPr/>
          <p:nvPr/>
        </p:nvSpPr>
        <p:spPr>
          <a:xfrm>
            <a:off x="1047733" y="1953161"/>
            <a:ext cx="17811721" cy="758180"/>
          </a:xfrm>
          <a:prstGeom prst="rect">
            <a:avLst/>
          </a:prstGeom>
          <a:noFill/>
          <a:ln/>
        </p:spPr>
        <p:txBody>
          <a:bodyPr wrap="square" lIns="25400" tIns="25400" rIns="25400" bIns="25400" rtlCol="0" anchor="t">
            <a:normAutofit lnSpcReduction="10000"/>
          </a:bodyPr>
          <a:lstStyle/>
          <a:p>
            <a:pPr marL="0" indent="0" algn="l">
              <a:lnSpc>
                <a:spcPct val="91716"/>
              </a:lnSpc>
              <a:buNone/>
            </a:pPr>
            <a:r>
              <a:rPr lang="en-US" sz="5400" b="1" kern="0" spc="-108" dirty="0">
                <a:solidFill>
                  <a:srgbClr val="F2EDE3"/>
                </a:solidFill>
                <a:latin typeface="Arial" pitchFamily="34" charset="0"/>
                <a:ea typeface="Arial" pitchFamily="34" charset="-122"/>
                <a:cs typeface="Arial" pitchFamily="34" charset="-120"/>
              </a:rPr>
              <a:t>Las preguntas que deja el diagnóstico</a:t>
            </a:r>
            <a:endParaRPr lang="en-US" sz="5400" dirty="0"/>
          </a:p>
        </p:txBody>
      </p:sp>
      <p:sp>
        <p:nvSpPr>
          <p:cNvPr id="3" name="Text 1"/>
          <p:cNvSpPr/>
          <p:nvPr/>
        </p:nvSpPr>
        <p:spPr>
          <a:xfrm>
            <a:off x="1047732" y="3798715"/>
            <a:ext cx="1123933" cy="952501"/>
          </a:xfrm>
          <a:prstGeom prst="rect">
            <a:avLst/>
          </a:prstGeom>
          <a:noFill/>
          <a:ln/>
        </p:spPr>
        <p:txBody>
          <a:bodyPr wrap="square" lIns="25400" tIns="25400" rIns="25400" bIns="25400" rtlCol="0" anchor="t">
            <a:normAutofit lnSpcReduction="10000"/>
          </a:bodyPr>
          <a:lstStyle/>
          <a:p>
            <a:pPr marL="0" indent="0" algn="l">
              <a:lnSpc>
                <a:spcPct val="86729"/>
              </a:lnSpc>
              <a:buNone/>
            </a:pPr>
            <a:r>
              <a:rPr lang="en-US" sz="7200" b="1" dirty="0">
                <a:solidFill>
                  <a:srgbClr val="E0A32E"/>
                </a:solidFill>
                <a:latin typeface="Arial" pitchFamily="34" charset="0"/>
                <a:ea typeface="Arial" pitchFamily="34" charset="-122"/>
                <a:cs typeface="Arial" pitchFamily="34" charset="-120"/>
              </a:rPr>
              <a:t>1</a:t>
            </a:r>
            <a:endParaRPr lang="en-US" sz="7200" dirty="0"/>
          </a:p>
        </p:txBody>
      </p:sp>
      <p:sp>
        <p:nvSpPr>
          <p:cNvPr id="4" name="Text 2"/>
          <p:cNvSpPr/>
          <p:nvPr/>
        </p:nvSpPr>
        <p:spPr>
          <a:xfrm>
            <a:off x="2400196" y="3735835"/>
            <a:ext cx="15285211" cy="1078262"/>
          </a:xfrm>
          <a:prstGeom prst="rect">
            <a:avLst/>
          </a:prstGeom>
          <a:noFill/>
          <a:ln/>
        </p:spPr>
        <p:txBody>
          <a:bodyPr wrap="square" lIns="25400" tIns="25400" rIns="25400" bIns="25400" rtlCol="0" anchor="t">
            <a:normAutofit lnSpcReduction="10000"/>
          </a:bodyPr>
          <a:lstStyle/>
          <a:p>
            <a:pPr marL="0" indent="0" algn="l">
              <a:lnSpc>
                <a:spcPct val="113645"/>
              </a:lnSpc>
              <a:buNone/>
            </a:pPr>
            <a:r>
              <a:rPr lang="en-US" sz="3150" dirty="0">
                <a:solidFill>
                  <a:srgbClr val="F2EDE3"/>
                </a:solidFill>
                <a:latin typeface="Georgia" pitchFamily="34" charset="0"/>
                <a:ea typeface="Georgia" pitchFamily="34" charset="-122"/>
                <a:cs typeface="Georgia" pitchFamily="34" charset="-120"/>
              </a:rPr>
              <a:t>¿Cuánto de lo que hoy funciona en el campo depende exclusivamente de tu presencia física?</a:t>
            </a:r>
            <a:endParaRPr lang="en-US" sz="3150" dirty="0"/>
          </a:p>
        </p:txBody>
      </p:sp>
      <p:sp>
        <p:nvSpPr>
          <p:cNvPr id="5" name="Text 3"/>
          <p:cNvSpPr/>
          <p:nvPr/>
        </p:nvSpPr>
        <p:spPr>
          <a:xfrm>
            <a:off x="1047733" y="5609991"/>
            <a:ext cx="1123933" cy="952501"/>
          </a:xfrm>
          <a:prstGeom prst="rect">
            <a:avLst/>
          </a:prstGeom>
          <a:noFill/>
          <a:ln/>
        </p:spPr>
        <p:txBody>
          <a:bodyPr wrap="square" lIns="25400" tIns="25400" rIns="25400" bIns="25400" rtlCol="0" anchor="t">
            <a:normAutofit lnSpcReduction="10000"/>
          </a:bodyPr>
          <a:lstStyle/>
          <a:p>
            <a:pPr marL="0" indent="0" algn="l">
              <a:lnSpc>
                <a:spcPct val="86729"/>
              </a:lnSpc>
              <a:buNone/>
            </a:pPr>
            <a:r>
              <a:rPr lang="en-US" sz="7200" b="1" dirty="0">
                <a:solidFill>
                  <a:srgbClr val="E0A32E"/>
                </a:solidFill>
                <a:latin typeface="Arial" pitchFamily="34" charset="0"/>
                <a:ea typeface="Arial" pitchFamily="34" charset="-122"/>
                <a:cs typeface="Arial" pitchFamily="34" charset="-120"/>
              </a:rPr>
              <a:t>2</a:t>
            </a:r>
            <a:endParaRPr lang="en-US" sz="7200" dirty="0"/>
          </a:p>
        </p:txBody>
      </p:sp>
      <p:sp>
        <p:nvSpPr>
          <p:cNvPr id="6" name="Text 4"/>
          <p:cNvSpPr/>
          <p:nvPr/>
        </p:nvSpPr>
        <p:spPr>
          <a:xfrm>
            <a:off x="2400196" y="5609991"/>
            <a:ext cx="15285211" cy="1078262"/>
          </a:xfrm>
          <a:prstGeom prst="rect">
            <a:avLst/>
          </a:prstGeom>
          <a:noFill/>
          <a:ln/>
        </p:spPr>
        <p:txBody>
          <a:bodyPr wrap="square" lIns="25400" tIns="25400" rIns="25400" bIns="25400" rtlCol="0" anchor="t">
            <a:normAutofit lnSpcReduction="10000"/>
          </a:bodyPr>
          <a:lstStyle/>
          <a:p>
            <a:pPr marL="0" indent="0" algn="l">
              <a:lnSpc>
                <a:spcPct val="113645"/>
              </a:lnSpc>
              <a:buNone/>
            </a:pPr>
            <a:r>
              <a:rPr lang="en-US" sz="3150" dirty="0">
                <a:solidFill>
                  <a:srgbClr val="F2EDE3"/>
                </a:solidFill>
                <a:latin typeface="Georgia" pitchFamily="34" charset="0"/>
                <a:ea typeface="Georgia" pitchFamily="34" charset="-122"/>
                <a:cs typeface="Georgia" pitchFamily="34" charset="-120"/>
              </a:rPr>
              <a:t>Si tuvieras que ausentarte un mes de imprevisto, ¿qué decisiones críticas quedarían sin tomar?</a:t>
            </a:r>
            <a:endParaRPr lang="en-US" sz="3150" dirty="0"/>
          </a:p>
        </p:txBody>
      </p:sp>
      <p:sp>
        <p:nvSpPr>
          <p:cNvPr id="7" name="Text 5"/>
          <p:cNvSpPr/>
          <p:nvPr/>
        </p:nvSpPr>
        <p:spPr>
          <a:xfrm>
            <a:off x="1047733" y="7484148"/>
            <a:ext cx="1123933" cy="952501"/>
          </a:xfrm>
          <a:prstGeom prst="rect">
            <a:avLst/>
          </a:prstGeom>
          <a:noFill/>
          <a:ln/>
        </p:spPr>
        <p:txBody>
          <a:bodyPr wrap="square" lIns="25400" tIns="25400" rIns="25400" bIns="25400" rtlCol="0" anchor="t">
            <a:normAutofit lnSpcReduction="10000"/>
          </a:bodyPr>
          <a:lstStyle/>
          <a:p>
            <a:pPr marL="0" indent="0" algn="l">
              <a:lnSpc>
                <a:spcPct val="86729"/>
              </a:lnSpc>
              <a:buNone/>
            </a:pPr>
            <a:r>
              <a:rPr lang="en-US" sz="7200" b="1" dirty="0">
                <a:solidFill>
                  <a:srgbClr val="E0A32E"/>
                </a:solidFill>
                <a:latin typeface="Arial" pitchFamily="34" charset="0"/>
                <a:ea typeface="Arial" pitchFamily="34" charset="-122"/>
                <a:cs typeface="Arial" pitchFamily="34" charset="-120"/>
              </a:rPr>
              <a:t>3</a:t>
            </a:r>
            <a:endParaRPr lang="en-US" sz="7200" dirty="0"/>
          </a:p>
        </p:txBody>
      </p:sp>
      <p:sp>
        <p:nvSpPr>
          <p:cNvPr id="8" name="Text 6"/>
          <p:cNvSpPr/>
          <p:nvPr/>
        </p:nvSpPr>
        <p:spPr>
          <a:xfrm>
            <a:off x="2400196" y="7484148"/>
            <a:ext cx="15285211" cy="1078262"/>
          </a:xfrm>
          <a:prstGeom prst="rect">
            <a:avLst/>
          </a:prstGeom>
          <a:noFill/>
          <a:ln/>
        </p:spPr>
        <p:txBody>
          <a:bodyPr wrap="square" lIns="25400" tIns="25400" rIns="25400" bIns="25400" rtlCol="0" anchor="t">
            <a:normAutofit lnSpcReduction="10000"/>
          </a:bodyPr>
          <a:lstStyle/>
          <a:p>
            <a:pPr marL="0" indent="0" algn="l">
              <a:lnSpc>
                <a:spcPct val="113645"/>
              </a:lnSpc>
              <a:buNone/>
            </a:pPr>
            <a:r>
              <a:rPr lang="en-US" sz="3150" dirty="0">
                <a:solidFill>
                  <a:srgbClr val="F2EDE3"/>
                </a:solidFill>
                <a:latin typeface="Georgia" pitchFamily="34" charset="0"/>
                <a:ea typeface="Georgia" pitchFamily="34" charset="-122"/>
                <a:cs typeface="Georgia" pitchFamily="34" charset="-120"/>
              </a:rPr>
              <a:t>¿Los valores que sostienen hoy a tu empresa sobrevivirían intactos a un recambio generacional?</a:t>
            </a:r>
            <a:endParaRPr lang="en-US" sz="3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9">
    <p:bg>
      <p:bgPr>
        <a:solidFill>
          <a:srgbClr val="F2EDE3"/>
        </a:solidFill>
        <a:effectLst/>
      </p:bgPr>
    </p:bg>
    <p:spTree>
      <p:nvGrpSpPr>
        <p:cNvPr id="1" name=""/>
        <p:cNvGrpSpPr/>
        <p:nvPr/>
      </p:nvGrpSpPr>
      <p:grpSpPr>
        <a:xfrm>
          <a:off x="0" y="0"/>
          <a:ext cx="0" cy="0"/>
          <a:chOff x="0" y="0"/>
          <a:chExt cx="0" cy="0"/>
        </a:xfrm>
      </p:grpSpPr>
      <p:sp>
        <p:nvSpPr>
          <p:cNvPr id="2" name="Text 0"/>
          <p:cNvSpPr/>
          <p:nvPr/>
        </p:nvSpPr>
        <p:spPr>
          <a:xfrm>
            <a:off x="672176" y="1194018"/>
            <a:ext cx="9641079" cy="698173"/>
          </a:xfrm>
          <a:prstGeom prst="rect">
            <a:avLst/>
          </a:prstGeom>
          <a:noFill/>
          <a:ln/>
        </p:spPr>
        <p:txBody>
          <a:bodyPr wrap="square" lIns="25400" tIns="25400" rIns="25400" bIns="25400" rtlCol="0" anchor="t">
            <a:normAutofit fontScale="92500" lnSpcReduction="10000"/>
          </a:bodyPr>
          <a:lstStyle/>
          <a:p>
            <a:pPr marL="0" indent="0" algn="l">
              <a:lnSpc>
                <a:spcPct val="90819"/>
              </a:lnSpc>
              <a:buNone/>
            </a:pPr>
            <a:r>
              <a:rPr lang="en-US" sz="5400" b="1" kern="0" spc="-99" dirty="0">
                <a:solidFill>
                  <a:srgbClr val="16120E"/>
                </a:solidFill>
                <a:latin typeface="Arial" pitchFamily="34" charset="0"/>
                <a:ea typeface="Arial" pitchFamily="34" charset="-122"/>
                <a:cs typeface="Arial" pitchFamily="34" charset="-120"/>
              </a:rPr>
              <a:t>Lo </a:t>
            </a:r>
            <a:r>
              <a:rPr lang="en-US" sz="5400" b="1" kern="0" spc="-99" dirty="0" err="1">
                <a:solidFill>
                  <a:srgbClr val="16120E"/>
                </a:solidFill>
                <a:latin typeface="Arial" pitchFamily="34" charset="0"/>
                <a:ea typeface="Arial" pitchFamily="34" charset="-122"/>
                <a:cs typeface="Arial" pitchFamily="34" charset="-120"/>
              </a:rPr>
              <a:t>que</a:t>
            </a:r>
            <a:r>
              <a:rPr lang="en-US" sz="5400" b="1" kern="0" spc="-99" dirty="0">
                <a:solidFill>
                  <a:srgbClr val="16120E"/>
                </a:solidFill>
                <a:latin typeface="Arial" pitchFamily="34" charset="0"/>
                <a:ea typeface="Arial" pitchFamily="34" charset="-122"/>
                <a:cs typeface="Arial" pitchFamily="34" charset="-120"/>
              </a:rPr>
              <a:t> </a:t>
            </a:r>
            <a:r>
              <a:rPr lang="en-US" sz="5400" b="1" kern="0" spc="-99" dirty="0" err="1">
                <a:solidFill>
                  <a:srgbClr val="16120E"/>
                </a:solidFill>
                <a:latin typeface="Arial" pitchFamily="34" charset="0"/>
                <a:ea typeface="Arial" pitchFamily="34" charset="-122"/>
                <a:cs typeface="Arial" pitchFamily="34" charset="-120"/>
              </a:rPr>
              <a:t>nos</a:t>
            </a:r>
            <a:r>
              <a:rPr lang="en-US" sz="5400" b="1" kern="0" spc="-99" dirty="0">
                <a:solidFill>
                  <a:srgbClr val="16120E"/>
                </a:solidFill>
                <a:latin typeface="Arial" pitchFamily="34" charset="0"/>
                <a:ea typeface="Arial" pitchFamily="34" charset="-122"/>
                <a:cs typeface="Arial" pitchFamily="34" charset="-120"/>
              </a:rPr>
              <a:t> dice </a:t>
            </a:r>
            <a:r>
              <a:rPr lang="en-US" sz="5400" b="1" kern="0" spc="-99" dirty="0" err="1">
                <a:solidFill>
                  <a:srgbClr val="16120E"/>
                </a:solidFill>
                <a:latin typeface="Arial" pitchFamily="34" charset="0"/>
                <a:ea typeface="Arial" pitchFamily="34" charset="-122"/>
                <a:cs typeface="Arial" pitchFamily="34" charset="-120"/>
              </a:rPr>
              <a:t>todo</a:t>
            </a:r>
            <a:r>
              <a:rPr lang="en-US" sz="5400" b="1" kern="0" spc="-99" dirty="0">
                <a:solidFill>
                  <a:srgbClr val="16120E"/>
                </a:solidFill>
                <a:latin typeface="Arial" pitchFamily="34" charset="0"/>
                <a:ea typeface="Arial" pitchFamily="34" charset="-122"/>
                <a:cs typeface="Arial" pitchFamily="34" charset="-120"/>
              </a:rPr>
              <a:t> </a:t>
            </a:r>
            <a:r>
              <a:rPr lang="en-US" sz="5400" b="1" kern="0" spc="-99" dirty="0" err="1">
                <a:solidFill>
                  <a:srgbClr val="16120E"/>
                </a:solidFill>
                <a:latin typeface="Arial" pitchFamily="34" charset="0"/>
                <a:ea typeface="Arial" pitchFamily="34" charset="-122"/>
                <a:cs typeface="Arial" pitchFamily="34" charset="-120"/>
              </a:rPr>
              <a:t>esto</a:t>
            </a:r>
            <a:endParaRPr lang="en-US" sz="5400" dirty="0"/>
          </a:p>
        </p:txBody>
      </p:sp>
      <p:sp>
        <p:nvSpPr>
          <p:cNvPr id="3" name="Text 1"/>
          <p:cNvSpPr/>
          <p:nvPr/>
        </p:nvSpPr>
        <p:spPr>
          <a:xfrm>
            <a:off x="672176" y="2225501"/>
            <a:ext cx="9027556" cy="2917999"/>
          </a:xfrm>
          <a:prstGeom prst="rect">
            <a:avLst/>
          </a:prstGeom>
          <a:noFill/>
          <a:ln/>
        </p:spPr>
        <p:txBody>
          <a:bodyPr wrap="square" lIns="25400" tIns="25400" rIns="25400" bIns="25400" rtlCol="0" anchor="t">
            <a:normAutofit fontScale="92500" lnSpcReduction="10000"/>
          </a:bodyPr>
          <a:lstStyle/>
          <a:p>
            <a:pPr marL="0" indent="0" algn="l">
              <a:lnSpc>
                <a:spcPct val="122990"/>
              </a:lnSpc>
              <a:buNone/>
            </a:pPr>
            <a:r>
              <a:rPr lang="en-US" sz="2800" dirty="0">
                <a:solidFill>
                  <a:srgbClr val="16120E"/>
                </a:solidFill>
                <a:latin typeface="Georgia" pitchFamily="34" charset="0"/>
                <a:ea typeface="Georgia" pitchFamily="34" charset="-122"/>
                <a:cs typeface="Georgia" pitchFamily="34" charset="-120"/>
              </a:rPr>
              <a:t>Ninguna de las 17 empresas llegó al </a:t>
            </a:r>
            <a:r>
              <a:rPr lang="en-US" sz="2800" b="1" dirty="0">
                <a:solidFill>
                  <a:srgbClr val="16120E"/>
                </a:solidFill>
                <a:latin typeface="Georgia" pitchFamily="34" charset="0"/>
                <a:ea typeface="Georgia" pitchFamily="34" charset="-122"/>
                <a:cs typeface="Georgia" pitchFamily="34" charset="-120"/>
              </a:rPr>
              <a:t>nivel reactivo </a:t>
            </a:r>
            <a:r>
              <a:rPr lang="en-US" sz="2800" dirty="0">
                <a:solidFill>
                  <a:srgbClr val="16120E"/>
                </a:solidFill>
                <a:latin typeface="Georgia" pitchFamily="34" charset="0"/>
                <a:ea typeface="Georgia" pitchFamily="34" charset="-122"/>
                <a:cs typeface="Georgia" pitchFamily="34" charset="-120"/>
              </a:rPr>
              <a:t>por descuido, y ninguna llegó al </a:t>
            </a:r>
            <a:r>
              <a:rPr lang="en-US" sz="2800" b="1" dirty="0">
                <a:solidFill>
                  <a:srgbClr val="16120E"/>
                </a:solidFill>
                <a:latin typeface="Georgia" pitchFamily="34" charset="0"/>
                <a:ea typeface="Georgia" pitchFamily="34" charset="-122"/>
                <a:cs typeface="Georgia" pitchFamily="34" charset="-120"/>
              </a:rPr>
              <a:t>estratégico</a:t>
            </a:r>
            <a:r>
              <a:rPr lang="en-US" sz="2800" dirty="0">
                <a:solidFill>
                  <a:srgbClr val="16120E"/>
                </a:solidFill>
                <a:latin typeface="Georgia" pitchFamily="34" charset="0"/>
                <a:ea typeface="Georgia" pitchFamily="34" charset="-122"/>
                <a:cs typeface="Georgia" pitchFamily="34" charset="-120"/>
              </a:rPr>
              <a:t> por suerte. </a:t>
            </a:r>
          </a:p>
          <a:p>
            <a:pPr marL="0" indent="0" algn="l">
              <a:lnSpc>
                <a:spcPct val="122990"/>
              </a:lnSpc>
              <a:buNone/>
            </a:pPr>
            <a:endParaRPr lang="en-US" sz="2800" dirty="0">
              <a:solidFill>
                <a:srgbClr val="16120E"/>
              </a:solidFill>
              <a:latin typeface="Georgia" pitchFamily="34" charset="0"/>
              <a:ea typeface="Georgia" pitchFamily="34" charset="-122"/>
              <a:cs typeface="Georgia" pitchFamily="34" charset="-120"/>
            </a:endParaRPr>
          </a:p>
          <a:p>
            <a:pPr marL="0" indent="0" algn="l">
              <a:lnSpc>
                <a:spcPct val="122990"/>
              </a:lnSpc>
              <a:buNone/>
            </a:pPr>
            <a:r>
              <a:rPr lang="en-US" sz="2800" dirty="0">
                <a:solidFill>
                  <a:srgbClr val="16120E"/>
                </a:solidFill>
                <a:latin typeface="Georgia" pitchFamily="34" charset="0"/>
                <a:ea typeface="Georgia" pitchFamily="34" charset="-122"/>
                <a:cs typeface="Georgia" pitchFamily="34" charset="-120"/>
              </a:rPr>
              <a:t>Las cuatro que hoy están arriba de la escala tienen la misma </a:t>
            </a:r>
            <a:r>
              <a:rPr lang="en-US" sz="2800" i="1" dirty="0">
                <a:solidFill>
                  <a:srgbClr val="16120E"/>
                </a:solidFill>
                <a:latin typeface="Georgia" pitchFamily="34" charset="0"/>
                <a:ea typeface="Georgia" pitchFamily="34" charset="-122"/>
                <a:cs typeface="Georgia" pitchFamily="34" charset="-120"/>
              </a:rPr>
              <a:t>informalidad de origen</a:t>
            </a:r>
            <a:r>
              <a:rPr lang="en-US" sz="2800" dirty="0">
                <a:solidFill>
                  <a:srgbClr val="16120E"/>
                </a:solidFill>
                <a:latin typeface="Georgia" pitchFamily="34" charset="0"/>
                <a:ea typeface="Georgia" pitchFamily="34" charset="-122"/>
                <a:cs typeface="Georgia" pitchFamily="34" charset="-120"/>
              </a:rPr>
              <a:t>, pero en algún momento alguien se sentó a diseñar un proceso en vez de dejar que “se diera así”.</a:t>
            </a:r>
            <a:endParaRPr lang="en-US" sz="2800" dirty="0"/>
          </a:p>
        </p:txBody>
      </p:sp>
      <p:sp>
        <p:nvSpPr>
          <p:cNvPr id="4" name="Text 2"/>
          <p:cNvSpPr/>
          <p:nvPr/>
        </p:nvSpPr>
        <p:spPr>
          <a:xfrm>
            <a:off x="672176" y="5476810"/>
            <a:ext cx="9027556" cy="2584689"/>
          </a:xfrm>
          <a:prstGeom prst="rect">
            <a:avLst/>
          </a:prstGeom>
          <a:noFill/>
          <a:ln/>
        </p:spPr>
        <p:txBody>
          <a:bodyPr wrap="square" lIns="25400" tIns="25400" rIns="25400" bIns="25400" rtlCol="0" anchor="t">
            <a:normAutofit fontScale="92500"/>
          </a:bodyPr>
          <a:lstStyle/>
          <a:p>
            <a:pPr marL="0" indent="0" algn="l">
              <a:lnSpc>
                <a:spcPct val="122990"/>
              </a:lnSpc>
              <a:buNone/>
            </a:pPr>
            <a:r>
              <a:rPr lang="en-US" sz="2800" dirty="0">
                <a:solidFill>
                  <a:srgbClr val="4A423A"/>
                </a:solidFill>
                <a:latin typeface="Georgia" pitchFamily="34" charset="0"/>
                <a:ea typeface="Georgia" pitchFamily="34" charset="-122"/>
                <a:cs typeface="Georgia" pitchFamily="34" charset="-120"/>
              </a:rPr>
              <a:t>Las 9 empresas en </a:t>
            </a:r>
            <a:r>
              <a:rPr lang="en-US" sz="2800" b="1" dirty="0">
                <a:solidFill>
                  <a:srgbClr val="4A423A"/>
                </a:solidFill>
                <a:latin typeface="Georgia" pitchFamily="34" charset="0"/>
                <a:ea typeface="Georgia" pitchFamily="34" charset="-122"/>
                <a:cs typeface="Georgia" pitchFamily="34" charset="-120"/>
              </a:rPr>
              <a:t>nivel definido </a:t>
            </a:r>
            <a:r>
              <a:rPr lang="en-US" sz="2800" dirty="0">
                <a:solidFill>
                  <a:srgbClr val="4A423A"/>
                </a:solidFill>
                <a:latin typeface="Georgia" pitchFamily="34" charset="0"/>
                <a:ea typeface="Georgia" pitchFamily="34" charset="-122"/>
                <a:cs typeface="Georgia" pitchFamily="34" charset="-120"/>
              </a:rPr>
              <a:t>están exactamente en el punto donde ese salto todavía se puede decidir a conciencia. </a:t>
            </a:r>
          </a:p>
          <a:p>
            <a:pPr marL="0" indent="0" algn="l">
              <a:lnSpc>
                <a:spcPct val="122990"/>
              </a:lnSpc>
              <a:buNone/>
            </a:pPr>
            <a:endParaRPr lang="en-US" sz="2800" dirty="0">
              <a:solidFill>
                <a:srgbClr val="4A423A"/>
              </a:solidFill>
              <a:latin typeface="Georgia" pitchFamily="34" charset="0"/>
              <a:ea typeface="Georgia" pitchFamily="34" charset="-122"/>
              <a:cs typeface="Georgia" pitchFamily="34" charset="-120"/>
            </a:endParaRPr>
          </a:p>
          <a:p>
            <a:pPr marL="0" indent="0" algn="l">
              <a:lnSpc>
                <a:spcPct val="122990"/>
              </a:lnSpc>
              <a:buNone/>
            </a:pPr>
            <a:r>
              <a:rPr lang="en-US" sz="3000" b="1" dirty="0">
                <a:solidFill>
                  <a:srgbClr val="4A423A"/>
                </a:solidFill>
                <a:latin typeface="Georgia" pitchFamily="34" charset="0"/>
                <a:ea typeface="Georgia" pitchFamily="34" charset="-122"/>
                <a:cs typeface="Georgia" pitchFamily="34" charset="-120"/>
              </a:rPr>
              <a:t>No alcanza con sostener lo que ya funciona: hay que hacer crecer la parte que nadie diseñó</a:t>
            </a:r>
            <a:r>
              <a:rPr lang="en-US" sz="2800" dirty="0">
                <a:solidFill>
                  <a:srgbClr val="4A423A"/>
                </a:solidFill>
                <a:latin typeface="Georgia" pitchFamily="34" charset="0"/>
                <a:ea typeface="Georgia" pitchFamily="34" charset="-122"/>
                <a:cs typeface="Georgia" pitchFamily="34" charset="-120"/>
              </a:rPr>
              <a:t>.</a:t>
            </a:r>
            <a:endParaRPr lang="en-US" sz="2800" dirty="0"/>
          </a:p>
        </p:txBody>
      </p:sp>
      <p:pic>
        <p:nvPicPr>
          <p:cNvPr id="5" name="Image 0" descr="preencoded.png"/>
          <p:cNvPicPr>
            <a:picLocks noChangeAspect="1"/>
          </p:cNvPicPr>
          <p:nvPr/>
        </p:nvPicPr>
        <p:blipFill>
          <a:blip r:embed="rId3"/>
          <a:srcRect l="18956" r="18956"/>
          <a:stretch/>
        </p:blipFill>
        <p:spPr>
          <a:xfrm>
            <a:off x="10230846" y="1747157"/>
            <a:ext cx="7624468" cy="6678386"/>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b="3314"/>
          <a:stretch>
            <a:fillRect/>
          </a:stretch>
        </p:blipFill>
        <p:spPr>
          <a:xfrm>
            <a:off x="0" y="42862"/>
            <a:ext cx="18288000" cy="10244137"/>
          </a:xfrm>
          <a:prstGeom prst="rect">
            <a:avLst/>
          </a:prstGeom>
        </p:spPr>
      </p:pic>
      <p:sp>
        <p:nvSpPr>
          <p:cNvPr id="3" name="Text 1">
            <a:extLst>
              <a:ext uri="{FF2B5EF4-FFF2-40B4-BE49-F238E27FC236}">
                <a16:creationId xmlns:a16="http://schemas.microsoft.com/office/drawing/2014/main" id="{E96EAEE9-E0FC-48C8-139B-9292D9709852}"/>
              </a:ext>
            </a:extLst>
          </p:cNvPr>
          <p:cNvSpPr/>
          <p:nvPr/>
        </p:nvSpPr>
        <p:spPr>
          <a:xfrm>
            <a:off x="2908171" y="7456605"/>
            <a:ext cx="12753946" cy="1687395"/>
          </a:xfrm>
          <a:prstGeom prst="rect">
            <a:avLst/>
          </a:prstGeom>
          <a:solidFill>
            <a:schemeClr val="accent6">
              <a:lumMod val="50000"/>
            </a:schemeClr>
          </a:solidFill>
          <a:ln/>
        </p:spPr>
        <p:txBody>
          <a:bodyPr wrap="square" lIns="25400" tIns="25400" rIns="25400" bIns="25400" rtlCol="0" anchor="t">
            <a:noAutofit/>
          </a:bodyPr>
          <a:lstStyle/>
          <a:p>
            <a:pPr marL="0" indent="0" algn="ctr">
              <a:lnSpc>
                <a:spcPct val="108874"/>
              </a:lnSpc>
              <a:buNone/>
            </a:pPr>
            <a:r>
              <a:rPr lang="en-US" sz="4400" b="1" dirty="0">
                <a:solidFill>
                  <a:srgbClr val="E0A32E"/>
                </a:solidFill>
                <a:latin typeface="Arial" pitchFamily="34" charset="0"/>
                <a:ea typeface="Arial" pitchFamily="34" charset="-122"/>
                <a:cs typeface="Arial" pitchFamily="34" charset="-120"/>
              </a:rPr>
              <a:t>Tu legado no es el campo. </a:t>
            </a:r>
          </a:p>
          <a:p>
            <a:pPr marL="0" indent="0" algn="ctr">
              <a:lnSpc>
                <a:spcPct val="108874"/>
              </a:lnSpc>
              <a:buNone/>
            </a:pPr>
            <a:r>
              <a:rPr lang="en-US" sz="4400" b="1" dirty="0">
                <a:solidFill>
                  <a:srgbClr val="E0A32E"/>
                </a:solidFill>
                <a:latin typeface="Arial" pitchFamily="34" charset="0"/>
                <a:ea typeface="Arial" pitchFamily="34" charset="-122"/>
                <a:cs typeface="Arial" pitchFamily="34" charset="-120"/>
              </a:rPr>
              <a:t>Es el sistema que construís para operarlo.</a:t>
            </a:r>
            <a:endParaRPr lang="en-US" sz="4400" dirty="0"/>
          </a:p>
        </p:txBody>
      </p:sp>
      <p:sp>
        <p:nvSpPr>
          <p:cNvPr id="4" name="Frase cierre"/>
          <p:cNvSpPr txBox="1"/>
          <p:nvPr/>
        </p:nvSpPr>
        <p:spPr>
          <a:xfrm>
            <a:off x="1700000" y="4350000"/>
            <a:ext cx="14900000" cy="2900000"/>
          </a:xfrm>
          <a:prstGeom prst="rect">
            <a:avLst/>
          </a:prstGeom>
          <a:noFill/>
        </p:spPr>
        <p:txBody>
          <a:bodyPr wrap="square" anchor="ctr">
            <a:spAutoFit/>
          </a:bodyPr>
          <a:lstStyle/>
          <a:p>
            <a:pPr algn="ctr"/>
            <a:r>
              <a:rPr sz="6000" b="1">
                <a:solidFill>
                  <a:srgbClr val="FFFFFF"/>
                </a:solidFill>
                <a:latin typeface="Cambria"/>
              </a:rPr>
              <a:t>“La mística no escala. Y los procesos, sin personas que los sostengan, tampoco.”</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0">
    <p:bg>
      <p:bgPr>
        <a:solidFill>
          <a:srgbClr val="16120E"/>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2553" b="5958"/>
          <a:stretch/>
        </p:blipFill>
        <p:spPr>
          <a:xfrm>
            <a:off x="0" y="7429469"/>
            <a:ext cx="18287940" cy="2857467"/>
          </a:xfrm>
          <a:prstGeom prst="rect">
            <a:avLst/>
          </a:prstGeom>
        </p:spPr>
      </p:pic>
      <p:sp>
        <p:nvSpPr>
          <p:cNvPr id="3" name="Shape 0"/>
          <p:cNvSpPr/>
          <p:nvPr/>
        </p:nvSpPr>
        <p:spPr>
          <a:xfrm>
            <a:off x="0" y="6572271"/>
            <a:ext cx="18287940" cy="857198"/>
          </a:xfrm>
          <a:prstGeom prst="rect">
            <a:avLst/>
          </a:prstGeom>
          <a:gradFill rotWithShape="1">
            <a:gsLst>
              <a:gs pos="0">
                <a:srgbClr val="16120E">
                  <a:alpha val="100000"/>
                </a:srgbClr>
              </a:gs>
              <a:gs pos="100000">
                <a:srgbClr val="16120E">
                  <a:alpha val="0"/>
                </a:srgbClr>
              </a:gs>
            </a:gsLst>
            <a:lin ang="5400000" scaled="0"/>
          </a:gradFill>
          <a:ln/>
        </p:spPr>
        <p:txBody>
          <a:bodyPr/>
          <a:lstStyle/>
          <a:p>
            <a:endParaRPr lang="es-AR"/>
          </a:p>
        </p:txBody>
      </p:sp>
      <p:sp>
        <p:nvSpPr>
          <p:cNvPr id="4" name="Shape 1"/>
          <p:cNvSpPr/>
          <p:nvPr/>
        </p:nvSpPr>
        <p:spPr>
          <a:xfrm>
            <a:off x="0" y="7400938"/>
            <a:ext cx="18287940" cy="28531"/>
          </a:xfrm>
          <a:prstGeom prst="rect">
            <a:avLst/>
          </a:prstGeom>
          <a:solidFill>
            <a:srgbClr val="E0A32E">
              <a:alpha val="85000"/>
            </a:srgbClr>
          </a:solidFill>
          <a:ln/>
        </p:spPr>
        <p:txBody>
          <a:bodyPr/>
          <a:lstStyle/>
          <a:p>
            <a:endParaRPr lang="es-AR"/>
          </a:p>
        </p:txBody>
      </p:sp>
      <p:sp>
        <p:nvSpPr>
          <p:cNvPr id="5" name="Text 2"/>
          <p:cNvSpPr/>
          <p:nvPr/>
        </p:nvSpPr>
        <p:spPr>
          <a:xfrm>
            <a:off x="759768" y="2871206"/>
            <a:ext cx="16768405" cy="1466833"/>
          </a:xfrm>
          <a:prstGeom prst="rect">
            <a:avLst/>
          </a:prstGeom>
          <a:noFill/>
          <a:ln/>
        </p:spPr>
        <p:txBody>
          <a:bodyPr wrap="square" lIns="25400" tIns="25400" rIns="25400" bIns="25400" rtlCol="0" anchor="t">
            <a:normAutofit lnSpcReduction="10000"/>
          </a:bodyPr>
          <a:lstStyle/>
          <a:p>
            <a:pPr marL="0" indent="0" algn="ctr">
              <a:lnSpc>
                <a:spcPct val="87248"/>
              </a:lnSpc>
              <a:buNone/>
            </a:pPr>
            <a:r>
              <a:rPr lang="en-US" sz="11250" b="1" kern="0" spc="-337" dirty="0">
                <a:solidFill>
                  <a:srgbClr val="F2EDE3"/>
                </a:solidFill>
                <a:latin typeface="Arial" pitchFamily="34" charset="0"/>
                <a:ea typeface="Arial" pitchFamily="34" charset="-122"/>
                <a:cs typeface="Arial" pitchFamily="34" charset="-120"/>
              </a:rPr>
              <a:t>Esta semana, media página.</a:t>
            </a:r>
            <a:endParaRPr lang="en-US" sz="11250" dirty="0"/>
          </a:p>
        </p:txBody>
      </p:sp>
      <p:sp>
        <p:nvSpPr>
          <p:cNvPr id="6" name="Text 3"/>
          <p:cNvSpPr/>
          <p:nvPr/>
        </p:nvSpPr>
        <p:spPr>
          <a:xfrm>
            <a:off x="1500000" y="4642805"/>
            <a:ext cx="15288000" cy="715558"/>
          </a:xfrm>
          <a:prstGeom prst="rect">
            <a:avLst/>
          </a:prstGeom>
          <a:noFill/>
          <a:ln/>
        </p:spPr>
        <p:txBody>
          <a:bodyPr wrap="square" lIns="25400" tIns="25400" rIns="25400" bIns="25400" rtlCol="0" anchor="t">
            <a:normAutofit lnSpcReduction="10000"/>
          </a:bodyPr>
          <a:lstStyle/>
          <a:p>
            <a:pPr marL="0" indent="0" algn="ctr">
              <a:buNone/>
            </a:pPr>
            <a:r>
              <a:rPr lang="en-US" sz="4650" b="1" dirty="0">
                <a:solidFill>
                  <a:srgbClr val="E0A32E"/>
                </a:solidFill>
                <a:latin typeface="Arial" pitchFamily="34" charset="0"/>
                <a:ea typeface="Arial" pitchFamily="34" charset="-122"/>
                <a:cs typeface="Arial" pitchFamily="34" charset="-120"/>
              </a:rPr>
              <a:t>La tarea que se rompe cuando vos no estás. Una sola. Escribila antes del lunes.</a:t>
            </a:r>
            <a:endParaRPr lang="en-US" sz="46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1">
    <p:bg>
      <p:bgPr>
        <a:solidFill>
          <a:srgbClr val="16120E"/>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7696" b="17957"/>
          <a:stretch/>
        </p:blipFill>
        <p:spPr>
          <a:xfrm>
            <a:off x="1047733" y="1619268"/>
            <a:ext cx="6815662" cy="7238934"/>
          </a:xfrm>
          <a:prstGeom prst="rect">
            <a:avLst/>
          </a:prstGeom>
        </p:spPr>
      </p:pic>
      <p:sp>
        <p:nvSpPr>
          <p:cNvPr id="3" name="Text 0"/>
          <p:cNvSpPr/>
          <p:nvPr/>
        </p:nvSpPr>
        <p:spPr>
          <a:xfrm>
            <a:off x="8720593" y="2321823"/>
            <a:ext cx="9371498" cy="1466833"/>
          </a:xfrm>
          <a:prstGeom prst="rect">
            <a:avLst/>
          </a:prstGeom>
          <a:noFill/>
          <a:ln/>
        </p:spPr>
        <p:txBody>
          <a:bodyPr wrap="square" lIns="25400" tIns="25400" rIns="25400" bIns="25400" rtlCol="0" anchor="t">
            <a:normAutofit lnSpcReduction="10000"/>
          </a:bodyPr>
          <a:lstStyle/>
          <a:p>
            <a:pPr marL="0" indent="0" algn="l">
              <a:lnSpc>
                <a:spcPct val="87248"/>
              </a:lnSpc>
              <a:buNone/>
            </a:pPr>
            <a:r>
              <a:rPr lang="en-US" sz="11250" b="1" kern="0" spc="-337" dirty="0">
                <a:solidFill>
                  <a:srgbClr val="F2EDE3"/>
                </a:solidFill>
                <a:latin typeface="Arial" pitchFamily="34" charset="0"/>
                <a:ea typeface="Arial" pitchFamily="34" charset="-122"/>
                <a:cs typeface="Arial" pitchFamily="34" charset="-120"/>
              </a:rPr>
              <a:t>Gracias</a:t>
            </a:r>
            <a:endParaRPr lang="en-US" sz="11250" dirty="0"/>
          </a:p>
        </p:txBody>
      </p:sp>
      <p:sp>
        <p:nvSpPr>
          <p:cNvPr id="4" name="Text 1"/>
          <p:cNvSpPr/>
          <p:nvPr/>
        </p:nvSpPr>
        <p:spPr>
          <a:xfrm>
            <a:off x="8720593" y="4093421"/>
            <a:ext cx="8775130" cy="1066765"/>
          </a:xfrm>
          <a:prstGeom prst="rect">
            <a:avLst/>
          </a:prstGeom>
          <a:noFill/>
          <a:ln/>
        </p:spPr>
        <p:txBody>
          <a:bodyPr wrap="square" lIns="25400" tIns="25400" rIns="25400" bIns="25400" rtlCol="0" anchor="t">
            <a:normAutofit lnSpcReduction="10000"/>
          </a:bodyPr>
          <a:lstStyle/>
          <a:p>
            <a:pPr marL="0" indent="0" algn="l">
              <a:lnSpc>
                <a:spcPct val="118190"/>
              </a:lnSpc>
              <a:buNone/>
            </a:pPr>
            <a:r>
              <a:rPr lang="en-US" sz="3000" dirty="0">
                <a:solidFill>
                  <a:srgbClr val="D6CBB9"/>
                </a:solidFill>
                <a:latin typeface="Georgia" pitchFamily="34" charset="0"/>
                <a:ea typeface="Georgia" pitchFamily="34" charset="-122"/>
                <a:cs typeface="Georgia" pitchFamily="34" charset="-120"/>
              </a:rPr>
              <a:t>Gracias por el tiempo y por los datos que hicieron posible este diagnóstico.</a:t>
            </a:r>
            <a:endParaRPr lang="en-US" sz="3000" dirty="0"/>
          </a:p>
        </p:txBody>
      </p:sp>
      <p:sp>
        <p:nvSpPr>
          <p:cNvPr id="5" name="Shape 2"/>
          <p:cNvSpPr/>
          <p:nvPr/>
        </p:nvSpPr>
        <p:spPr>
          <a:xfrm>
            <a:off x="8720593" y="5655417"/>
            <a:ext cx="8519543" cy="17946"/>
          </a:xfrm>
          <a:prstGeom prst="rect">
            <a:avLst/>
          </a:prstGeom>
          <a:solidFill>
            <a:srgbClr val="4A423A"/>
          </a:solidFill>
          <a:ln/>
        </p:spPr>
        <p:txBody>
          <a:bodyPr/>
          <a:lstStyle/>
          <a:p>
            <a:endParaRPr lang="es-AR"/>
          </a:p>
        </p:txBody>
      </p:sp>
      <p:pic>
        <p:nvPicPr>
          <p:cNvPr id="6" name="Image 1" descr="preencoded.png"/>
          <p:cNvPicPr>
            <a:picLocks noChangeAspect="1"/>
          </p:cNvPicPr>
          <p:nvPr/>
        </p:nvPicPr>
        <p:blipFill>
          <a:blip r:embed="rId4"/>
          <a:stretch>
            <a:fillRect/>
          </a:stretch>
        </p:blipFill>
        <p:spPr>
          <a:xfrm>
            <a:off x="8720593" y="6016228"/>
            <a:ext cx="2460693" cy="1619198"/>
          </a:xfrm>
          <a:prstGeom prst="rect">
            <a:avLst/>
          </a:prstGeom>
        </p:spPr>
      </p:pic>
      <p:sp>
        <p:nvSpPr>
          <p:cNvPr id="7" name="Text 3"/>
          <p:cNvSpPr/>
          <p:nvPr/>
        </p:nvSpPr>
        <p:spPr>
          <a:xfrm>
            <a:off x="8720593" y="7787757"/>
            <a:ext cx="3726946" cy="405991"/>
          </a:xfrm>
          <a:prstGeom prst="rect">
            <a:avLst/>
          </a:prstGeom>
          <a:noFill/>
          <a:ln/>
        </p:spPr>
        <p:txBody>
          <a:bodyPr wrap="none" lIns="25400" tIns="25400" rIns="25400" bIns="25400" rtlCol="0" anchor="t">
            <a:normAutofit/>
          </a:bodyPr>
          <a:lstStyle/>
          <a:p>
            <a:pPr marL="0" indent="0" algn="l">
              <a:buNone/>
            </a:pPr>
            <a:r>
              <a:rPr lang="en-US" sz="2100" dirty="0">
                <a:solidFill>
                  <a:srgbClr val="9C9086"/>
                </a:solidFill>
                <a:latin typeface="Georgia" pitchFamily="34" charset="0"/>
                <a:ea typeface="Georgia" pitchFamily="34" charset="-122"/>
                <a:cs typeface="Georgia" pitchFamily="34" charset="-120"/>
              </a:rPr>
              <a:t>La diferencia está en la gente</a:t>
            </a:r>
            <a:endParaRPr lang="en-US" sz="2100" dirty="0"/>
          </a:p>
        </p:txBody>
      </p:sp>
      <p:sp>
        <p:nvSpPr>
          <p:cNvPr id="8" name="Shape 8">
            <a:extLst>
              <a:ext uri="{FF2B5EF4-FFF2-40B4-BE49-F238E27FC236}">
                <a16:creationId xmlns:a16="http://schemas.microsoft.com/office/drawing/2014/main" id="{07747D44-B5FF-72DF-1774-8A2251095213}"/>
              </a:ext>
            </a:extLst>
          </p:cNvPr>
          <p:cNvSpPr/>
          <p:nvPr/>
        </p:nvSpPr>
        <p:spPr>
          <a:xfrm>
            <a:off x="13898201" y="8553542"/>
            <a:ext cx="3342006" cy="1066660"/>
          </a:xfrm>
          <a:prstGeom prst="rect">
            <a:avLst/>
          </a:prstGeom>
          <a:solidFill>
            <a:srgbClr val="FFFFFF"/>
          </a:solidFill>
          <a:ln/>
          <a:effectLst>
            <a:outerShdw blurRad="101600" dist="50800" dir="16200000" algn="bl" rotWithShape="0">
              <a:srgbClr val="16120E">
                <a:alpha val="12000"/>
              </a:srgbClr>
            </a:outerShdw>
          </a:effectLst>
        </p:spPr>
        <p:txBody>
          <a:bodyPr/>
          <a:lstStyle/>
          <a:p>
            <a:endParaRPr lang="es-AR"/>
          </a:p>
        </p:txBody>
      </p:sp>
      <p:pic>
        <p:nvPicPr>
          <p:cNvPr id="9" name="Image 2" descr="preencoded.png">
            <a:extLst>
              <a:ext uri="{FF2B5EF4-FFF2-40B4-BE49-F238E27FC236}">
                <a16:creationId xmlns:a16="http://schemas.microsoft.com/office/drawing/2014/main" id="{161AB832-48FA-25ED-5E0B-D838AAE8D491}"/>
              </a:ext>
            </a:extLst>
          </p:cNvPr>
          <p:cNvPicPr>
            <a:picLocks noChangeAspect="1"/>
          </p:cNvPicPr>
          <p:nvPr/>
        </p:nvPicPr>
        <p:blipFill>
          <a:blip r:embed="rId5"/>
          <a:stretch>
            <a:fillRect/>
          </a:stretch>
        </p:blipFill>
        <p:spPr>
          <a:xfrm>
            <a:off x="14050531" y="8667807"/>
            <a:ext cx="3037346" cy="83813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2EDE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30722" b="50125"/>
          <a:stretch/>
        </p:blipFill>
        <p:spPr>
          <a:xfrm>
            <a:off x="0" y="0"/>
            <a:ext cx="18287940" cy="1904931"/>
          </a:xfrm>
          <a:prstGeom prst="rect">
            <a:avLst/>
          </a:prstGeom>
        </p:spPr>
      </p:pic>
      <p:sp>
        <p:nvSpPr>
          <p:cNvPr id="3" name="Shape 0"/>
          <p:cNvSpPr/>
          <p:nvPr/>
        </p:nvSpPr>
        <p:spPr>
          <a:xfrm>
            <a:off x="0" y="1904931"/>
            <a:ext cx="18287940" cy="28531"/>
          </a:xfrm>
          <a:prstGeom prst="rect">
            <a:avLst/>
          </a:prstGeom>
          <a:solidFill>
            <a:srgbClr val="E0A32E"/>
          </a:solidFill>
          <a:ln/>
        </p:spPr>
        <p:txBody>
          <a:bodyPr/>
          <a:lstStyle/>
          <a:p>
            <a:endParaRPr lang="es-AR"/>
          </a:p>
        </p:txBody>
      </p:sp>
      <p:sp>
        <p:nvSpPr>
          <p:cNvPr id="4" name="Text 1"/>
          <p:cNvSpPr/>
          <p:nvPr/>
        </p:nvSpPr>
        <p:spPr>
          <a:xfrm>
            <a:off x="1047733" y="3009359"/>
            <a:ext cx="13411284" cy="752449"/>
          </a:xfrm>
          <a:prstGeom prst="rect">
            <a:avLst/>
          </a:prstGeom>
          <a:noFill/>
          <a:ln/>
        </p:spPr>
        <p:txBody>
          <a:bodyPr wrap="square" lIns="25400" tIns="25400" rIns="25400" bIns="25400" rtlCol="0" anchor="t">
            <a:normAutofit/>
          </a:bodyPr>
          <a:lstStyle/>
          <a:p>
            <a:pPr marL="0" indent="0" algn="l">
              <a:buNone/>
            </a:pPr>
            <a:r>
              <a:rPr lang="en-US" sz="3200" b="1" kern="0" spc="429" dirty="0">
                <a:solidFill>
                  <a:srgbClr val="8A6A1F"/>
                </a:solidFill>
                <a:latin typeface="Arial" pitchFamily="34" charset="0"/>
                <a:ea typeface="Arial" pitchFamily="34" charset="-122"/>
                <a:cs typeface="Arial" pitchFamily="34" charset="-120"/>
              </a:rPr>
              <a:t>PARA SEGUIR TRABAJÁNDOLO</a:t>
            </a:r>
            <a:endParaRPr lang="en-US" sz="3200" dirty="0"/>
          </a:p>
        </p:txBody>
      </p:sp>
      <p:sp>
        <p:nvSpPr>
          <p:cNvPr id="5" name="Text 2"/>
          <p:cNvSpPr/>
          <p:nvPr/>
        </p:nvSpPr>
        <p:spPr>
          <a:xfrm>
            <a:off x="1047733" y="3990372"/>
            <a:ext cx="13411284" cy="914365"/>
          </a:xfrm>
          <a:prstGeom prst="rect">
            <a:avLst/>
          </a:prstGeom>
          <a:noFill/>
          <a:ln/>
        </p:spPr>
        <p:txBody>
          <a:bodyPr wrap="square" lIns="25400" tIns="25400" rIns="25400" bIns="25400" rtlCol="0" anchor="t">
            <a:normAutofit lnSpcReduction="10000"/>
          </a:bodyPr>
          <a:lstStyle/>
          <a:p>
            <a:pPr marL="0" indent="0" algn="l">
              <a:lnSpc>
                <a:spcPct val="87197"/>
              </a:lnSpc>
              <a:buNone/>
            </a:pPr>
            <a:r>
              <a:rPr lang="en-US" sz="6900" b="1" kern="0" spc="-207" dirty="0">
                <a:solidFill>
                  <a:srgbClr val="16120E"/>
                </a:solidFill>
                <a:latin typeface="Arial" pitchFamily="34" charset="0"/>
                <a:ea typeface="Arial" pitchFamily="34" charset="-122"/>
                <a:cs typeface="Arial" pitchFamily="34" charset="-120"/>
              </a:rPr>
              <a:t>Grupo Digital CREA</a:t>
            </a:r>
            <a:endParaRPr lang="en-US" sz="6900" dirty="0"/>
          </a:p>
        </p:txBody>
      </p:sp>
      <p:sp>
        <p:nvSpPr>
          <p:cNvPr id="6" name="Text 3"/>
          <p:cNvSpPr/>
          <p:nvPr/>
        </p:nvSpPr>
        <p:spPr>
          <a:xfrm>
            <a:off x="1047733" y="5038036"/>
            <a:ext cx="13411284" cy="603817"/>
          </a:xfrm>
          <a:prstGeom prst="rect">
            <a:avLst/>
          </a:prstGeom>
          <a:noFill/>
          <a:ln/>
        </p:spPr>
        <p:txBody>
          <a:bodyPr wrap="square" lIns="25400" tIns="25400" rIns="25400" bIns="25400" rtlCol="0" anchor="t">
            <a:normAutofit lnSpcReduction="10000"/>
          </a:bodyPr>
          <a:lstStyle/>
          <a:p>
            <a:pPr marL="0" indent="0" algn="l">
              <a:lnSpc>
                <a:spcPct val="95537"/>
              </a:lnSpc>
              <a:buNone/>
            </a:pPr>
            <a:r>
              <a:rPr lang="en-US" sz="4050" b="1" dirty="0">
                <a:solidFill>
                  <a:srgbClr val="1E7A4B"/>
                </a:solidFill>
                <a:latin typeface="Arial" pitchFamily="34" charset="0"/>
                <a:ea typeface="Arial" pitchFamily="34" charset="-122"/>
                <a:cs typeface="Arial" pitchFamily="34" charset="-120"/>
              </a:rPr>
              <a:t>Liderando personas en el agro</a:t>
            </a:r>
            <a:endParaRPr lang="en-US" sz="4050" dirty="0"/>
          </a:p>
        </p:txBody>
      </p:sp>
      <p:sp>
        <p:nvSpPr>
          <p:cNvPr id="7" name="Text 4"/>
          <p:cNvSpPr/>
          <p:nvPr/>
        </p:nvSpPr>
        <p:spPr>
          <a:xfrm>
            <a:off x="1047733" y="5984682"/>
            <a:ext cx="11282351" cy="1478049"/>
          </a:xfrm>
          <a:prstGeom prst="rect">
            <a:avLst/>
          </a:prstGeom>
          <a:noFill/>
          <a:ln/>
        </p:spPr>
        <p:txBody>
          <a:bodyPr wrap="square" lIns="25400" tIns="25400" rIns="25400" bIns="25400" rtlCol="0" anchor="t">
            <a:normAutofit lnSpcReduction="10000"/>
          </a:bodyPr>
          <a:lstStyle/>
          <a:p>
            <a:pPr marL="0" indent="0" algn="l">
              <a:lnSpc>
                <a:spcPct val="122990"/>
              </a:lnSpc>
              <a:buNone/>
            </a:pPr>
            <a:r>
              <a:rPr lang="en-US" sz="2700" dirty="0">
                <a:solidFill>
                  <a:srgbClr val="4A423A"/>
                </a:solidFill>
                <a:latin typeface="Georgia" pitchFamily="34" charset="0"/>
                <a:ea typeface="Georgia" pitchFamily="34" charset="-122"/>
                <a:cs typeface="Georgia" pitchFamily="34" charset="-120"/>
              </a:rPr>
              <a:t>La herramienta de trabajo para llevar este diagnóstico a la práctica: </a:t>
            </a:r>
            <a:r>
              <a:rPr lang="en-US" sz="2700" dirty="0" err="1">
                <a:solidFill>
                  <a:srgbClr val="4A423A"/>
                </a:solidFill>
                <a:latin typeface="Georgia" pitchFamily="34" charset="0"/>
                <a:ea typeface="Georgia" pitchFamily="34" charset="-122"/>
                <a:cs typeface="Georgia" pitchFamily="34" charset="-120"/>
              </a:rPr>
              <a:t>estructura</a:t>
            </a:r>
            <a:r>
              <a:rPr lang="en-US" sz="2700" dirty="0">
                <a:solidFill>
                  <a:srgbClr val="4A423A"/>
                </a:solidFill>
                <a:latin typeface="Georgia" pitchFamily="34" charset="0"/>
                <a:ea typeface="Georgia" pitchFamily="34" charset="-122"/>
                <a:cs typeface="Georgia" pitchFamily="34" charset="-120"/>
              </a:rPr>
              <a:t>, </a:t>
            </a:r>
            <a:r>
              <a:rPr lang="en-US" sz="2700" dirty="0" err="1">
                <a:solidFill>
                  <a:srgbClr val="4A423A"/>
                </a:solidFill>
                <a:latin typeface="Georgia" pitchFamily="34" charset="0"/>
                <a:ea typeface="Georgia" pitchFamily="34" charset="-122"/>
                <a:cs typeface="Georgia" pitchFamily="34" charset="-120"/>
              </a:rPr>
              <a:t>procesos</a:t>
            </a:r>
            <a:r>
              <a:rPr lang="en-US" sz="2700" dirty="0">
                <a:solidFill>
                  <a:srgbClr val="4A423A"/>
                </a:solidFill>
                <a:latin typeface="Georgia" pitchFamily="34" charset="0"/>
                <a:ea typeface="Georgia" pitchFamily="34" charset="-122"/>
                <a:cs typeface="Georgia" pitchFamily="34" charset="-120"/>
              </a:rPr>
              <a:t>, </a:t>
            </a:r>
            <a:r>
              <a:rPr lang="en-US" sz="2700" dirty="0" err="1">
                <a:solidFill>
                  <a:srgbClr val="4A423A"/>
                </a:solidFill>
                <a:latin typeface="Georgia" pitchFamily="34" charset="0"/>
                <a:ea typeface="Georgia" pitchFamily="34" charset="-122"/>
                <a:cs typeface="Georgia" pitchFamily="34" charset="-120"/>
              </a:rPr>
              <a:t>desarrollo</a:t>
            </a:r>
            <a:r>
              <a:rPr lang="en-US" sz="2700" dirty="0">
                <a:solidFill>
                  <a:srgbClr val="4A423A"/>
                </a:solidFill>
                <a:latin typeface="Georgia" pitchFamily="34" charset="0"/>
                <a:ea typeface="Georgia" pitchFamily="34" charset="-122"/>
                <a:cs typeface="Georgia" pitchFamily="34" charset="-120"/>
              </a:rPr>
              <a:t> y </a:t>
            </a:r>
            <a:r>
              <a:rPr lang="en-US" sz="2700" dirty="0" err="1">
                <a:solidFill>
                  <a:srgbClr val="4A423A"/>
                </a:solidFill>
                <a:latin typeface="Georgia" pitchFamily="34" charset="0"/>
                <a:ea typeface="Georgia" pitchFamily="34" charset="-122"/>
                <a:cs typeface="Georgia" pitchFamily="34" charset="-120"/>
              </a:rPr>
              <a:t>cultura</a:t>
            </a:r>
            <a:r>
              <a:rPr lang="en-US" sz="2700" dirty="0">
                <a:solidFill>
                  <a:srgbClr val="4A423A"/>
                </a:solidFill>
                <a:latin typeface="Georgia" pitchFamily="34" charset="0"/>
                <a:ea typeface="Georgia" pitchFamily="34" charset="-122"/>
                <a:cs typeface="Georgia" pitchFamily="34" charset="-120"/>
              </a:rPr>
              <a:t>, junto a </a:t>
            </a:r>
            <a:r>
              <a:rPr lang="en-US" sz="2700" dirty="0" err="1">
                <a:solidFill>
                  <a:srgbClr val="4A423A"/>
                </a:solidFill>
                <a:latin typeface="Georgia" pitchFamily="34" charset="0"/>
                <a:ea typeface="Georgia" pitchFamily="34" charset="-122"/>
                <a:cs typeface="Georgia" pitchFamily="34" charset="-120"/>
              </a:rPr>
              <a:t>productores</a:t>
            </a:r>
            <a:r>
              <a:rPr lang="en-US" sz="2700" dirty="0">
                <a:solidFill>
                  <a:srgbClr val="4A423A"/>
                </a:solidFill>
                <a:latin typeface="Georgia" pitchFamily="34" charset="0"/>
                <a:ea typeface="Georgia" pitchFamily="34" charset="-122"/>
                <a:cs typeface="Georgia" pitchFamily="34" charset="-120"/>
              </a:rPr>
              <a:t> y empresarios de </a:t>
            </a:r>
            <a:r>
              <a:rPr lang="en-US" sz="2700" dirty="0" err="1">
                <a:solidFill>
                  <a:srgbClr val="4A423A"/>
                </a:solidFill>
                <a:latin typeface="Georgia" pitchFamily="34" charset="0"/>
                <a:ea typeface="Georgia" pitchFamily="34" charset="-122"/>
                <a:cs typeface="Georgia" pitchFamily="34" charset="-120"/>
              </a:rPr>
              <a:t>todo</a:t>
            </a:r>
            <a:r>
              <a:rPr lang="en-US" sz="2700" dirty="0">
                <a:solidFill>
                  <a:srgbClr val="4A423A"/>
                </a:solidFill>
                <a:latin typeface="Georgia" pitchFamily="34" charset="0"/>
                <a:ea typeface="Georgia" pitchFamily="34" charset="-122"/>
                <a:cs typeface="Georgia" pitchFamily="34" charset="-120"/>
              </a:rPr>
              <a:t> el </a:t>
            </a:r>
            <a:r>
              <a:rPr lang="en-US" sz="2700" dirty="0" err="1">
                <a:solidFill>
                  <a:srgbClr val="4A423A"/>
                </a:solidFill>
                <a:latin typeface="Georgia" pitchFamily="34" charset="0"/>
                <a:ea typeface="Georgia" pitchFamily="34" charset="-122"/>
                <a:cs typeface="Georgia" pitchFamily="34" charset="-120"/>
              </a:rPr>
              <a:t>país</a:t>
            </a:r>
            <a:r>
              <a:rPr lang="en-US" sz="2700" dirty="0">
                <a:solidFill>
                  <a:srgbClr val="4A423A"/>
                </a:solidFill>
                <a:latin typeface="Georgia" pitchFamily="34" charset="0"/>
                <a:ea typeface="Georgia" pitchFamily="34" charset="-122"/>
                <a:cs typeface="Georgia" pitchFamily="34" charset="-120"/>
              </a:rPr>
              <a:t>.</a:t>
            </a:r>
            <a:endParaRPr lang="en-US" sz="2700" dirty="0"/>
          </a:p>
        </p:txBody>
      </p:sp>
      <p:sp>
        <p:nvSpPr>
          <p:cNvPr id="8" name="Text 5"/>
          <p:cNvSpPr/>
          <p:nvPr/>
        </p:nvSpPr>
        <p:spPr>
          <a:xfrm>
            <a:off x="1281927" y="7805562"/>
            <a:ext cx="2859916" cy="702099"/>
          </a:xfrm>
          <a:prstGeom prst="rect">
            <a:avLst/>
          </a:prstGeom>
          <a:noFill/>
          <a:ln/>
        </p:spPr>
        <p:txBody>
          <a:bodyPr wrap="square" lIns="25400" tIns="25400" rIns="25400" bIns="25400" rtlCol="0" anchor="t">
            <a:normAutofit fontScale="92500" lnSpcReduction="10000"/>
          </a:bodyPr>
          <a:lstStyle/>
          <a:p>
            <a:pPr marL="0" indent="0" algn="l">
              <a:buNone/>
            </a:pPr>
            <a:r>
              <a:rPr lang="en-US" sz="2400" b="1" dirty="0">
                <a:solidFill>
                  <a:srgbClr val="16120E"/>
                </a:solidFill>
                <a:latin typeface="Arial" pitchFamily="34" charset="0"/>
                <a:ea typeface="Arial" pitchFamily="34" charset="-122"/>
                <a:cs typeface="Arial" pitchFamily="34" charset="-120"/>
              </a:rPr>
              <a:t>Reuniones virtuales entre pares</a:t>
            </a:r>
            <a:endParaRPr lang="en-US" sz="2400" dirty="0"/>
          </a:p>
        </p:txBody>
      </p:sp>
      <p:sp>
        <p:nvSpPr>
          <p:cNvPr id="9" name="Text 6"/>
          <p:cNvSpPr/>
          <p:nvPr/>
        </p:nvSpPr>
        <p:spPr>
          <a:xfrm>
            <a:off x="5143417" y="7805559"/>
            <a:ext cx="2152984" cy="702099"/>
          </a:xfrm>
          <a:prstGeom prst="rect">
            <a:avLst/>
          </a:prstGeom>
          <a:noFill/>
          <a:ln/>
        </p:spPr>
        <p:txBody>
          <a:bodyPr wrap="square" lIns="25400" tIns="25400" rIns="25400" bIns="25400" rtlCol="0" anchor="t">
            <a:normAutofit fontScale="92500" lnSpcReduction="10000"/>
          </a:bodyPr>
          <a:lstStyle/>
          <a:p>
            <a:pPr marL="0" indent="0" algn="l">
              <a:buNone/>
            </a:pPr>
            <a:r>
              <a:rPr lang="en-US" sz="2400" b="1" dirty="0">
                <a:solidFill>
                  <a:srgbClr val="16120E"/>
                </a:solidFill>
                <a:latin typeface="Arial" pitchFamily="34" charset="0"/>
                <a:ea typeface="Arial" pitchFamily="34" charset="-122"/>
                <a:cs typeface="Arial" pitchFamily="34" charset="-120"/>
              </a:rPr>
              <a:t>Facilitación de especialistas</a:t>
            </a:r>
            <a:endParaRPr lang="en-US" sz="2400" dirty="0"/>
          </a:p>
        </p:txBody>
      </p:sp>
      <p:sp>
        <p:nvSpPr>
          <p:cNvPr id="10" name="Text 7"/>
          <p:cNvSpPr/>
          <p:nvPr/>
        </p:nvSpPr>
        <p:spPr>
          <a:xfrm>
            <a:off x="8532169" y="7802419"/>
            <a:ext cx="2895107" cy="702099"/>
          </a:xfrm>
          <a:prstGeom prst="rect">
            <a:avLst/>
          </a:prstGeom>
          <a:noFill/>
          <a:ln/>
        </p:spPr>
        <p:txBody>
          <a:bodyPr wrap="square" lIns="25400" tIns="25400" rIns="25400" bIns="25400" rtlCol="0" anchor="t">
            <a:normAutofit fontScale="92500" lnSpcReduction="10000"/>
          </a:bodyPr>
          <a:lstStyle/>
          <a:p>
            <a:pPr marL="0" indent="0" algn="l">
              <a:buNone/>
            </a:pPr>
            <a:r>
              <a:rPr lang="en-US" sz="2400" b="1" dirty="0">
                <a:solidFill>
                  <a:srgbClr val="16120E"/>
                </a:solidFill>
                <a:latin typeface="Arial" pitchFamily="34" charset="0"/>
                <a:ea typeface="Arial" pitchFamily="34" charset="-122"/>
                <a:cs typeface="Arial" pitchFamily="34" charset="-120"/>
              </a:rPr>
              <a:t>Casos reales y aplicación práctica</a:t>
            </a:r>
            <a:endParaRPr lang="en-US" sz="2400" dirty="0"/>
          </a:p>
        </p:txBody>
      </p:sp>
      <p:sp>
        <p:nvSpPr>
          <p:cNvPr id="12" name="Shape 8"/>
          <p:cNvSpPr/>
          <p:nvPr/>
        </p:nvSpPr>
        <p:spPr>
          <a:xfrm>
            <a:off x="13898201" y="8553542"/>
            <a:ext cx="3342006" cy="1066660"/>
          </a:xfrm>
          <a:prstGeom prst="rect">
            <a:avLst/>
          </a:prstGeom>
          <a:solidFill>
            <a:srgbClr val="FFFFFF"/>
          </a:solidFill>
          <a:ln/>
          <a:effectLst>
            <a:outerShdw blurRad="101600" dist="50800" dir="16200000" algn="bl" rotWithShape="0">
              <a:srgbClr val="16120E">
                <a:alpha val="12000"/>
              </a:srgbClr>
            </a:outerShdw>
          </a:effectLst>
        </p:spPr>
        <p:txBody>
          <a:bodyPr/>
          <a:lstStyle/>
          <a:p>
            <a:endParaRPr lang="es-AR"/>
          </a:p>
        </p:txBody>
      </p:sp>
      <p:pic>
        <p:nvPicPr>
          <p:cNvPr id="13" name="Image 2" descr="preencoded.png"/>
          <p:cNvPicPr>
            <a:picLocks noChangeAspect="1"/>
          </p:cNvPicPr>
          <p:nvPr/>
        </p:nvPicPr>
        <p:blipFill>
          <a:blip r:embed="rId4"/>
          <a:stretch>
            <a:fillRect/>
          </a:stretch>
        </p:blipFill>
        <p:spPr>
          <a:xfrm>
            <a:off x="14050531" y="8667807"/>
            <a:ext cx="3037346" cy="838130"/>
          </a:xfrm>
          <a:prstGeom prst="rect">
            <a:avLst/>
          </a:prstGeom>
        </p:spPr>
      </p:pic>
      <p:pic>
        <p:nvPicPr>
          <p:cNvPr id="1026" name="Picture 2">
            <a:extLst>
              <a:ext uri="{FF2B5EF4-FFF2-40B4-BE49-F238E27FC236}">
                <a16:creationId xmlns:a16="http://schemas.microsoft.com/office/drawing/2014/main" id="{5D23E4F7-0D67-4246-86BB-29712FDCA8A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200404" y="4119345"/>
            <a:ext cx="4076660" cy="4076660"/>
          </a:xfrm>
          <a:prstGeom prst="rect">
            <a:avLst/>
          </a:prstGeom>
          <a:noFill/>
          <a:extLst>
            <a:ext uri="{909E8E84-426E-40DD-AFC4-6F175D3DCCD1}">
              <a14:hiddenFill xmlns:a14="http://schemas.microsoft.com/office/drawing/2010/main">
                <a:solidFill>
                  <a:srgbClr val="FFFFFF"/>
                </a:solidFill>
              </a14:hiddenFill>
            </a:ext>
          </a:extLst>
        </p:spPr>
      </p:pic>
      <p:sp>
        <p:nvSpPr>
          <p:cNvPr id="15" name="Text 7">
            <a:extLst>
              <a:ext uri="{FF2B5EF4-FFF2-40B4-BE49-F238E27FC236}">
                <a16:creationId xmlns:a16="http://schemas.microsoft.com/office/drawing/2014/main" id="{9FD34CBD-9C01-42F3-965A-C98D5AB958E3}"/>
              </a:ext>
            </a:extLst>
          </p:cNvPr>
          <p:cNvSpPr/>
          <p:nvPr/>
        </p:nvSpPr>
        <p:spPr>
          <a:xfrm>
            <a:off x="13163547" y="3009359"/>
            <a:ext cx="4150374" cy="914364"/>
          </a:xfrm>
          <a:prstGeom prst="rect">
            <a:avLst/>
          </a:prstGeom>
          <a:noFill/>
          <a:ln/>
        </p:spPr>
        <p:txBody>
          <a:bodyPr wrap="square" lIns="25400" tIns="25400" rIns="25400" bIns="25400" rtlCol="0" anchor="t">
            <a:normAutofit fontScale="92500" lnSpcReduction="10000"/>
          </a:bodyPr>
          <a:lstStyle/>
          <a:p>
            <a:pPr marL="0" indent="0" algn="ctr">
              <a:buNone/>
            </a:pPr>
            <a:r>
              <a:rPr lang="en-US" sz="2400" b="1" dirty="0" err="1">
                <a:solidFill>
                  <a:srgbClr val="1E7A4B"/>
                </a:solidFill>
                <a:latin typeface="Arial" pitchFamily="34" charset="0"/>
                <a:ea typeface="Arial" pitchFamily="34" charset="-122"/>
                <a:cs typeface="Arial" pitchFamily="34" charset="-120"/>
              </a:rPr>
              <a:t>Escaneá</a:t>
            </a:r>
            <a:r>
              <a:rPr lang="en-US" sz="2400" b="1" dirty="0">
                <a:solidFill>
                  <a:srgbClr val="1E7A4B"/>
                </a:solidFill>
                <a:latin typeface="Arial" pitchFamily="34" charset="0"/>
                <a:ea typeface="Arial" pitchFamily="34" charset="-122"/>
                <a:cs typeface="Arial" pitchFamily="34" charset="-120"/>
              </a:rPr>
              <a:t> el QR</a:t>
            </a:r>
          </a:p>
          <a:p>
            <a:pPr marL="0" indent="0" algn="ctr">
              <a:buNone/>
            </a:pPr>
            <a:r>
              <a:rPr lang="en-US" sz="2200" b="1" dirty="0" err="1">
                <a:solidFill>
                  <a:srgbClr val="16120E"/>
                </a:solidFill>
                <a:latin typeface="Arial" pitchFamily="34" charset="0"/>
                <a:cs typeface="Arial" pitchFamily="34" charset="-120"/>
              </a:rPr>
              <a:t>Te</a:t>
            </a:r>
            <a:r>
              <a:rPr lang="en-US" sz="2200" b="1" dirty="0">
                <a:solidFill>
                  <a:srgbClr val="16120E"/>
                </a:solidFill>
                <a:latin typeface="Arial" pitchFamily="34" charset="0"/>
                <a:cs typeface="Arial" pitchFamily="34" charset="-120"/>
              </a:rPr>
              <a:t> </a:t>
            </a:r>
            <a:r>
              <a:rPr lang="en-US" sz="2200" b="1" dirty="0" err="1">
                <a:solidFill>
                  <a:srgbClr val="16120E"/>
                </a:solidFill>
                <a:latin typeface="Arial" pitchFamily="34" charset="0"/>
                <a:cs typeface="Arial" pitchFamily="34" charset="-120"/>
              </a:rPr>
              <a:t>contamos</a:t>
            </a:r>
            <a:r>
              <a:rPr lang="en-US" sz="2200" b="1" dirty="0">
                <a:solidFill>
                  <a:srgbClr val="16120E"/>
                </a:solidFill>
                <a:latin typeface="Arial" pitchFamily="34" charset="0"/>
                <a:cs typeface="Arial" pitchFamily="34" charset="-120"/>
              </a:rPr>
              <a:t> </a:t>
            </a:r>
            <a:r>
              <a:rPr lang="en-US" sz="2200" b="1" dirty="0" err="1">
                <a:solidFill>
                  <a:srgbClr val="16120E"/>
                </a:solidFill>
                <a:latin typeface="Arial" pitchFamily="34" charset="0"/>
                <a:cs typeface="Arial" pitchFamily="34" charset="-120"/>
              </a:rPr>
              <a:t>cómo</a:t>
            </a:r>
            <a:r>
              <a:rPr lang="en-US" sz="2200" b="1" dirty="0">
                <a:solidFill>
                  <a:srgbClr val="16120E"/>
                </a:solidFill>
                <a:latin typeface="Arial" pitchFamily="34" charset="0"/>
                <a:cs typeface="Arial" pitchFamily="34" charset="-120"/>
              </a:rPr>
              <a:t> </a:t>
            </a:r>
            <a:r>
              <a:rPr lang="en-US" sz="2200" b="1" dirty="0" err="1">
                <a:solidFill>
                  <a:srgbClr val="16120E"/>
                </a:solidFill>
                <a:latin typeface="Arial" pitchFamily="34" charset="0"/>
                <a:cs typeface="Arial" pitchFamily="34" charset="-120"/>
              </a:rPr>
              <a:t>funciona</a:t>
            </a:r>
            <a:r>
              <a:rPr lang="en-US" sz="2200" b="1" dirty="0">
                <a:solidFill>
                  <a:srgbClr val="16120E"/>
                </a:solidFill>
                <a:latin typeface="Arial" pitchFamily="34" charset="0"/>
                <a:cs typeface="Arial" pitchFamily="34" charset="-120"/>
              </a:rPr>
              <a:t> y </a:t>
            </a:r>
            <a:r>
              <a:rPr lang="en-US" sz="2200" b="1" dirty="0" err="1">
                <a:solidFill>
                  <a:srgbClr val="16120E"/>
                </a:solidFill>
                <a:latin typeface="Arial" pitchFamily="34" charset="0"/>
                <a:cs typeface="Arial" pitchFamily="34" charset="-120"/>
              </a:rPr>
              <a:t>cómo</a:t>
            </a:r>
            <a:r>
              <a:rPr lang="en-US" sz="2200" b="1" dirty="0">
                <a:solidFill>
                  <a:srgbClr val="16120E"/>
                </a:solidFill>
                <a:latin typeface="Arial" pitchFamily="34" charset="0"/>
                <a:cs typeface="Arial" pitchFamily="34" charset="-120"/>
              </a:rPr>
              <a:t> </a:t>
            </a:r>
            <a:r>
              <a:rPr lang="en-US" sz="2200" b="1" dirty="0" err="1">
                <a:solidFill>
                  <a:srgbClr val="16120E"/>
                </a:solidFill>
                <a:latin typeface="Arial" pitchFamily="34" charset="0"/>
                <a:cs typeface="Arial" pitchFamily="34" charset="-120"/>
              </a:rPr>
              <a:t>podés</a:t>
            </a:r>
            <a:r>
              <a:rPr lang="en-US" sz="2200" b="1" dirty="0">
                <a:solidFill>
                  <a:srgbClr val="16120E"/>
                </a:solidFill>
                <a:latin typeface="Arial" pitchFamily="34" charset="0"/>
                <a:cs typeface="Arial" pitchFamily="34" charset="-120"/>
              </a:rPr>
              <a:t> </a:t>
            </a:r>
            <a:r>
              <a:rPr lang="en-US" sz="2200" b="1" dirty="0" err="1">
                <a:solidFill>
                  <a:srgbClr val="16120E"/>
                </a:solidFill>
                <a:latin typeface="Arial" pitchFamily="34" charset="0"/>
                <a:cs typeface="Arial" pitchFamily="34" charset="-120"/>
              </a:rPr>
              <a:t>sumarte</a:t>
            </a:r>
            <a:endParaRPr lang="en-US" sz="2200" b="1" dirty="0"/>
          </a:p>
        </p:txBody>
      </p:sp>
      <p:pic>
        <p:nvPicPr>
          <p:cNvPr id="16" name="Gráfico 15" descr="Marca de verificación">
            <a:extLst>
              <a:ext uri="{FF2B5EF4-FFF2-40B4-BE49-F238E27FC236}">
                <a16:creationId xmlns:a16="http://schemas.microsoft.com/office/drawing/2014/main" id="{BF473274-ABF7-49EE-B0BB-323E8CCE832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961863" y="7924869"/>
            <a:ext cx="457200" cy="457200"/>
          </a:xfrm>
          <a:prstGeom prst="rect">
            <a:avLst/>
          </a:prstGeom>
        </p:spPr>
      </p:pic>
      <p:pic>
        <p:nvPicPr>
          <p:cNvPr id="18" name="Gráfico 17" descr="Marca de verificación">
            <a:extLst>
              <a:ext uri="{FF2B5EF4-FFF2-40B4-BE49-F238E27FC236}">
                <a16:creationId xmlns:a16="http://schemas.microsoft.com/office/drawing/2014/main" id="{E26B10CF-27DB-491D-8491-2522D35B475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582086" y="7924869"/>
            <a:ext cx="457200" cy="457200"/>
          </a:xfrm>
          <a:prstGeom prst="rect">
            <a:avLst/>
          </a:prstGeom>
        </p:spPr>
      </p:pic>
      <p:pic>
        <p:nvPicPr>
          <p:cNvPr id="19" name="Gráfico 18" descr="Marca de verificación">
            <a:extLst>
              <a:ext uri="{FF2B5EF4-FFF2-40B4-BE49-F238E27FC236}">
                <a16:creationId xmlns:a16="http://schemas.microsoft.com/office/drawing/2014/main" id="{0396D1BB-8957-4590-B138-19362D91463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19358" y="7864770"/>
            <a:ext cx="457200" cy="457200"/>
          </a:xfrm>
          <a:prstGeom prst="rect">
            <a:avLst/>
          </a:prstGeom>
        </p:spPr>
      </p:pic>
    </p:spTree>
    <p:extLst>
      <p:ext uri="{BB962C8B-B14F-4D97-AF65-F5344CB8AC3E}">
        <p14:creationId xmlns:p14="http://schemas.microsoft.com/office/powerpoint/2010/main" val="15709732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172</TotalTime>
  <Words>3806</Words>
  <Application>Microsoft Macintosh PowerPoint</Application>
  <PresentationFormat>Personalizado</PresentationFormat>
  <Paragraphs>387</Paragraphs>
  <Slides>29</Slides>
  <Notes>28</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29</vt:i4>
      </vt:variant>
    </vt:vector>
  </HeadingPairs>
  <TitlesOfParts>
    <vt:vector size="32" baseType="lpstr">
      <vt:lpstr>Arial</vt:lpstr>
      <vt:lpstr>Georgia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Fernando M. Preumayr</cp:lastModifiedBy>
  <cp:revision>7</cp:revision>
  <dcterms:created xsi:type="dcterms:W3CDTF">2026-09-17T13:47:07Z</dcterms:created>
  <dcterms:modified xsi:type="dcterms:W3CDTF">2026-10-06T19:56:15Z</dcterms:modified>
</cp:coreProperties>
</file>