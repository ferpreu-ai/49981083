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95" r:id="rId47"/>
    <p:sldId id="296" r:id="rId48"/>
    <p:sldId id="297" r:id="rId49"/>
    <p:sldId id="298" r:id="rId50"/>
    <p:sldId id="299" r:id="rId51"/>
    <p:sldId id="300" r:id="rId52"/>
    <p:sldId id="301" r:id="rId53"/>
    <p:sldId id="302" r:id="rId54"/>
    <p:sldId id="303" r:id="rId55"/>
    <p:sldId id="304" r:id="rId56"/>
    <p:sldId id="305" r:id="rId57"/>
  </p:sldIdLst>
  <p:notesMasterIdLst>
    <p:notesMasterId r:id="rId41"/>
  </p:notesMasterIdLst>
  <p:sldSz cx="12192000" cy="6858000"/>
  <p:notesSz cx="6858000" cy="12192000"/>
  <p:embeddedFontLst>
    <p:embeddedFont>
      <p:font typeface="Caveat Brush" pitchFamily="18" charset="0"/>
      <p:regular r:id="rId4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font" Target="fonts/font1.fntdata"/><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Abrimos con la idea central: no hay una sola manera buena de pensar. Antes de mostrar el mapa del grupo conviene que cada persona haya recibido su devolución individual.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Escena del campo para entrar en tema. Si el grupo tiene un ejemplo propio de una decisión donde cada uno miró algo distinto, pedirlo acá.</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Pedirle al grupo que se ubique en voz baja antes de ver los resultados: ¿cuál creen que les salió primero?</a:t>
            </a:r>
          </a:p>
          <a:p/>
          <a:p>
            <a:r>
              <a:t>Los modos usan las mismas letras y colores que la presentación general: A azul (frontal izquierdo), D amarillo (frontal derecho), B verde (basal izquierdo), C rojo (basal derecho).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Promedios sobre 25 respuestas del grupo Cotagro (sin el registro de prueba). El máximo posible por modo es 20.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hay empate entre dos modos, la persona cuenta en los dos. Por eso 10 + 9 + 6 + 4 da 29.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una lectura del grupo, no un diagnóstico de personas. El modo D es el menos dominante como primera preferencia, pero cuatro personas lo tienen arriba y seis superan los 12 puntos. Preguntar al grupo si esto coincide con lo que viven en el trabajo.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persona figura en el modo donde tiene su puntaje más alto. Mostrar esta slide recién después de las devoluciones individuales y solo si el grupo está cómodo con que se vean los nombres; si no, saltearla.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estilo de pensamiento, cuando se aplica, se vuelve estilo de liderazgo. Invitar a cada persona a reconocer en qué fila se ve y en cuál le cuesta.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 un ejemplo real: una campaña o proyecto de Cotagro donde faltó alguno de estos cuatro modos y qué costó.</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bloque pidiendo a cada persona que anote cuál de las tres va a probar esta semana.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en silencio unos segundos después de la última pregunta. Dejar que cada uno piense su respuesta antes de hablar.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16880"/>
            <a:ext cx="10566400" cy="530820"/>
          </a:xfrm>
          <a:prstGeom prst="rect">
            <a:avLst/>
          </a:prstGeom>
          <a:noFill/>
          <a:ln/>
        </p:spPr>
        <p:txBody>
          <a:bodyPr wrap="square" lIns="0" tIns="0" rIns="0" bIns="0" rtlCol="0" anchor="t"/>
          <a:lstStyle>
            <a:lvl1pPr algn="l" indent="0" marL="0">
              <a:lnSpc>
                <a:spcPct val="115000"/>
              </a:lnSpc>
              <a:buNone/>
              <a:defRPr lang="en-US" sz="3800" dirty="0">
                <a:solidFill>
                  <a:srgbClr val="002060"/>
                </a:solidFill>
                <a:latin typeface="Caveat Brush" pitchFamily="34" charset="0"/>
                <a:ea typeface="Caveat Brush" pitchFamily="34" charset="-122"/>
                <a:cs typeface="Caveat Brush"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752501"/>
            <a:ext cx="10566400" cy="4292699"/>
          </a:xfrm>
          <a:prstGeom prst="rect">
            <a:avLst/>
          </a:prstGeom>
          <a:noFill/>
          <a:ln/>
        </p:spPr>
        <p:txBody>
          <a:bodyPr wrap="square" lIns="0" tIns="0" rIns="0" bIns="0" rtlCol="0" anchor="t"/>
          <a:lstStyle>
            <a:lvl1pPr algn="l" indent="0" marL="0">
              <a:lnSpc>
                <a:spcPct val="140000"/>
              </a:lnSpc>
              <a:buNone/>
              <a:defRPr lang="en-US" sz="1600" dirty="0">
                <a:solidFill>
                  <a:srgbClr val="00206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16880"/>
            <a:ext cx="10566400" cy="530820"/>
          </a:xfrm>
          <a:prstGeom prst="rect">
            <a:avLst/>
          </a:prstGeom>
          <a:noFill/>
          <a:ln/>
        </p:spPr>
        <p:txBody>
          <a:bodyPr wrap="square" lIns="0" tIns="0" rIns="0" bIns="0" rtlCol="0" anchor="t"/>
          <a:lstStyle>
            <a:lvl1pPr algn="l" indent="0" marL="0">
              <a:lnSpc>
                <a:spcPct val="115000"/>
              </a:lnSpc>
              <a:buNone/>
              <a:defRPr lang="en-US" sz="3800" dirty="0">
                <a:solidFill>
                  <a:srgbClr val="002060"/>
                </a:solidFill>
                <a:latin typeface="Caveat Brush" pitchFamily="34" charset="0"/>
                <a:ea typeface="Caveat Brush" pitchFamily="34" charset="-122"/>
                <a:cs typeface="Caveat Brush"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752501"/>
            <a:ext cx="10566400" cy="4292699"/>
          </a:xfrm>
          <a:prstGeom prst="rect">
            <a:avLst/>
          </a:prstGeom>
          <a:noFill/>
          <a:ln/>
        </p:spPr>
        <p:txBody>
          <a:bodyPr wrap="square" lIns="0" tIns="0" rIns="0" bIns="0" rtlCol="0" anchor="t"/>
          <a:lstStyle>
            <a:lvl1pPr algn="l" indent="0" marL="0">
              <a:lnSpc>
                <a:spcPct val="140000"/>
              </a:lnSpc>
              <a:buNone/>
              <a:defRPr lang="en-US" sz="1600" dirty="0">
                <a:solidFill>
                  <a:srgbClr val="00206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2032000"/>
            <a:ext cx="6858000" cy="2159000"/>
          </a:xfrm>
        </p:spPr>
        <p:txBody>
          <a:bodyPr lIns="0" rIns="0" tIns="0" bIns="0" wrap="square" anchor="t"/>
          <a:lstStyle/>
          <a:p>
            <a:r>
              <a:rPr sz="6000" b="0">
                <a:solidFill>
                  <a:srgbClr val="002060"/>
                </a:solidFill>
                <a:latin typeface="Caveat Brush"/>
              </a:rPr>
              <a:t>cómo pensamos,</a:t>
            </a:r>
          </a:p>
          <a:p>
            <a:r>
              <a:rPr sz="6000" b="0">
                <a:solidFill>
                  <a:srgbClr val="002060"/>
                </a:solidFill>
                <a:latin typeface="Caveat Brush"/>
              </a:rPr>
              <a:t>cómo lideramos</a:t>
            </a:r>
          </a:p>
        </p:txBody>
      </p:sp>
      <p:sp>
        <p:nvSpPr>
          <p:cNvPr id="3" name="TextBox 2"/>
          <p:cNvSpPr txBox="1"/>
          <p:nvPr/>
        </p:nvSpPr>
        <p:spPr>
          <a:xfrm>
            <a:off x="812800" y="812800"/>
            <a:ext cx="10883900" cy="279400"/>
          </a:xfrm>
          <a:prstGeom prst="rect">
            <a:avLst/>
          </a:prstGeom>
          <a:noFill/>
        </p:spPr>
        <p:txBody>
          <a:bodyPr wrap="square" lIns="0" rIns="0" tIns="0" bIns="0" anchor="t">
            <a:spAutoFit/>
          </a:bodyPr>
          <a:lstStyle/>
          <a:p>
            <a:pPr algn="l"/>
            <a:r>
              <a:rPr sz="1400" b="1" i="0" spc="150">
                <a:solidFill>
                  <a:srgbClr val="1C4587"/>
                </a:solidFill>
                <a:latin typeface="Roboto Condensed"/>
              </a:rPr>
              <a:t>COTAGRO · TALLER DE ESTILOS DE PENSAMIENTO</a:t>
            </a:r>
          </a:p>
        </p:txBody>
      </p:sp>
      <p:sp>
        <p:nvSpPr>
          <p:cNvPr id="4" name="TextBox 3"/>
          <p:cNvSpPr txBox="1"/>
          <p:nvPr/>
        </p:nvSpPr>
        <p:spPr>
          <a:xfrm>
            <a:off x="812800" y="4445000"/>
            <a:ext cx="6604000" cy="762000"/>
          </a:xfrm>
          <a:prstGeom prst="rect">
            <a:avLst/>
          </a:prstGeom>
          <a:noFill/>
        </p:spPr>
        <p:txBody>
          <a:bodyPr wrap="square" lIns="0" rIns="0" tIns="0" bIns="0" anchor="t">
            <a:spAutoFit/>
          </a:bodyPr>
          <a:lstStyle/>
          <a:p>
            <a:pPr algn="l"/>
            <a:r>
              <a:rPr sz="1800" b="0" i="0">
                <a:solidFill>
                  <a:srgbClr val="1C4587"/>
                </a:solidFill>
                <a:latin typeface="Inter"/>
              </a:rPr>
              <a:t>Devolución grupal del cuestionario de modos de pensamiento, modelo Benziger.</a:t>
            </a:r>
          </a:p>
        </p:txBody>
      </p:sp>
      <p:sp>
        <p:nvSpPr>
          <p:cNvPr id="5" name="TextBox 4"/>
          <p:cNvSpPr txBox="1"/>
          <p:nvPr/>
        </p:nvSpPr>
        <p:spPr>
          <a:xfrm>
            <a:off x="812800" y="5791200"/>
            <a:ext cx="10883900" cy="279400"/>
          </a:xfrm>
          <a:prstGeom prst="rect">
            <a:avLst/>
          </a:prstGeom>
          <a:noFill/>
        </p:spPr>
        <p:txBody>
          <a:bodyPr wrap="square" lIns="0" rIns="0" tIns="0" bIns="0" anchor="t">
            <a:spAutoFit/>
          </a:bodyPr>
          <a:lstStyle/>
          <a:p>
            <a:pPr algn="l"/>
            <a:r>
              <a:rPr sz="1400" b="0" i="0">
                <a:solidFill>
                  <a:srgbClr val="666666"/>
                </a:solidFill>
                <a:latin typeface="Inter"/>
              </a:rPr>
              <a:t>Fernando Preumayr · La diferencia está en la gente</a:t>
            </a:r>
          </a:p>
        </p:txBody>
      </p:sp>
      <p:sp>
        <p:nvSpPr>
          <p:cNvPr id="6" name="Text 4"/>
          <p:cNvSpPr/>
          <p:nvPr/>
        </p:nvSpPr>
        <p:spPr>
          <a:xfrm>
            <a:off x="7848600" y="1981200"/>
            <a:ext cx="1397000" cy="1397000"/>
          </a:xfrm>
          <a:custGeom>
            <a:avLst/>
            <a:gdLst/>
            <a:ahLst/>
            <a:cxnLst/>
            <a:rect l="l" t="t" r="r" b="b"/>
            <a:pathLst>
              <a:path w="1397000" h="1397000">
                <a:moveTo>
                  <a:pt x="1324741" y="0"/>
                </a:moveTo>
                <a:lnTo>
                  <a:pt x="1324741" y="0"/>
                </a:lnTo>
                <a:arcTo hR="72259" wR="72259" stAng="16200000" swAng="5400000"/>
                <a:lnTo>
                  <a:pt x="1397000" y="1324741"/>
                </a:lnTo>
                <a:arcTo hR="72259" wR="72259" stAng="0" swAng="5400000"/>
                <a:lnTo>
                  <a:pt x="72259" y="1397000"/>
                </a:lnTo>
                <a:arcTo hR="72259" wR="72259" stAng="5400000" swAng="5400000"/>
                <a:lnTo>
                  <a:pt x="0" y="1324741"/>
                </a:lnTo>
                <a:arcTo hR="1324741" wR="1324741" stAng="10800000" swAng="5400000"/>
                <a:close/>
              </a:path>
            </a:pathLst>
          </a:custGeom>
          <a:solidFill>
            <a:srgbClr val="2B5C9A"/>
          </a:solidFill>
          <a:ln/>
        </p:spPr>
        <p:txBody>
          <a:bodyPr wrap="square" lIns="0" tIns="0" rIns="0" bIns="0" rtlCol="0" anchor="ctr">
            <a:normAutofit/>
          </a:bodyPr>
          <a:lstStyle/>
          <a:p>
            <a:pPr algn="ctr" indent="0" marL="0">
              <a:lnSpc>
                <a:spcPts val="7700"/>
              </a:lnSpc>
              <a:buNone/>
            </a:pPr>
            <a:r>
              <a:rPr lang="en-US" sz="5500" dirty="0">
                <a:solidFill>
                  <a:srgbClr val="FFFFFF"/>
                </a:solidFill>
                <a:latin typeface="Caveat Brush" pitchFamily="18" charset="0"/>
                <a:ea typeface="Caveat Brush" pitchFamily="18" charset="-122"/>
                <a:cs typeface="Caveat Brush" pitchFamily="18" charset="-120"/>
              </a:rPr>
              <a:t>A</a:t>
            </a:r>
            <a:endParaRPr lang="en-US" sz="5500" dirty="0"/>
          </a:p>
        </p:txBody>
      </p:sp>
      <p:sp>
        <p:nvSpPr>
          <p:cNvPr id="7" name="Text 5"/>
          <p:cNvSpPr/>
          <p:nvPr/>
        </p:nvSpPr>
        <p:spPr>
          <a:xfrm>
            <a:off x="9347200" y="1981200"/>
            <a:ext cx="1397000" cy="1397000"/>
          </a:xfrm>
          <a:custGeom>
            <a:avLst/>
            <a:gdLst/>
            <a:ahLst/>
            <a:cxnLst/>
            <a:rect l="l" t="t" r="r" b="b"/>
            <a:pathLst>
              <a:path w="1397000" h="1397000">
                <a:moveTo>
                  <a:pt x="72259" y="0"/>
                </a:moveTo>
                <a:lnTo>
                  <a:pt x="72259" y="0"/>
                </a:lnTo>
                <a:arcTo hR="1324741" wR="1324741" stAng="16200000" swAng="5400000"/>
                <a:lnTo>
                  <a:pt x="1397000" y="1324741"/>
                </a:lnTo>
                <a:arcTo hR="72259" wR="72259" stAng="0" swAng="5400000"/>
                <a:lnTo>
                  <a:pt x="72259" y="1397000"/>
                </a:lnTo>
                <a:arcTo hR="72259" wR="72259" stAng="5400000" swAng="5400000"/>
                <a:lnTo>
                  <a:pt x="0" y="72259"/>
                </a:lnTo>
                <a:arcTo hR="72259" wR="72259" stAng="10800000" swAng="5400000"/>
                <a:close/>
              </a:path>
            </a:pathLst>
          </a:custGeom>
          <a:solidFill>
            <a:srgbClr val="E2A62A"/>
          </a:solidFill>
          <a:ln/>
        </p:spPr>
        <p:txBody>
          <a:bodyPr wrap="square" lIns="0" tIns="0" rIns="0" bIns="0" rtlCol="0" anchor="ctr">
            <a:normAutofit/>
          </a:bodyPr>
          <a:lstStyle/>
          <a:p>
            <a:pPr algn="ctr" indent="0" marL="0">
              <a:lnSpc>
                <a:spcPts val="7700"/>
              </a:lnSpc>
              <a:buNone/>
            </a:pPr>
            <a:r>
              <a:rPr lang="en-US" sz="5500" dirty="0">
                <a:solidFill>
                  <a:srgbClr val="002060"/>
                </a:solidFill>
                <a:latin typeface="Caveat Brush" pitchFamily="18" charset="0"/>
                <a:ea typeface="Caveat Brush" pitchFamily="18" charset="-122"/>
                <a:cs typeface="Caveat Brush" pitchFamily="18" charset="-120"/>
              </a:rPr>
              <a:t>D</a:t>
            </a:r>
            <a:endParaRPr lang="en-US" sz="5500" dirty="0"/>
          </a:p>
        </p:txBody>
      </p:sp>
      <p:sp>
        <p:nvSpPr>
          <p:cNvPr id="8" name="Text 6"/>
          <p:cNvSpPr/>
          <p:nvPr/>
        </p:nvSpPr>
        <p:spPr>
          <a:xfrm>
            <a:off x="7848600" y="3479800"/>
            <a:ext cx="1397000" cy="1397000"/>
          </a:xfrm>
          <a:custGeom>
            <a:avLst/>
            <a:gdLst/>
            <a:ahLst/>
            <a:cxnLst/>
            <a:rect l="l" t="t" r="r" b="b"/>
            <a:pathLst>
              <a:path w="1397000" h="1397000">
                <a:moveTo>
                  <a:pt x="72259" y="0"/>
                </a:moveTo>
                <a:lnTo>
                  <a:pt x="1324741" y="0"/>
                </a:lnTo>
                <a:arcTo hR="72259" wR="72259" stAng="16200000" swAng="5400000"/>
                <a:lnTo>
                  <a:pt x="1397000" y="1324741"/>
                </a:lnTo>
                <a:arcTo hR="72259" wR="72259" stAng="0" swAng="5400000"/>
                <a:lnTo>
                  <a:pt x="1324741" y="1397000"/>
                </a:lnTo>
                <a:arcTo hR="1324741" wR="1324741" stAng="5400000" swAng="5400000"/>
                <a:lnTo>
                  <a:pt x="0" y="72259"/>
                </a:lnTo>
                <a:arcTo hR="72259" wR="72259" stAng="10800000" swAng="5400000"/>
                <a:close/>
              </a:path>
            </a:pathLst>
          </a:custGeom>
          <a:solidFill>
            <a:srgbClr val="2F7A52"/>
          </a:solidFill>
          <a:ln/>
        </p:spPr>
        <p:txBody>
          <a:bodyPr wrap="square" lIns="0" tIns="0" rIns="0" bIns="0" rtlCol="0" anchor="ctr">
            <a:normAutofit/>
          </a:bodyPr>
          <a:lstStyle/>
          <a:p>
            <a:pPr algn="ctr" indent="0" marL="0">
              <a:lnSpc>
                <a:spcPts val="7700"/>
              </a:lnSpc>
              <a:buNone/>
            </a:pPr>
            <a:r>
              <a:rPr lang="en-US" sz="5500" dirty="0">
                <a:solidFill>
                  <a:srgbClr val="FFFFFF"/>
                </a:solidFill>
                <a:latin typeface="Caveat Brush" pitchFamily="18" charset="0"/>
                <a:ea typeface="Caveat Brush" pitchFamily="18" charset="-122"/>
                <a:cs typeface="Caveat Brush" pitchFamily="18" charset="-120"/>
              </a:rPr>
              <a:t>B</a:t>
            </a:r>
            <a:endParaRPr lang="en-US" sz="5500" dirty="0"/>
          </a:p>
        </p:txBody>
      </p:sp>
      <p:sp>
        <p:nvSpPr>
          <p:cNvPr id="9" name="Text 7"/>
          <p:cNvSpPr/>
          <p:nvPr/>
        </p:nvSpPr>
        <p:spPr>
          <a:xfrm>
            <a:off x="9347200" y="3479800"/>
            <a:ext cx="1397000" cy="1397000"/>
          </a:xfrm>
          <a:custGeom>
            <a:avLst/>
            <a:gdLst/>
            <a:ahLst/>
            <a:cxnLst/>
            <a:rect l="l" t="t" r="r" b="b"/>
            <a:pathLst>
              <a:path w="1397000" h="1397000">
                <a:moveTo>
                  <a:pt x="72259" y="0"/>
                </a:moveTo>
                <a:lnTo>
                  <a:pt x="1324741" y="0"/>
                </a:lnTo>
                <a:arcTo hR="72259" wR="72259" stAng="16200000" swAng="5400000"/>
                <a:lnTo>
                  <a:pt x="1397000" y="72259"/>
                </a:lnTo>
                <a:arcTo hR="1324741" wR="1324741" stAng="0" swAng="5400000"/>
                <a:lnTo>
                  <a:pt x="72259" y="1397000"/>
                </a:lnTo>
                <a:arcTo hR="72259" wR="72259" stAng="5400000" swAng="5400000"/>
                <a:lnTo>
                  <a:pt x="0" y="72259"/>
                </a:lnTo>
                <a:arcTo hR="72259" wR="72259" stAng="10800000" swAng="5400000"/>
                <a:close/>
              </a:path>
            </a:pathLst>
          </a:custGeom>
          <a:solidFill>
            <a:srgbClr val="C0492F"/>
          </a:solidFill>
          <a:ln/>
        </p:spPr>
        <p:txBody>
          <a:bodyPr wrap="square" lIns="0" tIns="0" rIns="0" bIns="0" rtlCol="0" anchor="ctr">
            <a:normAutofit/>
          </a:bodyPr>
          <a:lstStyle/>
          <a:p>
            <a:pPr algn="ctr" indent="0" marL="0">
              <a:lnSpc>
                <a:spcPts val="7700"/>
              </a:lnSpc>
              <a:buNone/>
            </a:pPr>
            <a:r>
              <a:rPr lang="en-US" sz="5500" dirty="0">
                <a:solidFill>
                  <a:srgbClr val="FFFFFF"/>
                </a:solidFill>
                <a:latin typeface="Caveat Brush" pitchFamily="18" charset="0"/>
                <a:ea typeface="Caveat Brush" pitchFamily="18" charset="-122"/>
                <a:cs typeface="Caveat Brush" pitchFamily="18" charset="-120"/>
              </a:rPr>
              <a:t>C</a:t>
            </a:r>
            <a:endParaRPr lang="en-US" sz="55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en la chacra nadie piensa igual</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PARA EMPEZAR</a:t>
            </a:r>
          </a:p>
        </p:txBody>
      </p:sp>
      <p:sp>
        <p:nvSpPr>
          <p:cNvPr id="4" name="TextBox 3"/>
          <p:cNvSpPr txBox="1"/>
          <p:nvPr/>
        </p:nvSpPr>
        <p:spPr>
          <a:xfrm>
            <a:off x="812800" y="1778000"/>
            <a:ext cx="8890000" cy="1397000"/>
          </a:xfrm>
          <a:prstGeom prst="rect">
            <a:avLst/>
          </a:prstGeom>
          <a:noFill/>
        </p:spPr>
        <p:txBody>
          <a:bodyPr wrap="square" lIns="0" rIns="0" tIns="0" bIns="0" anchor="t">
            <a:spAutoFit/>
          </a:bodyPr>
          <a:lstStyle/>
          <a:p>
            <a:pPr algn="l">
              <a:lnSpc>
                <a:spcPct val="125000"/>
              </a:lnSpc>
            </a:pPr>
            <a:r>
              <a:rPr sz="2000" b="0" i="0">
                <a:solidFill>
                  <a:srgbClr val="002060"/>
                </a:solidFill>
                <a:latin typeface="Inter"/>
              </a:rPr>
              <a:t>Para sembrar bien, uno mira el lote, otro el costo, otro la gente que va a hacer el trabajo y otro lo que viene después. Ninguno se equivoca: usan modos de pensar distintos.</a:t>
            </a:r>
          </a:p>
        </p:txBody>
      </p:sp>
      <p:sp>
        <p:nvSpPr>
          <p:cNvPr id="5" name="Rounded Rectangle 4"/>
          <p:cNvSpPr/>
          <p:nvPr/>
        </p:nvSpPr>
        <p:spPr>
          <a:xfrm>
            <a:off x="812800" y="4826000"/>
            <a:ext cx="1320800" cy="914400"/>
          </a:xfrm>
          <a:prstGeom prst="roundRect">
            <a:avLst>
              <a:gd name="adj" fmla="val 12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826000"/>
            <a:ext cx="1320800" cy="914400"/>
          </a:xfrm>
          <a:prstGeom prst="rect">
            <a:avLst/>
          </a:prstGeom>
          <a:noFill/>
        </p:spPr>
        <p:txBody>
          <a:bodyPr wrap="square" lIns="0" rIns="0" tIns="0" bIns="0" anchor="ctr">
            <a:spAutoFit/>
          </a:bodyPr>
          <a:lstStyle/>
          <a:p>
            <a:pPr algn="ctr"/>
            <a:r>
              <a:rPr sz="4000" b="0" i="0">
                <a:solidFill>
                  <a:srgbClr val="FFFFFF"/>
                </a:solidFill>
                <a:latin typeface="Caveat Brush"/>
              </a:rPr>
              <a:t>B</a:t>
            </a:r>
          </a:p>
        </p:txBody>
      </p:sp>
      <p:sp>
        <p:nvSpPr>
          <p:cNvPr id="7" name="Rounded Rectangle 6"/>
          <p:cNvSpPr/>
          <p:nvPr/>
        </p:nvSpPr>
        <p:spPr>
          <a:xfrm>
            <a:off x="2235200" y="4826000"/>
            <a:ext cx="1320800" cy="914400"/>
          </a:xfrm>
          <a:prstGeom prst="roundRect">
            <a:avLst>
              <a:gd name="adj" fmla="val 12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35200" y="4826000"/>
            <a:ext cx="1320800" cy="914400"/>
          </a:xfrm>
          <a:prstGeom prst="rect">
            <a:avLst/>
          </a:prstGeom>
          <a:noFill/>
        </p:spPr>
        <p:txBody>
          <a:bodyPr wrap="square" lIns="0" rIns="0" tIns="0" bIns="0" anchor="ctr">
            <a:spAutoFit/>
          </a:bodyPr>
          <a:lstStyle/>
          <a:p>
            <a:pPr algn="ctr"/>
            <a:r>
              <a:rPr sz="4000" b="0" i="0">
                <a:solidFill>
                  <a:srgbClr val="FFFFFF"/>
                </a:solidFill>
                <a:latin typeface="Caveat Brush"/>
              </a:rPr>
              <a:t>C</a:t>
            </a:r>
          </a:p>
        </p:txBody>
      </p:sp>
      <p:sp>
        <p:nvSpPr>
          <p:cNvPr id="9" name="Rounded Rectangle 8"/>
          <p:cNvSpPr/>
          <p:nvPr/>
        </p:nvSpPr>
        <p:spPr>
          <a:xfrm>
            <a:off x="2235200" y="3810000"/>
            <a:ext cx="1320800" cy="914400"/>
          </a:xfrm>
          <a:prstGeom prst="roundRect">
            <a:avLst>
              <a:gd name="adj" fmla="val 12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35200" y="3810000"/>
            <a:ext cx="1320800" cy="914400"/>
          </a:xfrm>
          <a:prstGeom prst="rect">
            <a:avLst/>
          </a:prstGeom>
          <a:noFill/>
        </p:spPr>
        <p:txBody>
          <a:bodyPr wrap="square" lIns="0" rIns="0" tIns="0" bIns="0" anchor="ctr">
            <a:spAutoFit/>
          </a:bodyPr>
          <a:lstStyle/>
          <a:p>
            <a:pPr algn="ctr"/>
            <a:r>
              <a:rPr sz="4000" b="0" i="0">
                <a:solidFill>
                  <a:srgbClr val="002060"/>
                </a:solidFill>
                <a:latin typeface="Caveat Brush"/>
              </a:rPr>
              <a:t>D</a:t>
            </a:r>
          </a:p>
        </p:txBody>
      </p:sp>
      <p:sp>
        <p:nvSpPr>
          <p:cNvPr id="11" name="Rounded Rectangle 10"/>
          <p:cNvSpPr/>
          <p:nvPr/>
        </p:nvSpPr>
        <p:spPr>
          <a:xfrm>
            <a:off x="812800" y="3810000"/>
            <a:ext cx="1320800" cy="914400"/>
          </a:xfrm>
          <a:prstGeom prst="roundRect">
            <a:avLst>
              <a:gd name="adj" fmla="val 12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3810000"/>
            <a:ext cx="1320800" cy="914400"/>
          </a:xfrm>
          <a:prstGeom prst="rect">
            <a:avLst/>
          </a:prstGeom>
          <a:noFill/>
        </p:spPr>
        <p:txBody>
          <a:bodyPr wrap="square" lIns="0" rIns="0" tIns="0" bIns="0" anchor="ctr">
            <a:spAutoFit/>
          </a:bodyPr>
          <a:lstStyle/>
          <a:p>
            <a:pPr algn="ctr"/>
            <a:r>
              <a:rPr sz="4000" b="0" i="0">
                <a:solidFill>
                  <a:srgbClr val="FFFFFF"/>
                </a:solidFill>
                <a:latin typeface="Caveat Brush"/>
              </a:rPr>
              <a:t>A</a:t>
            </a:r>
          </a:p>
        </p:txBody>
      </p:sp>
      <p:sp>
        <p:nvSpPr>
          <p:cNvPr id="13" name="TextBox 12"/>
          <p:cNvSpPr txBox="1"/>
          <p:nvPr/>
        </p:nvSpPr>
        <p:spPr>
          <a:xfrm>
            <a:off x="3962400" y="4038600"/>
            <a:ext cx="7112000" cy="508000"/>
          </a:xfrm>
          <a:prstGeom prst="rect">
            <a:avLst/>
          </a:prstGeom>
          <a:noFill/>
        </p:spPr>
        <p:txBody>
          <a:bodyPr wrap="square" lIns="0" rIns="0" tIns="0" bIns="0" anchor="t">
            <a:spAutoFit/>
          </a:bodyPr>
          <a:lstStyle/>
          <a:p>
            <a:pPr algn="l"/>
            <a:r>
              <a:rPr sz="2800" b="0" i="0">
                <a:solidFill>
                  <a:srgbClr val="002060"/>
                </a:solidFill>
                <a:latin typeface="Caveat Brush"/>
              </a:rPr>
              <a:t>Pensar distinto no es pensar mal.</a:t>
            </a:r>
          </a:p>
        </p:txBody>
      </p:sp>
      <p:sp>
        <p:nvSpPr>
          <p:cNvPr id="14" name="TextBox 13"/>
          <p:cNvSpPr txBox="1"/>
          <p:nvPr/>
        </p:nvSpPr>
        <p:spPr>
          <a:xfrm>
            <a:off x="3962400" y="4648200"/>
            <a:ext cx="7112000" cy="635000"/>
          </a:xfrm>
          <a:prstGeom prst="rect">
            <a:avLst/>
          </a:prstGeom>
          <a:noFill/>
        </p:spPr>
        <p:txBody>
          <a:bodyPr wrap="square" lIns="0" rIns="0" tIns="0" bIns="0" anchor="t">
            <a:spAutoFit/>
          </a:bodyPr>
          <a:lstStyle/>
          <a:p>
            <a:pPr algn="l">
              <a:lnSpc>
                <a:spcPct val="120000"/>
              </a:lnSpc>
            </a:pPr>
            <a:r>
              <a:rPr sz="1600" b="0" i="0">
                <a:solidFill>
                  <a:srgbClr val="1C4587"/>
                </a:solidFill>
                <a:latin typeface="Inter"/>
              </a:rPr>
              <a:t>El modelo Benziger ordena esas maneras de pensar en cuatro modos.</a:t>
            </a:r>
          </a:p>
        </p:txBody>
      </p:sp>
      <p:sp>
        <p:nvSpPr>
          <p:cNvPr id="15" name="TextBox 14"/>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los cuatro modos</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01 · LOS MODOS</a:t>
            </a:r>
          </a:p>
        </p:txBody>
      </p:sp>
      <p:sp>
        <p:nvSpPr>
          <p:cNvPr id="4" name="TextBox 3"/>
          <p:cNvSpPr txBox="1"/>
          <p:nvPr/>
        </p:nvSpPr>
        <p:spPr>
          <a:xfrm>
            <a:off x="812800" y="1625600"/>
            <a:ext cx="5232400" cy="241300"/>
          </a:xfrm>
          <a:prstGeom prst="rect">
            <a:avLst/>
          </a:prstGeom>
          <a:noFill/>
        </p:spPr>
        <p:txBody>
          <a:bodyPr wrap="square" lIns="0" rIns="0" tIns="0" bIns="0" anchor="t">
            <a:spAutoFit/>
          </a:bodyPr>
          <a:lstStyle/>
          <a:p>
            <a:pPr algn="ctr"/>
            <a:r>
              <a:rPr sz="1200" b="1" i="0" spc="150">
                <a:solidFill>
                  <a:srgbClr val="666666"/>
                </a:solidFill>
                <a:latin typeface="Inter"/>
              </a:rPr>
              <a:t>LADO IZQUIERDO</a:t>
            </a:r>
          </a:p>
        </p:txBody>
      </p:sp>
      <p:sp>
        <p:nvSpPr>
          <p:cNvPr id="5" name="TextBox 4"/>
          <p:cNvSpPr txBox="1"/>
          <p:nvPr/>
        </p:nvSpPr>
        <p:spPr>
          <a:xfrm>
            <a:off x="6146800" y="1625600"/>
            <a:ext cx="5232400" cy="241300"/>
          </a:xfrm>
          <a:prstGeom prst="rect">
            <a:avLst/>
          </a:prstGeom>
          <a:noFill/>
        </p:spPr>
        <p:txBody>
          <a:bodyPr wrap="square" lIns="0" rIns="0" tIns="0" bIns="0" anchor="t">
            <a:spAutoFit/>
          </a:bodyPr>
          <a:lstStyle/>
          <a:p>
            <a:pPr algn="ctr"/>
            <a:r>
              <a:rPr sz="1200" b="1" i="0" spc="150">
                <a:solidFill>
                  <a:srgbClr val="666666"/>
                </a:solidFill>
                <a:latin typeface="Inter"/>
              </a:rPr>
              <a:t>LADO DERECHO</a:t>
            </a:r>
          </a:p>
        </p:txBody>
      </p:sp>
      <p:sp>
        <p:nvSpPr>
          <p:cNvPr id="6" name="Rounded Rectangle 5"/>
          <p:cNvSpPr/>
          <p:nvPr/>
        </p:nvSpPr>
        <p:spPr>
          <a:xfrm>
            <a:off x="812800" y="3962400"/>
            <a:ext cx="5232400" cy="18288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1400" y="4191000"/>
            <a:ext cx="635000" cy="1270000"/>
          </a:xfrm>
          <a:prstGeom prst="rect">
            <a:avLst/>
          </a:prstGeom>
          <a:noFill/>
        </p:spPr>
        <p:txBody>
          <a:bodyPr wrap="square" lIns="0" rIns="0" tIns="0" bIns="0" anchor="t">
            <a:spAutoFit/>
          </a:bodyPr>
          <a:lstStyle/>
          <a:p>
            <a:pPr algn="l"/>
            <a:r>
              <a:rPr sz="6000" b="0" i="0">
                <a:solidFill>
                  <a:srgbClr val="FFFFFF"/>
                </a:solidFill>
                <a:latin typeface="Caveat Brush"/>
              </a:rPr>
              <a:t>B</a:t>
            </a:r>
          </a:p>
        </p:txBody>
      </p:sp>
      <p:sp>
        <p:nvSpPr>
          <p:cNvPr id="8" name="TextBox 7"/>
          <p:cNvSpPr txBox="1"/>
          <p:nvPr/>
        </p:nvSpPr>
        <p:spPr>
          <a:xfrm>
            <a:off x="1803400" y="4216400"/>
            <a:ext cx="40132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B · VERDE</a:t>
            </a:r>
          </a:p>
        </p:txBody>
      </p:sp>
      <p:sp>
        <p:nvSpPr>
          <p:cNvPr id="9" name="TextBox 8"/>
          <p:cNvSpPr txBox="1"/>
          <p:nvPr/>
        </p:nvSpPr>
        <p:spPr>
          <a:xfrm>
            <a:off x="1803400" y="4470400"/>
            <a:ext cx="4013200" cy="330200"/>
          </a:xfrm>
          <a:prstGeom prst="rect">
            <a:avLst/>
          </a:prstGeom>
          <a:noFill/>
        </p:spPr>
        <p:txBody>
          <a:bodyPr wrap="square" lIns="0" rIns="0" tIns="0" bIns="0" anchor="t">
            <a:spAutoFit/>
          </a:bodyPr>
          <a:lstStyle/>
          <a:p>
            <a:pPr algn="l"/>
            <a:r>
              <a:rPr sz="2000" b="1" i="0">
                <a:solidFill>
                  <a:srgbClr val="FFFFFF"/>
                </a:solidFill>
                <a:latin typeface="Inter"/>
              </a:rPr>
              <a:t>Orden y procesos</a:t>
            </a:r>
          </a:p>
        </p:txBody>
      </p:sp>
      <p:sp>
        <p:nvSpPr>
          <p:cNvPr id="10" name="TextBox 9"/>
          <p:cNvSpPr txBox="1"/>
          <p:nvPr/>
        </p:nvSpPr>
        <p:spPr>
          <a:xfrm>
            <a:off x="1803400" y="4876800"/>
            <a:ext cx="4013200" cy="711200"/>
          </a:xfrm>
          <a:prstGeom prst="rect">
            <a:avLst/>
          </a:prstGeom>
          <a:noFill/>
        </p:spPr>
        <p:txBody>
          <a:bodyPr wrap="square" lIns="0" rIns="0" tIns="0" bIns="0" anchor="t">
            <a:spAutoFit/>
          </a:bodyPr>
          <a:lstStyle/>
          <a:p>
            <a:pPr algn="l">
              <a:lnSpc>
                <a:spcPct val="115000"/>
              </a:lnSpc>
            </a:pPr>
            <a:r>
              <a:rPr sz="1400" b="0" i="0">
                <a:solidFill>
                  <a:srgbClr val="FFFFFF"/>
                </a:solidFill>
                <a:latin typeface="Inter"/>
              </a:rPr>
              <a:t>Basal izquierdo. Cómo se hace, paso a paso: planes, detalles y controles.</a:t>
            </a:r>
          </a:p>
        </p:txBody>
      </p:sp>
      <p:sp>
        <p:nvSpPr>
          <p:cNvPr id="11" name="Rounded Rectangle 10"/>
          <p:cNvSpPr/>
          <p:nvPr/>
        </p:nvSpPr>
        <p:spPr>
          <a:xfrm>
            <a:off x="6146800" y="3962400"/>
            <a:ext cx="5232400" cy="18288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5400" y="4191000"/>
            <a:ext cx="635000" cy="1270000"/>
          </a:xfrm>
          <a:prstGeom prst="rect">
            <a:avLst/>
          </a:prstGeom>
          <a:noFill/>
        </p:spPr>
        <p:txBody>
          <a:bodyPr wrap="square" lIns="0" rIns="0" tIns="0" bIns="0" anchor="t">
            <a:spAutoFit/>
          </a:bodyPr>
          <a:lstStyle/>
          <a:p>
            <a:pPr algn="l"/>
            <a:r>
              <a:rPr sz="6000" b="0" i="0">
                <a:solidFill>
                  <a:srgbClr val="FFFFFF"/>
                </a:solidFill>
                <a:latin typeface="Caveat Brush"/>
              </a:rPr>
              <a:t>C</a:t>
            </a:r>
          </a:p>
        </p:txBody>
      </p:sp>
      <p:sp>
        <p:nvSpPr>
          <p:cNvPr id="13" name="TextBox 12"/>
          <p:cNvSpPr txBox="1"/>
          <p:nvPr/>
        </p:nvSpPr>
        <p:spPr>
          <a:xfrm>
            <a:off x="7137400" y="4216400"/>
            <a:ext cx="40132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C · ROJO</a:t>
            </a:r>
          </a:p>
        </p:txBody>
      </p:sp>
      <p:sp>
        <p:nvSpPr>
          <p:cNvPr id="14" name="TextBox 13"/>
          <p:cNvSpPr txBox="1"/>
          <p:nvPr/>
        </p:nvSpPr>
        <p:spPr>
          <a:xfrm>
            <a:off x="7137400" y="4470400"/>
            <a:ext cx="4013200" cy="330200"/>
          </a:xfrm>
          <a:prstGeom prst="rect">
            <a:avLst/>
          </a:prstGeom>
          <a:noFill/>
        </p:spPr>
        <p:txBody>
          <a:bodyPr wrap="square" lIns="0" rIns="0" tIns="0" bIns="0" anchor="t">
            <a:spAutoFit/>
          </a:bodyPr>
          <a:lstStyle/>
          <a:p>
            <a:pPr algn="l"/>
            <a:r>
              <a:rPr sz="2000" b="1" i="0">
                <a:solidFill>
                  <a:srgbClr val="FFFFFF"/>
                </a:solidFill>
                <a:latin typeface="Inter"/>
              </a:rPr>
              <a:t>Personas y vínculos</a:t>
            </a:r>
          </a:p>
        </p:txBody>
      </p:sp>
      <p:sp>
        <p:nvSpPr>
          <p:cNvPr id="15" name="TextBox 14"/>
          <p:cNvSpPr txBox="1"/>
          <p:nvPr/>
        </p:nvSpPr>
        <p:spPr>
          <a:xfrm>
            <a:off x="7137400" y="4876800"/>
            <a:ext cx="4013200" cy="711200"/>
          </a:xfrm>
          <a:prstGeom prst="rect">
            <a:avLst/>
          </a:prstGeom>
          <a:noFill/>
        </p:spPr>
        <p:txBody>
          <a:bodyPr wrap="square" lIns="0" rIns="0" tIns="0" bIns="0" anchor="t">
            <a:spAutoFit/>
          </a:bodyPr>
          <a:lstStyle/>
          <a:p>
            <a:pPr algn="l">
              <a:lnSpc>
                <a:spcPct val="115000"/>
              </a:lnSpc>
            </a:pPr>
            <a:r>
              <a:rPr sz="1400" b="0" i="0">
                <a:solidFill>
                  <a:srgbClr val="FFFFFF"/>
                </a:solidFill>
                <a:latin typeface="Inter"/>
              </a:rPr>
              <a:t>Basal derecho. Cómo se sienten y se cuidan los demás: confianza, tradición y equipo.</a:t>
            </a:r>
          </a:p>
        </p:txBody>
      </p:sp>
      <p:sp>
        <p:nvSpPr>
          <p:cNvPr id="16" name="Rounded Rectangle 15"/>
          <p:cNvSpPr/>
          <p:nvPr/>
        </p:nvSpPr>
        <p:spPr>
          <a:xfrm>
            <a:off x="6146800" y="1981200"/>
            <a:ext cx="5232400" cy="18288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5400" y="2209800"/>
            <a:ext cx="635000" cy="1270000"/>
          </a:xfrm>
          <a:prstGeom prst="rect">
            <a:avLst/>
          </a:prstGeom>
          <a:noFill/>
        </p:spPr>
        <p:txBody>
          <a:bodyPr wrap="square" lIns="0" rIns="0" tIns="0" bIns="0" anchor="t">
            <a:spAutoFit/>
          </a:bodyPr>
          <a:lstStyle/>
          <a:p>
            <a:pPr algn="l"/>
            <a:r>
              <a:rPr sz="6000" b="0" i="0">
                <a:solidFill>
                  <a:srgbClr val="002060"/>
                </a:solidFill>
                <a:latin typeface="Caveat Brush"/>
              </a:rPr>
              <a:t>D</a:t>
            </a:r>
          </a:p>
        </p:txBody>
      </p:sp>
      <p:sp>
        <p:nvSpPr>
          <p:cNvPr id="18" name="TextBox 17"/>
          <p:cNvSpPr txBox="1"/>
          <p:nvPr/>
        </p:nvSpPr>
        <p:spPr>
          <a:xfrm>
            <a:off x="7137400" y="2235200"/>
            <a:ext cx="4013200" cy="203200"/>
          </a:xfrm>
          <a:prstGeom prst="rect">
            <a:avLst/>
          </a:prstGeom>
          <a:noFill/>
        </p:spPr>
        <p:txBody>
          <a:bodyPr wrap="square" lIns="0" rIns="0" tIns="0" bIns="0" anchor="t">
            <a:spAutoFit/>
          </a:bodyPr>
          <a:lstStyle/>
          <a:p>
            <a:pPr algn="l"/>
            <a:r>
              <a:rPr sz="1100" b="1" i="0" spc="150">
                <a:solidFill>
                  <a:srgbClr val="002060"/>
                </a:solidFill>
                <a:latin typeface="Roboto Condensed"/>
              </a:rPr>
              <a:t>MODO D · AMARILLO</a:t>
            </a:r>
          </a:p>
        </p:txBody>
      </p:sp>
      <p:sp>
        <p:nvSpPr>
          <p:cNvPr id="19" name="TextBox 18"/>
          <p:cNvSpPr txBox="1"/>
          <p:nvPr/>
        </p:nvSpPr>
        <p:spPr>
          <a:xfrm>
            <a:off x="7137400" y="2489200"/>
            <a:ext cx="4013200" cy="330200"/>
          </a:xfrm>
          <a:prstGeom prst="rect">
            <a:avLst/>
          </a:prstGeom>
          <a:noFill/>
        </p:spPr>
        <p:txBody>
          <a:bodyPr wrap="square" lIns="0" rIns="0" tIns="0" bIns="0" anchor="t">
            <a:spAutoFit/>
          </a:bodyPr>
          <a:lstStyle/>
          <a:p>
            <a:pPr algn="l"/>
            <a:r>
              <a:rPr sz="2000" b="1" i="0">
                <a:solidFill>
                  <a:srgbClr val="002060"/>
                </a:solidFill>
                <a:latin typeface="Inter"/>
              </a:rPr>
              <a:t>Visión e intuición</a:t>
            </a:r>
          </a:p>
        </p:txBody>
      </p:sp>
      <p:sp>
        <p:nvSpPr>
          <p:cNvPr id="20" name="TextBox 19"/>
          <p:cNvSpPr txBox="1"/>
          <p:nvPr/>
        </p:nvSpPr>
        <p:spPr>
          <a:xfrm>
            <a:off x="7137400" y="2895600"/>
            <a:ext cx="4013200" cy="711200"/>
          </a:xfrm>
          <a:prstGeom prst="rect">
            <a:avLst/>
          </a:prstGeom>
          <a:noFill/>
        </p:spPr>
        <p:txBody>
          <a:bodyPr wrap="square" lIns="0" rIns="0" tIns="0" bIns="0" anchor="t">
            <a:spAutoFit/>
          </a:bodyPr>
          <a:lstStyle/>
          <a:p>
            <a:pPr algn="l">
              <a:lnSpc>
                <a:spcPct val="115000"/>
              </a:lnSpc>
            </a:pPr>
            <a:r>
              <a:rPr sz="1400" b="0" i="0">
                <a:solidFill>
                  <a:srgbClr val="002060"/>
                </a:solidFill>
                <a:latin typeface="Inter"/>
              </a:rPr>
              <a:t>Frontal derecho. Qué podría ser: ideas nuevas, riesgo y mirada de conjunto.</a:t>
            </a:r>
          </a:p>
        </p:txBody>
      </p:sp>
      <p:sp>
        <p:nvSpPr>
          <p:cNvPr id="21" name="Rounded Rectangle 20"/>
          <p:cNvSpPr/>
          <p:nvPr/>
        </p:nvSpPr>
        <p:spPr>
          <a:xfrm>
            <a:off x="812800" y="1981200"/>
            <a:ext cx="5232400" cy="18288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1400" y="2209800"/>
            <a:ext cx="635000" cy="1270000"/>
          </a:xfrm>
          <a:prstGeom prst="rect">
            <a:avLst/>
          </a:prstGeom>
          <a:noFill/>
        </p:spPr>
        <p:txBody>
          <a:bodyPr wrap="square" lIns="0" rIns="0" tIns="0" bIns="0" anchor="t">
            <a:spAutoFit/>
          </a:bodyPr>
          <a:lstStyle/>
          <a:p>
            <a:pPr algn="l"/>
            <a:r>
              <a:rPr sz="6000" b="0" i="0">
                <a:solidFill>
                  <a:srgbClr val="FFFFFF"/>
                </a:solidFill>
                <a:latin typeface="Caveat Brush"/>
              </a:rPr>
              <a:t>A</a:t>
            </a:r>
          </a:p>
        </p:txBody>
      </p:sp>
      <p:sp>
        <p:nvSpPr>
          <p:cNvPr id="23" name="TextBox 22"/>
          <p:cNvSpPr txBox="1"/>
          <p:nvPr/>
        </p:nvSpPr>
        <p:spPr>
          <a:xfrm>
            <a:off x="1803400" y="2235200"/>
            <a:ext cx="40132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A · AZUL</a:t>
            </a:r>
          </a:p>
        </p:txBody>
      </p:sp>
      <p:sp>
        <p:nvSpPr>
          <p:cNvPr id="24" name="TextBox 23"/>
          <p:cNvSpPr txBox="1"/>
          <p:nvPr/>
        </p:nvSpPr>
        <p:spPr>
          <a:xfrm>
            <a:off x="1803400" y="2489200"/>
            <a:ext cx="4013200" cy="330200"/>
          </a:xfrm>
          <a:prstGeom prst="rect">
            <a:avLst/>
          </a:prstGeom>
          <a:noFill/>
        </p:spPr>
        <p:txBody>
          <a:bodyPr wrap="square" lIns="0" rIns="0" tIns="0" bIns="0" anchor="t">
            <a:spAutoFit/>
          </a:bodyPr>
          <a:lstStyle/>
          <a:p>
            <a:pPr algn="l"/>
            <a:r>
              <a:rPr sz="2000" b="1" i="0">
                <a:solidFill>
                  <a:srgbClr val="FFFFFF"/>
                </a:solidFill>
                <a:latin typeface="Inter"/>
              </a:rPr>
              <a:t>Análisis y estrategia</a:t>
            </a:r>
          </a:p>
        </p:txBody>
      </p:sp>
      <p:sp>
        <p:nvSpPr>
          <p:cNvPr id="25" name="TextBox 24"/>
          <p:cNvSpPr txBox="1"/>
          <p:nvPr/>
        </p:nvSpPr>
        <p:spPr>
          <a:xfrm>
            <a:off x="1803400" y="2895600"/>
            <a:ext cx="4013200" cy="711200"/>
          </a:xfrm>
          <a:prstGeom prst="rect">
            <a:avLst/>
          </a:prstGeom>
          <a:noFill/>
        </p:spPr>
        <p:txBody>
          <a:bodyPr wrap="square" lIns="0" rIns="0" tIns="0" bIns="0" anchor="t">
            <a:spAutoFit/>
          </a:bodyPr>
          <a:lstStyle/>
          <a:p>
            <a:pPr algn="l">
              <a:lnSpc>
                <a:spcPct val="115000"/>
              </a:lnSpc>
            </a:pPr>
            <a:r>
              <a:rPr sz="1400" b="0" i="0">
                <a:solidFill>
                  <a:srgbClr val="FFFFFF"/>
                </a:solidFill>
                <a:latin typeface="Inter"/>
              </a:rPr>
              <a:t>Frontal izquierdo. Por qué y para qué: datos, lógica y decisiones técnicas.</a:t>
            </a:r>
          </a:p>
        </p:txBody>
      </p:sp>
      <p:sp>
        <p:nvSpPr>
          <p:cNvPr id="26" name="TextBox 25"/>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un grupo muy parejo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02 · EL GRUPO</a:t>
            </a:r>
          </a:p>
        </p:txBody>
      </p:sp>
      <p:sp>
        <p:nvSpPr>
          <p:cNvPr id="4" name="TextBox 3"/>
          <p:cNvSpPr txBox="1"/>
          <p:nvPr/>
        </p:nvSpPr>
        <p:spPr>
          <a:xfrm>
            <a:off x="812800" y="1625600"/>
            <a:ext cx="10566400" cy="304800"/>
          </a:xfrm>
          <a:prstGeom prst="rect">
            <a:avLst/>
          </a:prstGeom>
          <a:noFill/>
        </p:spPr>
        <p:txBody>
          <a:bodyPr wrap="square" lIns="0" rIns="0" tIns="0" bIns="0" anchor="t">
            <a:spAutoFit/>
          </a:bodyPr>
          <a:lstStyle/>
          <a:p>
            <a:pPr algn="l"/>
            <a:r>
              <a:rPr sz="1600" b="0" i="0">
                <a:solidFill>
                  <a:srgbClr val="1C4587"/>
                </a:solidFill>
                <a:latin typeface="Inter"/>
              </a:rPr>
              <a:t>Respondieron 25 personas de Cotagro. Promedio de cada modo, sobre 20 puntos.</a:t>
            </a:r>
          </a:p>
        </p:txBody>
      </p:sp>
      <p:sp>
        <p:nvSpPr>
          <p:cNvPr id="5" name="TextBox 4"/>
          <p:cNvSpPr txBox="1"/>
          <p:nvPr/>
        </p:nvSpPr>
        <p:spPr>
          <a:xfrm>
            <a:off x="812800" y="2311400"/>
            <a:ext cx="2921000" cy="457200"/>
          </a:xfrm>
          <a:prstGeom prst="rect">
            <a:avLst/>
          </a:prstGeom>
          <a:noFill/>
        </p:spPr>
        <p:txBody>
          <a:bodyPr wrap="square" lIns="0" rIns="0" tIns="0" bIns="0" anchor="ctr">
            <a:spAutoFit/>
          </a:bodyPr>
          <a:lstStyle/>
          <a:p>
            <a:pPr algn="l"/>
            <a:r>
              <a:rPr sz="1600" b="1" i="0">
                <a:solidFill>
                  <a:srgbClr val="002060"/>
                </a:solidFill>
                <a:latin typeface="Inter"/>
              </a:rPr>
              <a:t>A · Análisis y estrategia</a:t>
            </a:r>
          </a:p>
        </p:txBody>
      </p:sp>
      <p:sp>
        <p:nvSpPr>
          <p:cNvPr id="6" name="Rounded Rectangle 5"/>
          <p:cNvSpPr/>
          <p:nvPr/>
        </p:nvSpPr>
        <p:spPr>
          <a:xfrm>
            <a:off x="3810000" y="23368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10000" y="2336800"/>
            <a:ext cx="3238500" cy="406400"/>
          </a:xfrm>
          <a:prstGeom prst="roundRect">
            <a:avLst>
              <a:gd name="adj" fmla="val 20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63200" y="2311400"/>
            <a:ext cx="1016000" cy="457200"/>
          </a:xfrm>
          <a:prstGeom prst="rect">
            <a:avLst/>
          </a:prstGeom>
          <a:noFill/>
        </p:spPr>
        <p:txBody>
          <a:bodyPr wrap="square" lIns="0" rIns="0" tIns="0" bIns="0" anchor="ctr">
            <a:spAutoFit/>
          </a:bodyPr>
          <a:lstStyle/>
          <a:p>
            <a:pPr algn="l"/>
            <a:r>
              <a:rPr sz="2200" b="0" i="0">
                <a:solidFill>
                  <a:srgbClr val="002060"/>
                </a:solidFill>
                <a:latin typeface="Caveat Brush"/>
              </a:rPr>
              <a:t>10,2</a:t>
            </a:r>
          </a:p>
        </p:txBody>
      </p:sp>
      <p:sp>
        <p:nvSpPr>
          <p:cNvPr id="9" name="TextBox 8"/>
          <p:cNvSpPr txBox="1"/>
          <p:nvPr/>
        </p:nvSpPr>
        <p:spPr>
          <a:xfrm>
            <a:off x="812800" y="3022600"/>
            <a:ext cx="2921000" cy="457200"/>
          </a:xfrm>
          <a:prstGeom prst="rect">
            <a:avLst/>
          </a:prstGeom>
          <a:noFill/>
        </p:spPr>
        <p:txBody>
          <a:bodyPr wrap="square" lIns="0" rIns="0" tIns="0" bIns="0" anchor="ctr">
            <a:spAutoFit/>
          </a:bodyPr>
          <a:lstStyle/>
          <a:p>
            <a:pPr algn="l"/>
            <a:r>
              <a:rPr sz="1600" b="1" i="0">
                <a:solidFill>
                  <a:srgbClr val="002060"/>
                </a:solidFill>
                <a:latin typeface="Inter"/>
              </a:rPr>
              <a:t>B · Orden y procesos</a:t>
            </a:r>
          </a:p>
        </p:txBody>
      </p:sp>
      <p:sp>
        <p:nvSpPr>
          <p:cNvPr id="10" name="Rounded Rectangle 9"/>
          <p:cNvSpPr/>
          <p:nvPr/>
        </p:nvSpPr>
        <p:spPr>
          <a:xfrm>
            <a:off x="3810000" y="30480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10000" y="3048000"/>
            <a:ext cx="2921000" cy="406400"/>
          </a:xfrm>
          <a:prstGeom prst="roundRect">
            <a:avLst>
              <a:gd name="adj" fmla="val 20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63200" y="3022600"/>
            <a:ext cx="1016000" cy="457200"/>
          </a:xfrm>
          <a:prstGeom prst="rect">
            <a:avLst/>
          </a:prstGeom>
          <a:noFill/>
        </p:spPr>
        <p:txBody>
          <a:bodyPr wrap="square" lIns="0" rIns="0" tIns="0" bIns="0" anchor="ctr">
            <a:spAutoFit/>
          </a:bodyPr>
          <a:lstStyle/>
          <a:p>
            <a:pPr algn="l"/>
            <a:r>
              <a:rPr sz="2200" b="0" i="0">
                <a:solidFill>
                  <a:srgbClr val="002060"/>
                </a:solidFill>
                <a:latin typeface="Caveat Brush"/>
              </a:rPr>
              <a:t>9,2</a:t>
            </a:r>
          </a:p>
        </p:txBody>
      </p:sp>
      <p:sp>
        <p:nvSpPr>
          <p:cNvPr id="13" name="TextBox 12"/>
          <p:cNvSpPr txBox="1"/>
          <p:nvPr/>
        </p:nvSpPr>
        <p:spPr>
          <a:xfrm>
            <a:off x="812800" y="3733800"/>
            <a:ext cx="2921000" cy="457200"/>
          </a:xfrm>
          <a:prstGeom prst="rect">
            <a:avLst/>
          </a:prstGeom>
          <a:noFill/>
        </p:spPr>
        <p:txBody>
          <a:bodyPr wrap="square" lIns="0" rIns="0" tIns="0" bIns="0" anchor="ctr">
            <a:spAutoFit/>
          </a:bodyPr>
          <a:lstStyle/>
          <a:p>
            <a:pPr algn="l"/>
            <a:r>
              <a:rPr sz="1600" b="1" i="0">
                <a:solidFill>
                  <a:srgbClr val="002060"/>
                </a:solidFill>
                <a:latin typeface="Inter"/>
              </a:rPr>
              <a:t>C · Personas y vínculos</a:t>
            </a:r>
          </a:p>
        </p:txBody>
      </p:sp>
      <p:sp>
        <p:nvSpPr>
          <p:cNvPr id="14" name="Rounded Rectangle 13"/>
          <p:cNvSpPr/>
          <p:nvPr/>
        </p:nvSpPr>
        <p:spPr>
          <a:xfrm>
            <a:off x="3810000" y="37592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810000" y="3759200"/>
            <a:ext cx="2952750" cy="406400"/>
          </a:xfrm>
          <a:prstGeom prst="roundRect">
            <a:avLst>
              <a:gd name="adj" fmla="val 2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63200" y="3733800"/>
            <a:ext cx="1016000" cy="457200"/>
          </a:xfrm>
          <a:prstGeom prst="rect">
            <a:avLst/>
          </a:prstGeom>
          <a:noFill/>
        </p:spPr>
        <p:txBody>
          <a:bodyPr wrap="square" lIns="0" rIns="0" tIns="0" bIns="0" anchor="ctr">
            <a:spAutoFit/>
          </a:bodyPr>
          <a:lstStyle/>
          <a:p>
            <a:pPr algn="l"/>
            <a:r>
              <a:rPr sz="2200" b="0" i="0">
                <a:solidFill>
                  <a:srgbClr val="002060"/>
                </a:solidFill>
                <a:latin typeface="Caveat Brush"/>
              </a:rPr>
              <a:t>9,3</a:t>
            </a:r>
          </a:p>
        </p:txBody>
      </p:sp>
      <p:sp>
        <p:nvSpPr>
          <p:cNvPr id="17" name="TextBox 16"/>
          <p:cNvSpPr txBox="1"/>
          <p:nvPr/>
        </p:nvSpPr>
        <p:spPr>
          <a:xfrm>
            <a:off x="812800" y="4445000"/>
            <a:ext cx="2921000" cy="457200"/>
          </a:xfrm>
          <a:prstGeom prst="rect">
            <a:avLst/>
          </a:prstGeom>
          <a:noFill/>
        </p:spPr>
        <p:txBody>
          <a:bodyPr wrap="square" lIns="0" rIns="0" tIns="0" bIns="0" anchor="ctr">
            <a:spAutoFit/>
          </a:bodyPr>
          <a:lstStyle/>
          <a:p>
            <a:pPr algn="l"/>
            <a:r>
              <a:rPr sz="1600" b="1" i="0">
                <a:solidFill>
                  <a:srgbClr val="002060"/>
                </a:solidFill>
                <a:latin typeface="Inter"/>
              </a:rPr>
              <a:t>D · Visión e intuición</a:t>
            </a:r>
          </a:p>
        </p:txBody>
      </p:sp>
      <p:sp>
        <p:nvSpPr>
          <p:cNvPr id="18" name="Rounded Rectangle 17"/>
          <p:cNvSpPr/>
          <p:nvPr/>
        </p:nvSpPr>
        <p:spPr>
          <a:xfrm>
            <a:off x="3810000" y="44704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810000" y="4470400"/>
            <a:ext cx="2952750" cy="406400"/>
          </a:xfrm>
          <a:prstGeom prst="roundRect">
            <a:avLst>
              <a:gd name="adj" fmla="val 20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63200" y="4445000"/>
            <a:ext cx="1016000" cy="457200"/>
          </a:xfrm>
          <a:prstGeom prst="rect">
            <a:avLst/>
          </a:prstGeom>
          <a:noFill/>
        </p:spPr>
        <p:txBody>
          <a:bodyPr wrap="square" lIns="0" rIns="0" tIns="0" bIns="0" anchor="ctr">
            <a:spAutoFit/>
          </a:bodyPr>
          <a:lstStyle/>
          <a:p>
            <a:pPr algn="l"/>
            <a:r>
              <a:rPr sz="2200" b="0" i="0">
                <a:solidFill>
                  <a:srgbClr val="002060"/>
                </a:solidFill>
                <a:latin typeface="Caveat Brush"/>
              </a:rPr>
              <a:t>9,3</a:t>
            </a:r>
          </a:p>
        </p:txBody>
      </p:sp>
      <p:sp>
        <p:nvSpPr>
          <p:cNvPr id="21" name="Rectangle 20"/>
          <p:cNvSpPr/>
          <p:nvPr/>
        </p:nvSpPr>
        <p:spPr>
          <a:xfrm>
            <a:off x="812800" y="5384800"/>
            <a:ext cx="8173720" cy="4445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0600" y="5384800"/>
            <a:ext cx="7818120" cy="444500"/>
          </a:xfrm>
          <a:prstGeom prst="rect">
            <a:avLst/>
          </a:prstGeom>
          <a:noFill/>
        </p:spPr>
        <p:txBody>
          <a:bodyPr wrap="square" lIns="0" rIns="0" tIns="0" bIns="0" anchor="ctr">
            <a:spAutoFit/>
          </a:bodyPr>
          <a:lstStyle/>
          <a:p>
            <a:pPr algn="l"/>
            <a:r>
              <a:rPr sz="2000" b="0" i="0">
                <a:solidFill>
                  <a:srgbClr val="002060"/>
                </a:solidFill>
                <a:latin typeface="Inter"/>
              </a:rPr>
              <a:t>Entre el modo más alto y el más bajo hay apenas un punto.</a:t>
            </a:r>
          </a:p>
        </p:txBody>
      </p:sp>
      <p:sp>
        <p:nvSpPr>
          <p:cNvPr id="23" name="TextBox 22"/>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¿qué modo aparece primero?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02 · EL GRUPO</a:t>
            </a:r>
          </a:p>
        </p:txBody>
      </p:sp>
      <p:sp>
        <p:nvSpPr>
          <p:cNvPr id="4" name="TextBox 3"/>
          <p:cNvSpPr txBox="1"/>
          <p:nvPr/>
        </p:nvSpPr>
        <p:spPr>
          <a:xfrm>
            <a:off x="812800" y="1625600"/>
            <a:ext cx="10566400" cy="304800"/>
          </a:xfrm>
          <a:prstGeom prst="rect">
            <a:avLst/>
          </a:prstGeom>
          <a:noFill/>
        </p:spPr>
        <p:txBody>
          <a:bodyPr wrap="square" lIns="0" rIns="0" tIns="0" bIns="0" anchor="t">
            <a:spAutoFit/>
          </a:bodyPr>
          <a:lstStyle/>
          <a:p>
            <a:pPr algn="l"/>
            <a:r>
              <a:rPr sz="1600" b="0" i="0">
                <a:solidFill>
                  <a:srgbClr val="1C4587"/>
                </a:solidFill>
                <a:latin typeface="Inter"/>
              </a:rPr>
              <a:t>Personas cuyo puntaje más alto cae en cada modo. Hay empates, por eso la suma pasa de 25.</a:t>
            </a:r>
          </a:p>
        </p:txBody>
      </p:sp>
      <p:sp>
        <p:nvSpPr>
          <p:cNvPr id="5" name="Rounded Rectangle 4"/>
          <p:cNvSpPr/>
          <p:nvPr/>
        </p:nvSpPr>
        <p:spPr>
          <a:xfrm>
            <a:off x="812800" y="4064000"/>
            <a:ext cx="3352800" cy="17526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1400" y="4165600"/>
            <a:ext cx="1397000" cy="1143000"/>
          </a:xfrm>
          <a:prstGeom prst="rect">
            <a:avLst/>
          </a:prstGeom>
          <a:noFill/>
        </p:spPr>
        <p:txBody>
          <a:bodyPr wrap="square" lIns="0" rIns="0" tIns="0" bIns="0" anchor="t">
            <a:spAutoFit/>
          </a:bodyPr>
          <a:lstStyle/>
          <a:p>
            <a:pPr algn="l"/>
            <a:r>
              <a:rPr sz="7200" b="0" i="0">
                <a:solidFill>
                  <a:srgbClr val="FFFFFF"/>
                </a:solidFill>
                <a:latin typeface="Caveat Brush"/>
              </a:rPr>
              <a:t>6</a:t>
            </a:r>
          </a:p>
        </p:txBody>
      </p:sp>
      <p:sp>
        <p:nvSpPr>
          <p:cNvPr id="7" name="TextBox 6"/>
          <p:cNvSpPr txBox="1"/>
          <p:nvPr/>
        </p:nvSpPr>
        <p:spPr>
          <a:xfrm>
            <a:off x="1041400" y="5283200"/>
            <a:ext cx="28956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B · VERDE</a:t>
            </a:r>
          </a:p>
        </p:txBody>
      </p:sp>
      <p:sp>
        <p:nvSpPr>
          <p:cNvPr id="8" name="TextBox 7"/>
          <p:cNvSpPr txBox="1"/>
          <p:nvPr/>
        </p:nvSpPr>
        <p:spPr>
          <a:xfrm>
            <a:off x="1041400" y="5511800"/>
            <a:ext cx="2895600" cy="254000"/>
          </a:xfrm>
          <a:prstGeom prst="rect">
            <a:avLst/>
          </a:prstGeom>
          <a:noFill/>
        </p:spPr>
        <p:txBody>
          <a:bodyPr wrap="square" lIns="0" rIns="0" tIns="0" bIns="0" anchor="t">
            <a:spAutoFit/>
          </a:bodyPr>
          <a:lstStyle/>
          <a:p>
            <a:pPr algn="l"/>
            <a:r>
              <a:rPr sz="1400" b="1" i="0">
                <a:solidFill>
                  <a:srgbClr val="FFFFFF"/>
                </a:solidFill>
                <a:latin typeface="Inter"/>
              </a:rPr>
              <a:t>Orden y procesos</a:t>
            </a:r>
          </a:p>
        </p:txBody>
      </p:sp>
      <p:sp>
        <p:nvSpPr>
          <p:cNvPr id="9" name="Rounded Rectangle 8"/>
          <p:cNvSpPr/>
          <p:nvPr/>
        </p:nvSpPr>
        <p:spPr>
          <a:xfrm>
            <a:off x="4318000" y="4064000"/>
            <a:ext cx="3352800" cy="17526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6600" y="4165600"/>
            <a:ext cx="1397000" cy="1143000"/>
          </a:xfrm>
          <a:prstGeom prst="rect">
            <a:avLst/>
          </a:prstGeom>
          <a:noFill/>
        </p:spPr>
        <p:txBody>
          <a:bodyPr wrap="square" lIns="0" rIns="0" tIns="0" bIns="0" anchor="t">
            <a:spAutoFit/>
          </a:bodyPr>
          <a:lstStyle/>
          <a:p>
            <a:pPr algn="l"/>
            <a:r>
              <a:rPr sz="7200" b="0" i="0">
                <a:solidFill>
                  <a:srgbClr val="FFFFFF"/>
                </a:solidFill>
                <a:latin typeface="Caveat Brush"/>
              </a:rPr>
              <a:t>10</a:t>
            </a:r>
          </a:p>
        </p:txBody>
      </p:sp>
      <p:sp>
        <p:nvSpPr>
          <p:cNvPr id="11" name="TextBox 10"/>
          <p:cNvSpPr txBox="1"/>
          <p:nvPr/>
        </p:nvSpPr>
        <p:spPr>
          <a:xfrm>
            <a:off x="4546600" y="5283200"/>
            <a:ext cx="28956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C · ROJO</a:t>
            </a:r>
          </a:p>
        </p:txBody>
      </p:sp>
      <p:sp>
        <p:nvSpPr>
          <p:cNvPr id="12" name="TextBox 11"/>
          <p:cNvSpPr txBox="1"/>
          <p:nvPr/>
        </p:nvSpPr>
        <p:spPr>
          <a:xfrm>
            <a:off x="4546600" y="5511800"/>
            <a:ext cx="2895600" cy="254000"/>
          </a:xfrm>
          <a:prstGeom prst="rect">
            <a:avLst/>
          </a:prstGeom>
          <a:noFill/>
        </p:spPr>
        <p:txBody>
          <a:bodyPr wrap="square" lIns="0" rIns="0" tIns="0" bIns="0" anchor="t">
            <a:spAutoFit/>
          </a:bodyPr>
          <a:lstStyle/>
          <a:p>
            <a:pPr algn="l"/>
            <a:r>
              <a:rPr sz="1400" b="1" i="0">
                <a:solidFill>
                  <a:srgbClr val="FFFFFF"/>
                </a:solidFill>
                <a:latin typeface="Inter"/>
              </a:rPr>
              <a:t>Personas y vínculos</a:t>
            </a:r>
          </a:p>
        </p:txBody>
      </p:sp>
      <p:sp>
        <p:nvSpPr>
          <p:cNvPr id="13" name="Rounded Rectangle 12"/>
          <p:cNvSpPr/>
          <p:nvPr/>
        </p:nvSpPr>
        <p:spPr>
          <a:xfrm>
            <a:off x="4318000" y="2159000"/>
            <a:ext cx="3352800" cy="17526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6600" y="2260600"/>
            <a:ext cx="1397000" cy="1143000"/>
          </a:xfrm>
          <a:prstGeom prst="rect">
            <a:avLst/>
          </a:prstGeom>
          <a:noFill/>
        </p:spPr>
        <p:txBody>
          <a:bodyPr wrap="square" lIns="0" rIns="0" tIns="0" bIns="0" anchor="t">
            <a:spAutoFit/>
          </a:bodyPr>
          <a:lstStyle/>
          <a:p>
            <a:pPr algn="l"/>
            <a:r>
              <a:rPr sz="7200" b="0" i="0">
                <a:solidFill>
                  <a:srgbClr val="002060"/>
                </a:solidFill>
                <a:latin typeface="Caveat Brush"/>
              </a:rPr>
              <a:t>4</a:t>
            </a:r>
          </a:p>
        </p:txBody>
      </p:sp>
      <p:sp>
        <p:nvSpPr>
          <p:cNvPr id="15" name="TextBox 14"/>
          <p:cNvSpPr txBox="1"/>
          <p:nvPr/>
        </p:nvSpPr>
        <p:spPr>
          <a:xfrm>
            <a:off x="4546600" y="3378200"/>
            <a:ext cx="2895600" cy="203200"/>
          </a:xfrm>
          <a:prstGeom prst="rect">
            <a:avLst/>
          </a:prstGeom>
          <a:noFill/>
        </p:spPr>
        <p:txBody>
          <a:bodyPr wrap="square" lIns="0" rIns="0" tIns="0" bIns="0" anchor="t">
            <a:spAutoFit/>
          </a:bodyPr>
          <a:lstStyle/>
          <a:p>
            <a:pPr algn="l"/>
            <a:r>
              <a:rPr sz="1100" b="1" i="0" spc="150">
                <a:solidFill>
                  <a:srgbClr val="002060"/>
                </a:solidFill>
                <a:latin typeface="Roboto Condensed"/>
              </a:rPr>
              <a:t>MODO D · AMARILLO</a:t>
            </a:r>
          </a:p>
        </p:txBody>
      </p:sp>
      <p:sp>
        <p:nvSpPr>
          <p:cNvPr id="16" name="TextBox 15"/>
          <p:cNvSpPr txBox="1"/>
          <p:nvPr/>
        </p:nvSpPr>
        <p:spPr>
          <a:xfrm>
            <a:off x="4546600" y="3606800"/>
            <a:ext cx="2895600" cy="254000"/>
          </a:xfrm>
          <a:prstGeom prst="rect">
            <a:avLst/>
          </a:prstGeom>
          <a:noFill/>
        </p:spPr>
        <p:txBody>
          <a:bodyPr wrap="square" lIns="0" rIns="0" tIns="0" bIns="0" anchor="t">
            <a:spAutoFit/>
          </a:bodyPr>
          <a:lstStyle/>
          <a:p>
            <a:pPr algn="l"/>
            <a:r>
              <a:rPr sz="1400" b="1" i="0">
                <a:solidFill>
                  <a:srgbClr val="002060"/>
                </a:solidFill>
                <a:latin typeface="Inter"/>
              </a:rPr>
              <a:t>Visión e intuición</a:t>
            </a:r>
          </a:p>
        </p:txBody>
      </p:sp>
      <p:sp>
        <p:nvSpPr>
          <p:cNvPr id="17" name="Rounded Rectangle 16"/>
          <p:cNvSpPr/>
          <p:nvPr/>
        </p:nvSpPr>
        <p:spPr>
          <a:xfrm>
            <a:off x="812800" y="2159000"/>
            <a:ext cx="3352800" cy="17526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1400" y="2260600"/>
            <a:ext cx="1397000" cy="1143000"/>
          </a:xfrm>
          <a:prstGeom prst="rect">
            <a:avLst/>
          </a:prstGeom>
          <a:noFill/>
        </p:spPr>
        <p:txBody>
          <a:bodyPr wrap="square" lIns="0" rIns="0" tIns="0" bIns="0" anchor="t">
            <a:spAutoFit/>
          </a:bodyPr>
          <a:lstStyle/>
          <a:p>
            <a:pPr algn="l"/>
            <a:r>
              <a:rPr sz="7200" b="0" i="0">
                <a:solidFill>
                  <a:srgbClr val="FFFFFF"/>
                </a:solidFill>
                <a:latin typeface="Caveat Brush"/>
              </a:rPr>
              <a:t>9</a:t>
            </a:r>
          </a:p>
        </p:txBody>
      </p:sp>
      <p:sp>
        <p:nvSpPr>
          <p:cNvPr id="19" name="TextBox 18"/>
          <p:cNvSpPr txBox="1"/>
          <p:nvPr/>
        </p:nvSpPr>
        <p:spPr>
          <a:xfrm>
            <a:off x="1041400" y="3378200"/>
            <a:ext cx="28956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A · AZUL</a:t>
            </a:r>
          </a:p>
        </p:txBody>
      </p:sp>
      <p:sp>
        <p:nvSpPr>
          <p:cNvPr id="20" name="TextBox 19"/>
          <p:cNvSpPr txBox="1"/>
          <p:nvPr/>
        </p:nvSpPr>
        <p:spPr>
          <a:xfrm>
            <a:off x="1041400" y="3606800"/>
            <a:ext cx="2895600" cy="254000"/>
          </a:xfrm>
          <a:prstGeom prst="rect">
            <a:avLst/>
          </a:prstGeom>
          <a:noFill/>
        </p:spPr>
        <p:txBody>
          <a:bodyPr wrap="square" lIns="0" rIns="0" tIns="0" bIns="0" anchor="t">
            <a:spAutoFit/>
          </a:bodyPr>
          <a:lstStyle/>
          <a:p>
            <a:pPr algn="l"/>
            <a:r>
              <a:rPr sz="1400" b="1" i="0">
                <a:solidFill>
                  <a:srgbClr val="FFFFFF"/>
                </a:solidFill>
                <a:latin typeface="Inter"/>
              </a:rPr>
              <a:t>Análisis y estrategia</a:t>
            </a:r>
          </a:p>
        </p:txBody>
      </p:sp>
      <p:sp>
        <p:nvSpPr>
          <p:cNvPr id="21" name="Rounded Rectangle 20"/>
          <p:cNvSpPr/>
          <p:nvPr/>
        </p:nvSpPr>
        <p:spPr>
          <a:xfrm>
            <a:off x="7924800" y="2159000"/>
            <a:ext cx="3454400" cy="3657600"/>
          </a:xfrm>
          <a:prstGeom prst="roundRect">
            <a:avLst>
              <a:gd name="adj" fmla="val 5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8800" y="2413000"/>
            <a:ext cx="2946400" cy="457200"/>
          </a:xfrm>
          <a:prstGeom prst="rect">
            <a:avLst/>
          </a:prstGeom>
          <a:noFill/>
        </p:spPr>
        <p:txBody>
          <a:bodyPr wrap="square" lIns="0" rIns="0" tIns="0" bIns="0" anchor="t">
            <a:spAutoFit/>
          </a:bodyPr>
          <a:lstStyle/>
          <a:p>
            <a:pPr algn="l"/>
            <a:r>
              <a:rPr sz="1200" b="1" i="0" spc="150">
                <a:solidFill>
                  <a:srgbClr val="1C4587"/>
                </a:solidFill>
                <a:latin typeface="Roboto Condensed"/>
              </a:rPr>
              <a:t>CON PUNTAJE DE 12 O MÁS</a:t>
            </a:r>
          </a:p>
        </p:txBody>
      </p:sp>
      <p:sp>
        <p:nvSpPr>
          <p:cNvPr id="23" name="Rounded Rectangle 22"/>
          <p:cNvSpPr/>
          <p:nvPr/>
        </p:nvSpPr>
        <p:spPr>
          <a:xfrm>
            <a:off x="8178800" y="3022600"/>
            <a:ext cx="457200" cy="457200"/>
          </a:xfrm>
          <a:prstGeom prst="roundRect">
            <a:avLst>
              <a:gd name="adj" fmla="val 15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8800" y="3022600"/>
            <a:ext cx="457200" cy="457200"/>
          </a:xfrm>
          <a:prstGeom prst="rect">
            <a:avLst/>
          </a:prstGeom>
          <a:noFill/>
        </p:spPr>
        <p:txBody>
          <a:bodyPr wrap="square" lIns="0" rIns="0" tIns="0" bIns="0" anchor="ctr">
            <a:spAutoFit/>
          </a:bodyPr>
          <a:lstStyle/>
          <a:p>
            <a:pPr algn="ctr"/>
            <a:r>
              <a:rPr sz="2000" b="0" i="0">
                <a:solidFill>
                  <a:srgbClr val="FFFFFF"/>
                </a:solidFill>
                <a:latin typeface="Caveat Brush"/>
              </a:rPr>
              <a:t>A</a:t>
            </a:r>
          </a:p>
        </p:txBody>
      </p:sp>
      <p:sp>
        <p:nvSpPr>
          <p:cNvPr id="25" name="TextBox 24"/>
          <p:cNvSpPr txBox="1"/>
          <p:nvPr/>
        </p:nvSpPr>
        <p:spPr>
          <a:xfrm>
            <a:off x="8788400" y="3022600"/>
            <a:ext cx="1524000" cy="457200"/>
          </a:xfrm>
          <a:prstGeom prst="rect">
            <a:avLst/>
          </a:prstGeom>
          <a:noFill/>
        </p:spPr>
        <p:txBody>
          <a:bodyPr wrap="square" lIns="0" rIns="0" tIns="0" bIns="0" anchor="ctr">
            <a:spAutoFit/>
          </a:bodyPr>
          <a:lstStyle/>
          <a:p>
            <a:pPr algn="l"/>
            <a:r>
              <a:rPr sz="1200" b="1" i="0">
                <a:solidFill>
                  <a:srgbClr val="002060"/>
                </a:solidFill>
                <a:latin typeface="Inter"/>
              </a:rPr>
              <a:t>Análisis y estrategia</a:t>
            </a:r>
          </a:p>
        </p:txBody>
      </p:sp>
      <p:sp>
        <p:nvSpPr>
          <p:cNvPr id="26" name="TextBox 25"/>
          <p:cNvSpPr txBox="1"/>
          <p:nvPr/>
        </p:nvSpPr>
        <p:spPr>
          <a:xfrm>
            <a:off x="10312400" y="3022600"/>
            <a:ext cx="812800" cy="457200"/>
          </a:xfrm>
          <a:prstGeom prst="rect">
            <a:avLst/>
          </a:prstGeom>
          <a:noFill/>
        </p:spPr>
        <p:txBody>
          <a:bodyPr wrap="square" lIns="0" rIns="0" tIns="0" bIns="0" anchor="ctr">
            <a:spAutoFit/>
          </a:bodyPr>
          <a:lstStyle/>
          <a:p>
            <a:pPr algn="r"/>
            <a:r>
              <a:rPr sz="1400" b="0" i="0">
                <a:solidFill>
                  <a:srgbClr val="002060"/>
                </a:solidFill>
                <a:latin typeface="Inter"/>
              </a:rPr>
              <a:t>9 pers.</a:t>
            </a:r>
          </a:p>
        </p:txBody>
      </p:sp>
      <p:sp>
        <p:nvSpPr>
          <p:cNvPr id="27" name="Rounded Rectangle 26"/>
          <p:cNvSpPr/>
          <p:nvPr/>
        </p:nvSpPr>
        <p:spPr>
          <a:xfrm>
            <a:off x="8178800" y="3683000"/>
            <a:ext cx="457200" cy="457200"/>
          </a:xfrm>
          <a:prstGeom prst="roundRect">
            <a:avLst>
              <a:gd name="adj" fmla="val 15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8800" y="3683000"/>
            <a:ext cx="457200" cy="457200"/>
          </a:xfrm>
          <a:prstGeom prst="rect">
            <a:avLst/>
          </a:prstGeom>
          <a:noFill/>
        </p:spPr>
        <p:txBody>
          <a:bodyPr wrap="square" lIns="0" rIns="0" tIns="0" bIns="0" anchor="ctr">
            <a:spAutoFit/>
          </a:bodyPr>
          <a:lstStyle/>
          <a:p>
            <a:pPr algn="ctr"/>
            <a:r>
              <a:rPr sz="2000" b="0" i="0">
                <a:solidFill>
                  <a:srgbClr val="FFFFFF"/>
                </a:solidFill>
                <a:latin typeface="Caveat Brush"/>
              </a:rPr>
              <a:t>C</a:t>
            </a:r>
          </a:p>
        </p:txBody>
      </p:sp>
      <p:sp>
        <p:nvSpPr>
          <p:cNvPr id="29" name="TextBox 28"/>
          <p:cNvSpPr txBox="1"/>
          <p:nvPr/>
        </p:nvSpPr>
        <p:spPr>
          <a:xfrm>
            <a:off x="8788400" y="3683000"/>
            <a:ext cx="1524000" cy="457200"/>
          </a:xfrm>
          <a:prstGeom prst="rect">
            <a:avLst/>
          </a:prstGeom>
          <a:noFill/>
        </p:spPr>
        <p:txBody>
          <a:bodyPr wrap="square" lIns="0" rIns="0" tIns="0" bIns="0" anchor="ctr">
            <a:spAutoFit/>
          </a:bodyPr>
          <a:lstStyle/>
          <a:p>
            <a:pPr algn="l"/>
            <a:r>
              <a:rPr sz="1200" b="1" i="0">
                <a:solidFill>
                  <a:srgbClr val="002060"/>
                </a:solidFill>
                <a:latin typeface="Inter"/>
              </a:rPr>
              <a:t>Personas y vínculos</a:t>
            </a:r>
          </a:p>
        </p:txBody>
      </p:sp>
      <p:sp>
        <p:nvSpPr>
          <p:cNvPr id="30" name="TextBox 29"/>
          <p:cNvSpPr txBox="1"/>
          <p:nvPr/>
        </p:nvSpPr>
        <p:spPr>
          <a:xfrm>
            <a:off x="10312400" y="3683000"/>
            <a:ext cx="812800" cy="457200"/>
          </a:xfrm>
          <a:prstGeom prst="rect">
            <a:avLst/>
          </a:prstGeom>
          <a:noFill/>
        </p:spPr>
        <p:txBody>
          <a:bodyPr wrap="square" lIns="0" rIns="0" tIns="0" bIns="0" anchor="ctr">
            <a:spAutoFit/>
          </a:bodyPr>
          <a:lstStyle/>
          <a:p>
            <a:pPr algn="r"/>
            <a:r>
              <a:rPr sz="1400" b="0" i="0">
                <a:solidFill>
                  <a:srgbClr val="002060"/>
                </a:solidFill>
                <a:latin typeface="Inter"/>
              </a:rPr>
              <a:t>6 pers.</a:t>
            </a:r>
          </a:p>
        </p:txBody>
      </p:sp>
      <p:sp>
        <p:nvSpPr>
          <p:cNvPr id="31" name="Rounded Rectangle 30"/>
          <p:cNvSpPr/>
          <p:nvPr/>
        </p:nvSpPr>
        <p:spPr>
          <a:xfrm>
            <a:off x="8178800" y="4343400"/>
            <a:ext cx="457200" cy="457200"/>
          </a:xfrm>
          <a:prstGeom prst="roundRect">
            <a:avLst>
              <a:gd name="adj" fmla="val 15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78800" y="4343400"/>
            <a:ext cx="457200" cy="457200"/>
          </a:xfrm>
          <a:prstGeom prst="rect">
            <a:avLst/>
          </a:prstGeom>
          <a:noFill/>
        </p:spPr>
        <p:txBody>
          <a:bodyPr wrap="square" lIns="0" rIns="0" tIns="0" bIns="0" anchor="ctr">
            <a:spAutoFit/>
          </a:bodyPr>
          <a:lstStyle/>
          <a:p>
            <a:pPr algn="ctr"/>
            <a:r>
              <a:rPr sz="2000" b="0" i="0">
                <a:solidFill>
                  <a:srgbClr val="002060"/>
                </a:solidFill>
                <a:latin typeface="Caveat Brush"/>
              </a:rPr>
              <a:t>D</a:t>
            </a:r>
          </a:p>
        </p:txBody>
      </p:sp>
      <p:sp>
        <p:nvSpPr>
          <p:cNvPr id="33" name="TextBox 32"/>
          <p:cNvSpPr txBox="1"/>
          <p:nvPr/>
        </p:nvSpPr>
        <p:spPr>
          <a:xfrm>
            <a:off x="8788400" y="4343400"/>
            <a:ext cx="1524000" cy="457200"/>
          </a:xfrm>
          <a:prstGeom prst="rect">
            <a:avLst/>
          </a:prstGeom>
          <a:noFill/>
        </p:spPr>
        <p:txBody>
          <a:bodyPr wrap="square" lIns="0" rIns="0" tIns="0" bIns="0" anchor="ctr">
            <a:spAutoFit/>
          </a:bodyPr>
          <a:lstStyle/>
          <a:p>
            <a:pPr algn="l"/>
            <a:r>
              <a:rPr sz="1200" b="1" i="0">
                <a:solidFill>
                  <a:srgbClr val="002060"/>
                </a:solidFill>
                <a:latin typeface="Inter"/>
              </a:rPr>
              <a:t>Visión e intuición</a:t>
            </a:r>
          </a:p>
        </p:txBody>
      </p:sp>
      <p:sp>
        <p:nvSpPr>
          <p:cNvPr id="34" name="TextBox 33"/>
          <p:cNvSpPr txBox="1"/>
          <p:nvPr/>
        </p:nvSpPr>
        <p:spPr>
          <a:xfrm>
            <a:off x="10312400" y="4343400"/>
            <a:ext cx="812800" cy="457200"/>
          </a:xfrm>
          <a:prstGeom prst="rect">
            <a:avLst/>
          </a:prstGeom>
          <a:noFill/>
        </p:spPr>
        <p:txBody>
          <a:bodyPr wrap="square" lIns="0" rIns="0" tIns="0" bIns="0" anchor="ctr">
            <a:spAutoFit/>
          </a:bodyPr>
          <a:lstStyle/>
          <a:p>
            <a:pPr algn="r"/>
            <a:r>
              <a:rPr sz="1400" b="0" i="0">
                <a:solidFill>
                  <a:srgbClr val="002060"/>
                </a:solidFill>
                <a:latin typeface="Inter"/>
              </a:rPr>
              <a:t>6 pers.</a:t>
            </a:r>
          </a:p>
        </p:txBody>
      </p:sp>
      <p:sp>
        <p:nvSpPr>
          <p:cNvPr id="35" name="Rounded Rectangle 34"/>
          <p:cNvSpPr/>
          <p:nvPr/>
        </p:nvSpPr>
        <p:spPr>
          <a:xfrm>
            <a:off x="8178800" y="5003800"/>
            <a:ext cx="457200" cy="457200"/>
          </a:xfrm>
          <a:prstGeom prst="roundRect">
            <a:avLst>
              <a:gd name="adj" fmla="val 15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78800" y="5003800"/>
            <a:ext cx="457200" cy="457200"/>
          </a:xfrm>
          <a:prstGeom prst="rect">
            <a:avLst/>
          </a:prstGeom>
          <a:noFill/>
        </p:spPr>
        <p:txBody>
          <a:bodyPr wrap="square" lIns="0" rIns="0" tIns="0" bIns="0" anchor="ctr">
            <a:spAutoFit/>
          </a:bodyPr>
          <a:lstStyle/>
          <a:p>
            <a:pPr algn="ctr"/>
            <a:r>
              <a:rPr sz="2000" b="0" i="0">
                <a:solidFill>
                  <a:srgbClr val="FFFFFF"/>
                </a:solidFill>
                <a:latin typeface="Caveat Brush"/>
              </a:rPr>
              <a:t>B</a:t>
            </a:r>
          </a:p>
        </p:txBody>
      </p:sp>
      <p:sp>
        <p:nvSpPr>
          <p:cNvPr id="37" name="TextBox 36"/>
          <p:cNvSpPr txBox="1"/>
          <p:nvPr/>
        </p:nvSpPr>
        <p:spPr>
          <a:xfrm>
            <a:off x="8788400" y="5003800"/>
            <a:ext cx="1524000" cy="457200"/>
          </a:xfrm>
          <a:prstGeom prst="rect">
            <a:avLst/>
          </a:prstGeom>
          <a:noFill/>
        </p:spPr>
        <p:txBody>
          <a:bodyPr wrap="square" lIns="0" rIns="0" tIns="0" bIns="0" anchor="ctr">
            <a:spAutoFit/>
          </a:bodyPr>
          <a:lstStyle/>
          <a:p>
            <a:pPr algn="l"/>
            <a:r>
              <a:rPr sz="1200" b="1" i="0">
                <a:solidFill>
                  <a:srgbClr val="002060"/>
                </a:solidFill>
                <a:latin typeface="Inter"/>
              </a:rPr>
              <a:t>Orden y procesos</a:t>
            </a:r>
          </a:p>
        </p:txBody>
      </p:sp>
      <p:sp>
        <p:nvSpPr>
          <p:cNvPr id="38" name="TextBox 37"/>
          <p:cNvSpPr txBox="1"/>
          <p:nvPr/>
        </p:nvSpPr>
        <p:spPr>
          <a:xfrm>
            <a:off x="10312400" y="5003800"/>
            <a:ext cx="812800" cy="457200"/>
          </a:xfrm>
          <a:prstGeom prst="rect">
            <a:avLst/>
          </a:prstGeom>
          <a:noFill/>
        </p:spPr>
        <p:txBody>
          <a:bodyPr wrap="square" lIns="0" rIns="0" tIns="0" bIns="0" anchor="ctr">
            <a:spAutoFit/>
          </a:bodyPr>
          <a:lstStyle/>
          <a:p>
            <a:pPr algn="r"/>
            <a:r>
              <a:rPr sz="1400" b="0" i="0">
                <a:solidFill>
                  <a:srgbClr val="002060"/>
                </a:solidFill>
                <a:latin typeface="Inter"/>
              </a:rPr>
              <a:t>5 pers.</a:t>
            </a:r>
          </a:p>
        </p:txBody>
      </p:sp>
      <p:sp>
        <p:nvSpPr>
          <p:cNvPr id="39" name="TextBox 38"/>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Title 1"/>
          <p:cNvSpPr>
            <a:spLocks noGrp="1"/>
          </p:cNvSpPr>
          <p:nvPr>
            <p:ph type="title"/>
          </p:nvPr>
        </p:nvSpPr>
        <p:spPr>
          <a:xfrm>
            <a:off x="812800" y="914400"/>
            <a:ext cx="10566400" cy="1143000"/>
          </a:xfrm>
        </p:spPr>
        <p:txBody>
          <a:bodyPr lIns="0" rIns="0" tIns="0" bIns="0" wrap="square" anchor="t"/>
          <a:lstStyle/>
          <a:p>
            <a:pPr algn="l"/>
            <a:r>
              <a:rPr sz="3400" b="0" i="0">
                <a:solidFill>
                  <a:srgbClr val="FFFFFF"/>
                </a:solidFill>
                <a:latin typeface="Caveat Brush"/>
              </a:rPr>
              <a:t>somos un grupo equilibrado, con un punto ciego posible: la mirada de futuro.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CFE0F7"/>
                </a:solidFill>
                <a:latin typeface="Roboto Condensed"/>
              </a:rPr>
              <a:t>LECTURA DEL GRUPO</a:t>
            </a:r>
          </a:p>
        </p:txBody>
      </p:sp>
      <p:sp>
        <p:nvSpPr>
          <p:cNvPr id="4" name="Rounded Rectangle 3"/>
          <p:cNvSpPr/>
          <p:nvPr/>
        </p:nvSpPr>
        <p:spPr>
          <a:xfrm>
            <a:off x="812800" y="2717800"/>
            <a:ext cx="355600" cy="355600"/>
          </a:xfrm>
          <a:prstGeom prst="roundRect">
            <a:avLst>
              <a:gd name="adj" fmla="val 20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17800"/>
            <a:ext cx="355600" cy="355600"/>
          </a:xfrm>
          <a:prstGeom prst="rect">
            <a:avLst/>
          </a:prstGeom>
          <a:noFill/>
        </p:spPr>
        <p:txBody>
          <a:bodyPr wrap="square" lIns="0" rIns="0" tIns="0" bIns="0" anchor="ctr">
            <a:spAutoFit/>
          </a:bodyPr>
          <a:lstStyle/>
          <a:p>
            <a:pPr algn="ctr"/>
            <a:r>
              <a:rPr sz="1600" b="0" i="0">
                <a:solidFill>
                  <a:srgbClr val="FFFFFF"/>
                </a:solidFill>
                <a:latin typeface="Caveat Brush"/>
              </a:rPr>
              <a:t>A</a:t>
            </a:r>
          </a:p>
        </p:txBody>
      </p:sp>
      <p:sp>
        <p:nvSpPr>
          <p:cNvPr id="6" name="TextBox 5"/>
          <p:cNvSpPr txBox="1"/>
          <p:nvPr/>
        </p:nvSpPr>
        <p:spPr>
          <a:xfrm>
            <a:off x="1371600" y="2667000"/>
            <a:ext cx="8890000" cy="457200"/>
          </a:xfrm>
          <a:prstGeom prst="rect">
            <a:avLst/>
          </a:prstGeom>
          <a:noFill/>
        </p:spPr>
        <p:txBody>
          <a:bodyPr wrap="square" lIns="0" rIns="0" tIns="0" bIns="0" anchor="ctr">
            <a:spAutoFit/>
          </a:bodyPr>
          <a:lstStyle/>
          <a:p>
            <a:pPr algn="l"/>
            <a:r>
              <a:rPr sz="2000" b="1" i="0">
                <a:solidFill>
                  <a:srgbClr val="FFFFFF"/>
                </a:solidFill>
                <a:latin typeface="Inter"/>
              </a:rPr>
              <a:t>Lo más fuerte:</a:t>
            </a:r>
          </a:p>
        </p:txBody>
      </p:sp>
      <p:sp>
        <p:nvSpPr>
          <p:cNvPr id="7" name="TextBox 6"/>
          <p:cNvSpPr txBox="1"/>
          <p:nvPr/>
        </p:nvSpPr>
        <p:spPr>
          <a:xfrm>
            <a:off x="3362959" y="2667000"/>
            <a:ext cx="7620000" cy="457200"/>
          </a:xfrm>
          <a:prstGeom prst="rect">
            <a:avLst/>
          </a:prstGeom>
          <a:noFill/>
        </p:spPr>
        <p:txBody>
          <a:bodyPr wrap="square" lIns="0" rIns="0" tIns="0" bIns="0" anchor="ctr">
            <a:spAutoFit/>
          </a:bodyPr>
          <a:lstStyle/>
          <a:p>
            <a:pPr algn="l"/>
            <a:r>
              <a:rPr sz="2000" b="0" i="0">
                <a:solidFill>
                  <a:srgbClr val="FFFFFF"/>
                </a:solidFill>
                <a:latin typeface="Inter"/>
              </a:rPr>
              <a:t>análisis y estrategia, modo A.</a:t>
            </a:r>
          </a:p>
        </p:txBody>
      </p:sp>
      <p:sp>
        <p:nvSpPr>
          <p:cNvPr id="8" name="Rounded Rectangle 7"/>
          <p:cNvSpPr/>
          <p:nvPr/>
        </p:nvSpPr>
        <p:spPr>
          <a:xfrm>
            <a:off x="812800" y="3276600"/>
            <a:ext cx="355600" cy="355600"/>
          </a:xfrm>
          <a:prstGeom prst="roundRect">
            <a:avLst>
              <a:gd name="adj" fmla="val 2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3276600"/>
            <a:ext cx="355600" cy="355600"/>
          </a:xfrm>
          <a:prstGeom prst="rect">
            <a:avLst/>
          </a:prstGeom>
          <a:noFill/>
        </p:spPr>
        <p:txBody>
          <a:bodyPr wrap="square" lIns="0" rIns="0" tIns="0" bIns="0" anchor="ctr">
            <a:spAutoFit/>
          </a:bodyPr>
          <a:lstStyle/>
          <a:p>
            <a:pPr algn="ctr"/>
            <a:r>
              <a:rPr sz="1600" b="0" i="0">
                <a:solidFill>
                  <a:srgbClr val="FFFFFF"/>
                </a:solidFill>
                <a:latin typeface="Caveat Brush"/>
              </a:rPr>
              <a:t>C</a:t>
            </a:r>
          </a:p>
        </p:txBody>
      </p:sp>
      <p:sp>
        <p:nvSpPr>
          <p:cNvPr id="10" name="TextBox 9"/>
          <p:cNvSpPr txBox="1"/>
          <p:nvPr/>
        </p:nvSpPr>
        <p:spPr>
          <a:xfrm>
            <a:off x="1371600" y="3225800"/>
            <a:ext cx="8890000" cy="457200"/>
          </a:xfrm>
          <a:prstGeom prst="rect">
            <a:avLst/>
          </a:prstGeom>
          <a:noFill/>
        </p:spPr>
        <p:txBody>
          <a:bodyPr wrap="square" lIns="0" rIns="0" tIns="0" bIns="0" anchor="ctr">
            <a:spAutoFit/>
          </a:bodyPr>
          <a:lstStyle/>
          <a:p>
            <a:pPr algn="l"/>
            <a:r>
              <a:rPr sz="2000" b="1" i="0">
                <a:solidFill>
                  <a:srgbClr val="FFFFFF"/>
                </a:solidFill>
                <a:latin typeface="Inter"/>
              </a:rPr>
              <a:t>Lo más repetido:</a:t>
            </a:r>
          </a:p>
        </p:txBody>
      </p:sp>
      <p:sp>
        <p:nvSpPr>
          <p:cNvPr id="11" name="TextBox 10"/>
          <p:cNvSpPr txBox="1"/>
          <p:nvPr/>
        </p:nvSpPr>
        <p:spPr>
          <a:xfrm>
            <a:off x="3647440" y="3225800"/>
            <a:ext cx="7620000" cy="457200"/>
          </a:xfrm>
          <a:prstGeom prst="rect">
            <a:avLst/>
          </a:prstGeom>
          <a:noFill/>
        </p:spPr>
        <p:txBody>
          <a:bodyPr wrap="square" lIns="0" rIns="0" tIns="0" bIns="0" anchor="ctr">
            <a:spAutoFit/>
          </a:bodyPr>
          <a:lstStyle/>
          <a:p>
            <a:pPr algn="l"/>
            <a:r>
              <a:rPr sz="2000" b="0" i="0">
                <a:solidFill>
                  <a:srgbClr val="FFFFFF"/>
                </a:solidFill>
                <a:latin typeface="Inter"/>
              </a:rPr>
              <a:t>personas y vínculos, modo C.</a:t>
            </a:r>
          </a:p>
        </p:txBody>
      </p:sp>
      <p:sp>
        <p:nvSpPr>
          <p:cNvPr id="12" name="Rounded Rectangle 11"/>
          <p:cNvSpPr/>
          <p:nvPr/>
        </p:nvSpPr>
        <p:spPr>
          <a:xfrm>
            <a:off x="812800" y="3835400"/>
            <a:ext cx="355600" cy="355600"/>
          </a:xfrm>
          <a:prstGeom prst="roundRect">
            <a:avLst>
              <a:gd name="adj" fmla="val 20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3835400"/>
            <a:ext cx="355600" cy="355600"/>
          </a:xfrm>
          <a:prstGeom prst="rect">
            <a:avLst/>
          </a:prstGeom>
          <a:noFill/>
        </p:spPr>
        <p:txBody>
          <a:bodyPr wrap="square" lIns="0" rIns="0" tIns="0" bIns="0" anchor="ctr">
            <a:spAutoFit/>
          </a:bodyPr>
          <a:lstStyle/>
          <a:p>
            <a:pPr algn="ctr"/>
            <a:r>
              <a:rPr sz="1600" b="0" i="0">
                <a:solidFill>
                  <a:srgbClr val="002060"/>
                </a:solidFill>
                <a:latin typeface="Caveat Brush"/>
              </a:rPr>
              <a:t>D</a:t>
            </a:r>
          </a:p>
        </p:txBody>
      </p:sp>
      <p:sp>
        <p:nvSpPr>
          <p:cNvPr id="14" name="TextBox 13"/>
          <p:cNvSpPr txBox="1"/>
          <p:nvPr/>
        </p:nvSpPr>
        <p:spPr>
          <a:xfrm>
            <a:off x="1371600" y="3784600"/>
            <a:ext cx="8890000" cy="457200"/>
          </a:xfrm>
          <a:prstGeom prst="rect">
            <a:avLst/>
          </a:prstGeom>
          <a:noFill/>
        </p:spPr>
        <p:txBody>
          <a:bodyPr wrap="square" lIns="0" rIns="0" tIns="0" bIns="0" anchor="ctr">
            <a:spAutoFit/>
          </a:bodyPr>
          <a:lstStyle/>
          <a:p>
            <a:pPr algn="l"/>
            <a:r>
              <a:rPr sz="2000" b="1" i="0">
                <a:solidFill>
                  <a:srgbClr val="FFFFFF"/>
                </a:solidFill>
                <a:latin typeface="Inter"/>
              </a:rPr>
              <a:t>Lo que menos protagoniza:</a:t>
            </a:r>
          </a:p>
        </p:txBody>
      </p:sp>
      <p:sp>
        <p:nvSpPr>
          <p:cNvPr id="15" name="TextBox 14"/>
          <p:cNvSpPr txBox="1"/>
          <p:nvPr/>
        </p:nvSpPr>
        <p:spPr>
          <a:xfrm>
            <a:off x="4927600" y="3784600"/>
            <a:ext cx="7620000" cy="457200"/>
          </a:xfrm>
          <a:prstGeom prst="rect">
            <a:avLst/>
          </a:prstGeom>
          <a:noFill/>
        </p:spPr>
        <p:txBody>
          <a:bodyPr wrap="square" lIns="0" rIns="0" tIns="0" bIns="0" anchor="ctr">
            <a:spAutoFit/>
          </a:bodyPr>
          <a:lstStyle/>
          <a:p>
            <a:pPr algn="l"/>
            <a:r>
              <a:rPr sz="2000" b="0" i="0">
                <a:solidFill>
                  <a:srgbClr val="FFFFFF"/>
                </a:solidFill>
                <a:latin typeface="Inter"/>
              </a:rPr>
              <a:t>visión e intuición, modo D.</a:t>
            </a:r>
          </a:p>
        </p:txBody>
      </p:sp>
      <p:sp>
        <p:nvSpPr>
          <p:cNvPr id="16" name="Rectangle 15"/>
          <p:cNvSpPr/>
          <p:nvPr/>
        </p:nvSpPr>
        <p:spPr>
          <a:xfrm>
            <a:off x="812800" y="4953000"/>
            <a:ext cx="7112000" cy="5842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0600" y="4953000"/>
            <a:ext cx="6858000" cy="584200"/>
          </a:xfrm>
          <a:prstGeom prst="rect">
            <a:avLst/>
          </a:prstGeom>
          <a:noFill/>
        </p:spPr>
        <p:txBody>
          <a:bodyPr wrap="square" lIns="0" rIns="0" tIns="0" bIns="0" anchor="ctr">
            <a:spAutoFit/>
          </a:bodyPr>
          <a:lstStyle/>
          <a:p>
            <a:pPr algn="l"/>
            <a:r>
              <a:rPr sz="2200" b="0" i="0">
                <a:solidFill>
                  <a:srgbClr val="002060"/>
                </a:solidFill>
                <a:latin typeface="Inter"/>
              </a:rPr>
              <a:t>Lo que nadie mira es lo que nos sorprende.</a:t>
            </a:r>
          </a:p>
        </p:txBody>
      </p:sp>
      <p:sp>
        <p:nvSpPr>
          <p:cNvPr id="18" name="TextBox 17"/>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A9BBD8"/>
                </a:solidFill>
                <a:latin typeface="Inter"/>
              </a:rPr>
              <a:t>COTAGRO · Estilos de pensamiento · devolución grupal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el mapa del grupo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02 · EL GRUPO</a:t>
            </a:r>
          </a:p>
        </p:txBody>
      </p:sp>
      <p:sp>
        <p:nvSpPr>
          <p:cNvPr id="4" name="Rounded Rectangle 3"/>
          <p:cNvSpPr/>
          <p:nvPr/>
        </p:nvSpPr>
        <p:spPr>
          <a:xfrm>
            <a:off x="812800" y="3886200"/>
            <a:ext cx="5232400" cy="2108200"/>
          </a:xfrm>
          <a:prstGeom prst="roundRect">
            <a:avLst>
              <a:gd name="adj" fmla="val 6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400" y="4064000"/>
            <a:ext cx="4775200" cy="304800"/>
          </a:xfrm>
          <a:prstGeom prst="rect">
            <a:avLst/>
          </a:prstGeom>
          <a:noFill/>
        </p:spPr>
        <p:txBody>
          <a:bodyPr wrap="square" lIns="0" rIns="0" tIns="0" bIns="0" anchor="t">
            <a:spAutoFit/>
          </a:bodyPr>
          <a:lstStyle/>
          <a:p>
            <a:pPr algn="l"/>
            <a:r>
              <a:rPr sz="1800" b="1" i="0">
                <a:solidFill>
                  <a:srgbClr val="FFFFFF"/>
                </a:solidFill>
                <a:latin typeface="Inter"/>
              </a:rPr>
              <a:t>B · Verde</a:t>
            </a:r>
          </a:p>
        </p:txBody>
      </p:sp>
      <p:sp>
        <p:nvSpPr>
          <p:cNvPr id="6" name="TextBox 5"/>
          <p:cNvSpPr txBox="1"/>
          <p:nvPr/>
        </p:nvSpPr>
        <p:spPr>
          <a:xfrm>
            <a:off x="1041400" y="4495800"/>
            <a:ext cx="2286000" cy="254000"/>
          </a:xfrm>
          <a:prstGeom prst="rect">
            <a:avLst/>
          </a:prstGeom>
          <a:noFill/>
        </p:spPr>
        <p:txBody>
          <a:bodyPr wrap="square" lIns="0" rIns="0" tIns="0" bIns="0" anchor="t">
            <a:spAutoFit/>
          </a:bodyPr>
          <a:lstStyle/>
          <a:p>
            <a:pPr algn="l"/>
            <a:r>
              <a:rPr sz="1400" b="0" i="0">
                <a:solidFill>
                  <a:srgbClr val="FFFFFF"/>
                </a:solidFill>
                <a:latin typeface="Inter"/>
              </a:rPr>
              <a:t>Danilo</a:t>
            </a:r>
          </a:p>
        </p:txBody>
      </p:sp>
      <p:sp>
        <p:nvSpPr>
          <p:cNvPr id="7" name="TextBox 6"/>
          <p:cNvSpPr txBox="1"/>
          <p:nvPr/>
        </p:nvSpPr>
        <p:spPr>
          <a:xfrm>
            <a:off x="1041400" y="4775200"/>
            <a:ext cx="2286000" cy="254000"/>
          </a:xfrm>
          <a:prstGeom prst="rect">
            <a:avLst/>
          </a:prstGeom>
          <a:noFill/>
        </p:spPr>
        <p:txBody>
          <a:bodyPr wrap="square" lIns="0" rIns="0" tIns="0" bIns="0" anchor="t">
            <a:spAutoFit/>
          </a:bodyPr>
          <a:lstStyle/>
          <a:p>
            <a:pPr algn="l"/>
            <a:r>
              <a:rPr sz="1400" b="0" i="0">
                <a:solidFill>
                  <a:srgbClr val="FFFFFF"/>
                </a:solidFill>
                <a:latin typeface="Inter"/>
              </a:rPr>
              <a:t>Luciano</a:t>
            </a:r>
          </a:p>
        </p:txBody>
      </p:sp>
      <p:sp>
        <p:nvSpPr>
          <p:cNvPr id="8" name="TextBox 7"/>
          <p:cNvSpPr txBox="1"/>
          <p:nvPr/>
        </p:nvSpPr>
        <p:spPr>
          <a:xfrm>
            <a:off x="1041400" y="5054600"/>
            <a:ext cx="2286000" cy="254000"/>
          </a:xfrm>
          <a:prstGeom prst="rect">
            <a:avLst/>
          </a:prstGeom>
          <a:noFill/>
        </p:spPr>
        <p:txBody>
          <a:bodyPr wrap="square" lIns="0" rIns="0" tIns="0" bIns="0" anchor="t">
            <a:spAutoFit/>
          </a:bodyPr>
          <a:lstStyle/>
          <a:p>
            <a:pPr algn="l"/>
            <a:r>
              <a:rPr sz="1400" b="0" i="0">
                <a:solidFill>
                  <a:srgbClr val="FFFFFF"/>
                </a:solidFill>
                <a:latin typeface="Inter"/>
              </a:rPr>
              <a:t>Gabriela</a:t>
            </a:r>
          </a:p>
        </p:txBody>
      </p:sp>
      <p:sp>
        <p:nvSpPr>
          <p:cNvPr id="9" name="TextBox 8"/>
          <p:cNvSpPr txBox="1"/>
          <p:nvPr/>
        </p:nvSpPr>
        <p:spPr>
          <a:xfrm>
            <a:off x="3454400" y="4495800"/>
            <a:ext cx="2286000" cy="254000"/>
          </a:xfrm>
          <a:prstGeom prst="rect">
            <a:avLst/>
          </a:prstGeom>
          <a:noFill/>
        </p:spPr>
        <p:txBody>
          <a:bodyPr wrap="square" lIns="0" rIns="0" tIns="0" bIns="0" anchor="t">
            <a:spAutoFit/>
          </a:bodyPr>
          <a:lstStyle/>
          <a:p>
            <a:pPr algn="l"/>
            <a:r>
              <a:rPr sz="1400" b="0" i="0">
                <a:solidFill>
                  <a:srgbClr val="FFFFFF"/>
                </a:solidFill>
                <a:latin typeface="Inter"/>
              </a:rPr>
              <a:t>Noelia</a:t>
            </a:r>
          </a:p>
        </p:txBody>
      </p:sp>
      <p:sp>
        <p:nvSpPr>
          <p:cNvPr id="10" name="TextBox 9"/>
          <p:cNvSpPr txBox="1"/>
          <p:nvPr/>
        </p:nvSpPr>
        <p:spPr>
          <a:xfrm>
            <a:off x="3454400" y="4775200"/>
            <a:ext cx="2286000" cy="254000"/>
          </a:xfrm>
          <a:prstGeom prst="rect">
            <a:avLst/>
          </a:prstGeom>
          <a:noFill/>
        </p:spPr>
        <p:txBody>
          <a:bodyPr wrap="square" lIns="0" rIns="0" tIns="0" bIns="0" anchor="t">
            <a:spAutoFit/>
          </a:bodyPr>
          <a:lstStyle/>
          <a:p>
            <a:pPr algn="l"/>
            <a:r>
              <a:rPr sz="1400" b="0" i="0">
                <a:solidFill>
                  <a:srgbClr val="FFFFFF"/>
                </a:solidFill>
                <a:latin typeface="Inter"/>
              </a:rPr>
              <a:t>Dante</a:t>
            </a:r>
          </a:p>
        </p:txBody>
      </p:sp>
      <p:sp>
        <p:nvSpPr>
          <p:cNvPr id="11" name="TextBox 10"/>
          <p:cNvSpPr txBox="1"/>
          <p:nvPr/>
        </p:nvSpPr>
        <p:spPr>
          <a:xfrm>
            <a:off x="3454400" y="5054600"/>
            <a:ext cx="2286000" cy="254000"/>
          </a:xfrm>
          <a:prstGeom prst="rect">
            <a:avLst/>
          </a:prstGeom>
          <a:noFill/>
        </p:spPr>
        <p:txBody>
          <a:bodyPr wrap="square" lIns="0" rIns="0" tIns="0" bIns="0" anchor="t">
            <a:spAutoFit/>
          </a:bodyPr>
          <a:lstStyle/>
          <a:p>
            <a:pPr algn="l"/>
            <a:r>
              <a:rPr sz="1400" b="0" i="0">
                <a:solidFill>
                  <a:srgbClr val="FFFFFF"/>
                </a:solidFill>
                <a:latin typeface="Inter"/>
              </a:rPr>
              <a:t>Pedro *</a:t>
            </a:r>
          </a:p>
        </p:txBody>
      </p:sp>
      <p:sp>
        <p:nvSpPr>
          <p:cNvPr id="12" name="Rounded Rectangle 11"/>
          <p:cNvSpPr/>
          <p:nvPr/>
        </p:nvSpPr>
        <p:spPr>
          <a:xfrm>
            <a:off x="6146800" y="3886200"/>
            <a:ext cx="5232400" cy="2108200"/>
          </a:xfrm>
          <a:prstGeom prst="roundRect">
            <a:avLst>
              <a:gd name="adj" fmla="val 6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5400" y="4064000"/>
            <a:ext cx="4775200" cy="304800"/>
          </a:xfrm>
          <a:prstGeom prst="rect">
            <a:avLst/>
          </a:prstGeom>
          <a:noFill/>
        </p:spPr>
        <p:txBody>
          <a:bodyPr wrap="square" lIns="0" rIns="0" tIns="0" bIns="0" anchor="t">
            <a:spAutoFit/>
          </a:bodyPr>
          <a:lstStyle/>
          <a:p>
            <a:pPr algn="l"/>
            <a:r>
              <a:rPr sz="1800" b="1" i="0">
                <a:solidFill>
                  <a:srgbClr val="FFFFFF"/>
                </a:solidFill>
                <a:latin typeface="Inter"/>
              </a:rPr>
              <a:t>C · Rojo</a:t>
            </a:r>
          </a:p>
        </p:txBody>
      </p:sp>
      <p:sp>
        <p:nvSpPr>
          <p:cNvPr id="14" name="TextBox 13"/>
          <p:cNvSpPr txBox="1"/>
          <p:nvPr/>
        </p:nvSpPr>
        <p:spPr>
          <a:xfrm>
            <a:off x="6375400" y="4495800"/>
            <a:ext cx="2286000" cy="254000"/>
          </a:xfrm>
          <a:prstGeom prst="rect">
            <a:avLst/>
          </a:prstGeom>
          <a:noFill/>
        </p:spPr>
        <p:txBody>
          <a:bodyPr wrap="square" lIns="0" rIns="0" tIns="0" bIns="0" anchor="t">
            <a:spAutoFit/>
          </a:bodyPr>
          <a:lstStyle/>
          <a:p>
            <a:pPr algn="l"/>
            <a:r>
              <a:rPr sz="1400" b="0" i="0">
                <a:solidFill>
                  <a:srgbClr val="FFFFFF"/>
                </a:solidFill>
                <a:latin typeface="Inter"/>
              </a:rPr>
              <a:t>Ginette</a:t>
            </a:r>
          </a:p>
        </p:txBody>
      </p:sp>
      <p:sp>
        <p:nvSpPr>
          <p:cNvPr id="15" name="TextBox 14"/>
          <p:cNvSpPr txBox="1"/>
          <p:nvPr/>
        </p:nvSpPr>
        <p:spPr>
          <a:xfrm>
            <a:off x="6375400" y="4775200"/>
            <a:ext cx="2286000" cy="254000"/>
          </a:xfrm>
          <a:prstGeom prst="rect">
            <a:avLst/>
          </a:prstGeom>
          <a:noFill/>
        </p:spPr>
        <p:txBody>
          <a:bodyPr wrap="square" lIns="0" rIns="0" tIns="0" bIns="0" anchor="t">
            <a:spAutoFit/>
          </a:bodyPr>
          <a:lstStyle/>
          <a:p>
            <a:pPr algn="l"/>
            <a:r>
              <a:rPr sz="1400" b="0" i="0">
                <a:solidFill>
                  <a:srgbClr val="FFFFFF"/>
                </a:solidFill>
                <a:latin typeface="Inter"/>
              </a:rPr>
              <a:t>Esteban</a:t>
            </a:r>
          </a:p>
        </p:txBody>
      </p:sp>
      <p:sp>
        <p:nvSpPr>
          <p:cNvPr id="16" name="TextBox 15"/>
          <p:cNvSpPr txBox="1"/>
          <p:nvPr/>
        </p:nvSpPr>
        <p:spPr>
          <a:xfrm>
            <a:off x="6375400" y="5054600"/>
            <a:ext cx="2286000" cy="254000"/>
          </a:xfrm>
          <a:prstGeom prst="rect">
            <a:avLst/>
          </a:prstGeom>
          <a:noFill/>
        </p:spPr>
        <p:txBody>
          <a:bodyPr wrap="square" lIns="0" rIns="0" tIns="0" bIns="0" anchor="t">
            <a:spAutoFit/>
          </a:bodyPr>
          <a:lstStyle/>
          <a:p>
            <a:pPr algn="l"/>
            <a:r>
              <a:rPr sz="1400" b="0" i="0">
                <a:solidFill>
                  <a:srgbClr val="FFFFFF"/>
                </a:solidFill>
                <a:latin typeface="Inter"/>
              </a:rPr>
              <a:t>Martin</a:t>
            </a:r>
          </a:p>
        </p:txBody>
      </p:sp>
      <p:sp>
        <p:nvSpPr>
          <p:cNvPr id="17" name="TextBox 16"/>
          <p:cNvSpPr txBox="1"/>
          <p:nvPr/>
        </p:nvSpPr>
        <p:spPr>
          <a:xfrm>
            <a:off x="6375400" y="5334000"/>
            <a:ext cx="2286000" cy="254000"/>
          </a:xfrm>
          <a:prstGeom prst="rect">
            <a:avLst/>
          </a:prstGeom>
          <a:noFill/>
        </p:spPr>
        <p:txBody>
          <a:bodyPr wrap="square" lIns="0" rIns="0" tIns="0" bIns="0" anchor="t">
            <a:spAutoFit/>
          </a:bodyPr>
          <a:lstStyle/>
          <a:p>
            <a:pPr algn="l"/>
            <a:r>
              <a:rPr sz="1400" b="0" i="0">
                <a:solidFill>
                  <a:srgbClr val="FFFFFF"/>
                </a:solidFill>
                <a:latin typeface="Inter"/>
              </a:rPr>
              <a:t>Maximiliano</a:t>
            </a:r>
          </a:p>
        </p:txBody>
      </p:sp>
      <p:sp>
        <p:nvSpPr>
          <p:cNvPr id="18" name="TextBox 17"/>
          <p:cNvSpPr txBox="1"/>
          <p:nvPr/>
        </p:nvSpPr>
        <p:spPr>
          <a:xfrm>
            <a:off x="6375400" y="5613400"/>
            <a:ext cx="2286000" cy="254000"/>
          </a:xfrm>
          <a:prstGeom prst="rect">
            <a:avLst/>
          </a:prstGeom>
          <a:noFill/>
        </p:spPr>
        <p:txBody>
          <a:bodyPr wrap="square" lIns="0" rIns="0" tIns="0" bIns="0" anchor="t">
            <a:spAutoFit/>
          </a:bodyPr>
          <a:lstStyle/>
          <a:p>
            <a:pPr algn="l"/>
            <a:r>
              <a:rPr sz="1400" b="0" i="0">
                <a:solidFill>
                  <a:srgbClr val="FFFFFF"/>
                </a:solidFill>
                <a:latin typeface="Inter"/>
              </a:rPr>
              <a:t>Juan Martin M.</a:t>
            </a:r>
          </a:p>
        </p:txBody>
      </p:sp>
      <p:sp>
        <p:nvSpPr>
          <p:cNvPr id="19" name="TextBox 18"/>
          <p:cNvSpPr txBox="1"/>
          <p:nvPr/>
        </p:nvSpPr>
        <p:spPr>
          <a:xfrm>
            <a:off x="8788400" y="4495800"/>
            <a:ext cx="2286000" cy="254000"/>
          </a:xfrm>
          <a:prstGeom prst="rect">
            <a:avLst/>
          </a:prstGeom>
          <a:noFill/>
        </p:spPr>
        <p:txBody>
          <a:bodyPr wrap="square" lIns="0" rIns="0" tIns="0" bIns="0" anchor="t">
            <a:spAutoFit/>
          </a:bodyPr>
          <a:lstStyle/>
          <a:p>
            <a:pPr algn="l"/>
            <a:r>
              <a:rPr sz="1400" b="0" i="0">
                <a:solidFill>
                  <a:srgbClr val="FFFFFF"/>
                </a:solidFill>
                <a:latin typeface="Inter"/>
              </a:rPr>
              <a:t>Gisela</a:t>
            </a:r>
          </a:p>
        </p:txBody>
      </p:sp>
      <p:sp>
        <p:nvSpPr>
          <p:cNvPr id="20" name="TextBox 19"/>
          <p:cNvSpPr txBox="1"/>
          <p:nvPr/>
        </p:nvSpPr>
        <p:spPr>
          <a:xfrm>
            <a:off x="8788400" y="4775200"/>
            <a:ext cx="2286000" cy="254000"/>
          </a:xfrm>
          <a:prstGeom prst="rect">
            <a:avLst/>
          </a:prstGeom>
          <a:noFill/>
        </p:spPr>
        <p:txBody>
          <a:bodyPr wrap="square" lIns="0" rIns="0" tIns="0" bIns="0" anchor="t">
            <a:spAutoFit/>
          </a:bodyPr>
          <a:lstStyle/>
          <a:p>
            <a:pPr algn="l"/>
            <a:r>
              <a:rPr sz="1400" b="0" i="0">
                <a:solidFill>
                  <a:srgbClr val="FFFFFF"/>
                </a:solidFill>
                <a:latin typeface="Inter"/>
              </a:rPr>
              <a:t>Pedro *</a:t>
            </a:r>
          </a:p>
        </p:txBody>
      </p:sp>
      <p:sp>
        <p:nvSpPr>
          <p:cNvPr id="21" name="TextBox 20"/>
          <p:cNvSpPr txBox="1"/>
          <p:nvPr/>
        </p:nvSpPr>
        <p:spPr>
          <a:xfrm>
            <a:off x="8788400" y="5054600"/>
            <a:ext cx="2286000" cy="254000"/>
          </a:xfrm>
          <a:prstGeom prst="rect">
            <a:avLst/>
          </a:prstGeom>
          <a:noFill/>
        </p:spPr>
        <p:txBody>
          <a:bodyPr wrap="square" lIns="0" rIns="0" tIns="0" bIns="0" anchor="t">
            <a:spAutoFit/>
          </a:bodyPr>
          <a:lstStyle/>
          <a:p>
            <a:pPr algn="l"/>
            <a:r>
              <a:rPr sz="1400" b="0" i="0">
                <a:solidFill>
                  <a:srgbClr val="FFFFFF"/>
                </a:solidFill>
                <a:latin typeface="Inter"/>
              </a:rPr>
              <a:t>Sara *</a:t>
            </a:r>
          </a:p>
        </p:txBody>
      </p:sp>
      <p:sp>
        <p:nvSpPr>
          <p:cNvPr id="22" name="TextBox 21"/>
          <p:cNvSpPr txBox="1"/>
          <p:nvPr/>
        </p:nvSpPr>
        <p:spPr>
          <a:xfrm>
            <a:off x="8788400" y="5334000"/>
            <a:ext cx="2286000" cy="254000"/>
          </a:xfrm>
          <a:prstGeom prst="rect">
            <a:avLst/>
          </a:prstGeom>
          <a:noFill/>
        </p:spPr>
        <p:txBody>
          <a:bodyPr wrap="square" lIns="0" rIns="0" tIns="0" bIns="0" anchor="t">
            <a:spAutoFit/>
          </a:bodyPr>
          <a:lstStyle/>
          <a:p>
            <a:pPr algn="l"/>
            <a:r>
              <a:rPr sz="1400" b="0" i="0">
                <a:solidFill>
                  <a:srgbClr val="FFFFFF"/>
                </a:solidFill>
                <a:latin typeface="Inter"/>
              </a:rPr>
              <a:t>Joaquin *</a:t>
            </a:r>
          </a:p>
        </p:txBody>
      </p:sp>
      <p:sp>
        <p:nvSpPr>
          <p:cNvPr id="23" name="TextBox 22"/>
          <p:cNvSpPr txBox="1"/>
          <p:nvPr/>
        </p:nvSpPr>
        <p:spPr>
          <a:xfrm>
            <a:off x="8788400" y="5613400"/>
            <a:ext cx="2286000" cy="254000"/>
          </a:xfrm>
          <a:prstGeom prst="rect">
            <a:avLst/>
          </a:prstGeom>
          <a:noFill/>
        </p:spPr>
        <p:txBody>
          <a:bodyPr wrap="square" lIns="0" rIns="0" tIns="0" bIns="0" anchor="t">
            <a:spAutoFit/>
          </a:bodyPr>
          <a:lstStyle/>
          <a:p>
            <a:pPr algn="l"/>
            <a:r>
              <a:rPr sz="1400" b="0" i="0">
                <a:solidFill>
                  <a:srgbClr val="FFFFFF"/>
                </a:solidFill>
                <a:latin typeface="Inter"/>
              </a:rPr>
              <a:t>Tami *</a:t>
            </a:r>
          </a:p>
        </p:txBody>
      </p:sp>
      <p:sp>
        <p:nvSpPr>
          <p:cNvPr id="24" name="Rounded Rectangle 23"/>
          <p:cNvSpPr/>
          <p:nvPr/>
        </p:nvSpPr>
        <p:spPr>
          <a:xfrm>
            <a:off x="6146800" y="1651000"/>
            <a:ext cx="5232400" cy="2108200"/>
          </a:xfrm>
          <a:prstGeom prst="roundRect">
            <a:avLst>
              <a:gd name="adj" fmla="val 6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5400" y="1828800"/>
            <a:ext cx="4775200" cy="304800"/>
          </a:xfrm>
          <a:prstGeom prst="rect">
            <a:avLst/>
          </a:prstGeom>
          <a:noFill/>
        </p:spPr>
        <p:txBody>
          <a:bodyPr wrap="square" lIns="0" rIns="0" tIns="0" bIns="0" anchor="t">
            <a:spAutoFit/>
          </a:bodyPr>
          <a:lstStyle/>
          <a:p>
            <a:pPr algn="l"/>
            <a:r>
              <a:rPr sz="1800" b="1" i="0">
                <a:solidFill>
                  <a:srgbClr val="002060"/>
                </a:solidFill>
                <a:latin typeface="Inter"/>
              </a:rPr>
              <a:t>D · Amarillo</a:t>
            </a:r>
          </a:p>
        </p:txBody>
      </p:sp>
      <p:sp>
        <p:nvSpPr>
          <p:cNvPr id="26" name="TextBox 25"/>
          <p:cNvSpPr txBox="1"/>
          <p:nvPr/>
        </p:nvSpPr>
        <p:spPr>
          <a:xfrm>
            <a:off x="6375400" y="2260600"/>
            <a:ext cx="2286000" cy="254000"/>
          </a:xfrm>
          <a:prstGeom prst="rect">
            <a:avLst/>
          </a:prstGeom>
          <a:noFill/>
        </p:spPr>
        <p:txBody>
          <a:bodyPr wrap="square" lIns="0" rIns="0" tIns="0" bIns="0" anchor="t">
            <a:spAutoFit/>
          </a:bodyPr>
          <a:lstStyle/>
          <a:p>
            <a:pPr algn="l"/>
            <a:r>
              <a:rPr sz="1400" b="0" i="0">
                <a:solidFill>
                  <a:srgbClr val="002060"/>
                </a:solidFill>
                <a:latin typeface="Inter"/>
              </a:rPr>
              <a:t>Ana</a:t>
            </a:r>
          </a:p>
        </p:txBody>
      </p:sp>
      <p:sp>
        <p:nvSpPr>
          <p:cNvPr id="27" name="TextBox 26"/>
          <p:cNvSpPr txBox="1"/>
          <p:nvPr/>
        </p:nvSpPr>
        <p:spPr>
          <a:xfrm>
            <a:off x="6375400" y="2540000"/>
            <a:ext cx="2286000" cy="254000"/>
          </a:xfrm>
          <a:prstGeom prst="rect">
            <a:avLst/>
          </a:prstGeom>
          <a:noFill/>
        </p:spPr>
        <p:txBody>
          <a:bodyPr wrap="square" lIns="0" rIns="0" tIns="0" bIns="0" anchor="t">
            <a:spAutoFit/>
          </a:bodyPr>
          <a:lstStyle/>
          <a:p>
            <a:pPr algn="l"/>
            <a:r>
              <a:rPr sz="1400" b="0" i="0">
                <a:solidFill>
                  <a:srgbClr val="002060"/>
                </a:solidFill>
                <a:latin typeface="Inter"/>
              </a:rPr>
              <a:t>Veronica</a:t>
            </a:r>
          </a:p>
        </p:txBody>
      </p:sp>
      <p:sp>
        <p:nvSpPr>
          <p:cNvPr id="28" name="TextBox 27"/>
          <p:cNvSpPr txBox="1"/>
          <p:nvPr/>
        </p:nvSpPr>
        <p:spPr>
          <a:xfrm>
            <a:off x="8788400" y="2260600"/>
            <a:ext cx="2286000" cy="254000"/>
          </a:xfrm>
          <a:prstGeom prst="rect">
            <a:avLst/>
          </a:prstGeom>
          <a:noFill/>
        </p:spPr>
        <p:txBody>
          <a:bodyPr wrap="square" lIns="0" rIns="0" tIns="0" bIns="0" anchor="t">
            <a:spAutoFit/>
          </a:bodyPr>
          <a:lstStyle/>
          <a:p>
            <a:pPr algn="l"/>
            <a:r>
              <a:rPr sz="1400" b="0" i="0">
                <a:solidFill>
                  <a:srgbClr val="002060"/>
                </a:solidFill>
                <a:latin typeface="Inter"/>
              </a:rPr>
              <a:t>Johana</a:t>
            </a:r>
          </a:p>
        </p:txBody>
      </p:sp>
      <p:sp>
        <p:nvSpPr>
          <p:cNvPr id="29" name="TextBox 28"/>
          <p:cNvSpPr txBox="1"/>
          <p:nvPr/>
        </p:nvSpPr>
        <p:spPr>
          <a:xfrm>
            <a:off x="8788400" y="2540000"/>
            <a:ext cx="2286000" cy="254000"/>
          </a:xfrm>
          <a:prstGeom prst="rect">
            <a:avLst/>
          </a:prstGeom>
          <a:noFill/>
        </p:spPr>
        <p:txBody>
          <a:bodyPr wrap="square" lIns="0" rIns="0" tIns="0" bIns="0" anchor="t">
            <a:spAutoFit/>
          </a:bodyPr>
          <a:lstStyle/>
          <a:p>
            <a:pPr algn="l"/>
            <a:r>
              <a:rPr sz="1400" b="0" i="0">
                <a:solidFill>
                  <a:srgbClr val="002060"/>
                </a:solidFill>
                <a:latin typeface="Inter"/>
              </a:rPr>
              <a:t>Sara *</a:t>
            </a:r>
          </a:p>
        </p:txBody>
      </p:sp>
      <p:sp>
        <p:nvSpPr>
          <p:cNvPr id="30" name="Rounded Rectangle 29"/>
          <p:cNvSpPr/>
          <p:nvPr/>
        </p:nvSpPr>
        <p:spPr>
          <a:xfrm>
            <a:off x="812800" y="1651000"/>
            <a:ext cx="5232400" cy="2108200"/>
          </a:xfrm>
          <a:prstGeom prst="roundRect">
            <a:avLst>
              <a:gd name="adj" fmla="val 6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1400" y="1828800"/>
            <a:ext cx="4775200" cy="304800"/>
          </a:xfrm>
          <a:prstGeom prst="rect">
            <a:avLst/>
          </a:prstGeom>
          <a:noFill/>
        </p:spPr>
        <p:txBody>
          <a:bodyPr wrap="square" lIns="0" rIns="0" tIns="0" bIns="0" anchor="t">
            <a:spAutoFit/>
          </a:bodyPr>
          <a:lstStyle/>
          <a:p>
            <a:pPr algn="l"/>
            <a:r>
              <a:rPr sz="1800" b="1" i="0">
                <a:solidFill>
                  <a:srgbClr val="FFFFFF"/>
                </a:solidFill>
                <a:latin typeface="Inter"/>
              </a:rPr>
              <a:t>A · Azul</a:t>
            </a:r>
          </a:p>
        </p:txBody>
      </p:sp>
      <p:sp>
        <p:nvSpPr>
          <p:cNvPr id="32" name="TextBox 31"/>
          <p:cNvSpPr txBox="1"/>
          <p:nvPr/>
        </p:nvSpPr>
        <p:spPr>
          <a:xfrm>
            <a:off x="1041400" y="2260600"/>
            <a:ext cx="2286000" cy="254000"/>
          </a:xfrm>
          <a:prstGeom prst="rect">
            <a:avLst/>
          </a:prstGeom>
          <a:noFill/>
        </p:spPr>
        <p:txBody>
          <a:bodyPr wrap="square" lIns="0" rIns="0" tIns="0" bIns="0" anchor="t">
            <a:spAutoFit/>
          </a:bodyPr>
          <a:lstStyle/>
          <a:p>
            <a:pPr algn="l"/>
            <a:r>
              <a:rPr sz="1400" b="0" i="0">
                <a:solidFill>
                  <a:srgbClr val="FFFFFF"/>
                </a:solidFill>
                <a:latin typeface="Inter"/>
              </a:rPr>
              <a:t>Sofia</a:t>
            </a:r>
          </a:p>
        </p:txBody>
      </p:sp>
      <p:sp>
        <p:nvSpPr>
          <p:cNvPr id="33" name="TextBox 32"/>
          <p:cNvSpPr txBox="1"/>
          <p:nvPr/>
        </p:nvSpPr>
        <p:spPr>
          <a:xfrm>
            <a:off x="1041400" y="2540000"/>
            <a:ext cx="2286000" cy="254000"/>
          </a:xfrm>
          <a:prstGeom prst="rect">
            <a:avLst/>
          </a:prstGeom>
          <a:noFill/>
        </p:spPr>
        <p:txBody>
          <a:bodyPr wrap="square" lIns="0" rIns="0" tIns="0" bIns="0" anchor="t">
            <a:spAutoFit/>
          </a:bodyPr>
          <a:lstStyle/>
          <a:p>
            <a:pPr algn="l"/>
            <a:r>
              <a:rPr sz="1400" b="0" i="0">
                <a:solidFill>
                  <a:srgbClr val="FFFFFF"/>
                </a:solidFill>
                <a:latin typeface="Inter"/>
              </a:rPr>
              <a:t>Julieta</a:t>
            </a:r>
          </a:p>
        </p:txBody>
      </p:sp>
      <p:sp>
        <p:nvSpPr>
          <p:cNvPr id="34" name="TextBox 33"/>
          <p:cNvSpPr txBox="1"/>
          <p:nvPr/>
        </p:nvSpPr>
        <p:spPr>
          <a:xfrm>
            <a:off x="1041400" y="2819400"/>
            <a:ext cx="2286000" cy="254000"/>
          </a:xfrm>
          <a:prstGeom prst="rect">
            <a:avLst/>
          </a:prstGeom>
          <a:noFill/>
        </p:spPr>
        <p:txBody>
          <a:bodyPr wrap="square" lIns="0" rIns="0" tIns="0" bIns="0" anchor="t">
            <a:spAutoFit/>
          </a:bodyPr>
          <a:lstStyle/>
          <a:p>
            <a:pPr algn="l"/>
            <a:r>
              <a:rPr sz="1400" b="0" i="0">
                <a:solidFill>
                  <a:srgbClr val="FFFFFF"/>
                </a:solidFill>
                <a:latin typeface="Inter"/>
              </a:rPr>
              <a:t>Juan Manuel K.</a:t>
            </a:r>
          </a:p>
        </p:txBody>
      </p:sp>
      <p:sp>
        <p:nvSpPr>
          <p:cNvPr id="35" name="TextBox 34"/>
          <p:cNvSpPr txBox="1"/>
          <p:nvPr/>
        </p:nvSpPr>
        <p:spPr>
          <a:xfrm>
            <a:off x="1041400" y="3098800"/>
            <a:ext cx="2286000" cy="254000"/>
          </a:xfrm>
          <a:prstGeom prst="rect">
            <a:avLst/>
          </a:prstGeom>
          <a:noFill/>
        </p:spPr>
        <p:txBody>
          <a:bodyPr wrap="square" lIns="0" rIns="0" tIns="0" bIns="0" anchor="t">
            <a:spAutoFit/>
          </a:bodyPr>
          <a:lstStyle/>
          <a:p>
            <a:pPr algn="l"/>
            <a:r>
              <a:rPr sz="1400" b="0" i="0">
                <a:solidFill>
                  <a:srgbClr val="FFFFFF"/>
                </a:solidFill>
                <a:latin typeface="Inter"/>
              </a:rPr>
              <a:t>Lucia</a:t>
            </a:r>
          </a:p>
        </p:txBody>
      </p:sp>
      <p:sp>
        <p:nvSpPr>
          <p:cNvPr id="36" name="TextBox 35"/>
          <p:cNvSpPr txBox="1"/>
          <p:nvPr/>
        </p:nvSpPr>
        <p:spPr>
          <a:xfrm>
            <a:off x="1041400" y="3378200"/>
            <a:ext cx="2286000" cy="254000"/>
          </a:xfrm>
          <a:prstGeom prst="rect">
            <a:avLst/>
          </a:prstGeom>
          <a:noFill/>
        </p:spPr>
        <p:txBody>
          <a:bodyPr wrap="square" lIns="0" rIns="0" tIns="0" bIns="0" anchor="t">
            <a:spAutoFit/>
          </a:bodyPr>
          <a:lstStyle/>
          <a:p>
            <a:pPr algn="l"/>
            <a:r>
              <a:rPr sz="1400" b="0" i="0">
                <a:solidFill>
                  <a:srgbClr val="FFFFFF"/>
                </a:solidFill>
                <a:latin typeface="Inter"/>
              </a:rPr>
              <a:t>Damian</a:t>
            </a:r>
          </a:p>
        </p:txBody>
      </p:sp>
      <p:sp>
        <p:nvSpPr>
          <p:cNvPr id="37" name="TextBox 36"/>
          <p:cNvSpPr txBox="1"/>
          <p:nvPr/>
        </p:nvSpPr>
        <p:spPr>
          <a:xfrm>
            <a:off x="3454400" y="2260600"/>
            <a:ext cx="2286000" cy="254000"/>
          </a:xfrm>
          <a:prstGeom prst="rect">
            <a:avLst/>
          </a:prstGeom>
          <a:noFill/>
        </p:spPr>
        <p:txBody>
          <a:bodyPr wrap="square" lIns="0" rIns="0" tIns="0" bIns="0" anchor="t">
            <a:spAutoFit/>
          </a:bodyPr>
          <a:lstStyle/>
          <a:p>
            <a:pPr algn="l"/>
            <a:r>
              <a:rPr sz="1400" b="0" i="0">
                <a:solidFill>
                  <a:srgbClr val="FFFFFF"/>
                </a:solidFill>
                <a:latin typeface="Inter"/>
              </a:rPr>
              <a:t>Ignacio</a:t>
            </a:r>
          </a:p>
        </p:txBody>
      </p:sp>
      <p:sp>
        <p:nvSpPr>
          <p:cNvPr id="38" name="TextBox 37"/>
          <p:cNvSpPr txBox="1"/>
          <p:nvPr/>
        </p:nvSpPr>
        <p:spPr>
          <a:xfrm>
            <a:off x="3454400" y="2540000"/>
            <a:ext cx="2286000" cy="254000"/>
          </a:xfrm>
          <a:prstGeom prst="rect">
            <a:avLst/>
          </a:prstGeom>
          <a:noFill/>
        </p:spPr>
        <p:txBody>
          <a:bodyPr wrap="square" lIns="0" rIns="0" tIns="0" bIns="0" anchor="t">
            <a:spAutoFit/>
          </a:bodyPr>
          <a:lstStyle/>
          <a:p>
            <a:pPr algn="l"/>
            <a:r>
              <a:rPr sz="1400" b="0" i="0">
                <a:solidFill>
                  <a:srgbClr val="FFFFFF"/>
                </a:solidFill>
                <a:latin typeface="Inter"/>
              </a:rPr>
              <a:t>Gerardo</a:t>
            </a:r>
          </a:p>
        </p:txBody>
      </p:sp>
      <p:sp>
        <p:nvSpPr>
          <p:cNvPr id="39" name="TextBox 38"/>
          <p:cNvSpPr txBox="1"/>
          <p:nvPr/>
        </p:nvSpPr>
        <p:spPr>
          <a:xfrm>
            <a:off x="3454400" y="2819400"/>
            <a:ext cx="2286000" cy="254000"/>
          </a:xfrm>
          <a:prstGeom prst="rect">
            <a:avLst/>
          </a:prstGeom>
          <a:noFill/>
        </p:spPr>
        <p:txBody>
          <a:bodyPr wrap="square" lIns="0" rIns="0" tIns="0" bIns="0" anchor="t">
            <a:spAutoFit/>
          </a:bodyPr>
          <a:lstStyle/>
          <a:p>
            <a:pPr algn="l"/>
            <a:r>
              <a:rPr sz="1400" b="0" i="0">
                <a:solidFill>
                  <a:srgbClr val="FFFFFF"/>
                </a:solidFill>
                <a:latin typeface="Inter"/>
              </a:rPr>
              <a:t>Joaquin *</a:t>
            </a:r>
          </a:p>
        </p:txBody>
      </p:sp>
      <p:sp>
        <p:nvSpPr>
          <p:cNvPr id="40" name="TextBox 39"/>
          <p:cNvSpPr txBox="1"/>
          <p:nvPr/>
        </p:nvSpPr>
        <p:spPr>
          <a:xfrm>
            <a:off x="3454400" y="3098800"/>
            <a:ext cx="2286000" cy="254000"/>
          </a:xfrm>
          <a:prstGeom prst="rect">
            <a:avLst/>
          </a:prstGeom>
          <a:noFill/>
        </p:spPr>
        <p:txBody>
          <a:bodyPr wrap="square" lIns="0" rIns="0" tIns="0" bIns="0" anchor="t">
            <a:spAutoFit/>
          </a:bodyPr>
          <a:lstStyle/>
          <a:p>
            <a:pPr algn="l"/>
            <a:r>
              <a:rPr sz="1400" b="0" i="0">
                <a:solidFill>
                  <a:srgbClr val="FFFFFF"/>
                </a:solidFill>
                <a:latin typeface="Inter"/>
              </a:rPr>
              <a:t>Tami *</a:t>
            </a:r>
          </a:p>
        </p:txBody>
      </p:sp>
      <p:sp>
        <p:nvSpPr>
          <p:cNvPr id="41" name="TextBox 40"/>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 Empate entre dos modos · COTAGRO · Estilos de pensamiento · devolución grupal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del modo de pensar al modo de liderar</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03 · LIDERAZGO</a:t>
            </a:r>
          </a:p>
        </p:txBody>
      </p:sp>
      <p:sp>
        <p:nvSpPr>
          <p:cNvPr id="4" name="TextBox 3"/>
          <p:cNvSpPr txBox="1"/>
          <p:nvPr/>
        </p:nvSpPr>
        <p:spPr>
          <a:xfrm>
            <a:off x="3098800" y="1752600"/>
            <a:ext cx="4318000" cy="241300"/>
          </a:xfrm>
          <a:prstGeom prst="rect">
            <a:avLst/>
          </a:prstGeom>
          <a:noFill/>
        </p:spPr>
        <p:txBody>
          <a:bodyPr wrap="square" lIns="0" rIns="0" tIns="0" bIns="0" anchor="t">
            <a:spAutoFit/>
          </a:bodyPr>
          <a:lstStyle/>
          <a:p>
            <a:pPr algn="l"/>
            <a:r>
              <a:rPr sz="1200" b="1" i="0" spc="150">
                <a:solidFill>
                  <a:srgbClr val="666666"/>
                </a:solidFill>
                <a:latin typeface="Inter"/>
              </a:rPr>
              <a:t>CUANDO LIDERAMOS DESDE ACÁ</a:t>
            </a:r>
          </a:p>
        </p:txBody>
      </p:sp>
      <p:sp>
        <p:nvSpPr>
          <p:cNvPr id="5" name="TextBox 4"/>
          <p:cNvSpPr txBox="1"/>
          <p:nvPr/>
        </p:nvSpPr>
        <p:spPr>
          <a:xfrm>
            <a:off x="7797800" y="1752600"/>
            <a:ext cx="3581400" cy="241300"/>
          </a:xfrm>
          <a:prstGeom prst="rect">
            <a:avLst/>
          </a:prstGeom>
          <a:noFill/>
        </p:spPr>
        <p:txBody>
          <a:bodyPr wrap="square" lIns="0" rIns="0" tIns="0" bIns="0" anchor="t">
            <a:spAutoFit/>
          </a:bodyPr>
          <a:lstStyle/>
          <a:p>
            <a:pPr algn="l"/>
            <a:r>
              <a:rPr sz="1200" b="1" i="0" spc="150">
                <a:solidFill>
                  <a:srgbClr val="666666"/>
                </a:solidFill>
                <a:latin typeface="Inter"/>
              </a:rPr>
              <a:t>OJO CON</a:t>
            </a:r>
          </a:p>
        </p:txBody>
      </p:sp>
      <p:sp>
        <p:nvSpPr>
          <p:cNvPr id="6" name="Rounded Rectangle 5"/>
          <p:cNvSpPr/>
          <p:nvPr/>
        </p:nvSpPr>
        <p:spPr>
          <a:xfrm>
            <a:off x="812800" y="21082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12800" y="2108200"/>
            <a:ext cx="2133600" cy="889000"/>
          </a:xfrm>
          <a:prstGeom prst="roundRect">
            <a:avLst>
              <a:gd name="adj" fmla="val 14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2108200"/>
            <a:ext cx="762000" cy="889000"/>
          </a:xfrm>
          <a:prstGeom prst="rect">
            <a:avLst/>
          </a:prstGeom>
          <a:noFill/>
        </p:spPr>
        <p:txBody>
          <a:bodyPr wrap="square" lIns="0" rIns="0" tIns="0" bIns="0" anchor="ctr">
            <a:spAutoFit/>
          </a:bodyPr>
          <a:lstStyle/>
          <a:p>
            <a:pPr algn="l"/>
            <a:r>
              <a:rPr sz="4000" b="0" i="0">
                <a:solidFill>
                  <a:srgbClr val="FFFFFF"/>
                </a:solidFill>
                <a:latin typeface="Caveat Brush"/>
              </a:rPr>
              <a:t>A</a:t>
            </a:r>
          </a:p>
        </p:txBody>
      </p:sp>
      <p:sp>
        <p:nvSpPr>
          <p:cNvPr id="9" name="TextBox 8"/>
          <p:cNvSpPr txBox="1"/>
          <p:nvPr/>
        </p:nvSpPr>
        <p:spPr>
          <a:xfrm>
            <a:off x="1574800" y="2108200"/>
            <a:ext cx="1320800" cy="889000"/>
          </a:xfrm>
          <a:prstGeom prst="rect">
            <a:avLst/>
          </a:prstGeom>
          <a:noFill/>
        </p:spPr>
        <p:txBody>
          <a:bodyPr wrap="square" lIns="0" rIns="0" tIns="0" bIns="0" anchor="ctr">
            <a:spAutoFit/>
          </a:bodyPr>
          <a:lstStyle/>
          <a:p>
            <a:pPr algn="l"/>
            <a:r>
              <a:rPr sz="1600" b="1" i="0">
                <a:solidFill>
                  <a:srgbClr val="FFFFFF"/>
                </a:solidFill>
                <a:latin typeface="Inter"/>
              </a:rPr>
              <a:t>Azul</a:t>
            </a:r>
          </a:p>
        </p:txBody>
      </p:sp>
      <p:sp>
        <p:nvSpPr>
          <p:cNvPr id="10" name="TextBox 9"/>
          <p:cNvSpPr txBox="1"/>
          <p:nvPr/>
        </p:nvSpPr>
        <p:spPr>
          <a:xfrm>
            <a:off x="3098800" y="2108200"/>
            <a:ext cx="4445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Decidimos con datos y criterio técnico.</a:t>
            </a:r>
          </a:p>
        </p:txBody>
      </p:sp>
      <p:sp>
        <p:nvSpPr>
          <p:cNvPr id="11" name="TextBox 10"/>
          <p:cNvSpPr txBox="1"/>
          <p:nvPr/>
        </p:nvSpPr>
        <p:spPr>
          <a:xfrm>
            <a:off x="7797800" y="2108200"/>
            <a:ext cx="3429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Olvidar el efecto en las personas.</a:t>
            </a:r>
          </a:p>
        </p:txBody>
      </p:sp>
      <p:sp>
        <p:nvSpPr>
          <p:cNvPr id="12" name="Rounded Rectangle 11"/>
          <p:cNvSpPr/>
          <p:nvPr/>
        </p:nvSpPr>
        <p:spPr>
          <a:xfrm>
            <a:off x="812800" y="30988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2800" y="3098800"/>
            <a:ext cx="2133600" cy="889000"/>
          </a:xfrm>
          <a:prstGeom prst="roundRect">
            <a:avLst>
              <a:gd name="adj" fmla="val 14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000" y="3098800"/>
            <a:ext cx="762000" cy="889000"/>
          </a:xfrm>
          <a:prstGeom prst="rect">
            <a:avLst/>
          </a:prstGeom>
          <a:noFill/>
        </p:spPr>
        <p:txBody>
          <a:bodyPr wrap="square" lIns="0" rIns="0" tIns="0" bIns="0" anchor="ctr">
            <a:spAutoFit/>
          </a:bodyPr>
          <a:lstStyle/>
          <a:p>
            <a:pPr algn="l"/>
            <a:r>
              <a:rPr sz="4000" b="0" i="0">
                <a:solidFill>
                  <a:srgbClr val="FFFFFF"/>
                </a:solidFill>
                <a:latin typeface="Caveat Brush"/>
              </a:rPr>
              <a:t>B</a:t>
            </a:r>
          </a:p>
        </p:txBody>
      </p:sp>
      <p:sp>
        <p:nvSpPr>
          <p:cNvPr id="15" name="TextBox 14"/>
          <p:cNvSpPr txBox="1"/>
          <p:nvPr/>
        </p:nvSpPr>
        <p:spPr>
          <a:xfrm>
            <a:off x="1574800" y="3098800"/>
            <a:ext cx="1320800" cy="889000"/>
          </a:xfrm>
          <a:prstGeom prst="rect">
            <a:avLst/>
          </a:prstGeom>
          <a:noFill/>
        </p:spPr>
        <p:txBody>
          <a:bodyPr wrap="square" lIns="0" rIns="0" tIns="0" bIns="0" anchor="ctr">
            <a:spAutoFit/>
          </a:bodyPr>
          <a:lstStyle/>
          <a:p>
            <a:pPr algn="l"/>
            <a:r>
              <a:rPr sz="1600" b="1" i="0">
                <a:solidFill>
                  <a:srgbClr val="FFFFFF"/>
                </a:solidFill>
                <a:latin typeface="Inter"/>
              </a:rPr>
              <a:t>Verde</a:t>
            </a:r>
          </a:p>
        </p:txBody>
      </p:sp>
      <p:sp>
        <p:nvSpPr>
          <p:cNvPr id="16" name="TextBox 15"/>
          <p:cNvSpPr txBox="1"/>
          <p:nvPr/>
        </p:nvSpPr>
        <p:spPr>
          <a:xfrm>
            <a:off x="3098800" y="3098800"/>
            <a:ext cx="4445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Ordenamos, planificamos y cumplimos.</a:t>
            </a:r>
          </a:p>
        </p:txBody>
      </p:sp>
      <p:sp>
        <p:nvSpPr>
          <p:cNvPr id="17" name="TextBox 16"/>
          <p:cNvSpPr txBox="1"/>
          <p:nvPr/>
        </p:nvSpPr>
        <p:spPr>
          <a:xfrm>
            <a:off x="7797800" y="3098800"/>
            <a:ext cx="3429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La rigidez: “siempre se hizo así”.</a:t>
            </a:r>
          </a:p>
        </p:txBody>
      </p:sp>
      <p:sp>
        <p:nvSpPr>
          <p:cNvPr id="18" name="Rounded Rectangle 17"/>
          <p:cNvSpPr/>
          <p:nvPr/>
        </p:nvSpPr>
        <p:spPr>
          <a:xfrm>
            <a:off x="812800" y="40894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2800" y="4089400"/>
            <a:ext cx="2133600" cy="889000"/>
          </a:xfrm>
          <a:prstGeom prst="roundRect">
            <a:avLst>
              <a:gd name="adj" fmla="val 14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4089400"/>
            <a:ext cx="762000" cy="889000"/>
          </a:xfrm>
          <a:prstGeom prst="rect">
            <a:avLst/>
          </a:prstGeom>
          <a:noFill/>
        </p:spPr>
        <p:txBody>
          <a:bodyPr wrap="square" lIns="0" rIns="0" tIns="0" bIns="0" anchor="ctr">
            <a:spAutoFit/>
          </a:bodyPr>
          <a:lstStyle/>
          <a:p>
            <a:pPr algn="l"/>
            <a:r>
              <a:rPr sz="4000" b="0" i="0">
                <a:solidFill>
                  <a:srgbClr val="FFFFFF"/>
                </a:solidFill>
                <a:latin typeface="Caveat Brush"/>
              </a:rPr>
              <a:t>C</a:t>
            </a:r>
          </a:p>
        </p:txBody>
      </p:sp>
      <p:sp>
        <p:nvSpPr>
          <p:cNvPr id="21" name="TextBox 20"/>
          <p:cNvSpPr txBox="1"/>
          <p:nvPr/>
        </p:nvSpPr>
        <p:spPr>
          <a:xfrm>
            <a:off x="1574800" y="4089400"/>
            <a:ext cx="1320800" cy="889000"/>
          </a:xfrm>
          <a:prstGeom prst="rect">
            <a:avLst/>
          </a:prstGeom>
          <a:noFill/>
        </p:spPr>
        <p:txBody>
          <a:bodyPr wrap="square" lIns="0" rIns="0" tIns="0" bIns="0" anchor="ctr">
            <a:spAutoFit/>
          </a:bodyPr>
          <a:lstStyle/>
          <a:p>
            <a:pPr algn="l"/>
            <a:r>
              <a:rPr sz="1600" b="1" i="0">
                <a:solidFill>
                  <a:srgbClr val="FFFFFF"/>
                </a:solidFill>
                <a:latin typeface="Inter"/>
              </a:rPr>
              <a:t>Rojo</a:t>
            </a:r>
          </a:p>
        </p:txBody>
      </p:sp>
      <p:sp>
        <p:nvSpPr>
          <p:cNvPr id="22" name="TextBox 21"/>
          <p:cNvSpPr txBox="1"/>
          <p:nvPr/>
        </p:nvSpPr>
        <p:spPr>
          <a:xfrm>
            <a:off x="3098800" y="4089400"/>
            <a:ext cx="4445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Cuidamos a la gente y sostenemos el clima.</a:t>
            </a:r>
          </a:p>
        </p:txBody>
      </p:sp>
      <p:sp>
        <p:nvSpPr>
          <p:cNvPr id="23" name="TextBox 22"/>
          <p:cNvSpPr txBox="1"/>
          <p:nvPr/>
        </p:nvSpPr>
        <p:spPr>
          <a:xfrm>
            <a:off x="7797800" y="4089400"/>
            <a:ext cx="3429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Esquivar la conversación difícil.</a:t>
            </a:r>
          </a:p>
        </p:txBody>
      </p:sp>
      <p:sp>
        <p:nvSpPr>
          <p:cNvPr id="24" name="Rounded Rectangle 23"/>
          <p:cNvSpPr/>
          <p:nvPr/>
        </p:nvSpPr>
        <p:spPr>
          <a:xfrm>
            <a:off x="812800" y="50800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2800" y="5080000"/>
            <a:ext cx="2133600" cy="889000"/>
          </a:xfrm>
          <a:prstGeom prst="roundRect">
            <a:avLst>
              <a:gd name="adj" fmla="val 14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6000" y="5080000"/>
            <a:ext cx="762000" cy="889000"/>
          </a:xfrm>
          <a:prstGeom prst="rect">
            <a:avLst/>
          </a:prstGeom>
          <a:noFill/>
        </p:spPr>
        <p:txBody>
          <a:bodyPr wrap="square" lIns="0" rIns="0" tIns="0" bIns="0" anchor="ctr">
            <a:spAutoFit/>
          </a:bodyPr>
          <a:lstStyle/>
          <a:p>
            <a:pPr algn="l"/>
            <a:r>
              <a:rPr sz="4000" b="0" i="0">
                <a:solidFill>
                  <a:srgbClr val="002060"/>
                </a:solidFill>
                <a:latin typeface="Caveat Brush"/>
              </a:rPr>
              <a:t>D</a:t>
            </a:r>
          </a:p>
        </p:txBody>
      </p:sp>
      <p:sp>
        <p:nvSpPr>
          <p:cNvPr id="27" name="TextBox 26"/>
          <p:cNvSpPr txBox="1"/>
          <p:nvPr/>
        </p:nvSpPr>
        <p:spPr>
          <a:xfrm>
            <a:off x="1574800" y="5080000"/>
            <a:ext cx="1320800" cy="889000"/>
          </a:xfrm>
          <a:prstGeom prst="rect">
            <a:avLst/>
          </a:prstGeom>
          <a:noFill/>
        </p:spPr>
        <p:txBody>
          <a:bodyPr wrap="square" lIns="0" rIns="0" tIns="0" bIns="0" anchor="ctr">
            <a:spAutoFit/>
          </a:bodyPr>
          <a:lstStyle/>
          <a:p>
            <a:pPr algn="l"/>
            <a:r>
              <a:rPr sz="1600" b="1" i="0">
                <a:solidFill>
                  <a:srgbClr val="002060"/>
                </a:solidFill>
                <a:latin typeface="Inter"/>
              </a:rPr>
              <a:t>Amarillo</a:t>
            </a:r>
          </a:p>
        </p:txBody>
      </p:sp>
      <p:sp>
        <p:nvSpPr>
          <p:cNvPr id="28" name="TextBox 27"/>
          <p:cNvSpPr txBox="1"/>
          <p:nvPr/>
        </p:nvSpPr>
        <p:spPr>
          <a:xfrm>
            <a:off x="3098800" y="5080000"/>
            <a:ext cx="4445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Marcamos rumbo y animamos al cambio.</a:t>
            </a:r>
          </a:p>
        </p:txBody>
      </p:sp>
      <p:sp>
        <p:nvSpPr>
          <p:cNvPr id="29" name="TextBox 28"/>
          <p:cNvSpPr txBox="1"/>
          <p:nvPr/>
        </p:nvSpPr>
        <p:spPr>
          <a:xfrm>
            <a:off x="7797800" y="5080000"/>
            <a:ext cx="3429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Dejar proyectos a medio sembrar.</a:t>
            </a:r>
          </a:p>
        </p:txBody>
      </p:sp>
      <p:sp>
        <p:nvSpPr>
          <p:cNvPr id="30" name="TextBox 29"/>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una campaña necesita los cuatro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03 · LIDERAZGO · EN LA CAMPAÑA</a:t>
            </a:r>
          </a:p>
        </p:txBody>
      </p:sp>
      <p:sp>
        <p:nvSpPr>
          <p:cNvPr id="4" name="Rounded Rectangle 3"/>
          <p:cNvSpPr/>
          <p:nvPr/>
        </p:nvSpPr>
        <p:spPr>
          <a:xfrm>
            <a:off x="812800" y="3454400"/>
            <a:ext cx="5232400" cy="16256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400" y="3632200"/>
            <a:ext cx="635000" cy="1143000"/>
          </a:xfrm>
          <a:prstGeom prst="rect">
            <a:avLst/>
          </a:prstGeom>
          <a:noFill/>
        </p:spPr>
        <p:txBody>
          <a:bodyPr wrap="square" lIns="0" rIns="0" tIns="0" bIns="0" anchor="t">
            <a:spAutoFit/>
          </a:bodyPr>
          <a:lstStyle/>
          <a:p>
            <a:pPr algn="l"/>
            <a:r>
              <a:rPr sz="6000" b="0" i="0">
                <a:solidFill>
                  <a:srgbClr val="FFFFFF"/>
                </a:solidFill>
                <a:latin typeface="Caveat Brush"/>
              </a:rPr>
              <a:t>B</a:t>
            </a:r>
          </a:p>
        </p:txBody>
      </p:sp>
      <p:sp>
        <p:nvSpPr>
          <p:cNvPr id="6" name="TextBox 5"/>
          <p:cNvSpPr txBox="1"/>
          <p:nvPr/>
        </p:nvSpPr>
        <p:spPr>
          <a:xfrm>
            <a:off x="1803400" y="3733800"/>
            <a:ext cx="4013200" cy="355600"/>
          </a:xfrm>
          <a:prstGeom prst="rect">
            <a:avLst/>
          </a:prstGeom>
          <a:noFill/>
        </p:spPr>
        <p:txBody>
          <a:bodyPr wrap="square" lIns="0" rIns="0" tIns="0" bIns="0" anchor="t">
            <a:spAutoFit/>
          </a:bodyPr>
          <a:lstStyle/>
          <a:p>
            <a:pPr algn="l"/>
            <a:r>
              <a:rPr sz="2200" b="1" i="0">
                <a:solidFill>
                  <a:srgbClr val="FFFFFF"/>
                </a:solidFill>
                <a:latin typeface="Inter"/>
              </a:rPr>
              <a:t>Planificamos</a:t>
            </a:r>
          </a:p>
        </p:txBody>
      </p:sp>
      <p:sp>
        <p:nvSpPr>
          <p:cNvPr id="7" name="TextBox 6"/>
          <p:cNvSpPr txBox="1"/>
          <p:nvPr/>
        </p:nvSpPr>
        <p:spPr>
          <a:xfrm>
            <a:off x="1803400" y="4165600"/>
            <a:ext cx="4013200" cy="762000"/>
          </a:xfrm>
          <a:prstGeom prst="rect">
            <a:avLst/>
          </a:prstGeom>
          <a:noFill/>
        </p:spPr>
        <p:txBody>
          <a:bodyPr wrap="square" lIns="0" rIns="0" tIns="0" bIns="0" anchor="t">
            <a:spAutoFit/>
          </a:bodyPr>
          <a:lstStyle/>
          <a:p>
            <a:pPr algn="l">
              <a:lnSpc>
                <a:spcPct val="115000"/>
              </a:lnSpc>
            </a:pPr>
            <a:r>
              <a:rPr sz="1500" b="0" i="0">
                <a:solidFill>
                  <a:srgbClr val="FFFFFF"/>
                </a:solidFill>
                <a:latin typeface="Inter"/>
              </a:rPr>
              <a:t>Armamos el calendario de la campaña y cuidamos los tiempos.</a:t>
            </a:r>
          </a:p>
        </p:txBody>
      </p:sp>
      <p:sp>
        <p:nvSpPr>
          <p:cNvPr id="8" name="Rounded Rectangle 7"/>
          <p:cNvSpPr/>
          <p:nvPr/>
        </p:nvSpPr>
        <p:spPr>
          <a:xfrm>
            <a:off x="6146800" y="3454400"/>
            <a:ext cx="5232400" cy="16256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5400" y="3632200"/>
            <a:ext cx="635000" cy="1143000"/>
          </a:xfrm>
          <a:prstGeom prst="rect">
            <a:avLst/>
          </a:prstGeom>
          <a:noFill/>
        </p:spPr>
        <p:txBody>
          <a:bodyPr wrap="square" lIns="0" rIns="0" tIns="0" bIns="0" anchor="t">
            <a:spAutoFit/>
          </a:bodyPr>
          <a:lstStyle/>
          <a:p>
            <a:pPr algn="l"/>
            <a:r>
              <a:rPr sz="6000" b="0" i="0">
                <a:solidFill>
                  <a:srgbClr val="FFFFFF"/>
                </a:solidFill>
                <a:latin typeface="Caveat Brush"/>
              </a:rPr>
              <a:t>C</a:t>
            </a:r>
          </a:p>
        </p:txBody>
      </p:sp>
      <p:sp>
        <p:nvSpPr>
          <p:cNvPr id="10" name="TextBox 9"/>
          <p:cNvSpPr txBox="1"/>
          <p:nvPr/>
        </p:nvSpPr>
        <p:spPr>
          <a:xfrm>
            <a:off x="7137400" y="3733800"/>
            <a:ext cx="4013200" cy="355600"/>
          </a:xfrm>
          <a:prstGeom prst="rect">
            <a:avLst/>
          </a:prstGeom>
          <a:noFill/>
        </p:spPr>
        <p:txBody>
          <a:bodyPr wrap="square" lIns="0" rIns="0" tIns="0" bIns="0" anchor="t">
            <a:spAutoFit/>
          </a:bodyPr>
          <a:lstStyle/>
          <a:p>
            <a:pPr algn="l"/>
            <a:r>
              <a:rPr sz="2200" b="1" i="0">
                <a:solidFill>
                  <a:srgbClr val="FFFFFF"/>
                </a:solidFill>
                <a:latin typeface="Inter"/>
              </a:rPr>
              <a:t>Cuidamos</a:t>
            </a:r>
          </a:p>
        </p:txBody>
      </p:sp>
      <p:sp>
        <p:nvSpPr>
          <p:cNvPr id="11" name="TextBox 10"/>
          <p:cNvSpPr txBox="1"/>
          <p:nvPr/>
        </p:nvSpPr>
        <p:spPr>
          <a:xfrm>
            <a:off x="7137400" y="4165600"/>
            <a:ext cx="4013200" cy="762000"/>
          </a:xfrm>
          <a:prstGeom prst="rect">
            <a:avLst/>
          </a:prstGeom>
          <a:noFill/>
        </p:spPr>
        <p:txBody>
          <a:bodyPr wrap="square" lIns="0" rIns="0" tIns="0" bIns="0" anchor="t">
            <a:spAutoFit/>
          </a:bodyPr>
          <a:lstStyle/>
          <a:p>
            <a:pPr algn="l">
              <a:lnSpc>
                <a:spcPct val="115000"/>
              </a:lnSpc>
            </a:pPr>
            <a:r>
              <a:rPr sz="1500" b="0" i="0">
                <a:solidFill>
                  <a:srgbClr val="FFFFFF"/>
                </a:solidFill>
                <a:latin typeface="Inter"/>
              </a:rPr>
              <a:t>Atendemos al equipo que trabaja en el lote y sostenemos la confianza.</a:t>
            </a:r>
          </a:p>
        </p:txBody>
      </p:sp>
      <p:sp>
        <p:nvSpPr>
          <p:cNvPr id="12" name="Rounded Rectangle 11"/>
          <p:cNvSpPr/>
          <p:nvPr/>
        </p:nvSpPr>
        <p:spPr>
          <a:xfrm>
            <a:off x="6146800" y="1701800"/>
            <a:ext cx="5232400" cy="16256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5400" y="1879600"/>
            <a:ext cx="635000" cy="1143000"/>
          </a:xfrm>
          <a:prstGeom prst="rect">
            <a:avLst/>
          </a:prstGeom>
          <a:noFill/>
        </p:spPr>
        <p:txBody>
          <a:bodyPr wrap="square" lIns="0" rIns="0" tIns="0" bIns="0" anchor="t">
            <a:spAutoFit/>
          </a:bodyPr>
          <a:lstStyle/>
          <a:p>
            <a:pPr algn="l"/>
            <a:r>
              <a:rPr sz="6000" b="0" i="0">
                <a:solidFill>
                  <a:srgbClr val="002060"/>
                </a:solidFill>
                <a:latin typeface="Caveat Brush"/>
              </a:rPr>
              <a:t>D</a:t>
            </a:r>
          </a:p>
        </p:txBody>
      </p:sp>
      <p:sp>
        <p:nvSpPr>
          <p:cNvPr id="14" name="TextBox 13"/>
          <p:cNvSpPr txBox="1"/>
          <p:nvPr/>
        </p:nvSpPr>
        <p:spPr>
          <a:xfrm>
            <a:off x="7137400" y="1981200"/>
            <a:ext cx="4013200" cy="355600"/>
          </a:xfrm>
          <a:prstGeom prst="rect">
            <a:avLst/>
          </a:prstGeom>
          <a:noFill/>
        </p:spPr>
        <p:txBody>
          <a:bodyPr wrap="square" lIns="0" rIns="0" tIns="0" bIns="0" anchor="t">
            <a:spAutoFit/>
          </a:bodyPr>
          <a:lstStyle/>
          <a:p>
            <a:pPr algn="l"/>
            <a:r>
              <a:rPr sz="2200" b="1" i="0">
                <a:solidFill>
                  <a:srgbClr val="002060"/>
                </a:solidFill>
                <a:latin typeface="Inter"/>
              </a:rPr>
              <a:t>Imaginamos</a:t>
            </a:r>
          </a:p>
        </p:txBody>
      </p:sp>
      <p:sp>
        <p:nvSpPr>
          <p:cNvPr id="15" name="TextBox 14"/>
          <p:cNvSpPr txBox="1"/>
          <p:nvPr/>
        </p:nvSpPr>
        <p:spPr>
          <a:xfrm>
            <a:off x="7137400" y="2413000"/>
            <a:ext cx="4013200" cy="762000"/>
          </a:xfrm>
          <a:prstGeom prst="rect">
            <a:avLst/>
          </a:prstGeom>
          <a:noFill/>
        </p:spPr>
        <p:txBody>
          <a:bodyPr wrap="square" lIns="0" rIns="0" tIns="0" bIns="0" anchor="t">
            <a:spAutoFit/>
          </a:bodyPr>
          <a:lstStyle/>
          <a:p>
            <a:pPr algn="l">
              <a:lnSpc>
                <a:spcPct val="115000"/>
              </a:lnSpc>
            </a:pPr>
            <a:r>
              <a:rPr sz="1500" b="0" i="0">
                <a:solidFill>
                  <a:srgbClr val="002060"/>
                </a:solidFill>
                <a:latin typeface="Inter"/>
              </a:rPr>
              <a:t>Pensamos qué cultivo y qué negocio vienen después de esta cosecha.</a:t>
            </a:r>
          </a:p>
        </p:txBody>
      </p:sp>
      <p:sp>
        <p:nvSpPr>
          <p:cNvPr id="16" name="Rounded Rectangle 15"/>
          <p:cNvSpPr/>
          <p:nvPr/>
        </p:nvSpPr>
        <p:spPr>
          <a:xfrm>
            <a:off x="812800" y="1701800"/>
            <a:ext cx="5232400" cy="16256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1400" y="1879600"/>
            <a:ext cx="635000" cy="1143000"/>
          </a:xfrm>
          <a:prstGeom prst="rect">
            <a:avLst/>
          </a:prstGeom>
          <a:noFill/>
        </p:spPr>
        <p:txBody>
          <a:bodyPr wrap="square" lIns="0" rIns="0" tIns="0" bIns="0" anchor="t">
            <a:spAutoFit/>
          </a:bodyPr>
          <a:lstStyle/>
          <a:p>
            <a:pPr algn="l"/>
            <a:r>
              <a:rPr sz="6000" b="0" i="0">
                <a:solidFill>
                  <a:srgbClr val="FFFFFF"/>
                </a:solidFill>
                <a:latin typeface="Caveat Brush"/>
              </a:rPr>
              <a:t>A</a:t>
            </a:r>
          </a:p>
        </p:txBody>
      </p:sp>
      <p:sp>
        <p:nvSpPr>
          <p:cNvPr id="18" name="TextBox 17"/>
          <p:cNvSpPr txBox="1"/>
          <p:nvPr/>
        </p:nvSpPr>
        <p:spPr>
          <a:xfrm>
            <a:off x="1803400" y="1981200"/>
            <a:ext cx="4013200" cy="355600"/>
          </a:xfrm>
          <a:prstGeom prst="rect">
            <a:avLst/>
          </a:prstGeom>
          <a:noFill/>
        </p:spPr>
        <p:txBody>
          <a:bodyPr wrap="square" lIns="0" rIns="0" tIns="0" bIns="0" anchor="t">
            <a:spAutoFit/>
          </a:bodyPr>
          <a:lstStyle/>
          <a:p>
            <a:pPr algn="l"/>
            <a:r>
              <a:rPr sz="2200" b="1" i="0">
                <a:solidFill>
                  <a:srgbClr val="FFFFFF"/>
                </a:solidFill>
                <a:latin typeface="Inter"/>
              </a:rPr>
              <a:t>Analizamos</a:t>
            </a:r>
          </a:p>
        </p:txBody>
      </p:sp>
      <p:sp>
        <p:nvSpPr>
          <p:cNvPr id="19" name="TextBox 18"/>
          <p:cNvSpPr txBox="1"/>
          <p:nvPr/>
        </p:nvSpPr>
        <p:spPr>
          <a:xfrm>
            <a:off x="1803400" y="2413000"/>
            <a:ext cx="4013200" cy="762000"/>
          </a:xfrm>
          <a:prstGeom prst="rect">
            <a:avLst/>
          </a:prstGeom>
          <a:noFill/>
        </p:spPr>
        <p:txBody>
          <a:bodyPr wrap="square" lIns="0" rIns="0" tIns="0" bIns="0" anchor="t">
            <a:spAutoFit/>
          </a:bodyPr>
          <a:lstStyle/>
          <a:p>
            <a:pPr algn="l">
              <a:lnSpc>
                <a:spcPct val="115000"/>
              </a:lnSpc>
            </a:pPr>
            <a:r>
              <a:rPr sz="1500" b="0" i="0">
                <a:solidFill>
                  <a:srgbClr val="FFFFFF"/>
                </a:solidFill>
                <a:latin typeface="Inter"/>
              </a:rPr>
              <a:t>Leemos los números y decidimos con criterio.</a:t>
            </a:r>
          </a:p>
        </p:txBody>
      </p:sp>
      <p:sp>
        <p:nvSpPr>
          <p:cNvPr id="20" name="Rectangle 19"/>
          <p:cNvSpPr/>
          <p:nvPr/>
        </p:nvSpPr>
        <p:spPr>
          <a:xfrm>
            <a:off x="812800" y="5384800"/>
            <a:ext cx="5567680" cy="4445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600" y="5384800"/>
            <a:ext cx="5212080" cy="444500"/>
          </a:xfrm>
          <a:prstGeom prst="rect">
            <a:avLst/>
          </a:prstGeom>
          <a:noFill/>
        </p:spPr>
        <p:txBody>
          <a:bodyPr wrap="square" lIns="0" rIns="0" tIns="0" bIns="0" anchor="ctr">
            <a:spAutoFit/>
          </a:bodyPr>
          <a:lstStyle/>
          <a:p>
            <a:pPr algn="l"/>
            <a:r>
              <a:rPr sz="2000" b="0" i="0">
                <a:solidFill>
                  <a:srgbClr val="002060"/>
                </a:solidFill>
                <a:latin typeface="Inter"/>
              </a:rPr>
              <a:t>Si falta un modo, la campaña lo cobra.</a:t>
            </a:r>
          </a:p>
        </p:txBody>
      </p:sp>
      <p:sp>
        <p:nvSpPr>
          <p:cNvPr id="22" name="TextBox 21"/>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qué hacemos el lunes a la mañana</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03 · LIDERAZGO · PARA EL LUNES</a:t>
            </a:r>
          </a:p>
        </p:txBody>
      </p:sp>
      <p:sp>
        <p:nvSpPr>
          <p:cNvPr id="4" name="Rounded Rectangle 3"/>
          <p:cNvSpPr/>
          <p:nvPr/>
        </p:nvSpPr>
        <p:spPr>
          <a:xfrm>
            <a:off x="812800" y="2032000"/>
            <a:ext cx="3352800" cy="3175000"/>
          </a:xfrm>
          <a:prstGeom prst="roundRect">
            <a:avLst>
              <a:gd name="adj" fmla="val 7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260600"/>
            <a:ext cx="762000" cy="635000"/>
          </a:xfrm>
          <a:prstGeom prst="rect">
            <a:avLst/>
          </a:prstGeom>
          <a:noFill/>
        </p:spPr>
        <p:txBody>
          <a:bodyPr wrap="square" lIns="0" rIns="0" tIns="0" bIns="0" anchor="t">
            <a:spAutoFit/>
          </a:bodyPr>
          <a:lstStyle/>
          <a:p>
            <a:pPr algn="l"/>
            <a:r>
              <a:rPr sz="3600" b="0" i="0">
                <a:solidFill>
                  <a:srgbClr val="002060"/>
                </a:solidFill>
                <a:latin typeface="Inter"/>
              </a:rPr>
              <a:t>1</a:t>
            </a:r>
          </a:p>
        </p:txBody>
      </p:sp>
      <p:sp>
        <p:nvSpPr>
          <p:cNvPr id="6" name="TextBox 5"/>
          <p:cNvSpPr txBox="1"/>
          <p:nvPr/>
        </p:nvSpPr>
        <p:spPr>
          <a:xfrm>
            <a:off x="1066800" y="3175000"/>
            <a:ext cx="2844800" cy="1778000"/>
          </a:xfrm>
          <a:prstGeom prst="rect">
            <a:avLst/>
          </a:prstGeom>
          <a:noFill/>
        </p:spPr>
        <p:txBody>
          <a:bodyPr wrap="square" lIns="0" rIns="0" tIns="0" bIns="0" anchor="t">
            <a:spAutoFit/>
          </a:bodyPr>
          <a:lstStyle/>
          <a:p>
            <a:pPr algn="l">
              <a:lnSpc>
                <a:spcPct val="120000"/>
              </a:lnSpc>
            </a:pPr>
            <a:r>
              <a:rPr sz="1800" b="0" i="0">
                <a:solidFill>
                  <a:srgbClr val="002060"/>
                </a:solidFill>
                <a:latin typeface="Inter"/>
              </a:rPr>
              <a:t>Antes de decidir, nos preguntamos qué modo nos falta en esta mesa.</a:t>
            </a:r>
          </a:p>
        </p:txBody>
      </p:sp>
      <p:sp>
        <p:nvSpPr>
          <p:cNvPr id="7" name="Rounded Rectangle 6"/>
          <p:cNvSpPr/>
          <p:nvPr/>
        </p:nvSpPr>
        <p:spPr>
          <a:xfrm>
            <a:off x="4419600" y="2032000"/>
            <a:ext cx="3352800" cy="3175000"/>
          </a:xfrm>
          <a:prstGeom prst="roundRect">
            <a:avLst>
              <a:gd name="adj" fmla="val 7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3600" y="2260600"/>
            <a:ext cx="762000" cy="635000"/>
          </a:xfrm>
          <a:prstGeom prst="rect">
            <a:avLst/>
          </a:prstGeom>
          <a:noFill/>
        </p:spPr>
        <p:txBody>
          <a:bodyPr wrap="square" lIns="0" rIns="0" tIns="0" bIns="0" anchor="t">
            <a:spAutoFit/>
          </a:bodyPr>
          <a:lstStyle/>
          <a:p>
            <a:pPr algn="l"/>
            <a:r>
              <a:rPr sz="3600" b="0" i="0">
                <a:solidFill>
                  <a:srgbClr val="002060"/>
                </a:solidFill>
                <a:latin typeface="Inter"/>
              </a:rPr>
              <a:t>2</a:t>
            </a:r>
          </a:p>
        </p:txBody>
      </p:sp>
      <p:sp>
        <p:nvSpPr>
          <p:cNvPr id="9" name="TextBox 8"/>
          <p:cNvSpPr txBox="1"/>
          <p:nvPr/>
        </p:nvSpPr>
        <p:spPr>
          <a:xfrm>
            <a:off x="4673600" y="3175000"/>
            <a:ext cx="2844800" cy="1778000"/>
          </a:xfrm>
          <a:prstGeom prst="rect">
            <a:avLst/>
          </a:prstGeom>
          <a:noFill/>
        </p:spPr>
        <p:txBody>
          <a:bodyPr wrap="square" lIns="0" rIns="0" tIns="0" bIns="0" anchor="t">
            <a:spAutoFit/>
          </a:bodyPr>
          <a:lstStyle/>
          <a:p>
            <a:pPr algn="l">
              <a:lnSpc>
                <a:spcPct val="120000"/>
              </a:lnSpc>
            </a:pPr>
            <a:r>
              <a:rPr sz="1800" b="0" i="0">
                <a:solidFill>
                  <a:srgbClr val="002060"/>
                </a:solidFill>
                <a:latin typeface="Inter"/>
              </a:rPr>
              <a:t>Le pedimos opinión a quien piensa distinto y la escuchamos hasta el final.</a:t>
            </a:r>
          </a:p>
        </p:txBody>
      </p:sp>
      <p:sp>
        <p:nvSpPr>
          <p:cNvPr id="10" name="Rounded Rectangle 9"/>
          <p:cNvSpPr/>
          <p:nvPr/>
        </p:nvSpPr>
        <p:spPr>
          <a:xfrm>
            <a:off x="8026400" y="2032000"/>
            <a:ext cx="3352800" cy="3175000"/>
          </a:xfrm>
          <a:prstGeom prst="roundRect">
            <a:avLst>
              <a:gd name="adj" fmla="val 7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0400" y="2260600"/>
            <a:ext cx="762000" cy="635000"/>
          </a:xfrm>
          <a:prstGeom prst="rect">
            <a:avLst/>
          </a:prstGeom>
          <a:noFill/>
        </p:spPr>
        <p:txBody>
          <a:bodyPr wrap="square" lIns="0" rIns="0" tIns="0" bIns="0" anchor="t">
            <a:spAutoFit/>
          </a:bodyPr>
          <a:lstStyle/>
          <a:p>
            <a:pPr algn="l"/>
            <a:r>
              <a:rPr sz="3600" b="0" i="0">
                <a:solidFill>
                  <a:srgbClr val="FFFFFF"/>
                </a:solidFill>
                <a:latin typeface="Inter"/>
              </a:rPr>
              <a:t>3</a:t>
            </a:r>
          </a:p>
        </p:txBody>
      </p:sp>
      <p:sp>
        <p:nvSpPr>
          <p:cNvPr id="12" name="TextBox 11"/>
          <p:cNvSpPr txBox="1"/>
          <p:nvPr/>
        </p:nvSpPr>
        <p:spPr>
          <a:xfrm>
            <a:off x="8280400" y="3175000"/>
            <a:ext cx="2844800" cy="1778000"/>
          </a:xfrm>
          <a:prstGeom prst="rect">
            <a:avLst/>
          </a:prstGeom>
          <a:noFill/>
        </p:spPr>
        <p:txBody>
          <a:bodyPr wrap="square" lIns="0" rIns="0" tIns="0" bIns="0" anchor="t">
            <a:spAutoFit/>
          </a:bodyPr>
          <a:lstStyle/>
          <a:p>
            <a:pPr algn="l">
              <a:lnSpc>
                <a:spcPct val="120000"/>
              </a:lnSpc>
            </a:pPr>
            <a:r>
              <a:rPr sz="1800" b="0" i="0">
                <a:solidFill>
                  <a:srgbClr val="FFFFFF"/>
                </a:solidFill>
                <a:latin typeface="Inter"/>
              </a:rPr>
              <a:t>Elegimos un modo que usamos poco y lo practicamos una semana: una planilla, una charla, una idea.</a:t>
            </a:r>
          </a:p>
        </p:txBody>
      </p:sp>
      <p:sp>
        <p:nvSpPr>
          <p:cNvPr id="13" name="TextBox 12"/>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CFE0F7"/>
                </a:solidFill>
                <a:latin typeface="Roboto Condensed"/>
              </a:rPr>
              <a:t>CIERRE</a:t>
            </a:r>
          </a:p>
        </p:txBody>
      </p:sp>
      <p:sp>
        <p:nvSpPr>
          <p:cNvPr id="4" name="TextBox 3"/>
          <p:cNvSpPr txBox="1"/>
          <p:nvPr/>
        </p:nvSpPr>
        <p:spPr>
          <a:xfrm>
            <a:off x="812800" y="1397000"/>
            <a:ext cx="10566400" cy="508000"/>
          </a:xfrm>
          <a:prstGeom prst="rect">
            <a:avLst/>
          </a:prstGeom>
          <a:noFill/>
        </p:spPr>
        <p:txBody>
          <a:bodyPr wrap="square" lIns="0" rIns="0" tIns="0" bIns="0" anchor="t">
            <a:spAutoFit/>
          </a:bodyPr>
          <a:lstStyle/>
          <a:p>
            <a:pPr algn="l"/>
            <a:r>
              <a:rPr sz="2800" b="0" i="0">
                <a:solidFill>
                  <a:srgbClr val="FFFFFF"/>
                </a:solidFill>
                <a:latin typeface="Caveat Brush"/>
              </a:rPr>
              <a:t>¿Desde qué modo lideramos cuando estamos apurados?</a:t>
            </a:r>
          </a:p>
        </p:txBody>
      </p:sp>
      <p:sp>
        <p:nvSpPr>
          <p:cNvPr id="5" name="TextBox 4"/>
          <p:cNvSpPr txBox="1"/>
          <p:nvPr/>
        </p:nvSpPr>
        <p:spPr>
          <a:xfrm>
            <a:off x="812800" y="2082800"/>
            <a:ext cx="10566400" cy="508000"/>
          </a:xfrm>
          <a:prstGeom prst="rect">
            <a:avLst/>
          </a:prstGeom>
          <a:noFill/>
        </p:spPr>
        <p:txBody>
          <a:bodyPr wrap="square" lIns="0" rIns="0" tIns="0" bIns="0" anchor="t">
            <a:spAutoFit/>
          </a:bodyPr>
          <a:lstStyle/>
          <a:p>
            <a:pPr algn="l"/>
            <a:r>
              <a:rPr sz="2800" b="0" i="0">
                <a:solidFill>
                  <a:srgbClr val="FFFFFF"/>
                </a:solidFill>
                <a:latin typeface="Caveat Brush"/>
              </a:rPr>
              <a:t>¿Cuál dejamos de lado sin darnos cuenta?</a:t>
            </a:r>
          </a:p>
        </p:txBody>
      </p:sp>
      <p:sp>
        <p:nvSpPr>
          <p:cNvPr id="6" name="TextBox 5"/>
          <p:cNvSpPr txBox="1"/>
          <p:nvPr/>
        </p:nvSpPr>
        <p:spPr>
          <a:xfrm>
            <a:off x="812800" y="2768600"/>
            <a:ext cx="10566400" cy="508000"/>
          </a:xfrm>
          <a:prstGeom prst="rect">
            <a:avLst/>
          </a:prstGeom>
          <a:noFill/>
        </p:spPr>
        <p:txBody>
          <a:bodyPr wrap="square" lIns="0" rIns="0" tIns="0" bIns="0" anchor="t">
            <a:spAutoFit/>
          </a:bodyPr>
          <a:lstStyle/>
          <a:p>
            <a:pPr algn="l"/>
            <a:r>
              <a:rPr sz="2800" b="0" i="0">
                <a:solidFill>
                  <a:srgbClr val="FFFFFF"/>
                </a:solidFill>
                <a:latin typeface="Caveat Brush"/>
              </a:rPr>
              <a:t>¿Quién de nuestro equipo piensa distinto a nosotros?</a:t>
            </a:r>
          </a:p>
        </p:txBody>
      </p:sp>
      <p:sp>
        <p:nvSpPr>
          <p:cNvPr id="7" name="TextBox 6"/>
          <p:cNvSpPr txBox="1"/>
          <p:nvPr/>
        </p:nvSpPr>
        <p:spPr>
          <a:xfrm>
            <a:off x="812800" y="3454400"/>
            <a:ext cx="10566400" cy="508000"/>
          </a:xfrm>
          <a:prstGeom prst="rect">
            <a:avLst/>
          </a:prstGeom>
          <a:noFill/>
        </p:spPr>
        <p:txBody>
          <a:bodyPr wrap="square" lIns="0" rIns="0" tIns="0" bIns="0" anchor="t">
            <a:spAutoFit/>
          </a:bodyPr>
          <a:lstStyle/>
          <a:p>
            <a:pPr algn="l"/>
            <a:r>
              <a:rPr sz="2800" b="0" i="0">
                <a:solidFill>
                  <a:srgbClr val="FFFFFF"/>
                </a:solidFill>
                <a:latin typeface="Caveat Brush"/>
              </a:rPr>
              <a:t>¿Lo escuchamos o lo corregimos?</a:t>
            </a:r>
          </a:p>
        </p:txBody>
      </p:sp>
      <p:sp>
        <p:nvSpPr>
          <p:cNvPr id="8" name="Rectangle 7"/>
          <p:cNvSpPr/>
          <p:nvPr/>
        </p:nvSpPr>
        <p:spPr>
          <a:xfrm>
            <a:off x="812800" y="4724400"/>
            <a:ext cx="6604000" cy="6350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4724400"/>
            <a:ext cx="6350000" cy="635000"/>
          </a:xfrm>
          <a:prstGeom prst="rect">
            <a:avLst/>
          </a:prstGeom>
          <a:noFill/>
        </p:spPr>
        <p:txBody>
          <a:bodyPr wrap="square" lIns="0" rIns="0" tIns="0" bIns="0" anchor="ctr">
            <a:spAutoFit/>
          </a:bodyPr>
          <a:lstStyle/>
          <a:p>
            <a:pPr algn="l"/>
            <a:r>
              <a:rPr sz="2600" b="0" i="0">
                <a:solidFill>
                  <a:srgbClr val="002060"/>
                </a:solidFill>
                <a:latin typeface="Caveat Brush"/>
              </a:rPr>
              <a:t>La diferencia está en la gente.</a:t>
            </a:r>
          </a:p>
        </p:txBody>
      </p:sp>
      <p:sp>
        <p:nvSpPr>
          <p:cNvPr id="10" name="Rounded Rectangle 9"/>
          <p:cNvSpPr/>
          <p:nvPr/>
        </p:nvSpPr>
        <p:spPr>
          <a:xfrm>
            <a:off x="9652000" y="5156200"/>
            <a:ext cx="660400" cy="660400"/>
          </a:xfrm>
          <a:prstGeom prst="roundRect">
            <a:avLst>
              <a:gd name="adj" fmla="val 15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52000" y="5156200"/>
            <a:ext cx="660400" cy="660400"/>
          </a:xfrm>
          <a:prstGeom prst="rect">
            <a:avLst/>
          </a:prstGeom>
          <a:noFill/>
        </p:spPr>
        <p:txBody>
          <a:bodyPr wrap="square" lIns="0" rIns="0" tIns="0" bIns="0" anchor="ctr">
            <a:spAutoFit/>
          </a:bodyPr>
          <a:lstStyle/>
          <a:p>
            <a:pPr algn="ctr"/>
            <a:r>
              <a:rPr sz="2800" b="0" i="0">
                <a:solidFill>
                  <a:srgbClr val="FFFFFF"/>
                </a:solidFill>
                <a:latin typeface="Caveat Brush"/>
              </a:rPr>
              <a:t>B</a:t>
            </a:r>
          </a:p>
        </p:txBody>
      </p:sp>
      <p:sp>
        <p:nvSpPr>
          <p:cNvPr id="12" name="Rounded Rectangle 11"/>
          <p:cNvSpPr/>
          <p:nvPr/>
        </p:nvSpPr>
        <p:spPr>
          <a:xfrm>
            <a:off x="10363200" y="5156200"/>
            <a:ext cx="660400" cy="660400"/>
          </a:xfrm>
          <a:prstGeom prst="roundRect">
            <a:avLst>
              <a:gd name="adj" fmla="val 15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63200" y="5156200"/>
            <a:ext cx="660400" cy="660400"/>
          </a:xfrm>
          <a:prstGeom prst="rect">
            <a:avLst/>
          </a:prstGeom>
          <a:noFill/>
        </p:spPr>
        <p:txBody>
          <a:bodyPr wrap="square" lIns="0" rIns="0" tIns="0" bIns="0" anchor="ctr">
            <a:spAutoFit/>
          </a:bodyPr>
          <a:lstStyle/>
          <a:p>
            <a:pPr algn="ctr"/>
            <a:r>
              <a:rPr sz="2800" b="0" i="0">
                <a:solidFill>
                  <a:srgbClr val="FFFFFF"/>
                </a:solidFill>
                <a:latin typeface="Caveat Brush"/>
              </a:rPr>
              <a:t>C</a:t>
            </a:r>
          </a:p>
        </p:txBody>
      </p:sp>
      <p:sp>
        <p:nvSpPr>
          <p:cNvPr id="14" name="Rounded Rectangle 13"/>
          <p:cNvSpPr/>
          <p:nvPr/>
        </p:nvSpPr>
        <p:spPr>
          <a:xfrm>
            <a:off x="10363200" y="4445000"/>
            <a:ext cx="660400" cy="660400"/>
          </a:xfrm>
          <a:prstGeom prst="roundRect">
            <a:avLst>
              <a:gd name="adj" fmla="val 15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63200" y="4445000"/>
            <a:ext cx="660400" cy="660400"/>
          </a:xfrm>
          <a:prstGeom prst="rect">
            <a:avLst/>
          </a:prstGeom>
          <a:noFill/>
        </p:spPr>
        <p:txBody>
          <a:bodyPr wrap="square" lIns="0" rIns="0" tIns="0" bIns="0" anchor="ctr">
            <a:spAutoFit/>
          </a:bodyPr>
          <a:lstStyle/>
          <a:p>
            <a:pPr algn="ctr"/>
            <a:r>
              <a:rPr sz="2800" b="0" i="0">
                <a:solidFill>
                  <a:srgbClr val="002060"/>
                </a:solidFill>
                <a:latin typeface="Caveat Brush"/>
              </a:rPr>
              <a:t>D</a:t>
            </a:r>
          </a:p>
        </p:txBody>
      </p:sp>
      <p:sp>
        <p:nvSpPr>
          <p:cNvPr id="16" name="Rounded Rectangle 15"/>
          <p:cNvSpPr/>
          <p:nvPr/>
        </p:nvSpPr>
        <p:spPr>
          <a:xfrm>
            <a:off x="9652000" y="4445000"/>
            <a:ext cx="660400" cy="660400"/>
          </a:xfrm>
          <a:prstGeom prst="roundRect">
            <a:avLst>
              <a:gd name="adj" fmla="val 15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52000" y="4445000"/>
            <a:ext cx="660400" cy="660400"/>
          </a:xfrm>
          <a:prstGeom prst="rect">
            <a:avLst/>
          </a:prstGeom>
          <a:noFill/>
        </p:spPr>
        <p:txBody>
          <a:bodyPr wrap="square" lIns="0" rIns="0" tIns="0" bIns="0" anchor="ctr">
            <a:spAutoFit/>
          </a:bodyPr>
          <a:lstStyle/>
          <a:p>
            <a:pPr algn="ctr"/>
            <a:r>
              <a:rPr sz="2800" b="0" i="0">
                <a:solidFill>
                  <a:srgbClr val="FFFFFF"/>
                </a:solidFill>
                <a:latin typeface="Caveat Brush"/>
              </a:rPr>
              <a:t>A</a:t>
            </a:r>
          </a:p>
        </p:txBody>
      </p:sp>
      <p:sp>
        <p:nvSpPr>
          <p:cNvPr id="18" name="TextBox 17"/>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A9BBD8"/>
                </a:solidFill>
                <a:latin typeface="Inter"/>
              </a:rPr>
              <a:t>Fernando Preumayr · COTAGRO</a:t>
            </a:r>
          </a:p>
        </p:txBody>
      </p:sp>
    </p:spTree>
  </p:cSld>
  <p:clrMapOvr>
    <a:masterClrMapping/>
  </p:clrMapOvr>
</p:sld>
</file>

<file path=ppt/theme/theme1.xml><?xml version="1.0" encoding="utf-8"?>
<a:theme xmlns:a="http://schemas.openxmlformats.org/drawingml/2006/main" name="Modelos mentales y estilos de pensamiento">
  <a:themeElements>
    <a:clrScheme name="Modelos mentales y estilos de pensamiento">
      <a:dk1>
        <a:srgbClr val="002060"/>
      </a:dk1>
      <a:lt1>
        <a:srgbClr val="FFFFFF"/>
      </a:lt1>
      <a:dk2>
        <a:srgbClr val="405888"/>
      </a:dk2>
      <a:lt2>
        <a:srgbClr val="E6E9EF"/>
      </a:lt2>
      <a:accent1>
        <a:srgbClr val="1C4587"/>
      </a:accent1>
      <a:accent2>
        <a:srgbClr val="CFE0F7"/>
      </a:accent2>
      <a:accent3>
        <a:srgbClr val="E2A62A"/>
      </a:accent3>
      <a:accent4>
        <a:srgbClr val="2B5C9A"/>
      </a:accent4>
      <a:accent5>
        <a:srgbClr val="2F7A52"/>
      </a:accent5>
      <a:accent6>
        <a:srgbClr val="C0492F"/>
      </a:accent6>
      <a:hlink>
        <a:srgbClr val="0563C1"/>
      </a:hlink>
      <a:folHlink>
        <a:srgbClr val="954F72"/>
      </a:folHlink>
    </a:clrScheme>
    <a:fontScheme name="Modelos mentales y estilos de pensamiento">
      <a:majorFont>
        <a:latin typeface="Caveat Brush"/>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mentales y estilos de pensamiento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Caveat Brush
Copyright 2015 Google Inc. All Rights Reserved.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2026-10-20T22:14:08Z</dcterms:created>
  <dcterms:modified xsi:type="dcterms:W3CDTF">2026-10-20T22:14:08Z</dcterms:modified>
</cp:coreProperties>
</file>