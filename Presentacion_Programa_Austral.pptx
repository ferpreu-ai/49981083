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Personas</c:v>
                </c:pt>
              </c:strCache>
            </c:strRef>
          </c:tx>
          <c:spPr>
            <a:solidFill>
              <a:srgbClr val="1F5C3A"/>
            </a:solidFill>
          </c:spPr>
          <c:cat>
            <c:strRef>
              <c:f>Sheet1!$A$2:$A$9</c:f>
              <c:strCache>
                <c:ptCount val="8"/>
                <c:pt idx="0">
                  <c:v>Finanzas</c:v>
                </c:pt>
                <c:pt idx="1">
                  <c:v>Soporte</c:v>
                </c:pt>
                <c:pt idx="2">
                  <c:v>IT y Admin.</c:v>
                </c:pt>
                <c:pt idx="3">
                  <c:v>Negocios Urbanos</c:v>
                </c:pt>
                <c:pt idx="4">
                  <c:v>Cultura Org.</c:v>
                </c:pt>
                <c:pt idx="5">
                  <c:v>Negocios Globales</c:v>
                </c:pt>
                <c:pt idx="6">
                  <c:v>Proteína Animal</c:v>
                </c:pt>
                <c:pt idx="7">
                  <c:v>Agro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6</c:v>
                </c:pt>
                <c:pt idx="7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ED8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BFE0CC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Cómo es el grupo de mandos medios que vamos a formar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 i="0">
                <a:solidFill>
                  <a:srgbClr val="DDEBE2"/>
                </a:solidFill>
                <a:latin typeface="Calibri"/>
              </a:rPr>
              <a:t>Radiografía de 29 participantes y qué implica para el diseño de la capacitación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LO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Casi todos lideran porque saben del tema, no porque los hayan formado para liderar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0604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6060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5400" b="1" i="0">
                <a:solidFill>
                  <a:srgbClr val="1F5C3A"/>
                </a:solidFill>
                <a:latin typeface="Calibr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0" i="0">
                <a:solidFill>
                  <a:srgbClr val="1E2A24"/>
                </a:solidFill>
                <a:latin typeface="Calibri"/>
              </a:rPr>
              <a:t>participantes de 8 gerencias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0604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148840"/>
            <a:ext cx="26060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5400" b="1" i="0">
                <a:solidFill>
                  <a:srgbClr val="1F5C3A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0" i="0">
                <a:solidFill>
                  <a:srgbClr val="1E2A24"/>
                </a:solidFill>
                <a:latin typeface="Calibri"/>
              </a:rPr>
              <a:t>líderes nuevos, sin experiencia conduciendo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0604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148840"/>
            <a:ext cx="26060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5400" b="1" i="0">
                <a:solidFill>
                  <a:srgbClr val="1F5C3A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00400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0" i="0">
                <a:solidFill>
                  <a:srgbClr val="1E2A24"/>
                </a:solidFill>
                <a:latin typeface="Calibri"/>
              </a:rPr>
              <a:t>con equipo hace tiempo, poca formación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011680"/>
            <a:ext cx="260604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2148840"/>
            <a:ext cx="26060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5400" b="1" i="0">
                <a:solidFill>
                  <a:srgbClr val="1F5C3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3200400"/>
            <a:ext cx="23317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0" i="0">
                <a:solidFill>
                  <a:srgbClr val="1E2A24"/>
                </a:solidFill>
                <a:latin typeface="Calibri"/>
              </a:rPr>
              <a:t>referentes con experiencia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1E2A24"/>
                </a:solidFill>
                <a:latin typeface="Calibri"/>
              </a:rPr>
              <a:t>Por qué importa: el grupo comparte los mismos problemas (delegar, aparecer, organizar el tiempo, liderar a ex colegas).</a:t>
            </a:r>
          </a:p>
          <a:p>
            <a:pPr algn="l"/>
            <a:r>
              <a:rPr sz="1800" b="0" i="0">
                <a:solidFill>
                  <a:srgbClr val="1E2A24"/>
                </a:solidFill>
                <a:latin typeface="Calibri"/>
              </a:rPr>
              <a:t>Eso permite trabajar con casos reales de COTAGRO y que los referentes enseñen a los demás.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RADIOGRAFÍA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Un grupo joven, con arraigo y de formación muy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60350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5C3A"/>
                </a:solidFill>
                <a:latin typeface="Calibri"/>
              </a:rPr>
              <a:t>Edad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03120"/>
            <a:ext cx="4572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Promedio 36.5 años (mediana 35)</a:t>
            </a:r>
          </a:p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15 personas tienen hasta 35 años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20040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F5C3A"/>
                </a:solidFill>
                <a:latin typeface="Calibri"/>
              </a:rPr>
              <a:t>Antigüedad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566160"/>
            <a:ext cx="4572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Promedio 8.5 años (rango 0 a 33)</a:t>
            </a:r>
          </a:p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18 de 29 llevan más de 5 años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663440"/>
            <a:ext cx="45720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Predominan contadores, ingenieros, agrónomos y veterinarios. Pocos perfiles de gestión de personas.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PERFILES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Cinco perfiles, cada uno con una necesidad distinta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084831" cy="429768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084831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 i="0">
                <a:solidFill>
                  <a:srgbClr val="1F5C3A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697480"/>
            <a:ext cx="1901952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Nuevos líderes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29000"/>
            <a:ext cx="186537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6B7A72"/>
                </a:solidFill>
                <a:latin typeface="Calibri"/>
              </a:rPr>
              <a:t>Rol o equipo nuevo, sin experiencia conduciendo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72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F5C3A"/>
                </a:solidFill>
                <a:latin typeface="Calibri"/>
              </a:rPr>
              <a:t>NECESITAN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846320"/>
            <a:ext cx="1865376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1E2A24"/>
                </a:solidFill>
                <a:latin typeface="Calibri"/>
              </a:rPr>
              <a:t>Delegar, autoridad, primeras conversaciones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737360"/>
            <a:ext cx="2084831" cy="429768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1828800"/>
            <a:ext cx="2084831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 i="0">
                <a:solidFill>
                  <a:srgbClr val="1F5C3A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697480"/>
            <a:ext cx="1901952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Con equipo, poca 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429000"/>
            <a:ext cx="186537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6B7A72"/>
                </a:solidFill>
                <a:latin typeface="Calibri"/>
              </a:rPr>
              <a:t>Ya conducen gente sin herramientas formales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572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F5C3A"/>
                </a:solidFill>
                <a:latin typeface="Calibri"/>
              </a:rPr>
              <a:t>NECESITAN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846320"/>
            <a:ext cx="1865376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1E2A24"/>
                </a:solidFill>
                <a:latin typeface="Calibri"/>
              </a:rPr>
              <a:t>Feedback, desempeño, tiempo, seguridad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737360"/>
            <a:ext cx="2084831" cy="429768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1828800"/>
            <a:ext cx="2084831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 i="0">
                <a:solidFill>
                  <a:srgbClr val="1F5C3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697480"/>
            <a:ext cx="1901952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Referentes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429000"/>
            <a:ext cx="186537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6B7A72"/>
                </a:solidFill>
                <a:latin typeface="Calibri"/>
              </a:rPr>
              <a:t>Experiencia real para compartir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4572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F5C3A"/>
                </a:solidFill>
                <a:latin typeface="Calibri"/>
              </a:rPr>
              <a:t>NECESITAN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4846320"/>
            <a:ext cx="1865376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1E2A24"/>
                </a:solidFill>
                <a:latin typeface="Calibri"/>
              </a:rPr>
              <a:t>Mentoría, transmitir criterio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6056" y="1737360"/>
            <a:ext cx="2084831" cy="429768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6056" y="1828800"/>
            <a:ext cx="2084831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 i="0">
                <a:solidFill>
                  <a:srgbClr val="1F5C3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6" y="2697480"/>
            <a:ext cx="1901952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Talento a desarrollar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3429000"/>
            <a:ext cx="186537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6B7A72"/>
                </a:solidFill>
                <a:latin typeface="Calibri"/>
              </a:rPr>
              <a:t>Alto potencial, equipo mínimo o nulo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4572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F5C3A"/>
                </a:solidFill>
                <a:latin typeface="Calibri"/>
              </a:rPr>
              <a:t>NECESITAN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4846320"/>
            <a:ext cx="1865376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1E2A24"/>
                </a:solidFill>
                <a:latin typeface="Calibri"/>
              </a:rPr>
              <a:t>Habilidades blandas 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1737360"/>
            <a:ext cx="2084831" cy="429768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28048" y="1828800"/>
            <a:ext cx="2084831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 i="0">
                <a:solidFill>
                  <a:srgbClr val="1F5C3A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2697480"/>
            <a:ext cx="1901952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Ingreso reciente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3429000"/>
            <a:ext cx="1865376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6B7A72"/>
                </a:solidFill>
                <a:latin typeface="Calibri"/>
              </a:rPr>
              <a:t>Entró en 2026, viene de otro rubro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4572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1F5C3A"/>
                </a:solidFill>
                <a:latin typeface="Calibri"/>
              </a:rPr>
              <a:t>NECESITAN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4846320"/>
            <a:ext cx="1865376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1E2A24"/>
                </a:solidFill>
                <a:latin typeface="Calibri"/>
              </a:rPr>
              <a:t>Inducción a la cultura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QUÉ HAY QUE TRABAJAR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Seis temas aparecen una y otra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2057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2606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E2A24"/>
                </a:solidFill>
                <a:latin typeface="Calibri"/>
              </a:rPr>
              <a:t>Hacer hacer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Delegar y soltar tareas técnicas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566160" cy="2057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965960"/>
            <a:ext cx="2606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E2A24"/>
                </a:solidFill>
                <a:latin typeface="Calibri"/>
              </a:rPr>
              <a:t>Liderar ex colegas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974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Cambiar la relación con quienes eran pares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737360"/>
            <a:ext cx="3566160" cy="2057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59" y="1965960"/>
            <a:ext cx="502920" cy="50292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1965960"/>
            <a:ext cx="2606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E2A24"/>
                </a:solidFill>
                <a:latin typeface="Calibri"/>
              </a:rPr>
              <a:t>Presencia y voz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6974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"Aprender a aparecer", seguridad al decidir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3566160" cy="2057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06240"/>
            <a:ext cx="2606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E2A24"/>
                </a:solidFill>
                <a:latin typeface="Calibri"/>
              </a:rPr>
              <a:t>Tiempo y ejecución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37759"/>
            <a:ext cx="3200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Priorizar y bajar ideas a hechos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77639"/>
            <a:ext cx="3566160" cy="2057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206240"/>
            <a:ext cx="2606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E2A24"/>
                </a:solidFill>
                <a:latin typeface="Calibri"/>
              </a:rP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937759"/>
            <a:ext cx="3200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Conversaciones difíciles sin conflicto innecesario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3977639"/>
            <a:ext cx="3566160" cy="2057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66759" y="4206240"/>
            <a:ext cx="502920" cy="50292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39" y="4206240"/>
            <a:ext cx="26060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E2A24"/>
                </a:solidFill>
                <a:latin typeface="Calibri"/>
              </a:rPr>
              <a:t>Cambio de contexto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4937759"/>
            <a:ext cx="320040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Nueva área, negocio o gerencia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MARCO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El modelo Herrmann integra dos modelos del cerebro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Modelo Sperry: los dos hemisferios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377440" cy="2011680"/>
          </a:xfrm>
          <a:prstGeom prst="round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Hemisferio izquierdo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Verbal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Analítico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Secuencial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Activo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Realista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Controlado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377440" cy="2011680"/>
          </a:xfrm>
          <a:prstGeom prst="roundRect">
            <a:avLst/>
          </a:prstGeom>
          <a:solidFill>
            <a:srgbClr val="FB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Hemisferio derecho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Visual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Intuitivo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Simultáneo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Receptivo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Imaginativo</a:t>
            </a:r>
          </a:p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Impulsivo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697480"/>
            <a:ext cx="548640" cy="320040"/>
          </a:xfrm>
          <a:prstGeom prst="rect">
            <a:avLst/>
          </a:prstGeom>
          <a:solidFill>
            <a:srgbClr val="9A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6B7A72"/>
                </a:solidFill>
                <a:latin typeface="Calibri"/>
              </a:rPr>
              <a:t>Cuerpo calloso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Modelo McLean: tres sistemas superpuestos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89120"/>
            <a:ext cx="5303520" cy="548640"/>
          </a:xfrm>
          <a:prstGeom prst="roundRect">
            <a:avLst/>
          </a:prstGeom>
          <a:solidFill>
            <a:srgbClr val="2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Sistema cortical: pensamiento, análisis, creatividad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5303520" cy="548640"/>
          </a:xfrm>
          <a:prstGeom prst="roundRect">
            <a:avLst/>
          </a:prstGeom>
          <a:solidFill>
            <a:srgbClr val="6F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Sistema límbico: emociones, memoria, vínculos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69280"/>
            <a:ext cx="5303520" cy="548640"/>
          </a:xfrm>
          <a:prstGeom prst="roundRect">
            <a:avLst/>
          </a:prstGeom>
          <a:solidFill>
            <a:srgbClr val="94B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1E2A24"/>
                </a:solidFill>
                <a:latin typeface="Calibri"/>
              </a:rPr>
              <a:t>Sistema reptiliano: instintos, supervivencia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383280"/>
            <a:ext cx="7315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000" b="1" i="0">
                <a:solidFill>
                  <a:srgbClr val="1F5C3A"/>
                </a:solidFill>
                <a:latin typeface="Calibri"/>
              </a:rPr>
              <a:t>→</a:t>
            </a:r>
          </a:p>
        </p:txBody>
      </p:sp>
      <p:sp>
        <p:nvSpPr>
          <p:cNvPr id="17" name="Pie 16"/>
          <p:cNvSpPr/>
          <p:nvPr/>
        </p:nvSpPr>
        <p:spPr>
          <a:xfrm>
            <a:off x="7662671" y="1947672"/>
            <a:ext cx="3200400" cy="32004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2F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7011" y="2427732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976372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Analítico</a:t>
            </a:r>
          </a:p>
        </p:txBody>
      </p:sp>
      <p:sp>
        <p:nvSpPr>
          <p:cNvPr id="20" name="Pie 19"/>
          <p:cNvSpPr/>
          <p:nvPr/>
        </p:nvSpPr>
        <p:spPr>
          <a:xfrm>
            <a:off x="7790688" y="1947672"/>
            <a:ext cx="3200400" cy="32004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DB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5228" y="2427732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976372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1E2A24"/>
                </a:solidFill>
                <a:latin typeface="Calibri"/>
              </a:rPr>
              <a:t>Experimental</a:t>
            </a:r>
          </a:p>
        </p:txBody>
      </p:sp>
      <p:sp>
        <p:nvSpPr>
          <p:cNvPr id="23" name="Pie 22"/>
          <p:cNvSpPr/>
          <p:nvPr/>
        </p:nvSpPr>
        <p:spPr>
          <a:xfrm>
            <a:off x="7790688" y="2075688"/>
            <a:ext cx="3200400" cy="32004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C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5228" y="4155948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4704588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Interpersonal</a:t>
            </a:r>
          </a:p>
        </p:txBody>
      </p:sp>
      <p:sp>
        <p:nvSpPr>
          <p:cNvPr id="26" name="Pie 25"/>
          <p:cNvSpPr/>
          <p:nvPr/>
        </p:nvSpPr>
        <p:spPr>
          <a:xfrm>
            <a:off x="7662671" y="2075688"/>
            <a:ext cx="3200400" cy="32004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7011" y="4155948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4704588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Organizado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623560"/>
            <a:ext cx="42062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6B7A72"/>
                </a:solidFill>
                <a:latin typeface="Calibri"/>
              </a:rPr>
              <a:t>Cuatro cuadrantes: arriba lo cerebral, abajo lo límbico; a la izquierda lo lógico, a la derecha lo emocional.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640080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6B7A72"/>
                </a:solidFill>
                <a:latin typeface="Calibri"/>
              </a:rPr>
              <a:t>Basado en el modelo de Ned Herrmann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MARCO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Del cerebro al modelo: tres niveles de lectura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1F5C3A"/>
                </a:solidFill>
                <a:latin typeface="Calibri"/>
              </a:rPr>
              <a:t>FISIOLOGÍA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62356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6B7A72"/>
                </a:solidFill>
                <a:latin typeface="Calibri"/>
              </a:rPr>
              <a:t>El cerebro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1F5C3A"/>
                </a:solidFill>
                <a:latin typeface="Calibri"/>
              </a:rPr>
              <a:t>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562356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6B7A72"/>
                </a:solidFill>
                <a:latin typeface="Calibri"/>
              </a:rPr>
              <a:t>El principio organizador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1F5C3A"/>
                </a:solidFill>
                <a:latin typeface="Calibri"/>
              </a:rPr>
              <a:t>METÁFORA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62356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6B7A72"/>
                </a:solidFill>
                <a:latin typeface="Calibri"/>
              </a:rPr>
              <a:t>El modelo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468880"/>
            <a:ext cx="1463040" cy="1554480"/>
          </a:xfrm>
          <a:prstGeom prst="ellipse">
            <a:avLst/>
          </a:prstGeom>
          <a:solidFill>
            <a:srgbClr val="E9A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11680" y="2468880"/>
            <a:ext cx="1463040" cy="1554480"/>
          </a:xfrm>
          <a:prstGeom prst="ellipse">
            <a:avLst/>
          </a:prstGeom>
          <a:solidFill>
            <a:srgbClr val="EF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0240" y="3840480"/>
            <a:ext cx="548640" cy="640080"/>
          </a:xfrm>
          <a:prstGeom prst="roundRect">
            <a:avLst/>
          </a:prstGeom>
          <a:solidFill>
            <a:srgbClr val="E0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11680" y="4389120"/>
            <a:ext cx="365760" cy="1005840"/>
          </a:xfrm>
          <a:prstGeom prst="roundRect">
            <a:avLst/>
          </a:prstGeom>
          <a:solidFill>
            <a:srgbClr val="E08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212080" y="2514600"/>
            <a:ext cx="1737360" cy="0"/>
          </a:xfrm>
          <a:prstGeom prst="line">
            <a:avLst/>
          </a:prstGeom>
          <a:ln w="25400">
            <a:solidFill>
              <a:srgbClr val="6B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2514600"/>
            <a:ext cx="0" cy="2057400"/>
          </a:xfrm>
          <a:prstGeom prst="line">
            <a:avLst/>
          </a:prstGeom>
          <a:ln w="25400">
            <a:solidFill>
              <a:srgbClr val="6B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2514600"/>
            <a:ext cx="0" cy="2057400"/>
          </a:xfrm>
          <a:prstGeom prst="line">
            <a:avLst/>
          </a:prstGeom>
          <a:ln w="25400">
            <a:solidFill>
              <a:srgbClr val="6B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4572000"/>
            <a:ext cx="1737360" cy="0"/>
          </a:xfrm>
          <a:prstGeom prst="line">
            <a:avLst/>
          </a:prstGeom>
          <a:ln w="25400">
            <a:solidFill>
              <a:srgbClr val="6B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12080" y="2514600"/>
            <a:ext cx="1737360" cy="2057400"/>
          </a:xfrm>
          <a:prstGeom prst="line">
            <a:avLst/>
          </a:prstGeom>
          <a:ln w="25400">
            <a:solidFill>
              <a:srgbClr val="6B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212080" y="2514600"/>
            <a:ext cx="1737360" cy="2057400"/>
          </a:xfrm>
          <a:prstGeom prst="line">
            <a:avLst/>
          </a:prstGeom>
          <a:ln w="25400">
            <a:solidFill>
              <a:srgbClr val="6B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754880" y="2057400"/>
            <a:ext cx="914400" cy="914400"/>
          </a:xfrm>
          <a:prstGeom prst="ellipse">
            <a:avLst/>
          </a:prstGeom>
          <a:solidFill>
            <a:srgbClr val="2F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2057400"/>
            <a:ext cx="914400" cy="914400"/>
          </a:xfrm>
          <a:prstGeom prst="ellipse">
            <a:avLst/>
          </a:prstGeom>
          <a:solidFill>
            <a:srgbClr val="EDB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1E2A24"/>
                </a:solidFill>
                <a:latin typeface="Calibri"/>
              </a:rPr>
              <a:t>D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4114800"/>
            <a:ext cx="914400" cy="9144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114800"/>
            <a:ext cx="914400" cy="914400"/>
          </a:xfrm>
          <a:prstGeom prst="ellipse">
            <a:avLst/>
          </a:prstGeom>
          <a:solidFill>
            <a:srgbClr val="C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" name="Pie 26"/>
          <p:cNvSpPr/>
          <p:nvPr/>
        </p:nvSpPr>
        <p:spPr>
          <a:xfrm>
            <a:off x="8348472" y="1993392"/>
            <a:ext cx="3108960" cy="310896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2F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2450592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9" name="Pie 28"/>
          <p:cNvSpPr/>
          <p:nvPr/>
        </p:nvSpPr>
        <p:spPr>
          <a:xfrm>
            <a:off x="8476488" y="1993392"/>
            <a:ext cx="3108960" cy="31089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DB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2448" y="2450592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1" name="Pie 30"/>
          <p:cNvSpPr/>
          <p:nvPr/>
        </p:nvSpPr>
        <p:spPr>
          <a:xfrm>
            <a:off x="8476488" y="2121408"/>
            <a:ext cx="3108960" cy="310896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C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2448" y="4133088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3" name="Pie 32"/>
          <p:cNvSpPr/>
          <p:nvPr/>
        </p:nvSpPr>
        <p:spPr>
          <a:xfrm>
            <a:off x="8348472" y="2121408"/>
            <a:ext cx="3108960" cy="310896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9952" y="4133088"/>
            <a:ext cx="7315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200400"/>
            <a:ext cx="640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 i="0">
                <a:solidFill>
                  <a:srgbClr val="1F5C3A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200400"/>
            <a:ext cx="8229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 i="0">
                <a:solidFill>
                  <a:srgbClr val="1F5C3A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 i="0">
                <a:solidFill>
                  <a:srgbClr val="6B7A72"/>
                </a:solidFill>
                <a:latin typeface="Calibri"/>
              </a:rPr>
              <a:t>Cada cuadrante resume una forma de pensar: A analítica, B organizada, C interpersonal, D experimental.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640080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6B7A72"/>
                </a:solidFill>
                <a:latin typeface="Calibri"/>
              </a:rPr>
              <a:t>Basado en el modelo de Ned Herrmann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MARCO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Modelo de cerebro integral: cuatro formas de pensar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8</a:t>
            </a:r>
          </a:p>
        </p:txBody>
      </p:sp>
      <p:sp>
        <p:nvSpPr>
          <p:cNvPr id="7" name="Pie 6"/>
          <p:cNvSpPr/>
          <p:nvPr/>
        </p:nvSpPr>
        <p:spPr>
          <a:xfrm>
            <a:off x="3895344" y="1728215"/>
            <a:ext cx="4297680" cy="429768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2F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1104" y="2185416"/>
            <a:ext cx="160020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Lógico</a:t>
            </a:r>
          </a:p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Analítico</a:t>
            </a:r>
          </a:p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Basado en hechos</a:t>
            </a:r>
          </a:p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Cuantitativo</a:t>
            </a:r>
          </a:p>
        </p:txBody>
      </p:sp>
      <p:sp>
        <p:nvSpPr>
          <p:cNvPr id="9" name="Pie 8"/>
          <p:cNvSpPr/>
          <p:nvPr/>
        </p:nvSpPr>
        <p:spPr>
          <a:xfrm>
            <a:off x="4005072" y="1728215"/>
            <a:ext cx="4297680" cy="429768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DB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2185416"/>
            <a:ext cx="160020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1E2A24"/>
                </a:solidFill>
                <a:latin typeface="Calibri"/>
              </a:rPr>
              <a:t>Holístico</a:t>
            </a:r>
          </a:p>
          <a:p>
            <a:pPr algn="l"/>
            <a:r>
              <a:rPr sz="1400" b="0" i="0">
                <a:solidFill>
                  <a:srgbClr val="1E2A24"/>
                </a:solidFill>
                <a:latin typeface="Calibri"/>
              </a:rPr>
              <a:t>Intuitivo</a:t>
            </a:r>
          </a:p>
          <a:p>
            <a:pPr algn="l"/>
            <a:r>
              <a:rPr sz="1400" b="0" i="0">
                <a:solidFill>
                  <a:srgbClr val="1E2A24"/>
                </a:solidFill>
                <a:latin typeface="Calibri"/>
              </a:rPr>
              <a:t>Integrador</a:t>
            </a:r>
          </a:p>
          <a:p>
            <a:pPr algn="l"/>
            <a:r>
              <a:rPr sz="1400" b="0" i="0">
                <a:solidFill>
                  <a:srgbClr val="1E2A24"/>
                </a:solidFill>
                <a:latin typeface="Calibri"/>
              </a:rPr>
              <a:t>Sintetizador</a:t>
            </a:r>
          </a:p>
        </p:txBody>
      </p:sp>
      <p:sp>
        <p:nvSpPr>
          <p:cNvPr id="11" name="Pie 10"/>
          <p:cNvSpPr/>
          <p:nvPr/>
        </p:nvSpPr>
        <p:spPr>
          <a:xfrm>
            <a:off x="4005072" y="1837943"/>
            <a:ext cx="4297680" cy="429768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C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215383"/>
            <a:ext cx="160020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Interpersonal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Basado en sentimientos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Cinestésico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Emocional</a:t>
            </a:r>
          </a:p>
        </p:txBody>
      </p:sp>
      <p:sp>
        <p:nvSpPr>
          <p:cNvPr id="13" name="Pie 12"/>
          <p:cNvSpPr/>
          <p:nvPr/>
        </p:nvSpPr>
        <p:spPr>
          <a:xfrm>
            <a:off x="3895344" y="1837943"/>
            <a:ext cx="4297680" cy="429768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215383"/>
            <a:ext cx="160020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Organizado</a:t>
            </a:r>
          </a:p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Secuencial</a:t>
            </a:r>
          </a:p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Planeador</a:t>
            </a:r>
          </a:p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Detallado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60020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2F7DC1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A24"/>
                </a:solidFill>
                <a:latin typeface="Calibri"/>
              </a:rPr>
              <a:t>Superior izquierdo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0" y="160020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4000" b="1" i="0">
                <a:solidFill>
                  <a:srgbClr val="EDB81D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400" b="1" i="0">
                <a:solidFill>
                  <a:srgbClr val="1E2A24"/>
                </a:solidFill>
                <a:latin typeface="Calibri"/>
              </a:rPr>
              <a:t>Superior derecho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0604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2E8B57"/>
                </a:solidFill>
                <a:latin typeface="Calibri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A24"/>
                </a:solidFill>
                <a:latin typeface="Calibri"/>
              </a:rPr>
              <a:t>Inferior izquierdo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0" y="457200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4000" b="1" i="0">
                <a:solidFill>
                  <a:srgbClr val="C8352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2578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400" b="1" i="0">
                <a:solidFill>
                  <a:srgbClr val="1E2A24"/>
                </a:solidFill>
                <a:latin typeface="Calibri"/>
              </a:rPr>
              <a:t>Inferior derecho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57784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5C3A"/>
                </a:solidFill>
                <a:latin typeface="Calibri"/>
              </a:rPr>
              <a:t>Procesamiento</a:t>
            </a:r>
          </a:p>
          <a:p>
            <a:pPr algn="l"/>
            <a:r>
              <a:rPr sz="1300" b="1" i="0">
                <a:solidFill>
                  <a:srgbClr val="1F5C3A"/>
                </a:solidFill>
                <a:latin typeface="Calibri"/>
              </a:rPr>
              <a:t>izquierdo (A + 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57600"/>
            <a:ext cx="21945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300" b="1" i="0">
                <a:solidFill>
                  <a:srgbClr val="1F5C3A"/>
                </a:solidFill>
                <a:latin typeface="Calibri"/>
              </a:rPr>
              <a:t>Procesamiento</a:t>
            </a:r>
          </a:p>
          <a:p>
            <a:pPr algn="r"/>
            <a:r>
              <a:rPr sz="1300" b="1" i="0">
                <a:solidFill>
                  <a:srgbClr val="1F5C3A"/>
                </a:solidFill>
                <a:latin typeface="Calibri"/>
              </a:rPr>
              <a:t>derecho (C + 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1417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1F5C3A"/>
                </a:solidFill>
                <a:latin typeface="Calibri"/>
              </a:rPr>
              <a:t>Procesamiento cerebral (A + 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6108192"/>
            <a:ext cx="3291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1" i="0">
                <a:solidFill>
                  <a:srgbClr val="1F5C3A"/>
                </a:solidFill>
                <a:latin typeface="Calibri"/>
              </a:rPr>
              <a:t>Procesamiento límbico (B + 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640080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6B7A72"/>
                </a:solidFill>
                <a:latin typeface="Calibri"/>
              </a:rPr>
              <a:t>Basado en el modelo de Ned Herrmann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MARCO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Puntajes del perfil por área de preferencia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9</a:t>
            </a:r>
          </a:p>
        </p:txBody>
      </p:sp>
      <p:sp>
        <p:nvSpPr>
          <p:cNvPr id="7" name="Pie 6"/>
          <p:cNvSpPr/>
          <p:nvPr/>
        </p:nvSpPr>
        <p:spPr>
          <a:xfrm>
            <a:off x="4087368" y="1965959"/>
            <a:ext cx="4023360" cy="402336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2F7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771339" y="2649931"/>
            <a:ext cx="2655417" cy="2655417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77A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5435193" y="3313785"/>
            <a:ext cx="1327708" cy="1327708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B6D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087368" y="1965959"/>
            <a:ext cx="4023360" cy="402336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DB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771339" y="2649931"/>
            <a:ext cx="2655417" cy="2655417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3D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5435193" y="3313785"/>
            <a:ext cx="1327708" cy="1327708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F8E6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e 12"/>
          <p:cNvSpPr/>
          <p:nvPr/>
        </p:nvSpPr>
        <p:spPr>
          <a:xfrm>
            <a:off x="4087368" y="1965959"/>
            <a:ext cx="4023360" cy="402336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C8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e 13"/>
          <p:cNvSpPr/>
          <p:nvPr/>
        </p:nvSpPr>
        <p:spPr>
          <a:xfrm>
            <a:off x="4771339" y="2649931"/>
            <a:ext cx="2655417" cy="2655417"/>
          </a:xfrm>
          <a:prstGeom prst="pie">
            <a:avLst>
              <a:gd name="adj1" fmla="val 0"/>
              <a:gd name="adj2" fmla="val 5400000"/>
            </a:avLst>
          </a:prstGeom>
          <a:solidFill>
            <a:srgbClr val="DB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5435193" y="3313785"/>
            <a:ext cx="1327708" cy="1327708"/>
          </a:xfrm>
          <a:prstGeom prst="pie">
            <a:avLst>
              <a:gd name="adj1" fmla="val 0"/>
              <a:gd name="adj2" fmla="val 5400000"/>
            </a:avLst>
          </a:prstGeom>
          <a:solidFill>
            <a:srgbClr val="EBB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4087368" y="1965959"/>
            <a:ext cx="4023360" cy="402336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4771339" y="2649931"/>
            <a:ext cx="2655417" cy="2655417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77B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5435193" y="3313785"/>
            <a:ext cx="1327708" cy="1327708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B5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2152497"/>
            <a:ext cx="18288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E2A24"/>
                </a:solidFill>
                <a:latin typeface="Calibri"/>
              </a:rPr>
              <a:t>1. Prefiere (más de 66)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816351"/>
            <a:ext cx="18288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E2A24"/>
                </a:solidFill>
                <a:latin typeface="Calibri"/>
              </a:rPr>
              <a:t>2. Utiliza (33 a 66)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500323"/>
            <a:ext cx="18288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1E2A24"/>
                </a:solidFill>
                <a:latin typeface="Calibri"/>
              </a:rPr>
              <a:t>3. Rechaza (0 a 33)</a:t>
            </a:r>
          </a:p>
        </p:txBody>
      </p:sp>
      <p:sp>
        <p:nvSpPr>
          <p:cNvPr id="22" name="Freeform 21"/>
          <p:cNvSpPr/>
          <p:nvPr/>
        </p:nvSpPr>
        <p:spPr>
          <a:xfrm>
            <a:off x="5700755" y="2583616"/>
            <a:ext cx="1792316" cy="2532002"/>
          </a:xfrm>
          <a:custGeom>
            <a:avLst/>
            <a:gdLst/>
            <a:ahLst/>
            <a:cxnLst/>
            <a:rect l="l" t="t" r="r" b="b"/>
            <a:pathLst>
              <a:path w="1792316" h="2532002">
                <a:moveTo>
                  <a:pt x="113798" y="1109529"/>
                </a:moveTo>
                <a:lnTo>
                  <a:pt x="1792316" y="0"/>
                </a:lnTo>
                <a:lnTo>
                  <a:pt x="1536271" y="2532002"/>
                </a:lnTo>
                <a:lnTo>
                  <a:pt x="0" y="1792316"/>
                </a:lnTo>
                <a:close/>
              </a:path>
            </a:pathLst>
          </a:custGeom>
          <a:noFill/>
          <a:ln w="38100">
            <a:solidFill>
              <a:srgbClr val="1E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6053328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6B7A72"/>
                </a:solidFill>
                <a:latin typeface="Calibri"/>
              </a:rPr>
              <a:t>Ejemplo ilustrativo de perfil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508760"/>
            <a:ext cx="30175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2F7DC1"/>
                </a:solidFill>
                <a:latin typeface="Calibr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19456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A24"/>
                </a:solidFill>
                <a:latin typeface="Calibri"/>
              </a:rPr>
              <a:t>Superior izquierdo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514600"/>
            <a:ext cx="30175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Resuelve problemas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Matemático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Técnico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Analizador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Lógico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508760"/>
            <a:ext cx="30175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4000" b="1" i="0">
                <a:solidFill>
                  <a:srgbClr val="EDB81D"/>
                </a:solidFill>
                <a:latin typeface="Calibri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9456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400" b="1" i="0">
                <a:solidFill>
                  <a:srgbClr val="1E2A24"/>
                </a:solidFill>
                <a:latin typeface="Calibri"/>
              </a:rPr>
              <a:t>Superior derecho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14600"/>
            <a:ext cx="30175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Conceptualizador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Sintetizador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Imaginativo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Holístico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Artístico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30175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2E8B57"/>
                </a:solidFill>
                <a:latin typeface="Calibri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A24"/>
                </a:solidFill>
                <a:latin typeface="Calibri"/>
              </a:rPr>
              <a:t>Inferior izquierdo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66360"/>
            <a:ext cx="30175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Planeador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Controlado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Conservador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Organizador</a:t>
            </a:r>
          </a:p>
          <a:p>
            <a:pPr algn="l"/>
            <a:r>
              <a:rPr sz="1300" b="0" i="0">
                <a:solidFill>
                  <a:srgbClr val="6B7A72"/>
                </a:solidFill>
                <a:latin typeface="Calibri"/>
              </a:rPr>
              <a:t>Administrativo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60520"/>
            <a:ext cx="30175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4000" b="1" i="0">
                <a:solidFill>
                  <a:srgbClr val="C8352F"/>
                </a:solidFill>
                <a:latin typeface="Calibri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46320"/>
            <a:ext cx="3017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400" b="1" i="0">
                <a:solidFill>
                  <a:srgbClr val="1E2A24"/>
                </a:solidFill>
                <a:latin typeface="Calibri"/>
              </a:rPr>
              <a:t>Inferior derecho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166360"/>
            <a:ext cx="30175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Conversador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Musical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Espiritual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Emocional</a:t>
            </a:r>
          </a:p>
          <a:p>
            <a:pPr algn="r"/>
            <a:r>
              <a:rPr sz="1300" b="0" i="0">
                <a:solidFill>
                  <a:srgbClr val="6B7A72"/>
                </a:solidFill>
                <a:latin typeface="Calibri"/>
              </a:rPr>
              <a:t>Interpersonal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640080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6B7A72"/>
                </a:solidFill>
                <a:latin typeface="Calibri"/>
              </a:rPr>
              <a:t>Basado en el modelo de Ned Herrmann · © 1986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Qué implica para el diseño del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1E2A24"/>
                </a:solidFill>
                <a:latin typeface="Calibri"/>
              </a:rPr>
              <a:t>Casos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Trabajar situaciones concretas de COTAGRO, no teoría genérica.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1E2A24"/>
                </a:solidFill>
                <a:latin typeface="Calibri"/>
              </a:rPr>
              <a:t>Referentes como mentores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06040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Magallanes, Nicolino, Moressi y Nasi (Comunicación) cuentan casos y co-facilitan.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1E2A24"/>
                </a:solidFill>
                <a:latin typeface="Calibri"/>
              </a:rPr>
              <a:t>Mezclar gerencias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20440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Subgrupos cruzados para mejorar la comunicación entre áreas.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26279"/>
            <a:ext cx="457200" cy="45720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3484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1E2A24"/>
                </a:solidFill>
                <a:latin typeface="Calibri"/>
              </a:rPr>
              <a:t>Práctica entre encuentros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34840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Un reto corto por semana, aplicado al puesto.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40679"/>
            <a:ext cx="457200" cy="457200"/>
          </a:xfrm>
          <a:prstGeom prst="ellipse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4924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1E2A24"/>
                </a:solidFill>
                <a:latin typeface="Calibri"/>
              </a:rPr>
              <a:t>Lenguaje simple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349240"/>
            <a:ext cx="68580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6B7A72"/>
                </a:solidFill>
                <a:latin typeface="Calibri"/>
              </a:rPr>
              <a:t>Herramientas de una hoja, ejemplos de campo, planta y oficina.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SUBGRUPOS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Propuesta inicial de seis subgrupos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6616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Grupo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3375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Costamagna, Brian Nicolas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Lujan, Veronica Paola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Riberi, Esteban Miguel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Nicolino, Lucia Evelin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Nasi, Sara · Cultura Org.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56616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2763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Grupo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3375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Costamagna, Horacio Alberto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Caula, Sofia · Negocios Urbanos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Kretek, Juan Ignacio · Negocios Globales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Moressi, Gerardo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Kretek, Juan Pablo · IT y Admin.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554480"/>
            <a:ext cx="356616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2763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Grupo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011680"/>
            <a:ext cx="33375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Filippini, Danilo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Carrera, Noelia Maria · Negocios Globales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Monti, Johana Eugenia · Negocios Globales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Magallanes, Juan Martin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Perticarari, Dante · Proteína Animal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356616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Grupo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33375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Monetti, Luciano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Monetti, Tami Noelia · IT y Admin.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Vogler, Ignacio · Negocios Globales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Wolyniec, Ginette · Proteína Animal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Arias Maboli, Damian · Soporte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840480"/>
            <a:ext cx="356616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91363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Grupo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3375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Przysiezny, Joaquin · Agro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Kretek, Juan Manuel · Finanzas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Gonzalez, Maximiliano · Proteína Animal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Sentous, Martin Ernesto · Proteína Animal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Bruno, Pedro Lujan · Negocios Urbanos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840480"/>
            <a:ext cx="3566160" cy="210312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3913632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F5C3A"/>
                </a:solidFill>
                <a:latin typeface="Calibri"/>
              </a:rPr>
              <a:t>Grupo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4297680"/>
            <a:ext cx="33375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Amprino, Gisela Soledad · Cultura Org.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Zottola, Benjamin · Cultura Org.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Nasi, Gabriela Cristina · Proteína Animal</a:t>
            </a:r>
          </a:p>
          <a:p>
            <a:pPr algn="l"/>
            <a:r>
              <a:rPr sz="1200" b="0" i="0">
                <a:solidFill>
                  <a:srgbClr val="1E2A24"/>
                </a:solidFill>
                <a:latin typeface="Calibri"/>
              </a:rPr>
              <a:t>Oviedo, Julieta · Proteína Animal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6B7A72"/>
                </a:solidFill>
                <a:latin typeface="Calibri"/>
              </a:rPr>
              <a:t>Borrador para ajustar con criterio propio y con las gerencias.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F5C3A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E2A24"/>
                </a:solidFill>
                <a:latin typeface="Calibri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6B7A72"/>
                </a:solidFill>
                <a:latin typeface="Calibri"/>
              </a:rPr>
              <a:t>Programa Austral · COTAGRO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B7A72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F5C3A"/>
                </a:solidFill>
                <a:latin typeface="Calibri"/>
              </a:rPr>
              <a:t>Diagnóstico previo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64922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Autoevaluación y mirada del jefe, para medir la brecha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39"/>
            <a:ext cx="10698480" cy="914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39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F5C3A"/>
                </a:solidFill>
                <a:latin typeface="Calibri"/>
              </a:rPr>
              <a:t>Mapa de equipos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39"/>
            <a:ext cx="64922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Cuánta gente lidera cada participante.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914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F5C3A"/>
                </a:solidFill>
                <a:latin typeface="Calibri"/>
              </a:rPr>
              <a:t>Validar perfiles y subgrupos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31920"/>
            <a:ext cx="64922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Con las gerencias antes de arrancar.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000" b="1" i="0">
                <a:solidFill>
                  <a:srgbClr val="1F5C3A"/>
                </a:solidFill>
                <a:latin typeface="Calibri"/>
              </a:rPr>
              <a:t>Seguimiento a 3 y 6 meses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029200"/>
            <a:ext cx="64922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1E2A24"/>
                </a:solidFill>
                <a:latin typeface="Calibri"/>
              </a:rPr>
              <a:t>Indicadores simples: reuniones 1 a 1, tareas delegadas, feedback dado.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