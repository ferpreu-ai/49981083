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7" r:id="rId28"/>
    <p:sldId id="258" r:id="rId4"/>
    <p:sldId id="259" r:id="rId5"/>
    <p:sldId id="260" r:id="rId6"/>
    <p:sldId id="278" r:id="rId29"/>
    <p:sldId id="279" r:id="rId30"/>
    <p:sldId id="267" r:id="rId7"/>
    <p:sldId id="276" r:id="rId8"/>
    <p:sldId id="261" r:id="rId9"/>
    <p:sldId id="275" r:id="rId10"/>
    <p:sldId id="262" r:id="rId11"/>
    <p:sldId id="263" r:id="rId12"/>
    <p:sldId id="264" r:id="rId13"/>
    <p:sldId id="265" r:id="rId14"/>
    <p:sldId id="274" r:id="rId15"/>
    <p:sldId id="266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2BCEBD-294E-C642-8EC1-FF0DDBDDB507}" v="8" dt="2026-10-22T13:46:14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272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192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Grupo APSAVET</c:v>
                </c:pt>
              </c:strCache>
            </c:strRef>
          </c:tx>
          <c:spPr>
            <a:solidFill>
              <a:srgbClr val="A14E2E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Procesos clave</c:v>
                </c:pt>
                <c:pt idx="1">
                  <c:v>Capacitación</c:v>
                </c:pt>
                <c:pt idx="2">
                  <c:v>Ambiente de trabajo</c:v>
                </c:pt>
                <c:pt idx="3">
                  <c:v>Incentivos</c:v>
                </c:pt>
                <c:pt idx="4">
                  <c:v>Conocimiento documentado</c:v>
                </c:pt>
                <c:pt idx="5">
                  <c:v>Retención</c:v>
                </c:pt>
                <c:pt idx="6">
                  <c:v>Incorporación</c:v>
                </c:pt>
                <c:pt idx="7">
                  <c:v>Responsable de RRHH</c:v>
                </c:pt>
                <c:pt idx="8">
                  <c:v>Productividad por puesto</c:v>
                </c:pt>
                <c:pt idx="9">
                  <c:v>Atracción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3.9</c:v>
                </c:pt>
                <c:pt idx="1">
                  <c:v>3.8</c:v>
                </c:pt>
                <c:pt idx="2">
                  <c:v>3.8</c:v>
                </c:pt>
                <c:pt idx="3">
                  <c:v>3.8</c:v>
                </c:pt>
                <c:pt idx="4">
                  <c:v>3.4</c:v>
                </c:pt>
                <c:pt idx="5">
                  <c:v>2.9</c:v>
                </c:pt>
                <c:pt idx="6">
                  <c:v>2.8</c:v>
                </c:pt>
                <c:pt idx="7">
                  <c:v>2.5</c:v>
                </c:pt>
                <c:pt idx="8">
                  <c:v>2.4</c:v>
                </c:pt>
                <c:pt idx="9">
                  <c:v>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Resto del país</c:v>
                </c:pt>
              </c:strCache>
            </c:strRef>
          </c:tx>
          <c:spPr>
            <a:solidFill>
              <a:srgbClr val="DDBF93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Procesos clave</c:v>
                </c:pt>
                <c:pt idx="1">
                  <c:v>Capacitación</c:v>
                </c:pt>
                <c:pt idx="2">
                  <c:v>Ambiente de trabajo</c:v>
                </c:pt>
                <c:pt idx="3">
                  <c:v>Incentivos</c:v>
                </c:pt>
                <c:pt idx="4">
                  <c:v>Conocimiento documentado</c:v>
                </c:pt>
                <c:pt idx="5">
                  <c:v>Retención</c:v>
                </c:pt>
                <c:pt idx="6">
                  <c:v>Incorporación</c:v>
                </c:pt>
                <c:pt idx="7">
                  <c:v>Responsable de RRHH</c:v>
                </c:pt>
                <c:pt idx="8">
                  <c:v>Productividad por puesto</c:v>
                </c:pt>
                <c:pt idx="9">
                  <c:v>Atracción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3.4</c:v>
                </c:pt>
                <c:pt idx="1">
                  <c:v>3.2</c:v>
                </c:pt>
                <c:pt idx="2">
                  <c:v>3.4</c:v>
                </c:pt>
                <c:pt idx="3">
                  <c:v>3.3</c:v>
                </c:pt>
                <c:pt idx="4">
                  <c:v>2.8</c:v>
                </c:pt>
                <c:pt idx="5">
                  <c:v>3.3</c:v>
                </c:pt>
                <c:pt idx="6">
                  <c:v>3.1</c:v>
                </c:pt>
                <c:pt idx="7">
                  <c:v>2.7</c:v>
                </c:pt>
                <c:pt idx="8">
                  <c:v>2.5</c:v>
                </c:pt>
                <c:pt idx="9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 b="1">
                  <a:solidFill>
                    <a:srgbClr val="5A46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3B2A1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5A4636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3B2A1E"/>
          </a:solidFill>
          <a:latin typeface="Nunito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Encargado que lidera</c:v>
                </c:pt>
              </c:strCache>
            </c:strRef>
          </c:tx>
          <c:spPr>
            <a:solidFill>
              <a:srgbClr val="A14E2E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Atracción</c:v>
                </c:pt>
                <c:pt idx="1">
                  <c:v>Incorporación</c:v>
                </c:pt>
                <c:pt idx="2">
                  <c:v>Retención</c:v>
                </c:pt>
                <c:pt idx="3">
                  <c:v>Ambiente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3.1</c:v>
                </c:pt>
                <c:pt idx="2">
                  <c:v>3.1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Encargado que no lidera</c:v>
                </c:pt>
              </c:strCache>
            </c:strRef>
          </c:tx>
          <c:spPr>
            <a:solidFill>
              <a:srgbClr val="DDBF93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Atracción</c:v>
                </c:pt>
                <c:pt idx="1">
                  <c:v>Incorporación</c:v>
                </c:pt>
                <c:pt idx="2">
                  <c:v>Retención</c:v>
                </c:pt>
                <c:pt idx="3">
                  <c:v>Ambiente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2.7</c:v>
                </c:pt>
                <c:pt idx="3">
                  <c:v>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5A46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3B2A1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A4636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3B2A1E"/>
          </a:solidFill>
          <a:latin typeface="Nunito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119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Empezar con una escena de campo, no con una definición: "Todos los que estamos en el agro conocemos los tiempos del tambo -la rutina de ordeñe, el destete, la época de servicio-. Pero hay otros tiempos, menos visibles, que también corren: los tiempos de nuestra gente." Presentarse y presentar el hilo del día: qué dice el diagnóstico del grupo APSAVET, dónde aprieta el techo, y qué hacer el lunes.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¿Cuántos de ustedes ya invirtieron en mejorar la genética del rodeo? ¿Y en la nutrición, en la infraestructura de ordeñe? Seguro que sí. La pregunta que conviene hacerse es otra: ¿qué pasa en el tambo el día que yo no estoy? Esa es la grieta por donde se escapa el crecimiento.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preguntas para llevarse a la propia empresa: ¿quién decide en mi tambo cuando yo no estoy? ¿Lo que sabe mi mejor tambero está escrito en algún lado? ¿Estoy formando gente o solo dando órdenes? ¿Lo que pago en bonos está atado a lo que realmente quiero lograr?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promedio del grupo no es un aprobado cómodo: es una frontera. Estamos en Definido, a un paso de Estratégico, pero el paso que falta es justamente el más difícil: sacar la gestión de personas de la cabeza del dueño.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grupo, ya salimos del modo reactivo. Estamos cruzando el puente hacia lo estratégico. La pregunta de hoy no es si vamos a cruzar: es qué tan rápido, y con qué sostén.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¿Cuál de estas tres les resuena más? Pregunta para el grupo: si hoy se les fuera el mejor tambero por dos semanas, ¿qué pasaría con la rutina de ordeñe? Esa respuesta dice más que cualquier planilla.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Miren el orden: la brecha más chica es Desarrollo del Equipo. Lo que separa al 25% de arriba del 25% de abajo es Estructura: casi 2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barra es un tambo del grupo, ustedes incluidos. La línea dorada es el promedio de hoy; la línea oscura es el benchmark del sector. La pregunta no es contra quién comparamos: es qué tan lejos estamos dispuestos a movernos este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barra es un tambo del grupo, ustedes incluidos. La línea dorada es el promedio de hoy; la línea oscura es el benchmark del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benchmark no tiene mejores vacas ni mejor clima. Tiene menos cosas guardadas en la cabeza del dueño y más cosas escritas, medidas y delegadas. Esa es toda la diferencia entre 3.3 y 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es una empresa de otro planeta: es un tambo del mismo sector, con el mismo clima y las mismas vacas que las nuestras. La diferencia no está en los recursos, está en el método. ¿Cuál de estas seis prácticas podrían empezar a instalar este mes? En las tres diapositivas que siguen, cómo se ve esto con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se mira el proceso, rutina por rutina, y después a la persona. Fíjense que el tambo con mejor evaluación de desempeño (4.1) es también el que más cumple sus objetivos (115%). No es casualidad: lo que se mide y se conversa, mejora. Pregunta para el grupo: ¿cuándo fue la última vez que alguien le dijo a tu tambero, con datos, cómo está haciendo su trabajo?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partir de la evaluación de desempeño se arma el PAF. La capacitación deja de ser "lo que se ofrece este año" y pasa a responder a lo que la evaluación mostró que falta. Noten que las habilidades blandas ya tienen su lugar en el plan, al lado de los temas técnicos. Pregunta para el grupo: ¿las capacitaciones de tu tambo salen de un diagnóstico o de lo que apareció en la agenda?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bajó solo. Bajó porque alguien se sentó a medir, año tras año, y a preguntarle a cada persona que se iba por qué se iba. El primer año de datos (19-20, 20-21) la rotación en tambo llegó a superar el 50%. Hoy está en 13%. Esa curva es la prueba de que las prácticas anteriores no son una lista de buenas intenciones: funcionan.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evaluación no se detiene en el operario: el equipo también califica a sus jefes en credibilidad, respeto, imparcialidad y orgullo. Y cada persona que se va tiene su entrevista de egreso. Los datos hablan solos: nadie renunció por motivos económicos, y ningún despido fue por falta de conocimiento. Pesan las actitudes, los hábitos y los valores, y la relación con el jefe. Eso es gestión de personas, no de vacas.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más común del sector: comprar un software (Sistema) cuando el dueño todavía micro-gestiona todo (Persona). Ninguno de los dos ejes avanza de verdad si el otro no se mueve al mismo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trata de bajarle a nuestro tambo el manual de una empresa de 200 personas. Se trata de sacar UNA decisión de la cabeza del dueño esta semana. Nada más, y nada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para subrayar. Si hoy se llevan una sola acción de esta charla, que sea esta: alguien, con nombre y apellido, ocupándose de la gente. No el dueño "además de todo lo demás".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Elegí una sola de estas cinco herramientas para arrancar la semana que viene en tu tambo. ¿Cuál es la que más falta te hace hoy? ¿Quién la va a sostener si vos no estás para recordarla?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las preguntas espejo, en silencio unos segundos antes de pasar a preguntas del público. No hace falta agregar una conclusión: la pregunta ya deja a cada uno pensando en su propio tambo.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jpeg"/><Relationship Id="rId4" Type="http://schemas.openxmlformats.org/officeDocument/2006/relationships/image" Target="../media/image2.png"/><Relationship Id="rId5" Type="http://schemas.microsoft.com/office/2007/relationships/hdphoto" Target="../media/hdphoto2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es productores conversan en el campo al atardecer, a contraluz del sol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B1D13">
                  <a:alpha val="90000"/>
                </a:srgbClr>
              </a:gs>
              <a:gs pos="40000">
                <a:srgbClr val="2B1D13">
                  <a:alpha val="62000"/>
                </a:srgbClr>
              </a:gs>
              <a:gs pos="75000">
                <a:srgbClr val="2B1D13">
                  <a:alpha val="5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AR" dirty="0"/>
          </a:p>
        </p:txBody>
      </p:sp>
      <p:sp>
        <p:nvSpPr>
          <p:cNvPr id="4" name="Text 1"/>
          <p:cNvSpPr/>
          <p:nvPr/>
        </p:nvSpPr>
        <p:spPr>
          <a:xfrm>
            <a:off x="812800" y="633606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APSAVET · DÍA DE LA ACTIVIDAD - 29 DE OCTUBRE 2026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14496" y="683369"/>
            <a:ext cx="7521575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44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</a:t>
            </a:r>
            <a:r>
              <a:rPr lang="en-US" sz="4400" dirty="0" err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techo</a:t>
            </a:r>
            <a:r>
              <a:rPr lang="en-US" sz="44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invisible </a:t>
            </a:r>
            <a:r>
              <a:rPr lang="en-US" sz="4400" dirty="0" err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</a:t>
            </a:r>
            <a:r>
              <a:rPr lang="en-US" sz="44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la </a:t>
            </a:r>
            <a:r>
              <a:rPr lang="en-US" sz="4400" dirty="0" err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lechería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812800" y="5908080"/>
            <a:ext cx="406400" cy="25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1371600" y="5796359"/>
            <a:ext cx="415332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Fernando Preumayr</a:t>
            </a:r>
            <a:r>
              <a:rPr lang="en-US" sz="14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Metodología Escala Humana</a:t>
            </a:r>
            <a:endParaRPr lang="en-US" sz="1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25A530E-AAAD-4782-8B48-9300349DE6A0}"/>
              </a:ext>
            </a:extLst>
          </p:cNvPr>
          <p:cNvSpPr/>
          <p:nvPr/>
        </p:nvSpPr>
        <p:spPr>
          <a:xfrm>
            <a:off x="614496" y="4808204"/>
            <a:ext cx="6540500" cy="986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i="1">
                <a:solidFill>
                  <a:srgbClr val="EADCC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Diagnóstico y hoja de ruta para gestionar personas en el tambo</a:t>
            </a:r>
            <a:endParaRPr lang="en-US" sz="2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CFFDB95-1211-5F2D-0D4B-1AF4E0323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78911" y="5436641"/>
            <a:ext cx="1541489" cy="10276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s productores con boina y mate recorren un lote del campo"/>
          <p:cNvPicPr>
            <a:picLocks noChangeAspect="1"/>
          </p:cNvPicPr>
          <p:nvPr/>
        </p:nvPicPr>
        <p:blipFill>
          <a:blip r:embed="rId3"/>
          <a:srcRect t="2162" b="2162"/>
          <a:stretch/>
        </p:blipFill>
        <p:spPr>
          <a:xfrm>
            <a:off x="5910061" y="141139"/>
            <a:ext cx="4953000" cy="6858000"/>
          </a:xfrm>
          <a:prstGeom prst="rect">
            <a:avLst/>
          </a:prstGeom>
          <a:ln/>
        </p:spPr>
      </p:pic>
      <p:sp>
        <p:nvSpPr>
          <p:cNvPr id="3" name="Text 0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3093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1406" y="295517"/>
            <a:ext cx="5759454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520"/>
              </a:lnSpc>
              <a:buNone/>
            </a:pPr>
            <a:r>
              <a:rPr lang="en-US" sz="24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</a:t>
            </a:r>
            <a:r>
              <a:rPr lang="en-US" sz="24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gente</a:t>
            </a:r>
            <a:r>
              <a:rPr lang="en-US" sz="24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define el </a:t>
            </a:r>
            <a:r>
              <a:rPr lang="en-US" sz="24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techo</a:t>
            </a:r>
            <a:r>
              <a:rPr lang="en-US" sz="24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del tambo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92055" y="1149350"/>
            <a:ext cx="5154931" cy="1189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960"/>
              </a:lnSpc>
              <a:buNone/>
            </a:pPr>
            <a:endParaRPr lang="es-AR" dirty="0"/>
          </a:p>
          <a:p>
            <a:pPr marL="0" indent="0" algn="l">
              <a:lnSpc>
                <a:spcPts val="1960"/>
              </a:lnSpc>
              <a:buNone/>
            </a:pPr>
            <a:endParaRPr lang="es-AR" sz="1600" dirty="0">
              <a:latin typeface="Nunito Sans" pitchFamily="34" charset="0"/>
              <a:ea typeface="Nunito Sans" pitchFamily="34" charset="-122"/>
              <a:cs typeface="Nunito Sans" pitchFamily="34" charset="-120"/>
            </a:endParaRPr>
          </a:p>
          <a:p>
            <a:pPr marL="0" indent="0" algn="l">
              <a:lnSpc>
                <a:spcPts val="1960"/>
              </a:lnSpc>
              <a:buNone/>
            </a:pPr>
            <a:r>
              <a:rPr lang="es-AR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Ya venimos invirtiendo en 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genética,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nutrición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sanidad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reproducción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digitalización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</a:t>
            </a:r>
            <a:r>
              <a:rPr lang="en-US" sz="1600" dirty="0" err="1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automatización</a:t>
            </a:r>
            <a:r>
              <a:rPr lang="en-US" sz="1600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2328" y="977900"/>
            <a:ext cx="923330" cy="342900"/>
          </a:xfrm>
          <a:prstGeom prst="roundRect">
            <a:avLst>
              <a:gd name="adj" fmla="val 50000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5"/>
          <p:cNvSpPr/>
          <p:nvPr/>
        </p:nvSpPr>
        <p:spPr>
          <a:xfrm>
            <a:off x="489450" y="1033176"/>
            <a:ext cx="989208" cy="2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Genética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789776" y="986396"/>
            <a:ext cx="951905" cy="342900"/>
          </a:xfrm>
          <a:prstGeom prst="roundRect">
            <a:avLst>
              <a:gd name="adj" fmla="val 50000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637957" y="1042793"/>
            <a:ext cx="1031439" cy="2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Nutrición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03632" y="989255"/>
            <a:ext cx="1229023" cy="342900"/>
          </a:xfrm>
          <a:prstGeom prst="roundRect">
            <a:avLst>
              <a:gd name="adj" fmla="val 50000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9"/>
          <p:cNvSpPr/>
          <p:nvPr/>
        </p:nvSpPr>
        <p:spPr>
          <a:xfrm>
            <a:off x="3917811" y="1018918"/>
            <a:ext cx="1440994" cy="2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 err="1">
                <a:solidFill>
                  <a:srgbClr val="5A4636"/>
                </a:solidFill>
                <a:latin typeface="Nunito Sans" pitchFamily="34" charset="0"/>
              </a:rPr>
              <a:t>Reproducción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6" y="3868837"/>
            <a:ext cx="5814684" cy="2176264"/>
          </a:xfrm>
          <a:custGeom>
            <a:avLst/>
            <a:gdLst/>
            <a:ahLst/>
            <a:cxnLst/>
            <a:rect l="l" t="t" r="r" b="b"/>
            <a:pathLst>
              <a:path w="12192000" h="1353542">
                <a:moveTo>
                  <a:pt x="0" y="0"/>
                </a:moveTo>
                <a:lnTo>
                  <a:pt x="12090400" y="0"/>
                </a:lnTo>
                <a:arcTo wR="101600" hR="101600" stAng="16200000" swAng="5400000"/>
                <a:lnTo>
                  <a:pt x="12192000" y="1251942"/>
                </a:lnTo>
                <a:arcTo wR="101600" hR="101600" stAng="0" swAng="5400000"/>
                <a:lnTo>
                  <a:pt x="0" y="1353542"/>
                </a:lnTo>
                <a:lnTo>
                  <a:pt x="0" y="0"/>
                </a:lnTo>
                <a:close/>
              </a:path>
            </a:pathLst>
          </a:cu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11"/>
          <p:cNvSpPr/>
          <p:nvPr/>
        </p:nvSpPr>
        <p:spPr>
          <a:xfrm>
            <a:off x="0" y="4691559"/>
            <a:ext cx="12192000" cy="1353542"/>
          </a:xfrm>
          <a:custGeom>
            <a:avLst/>
            <a:gdLst/>
            <a:ahLst/>
            <a:cxnLst/>
            <a:rect l="l" t="t" r="r" b="b"/>
            <a:pathLst>
              <a:path w="12192000" h="1353542">
                <a:moveTo>
                  <a:pt x="38100" y="1353542"/>
                </a:moveTo>
                <a:lnTo>
                  <a:pt x="0" y="1353542"/>
                </a:lnTo>
                <a:lnTo>
                  <a:pt x="0" y="0"/>
                </a:lnTo>
                <a:lnTo>
                  <a:pt x="38100" y="0"/>
                </a:lnTo>
                <a:lnTo>
                  <a:pt x="38100" y="1353542"/>
                </a:lnTo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292100" y="4171107"/>
            <a:ext cx="5392494" cy="347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TECHO OPERATIVO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1630" y="4691559"/>
            <a:ext cx="5352281" cy="153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crecimiento se frena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cuando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se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depende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del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dueño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o el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encargado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hay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acuerdos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informales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y no se genera el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nivel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autonomía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necesaria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 dirty="0" err="1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equipos</a:t>
            </a:r>
            <a:r>
              <a:rPr lang="en-US" sz="16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2679" y="2584599"/>
            <a:ext cx="4953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gestión de personas es el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límite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queda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20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C709502-7E63-0DAE-3A7E-0F9620C9600B}"/>
              </a:ext>
            </a:extLst>
          </p:cNvPr>
          <p:cNvSpPr/>
          <p:nvPr/>
        </p:nvSpPr>
        <p:spPr>
          <a:xfrm>
            <a:off x="2805954" y="962521"/>
            <a:ext cx="951905" cy="342900"/>
          </a:xfrm>
          <a:prstGeom prst="roundRect">
            <a:avLst>
              <a:gd name="adj" fmla="val 50000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398DB50-8E6F-877E-5BE4-D866EBDED8BF}"/>
              </a:ext>
            </a:extLst>
          </p:cNvPr>
          <p:cNvSpPr/>
          <p:nvPr/>
        </p:nvSpPr>
        <p:spPr>
          <a:xfrm>
            <a:off x="2820562" y="1018918"/>
            <a:ext cx="1031439" cy="2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Sanidad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Cuatro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dimensiones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explican la madurez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cada tambo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marco común para tambos de 6 a 60 colaboradores.</a:t>
            </a:r>
            <a:endParaRPr lang="en-US" sz="1400" dirty="0"/>
          </a:p>
        </p:txBody>
      </p:sp>
      <p:pic>
        <p:nvPicPr>
          <p:cNvPr id="4" name="Image 0" descr="Tambera trabajando en la fosa de la sala de ordeñe"/>
          <p:cNvPicPr>
            <a:picLocks noChangeAspect="1"/>
          </p:cNvPicPr>
          <p:nvPr/>
        </p:nvPicPr>
        <p:blipFill>
          <a:blip r:embed="rId3"/>
          <a:srcRect l="23863" r="23863"/>
          <a:stretch/>
        </p:blipFill>
        <p:spPr>
          <a:xfrm>
            <a:off x="812800" y="1889621"/>
            <a:ext cx="3048000" cy="4000500"/>
          </a:xfrm>
          <a:prstGeom prst="roundRect">
            <a:avLst>
              <a:gd name="adj" fmla="val 4167"/>
            </a:avLst>
          </a:prstGeom>
          <a:ln/>
        </p:spPr>
      </p:pic>
      <p:sp>
        <p:nvSpPr>
          <p:cNvPr id="5" name="Shape 2"/>
          <p:cNvSpPr/>
          <p:nvPr/>
        </p:nvSpPr>
        <p:spPr>
          <a:xfrm>
            <a:off x="4064000" y="1889621"/>
            <a:ext cx="3581400" cy="1899940"/>
          </a:xfrm>
          <a:prstGeom prst="roundRect">
            <a:avLst>
              <a:gd name="adj" fmla="val 6684"/>
            </a:avLst>
          </a:prstGeom>
          <a:solidFill>
            <a:srgbClr val="FFFBF4"/>
          </a:solidFill>
          <a:ln w="57150">
            <a:solidFill>
              <a:srgbClr val="5B6B84"/>
            </a:solidFill>
          </a:ln>
        </p:spPr>
        <p:txBody>
          <a:bodyPr/>
          <a:lstStyle/>
          <a:p>
            <a:endParaRPr lang="es-AR"/>
          </a:p>
        </p:txBody>
      </p:sp>
      <p:pic>
        <p:nvPicPr>
          <p:cNvPr id="6" name="Image 1" descr="Users"/>
          <p:cNvPicPr>
            <a:picLocks noChangeAspect="1"/>
          </p:cNvPicPr>
          <p:nvPr/>
        </p:nvPicPr>
        <p:blipFill>
          <a:blip r:embed="rId4"/>
          <a:srcRect t="-349" b="-349"/>
          <a:stretch/>
        </p:blipFill>
        <p:spPr>
          <a:xfrm>
            <a:off x="4292600" y="2118221"/>
            <a:ext cx="304800" cy="300534"/>
          </a:xfrm>
          <a:prstGeom prst="rect">
            <a:avLst/>
          </a:prstGeom>
          <a:ln/>
        </p:spPr>
      </p:pic>
      <p:sp>
        <p:nvSpPr>
          <p:cNvPr id="7" name="Text 3"/>
          <p:cNvSpPr/>
          <p:nvPr/>
        </p:nvSpPr>
        <p:spPr>
          <a:xfrm>
            <a:off x="4292600" y="2520355"/>
            <a:ext cx="3217926" cy="28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Estructura y Resultados</a:t>
            </a:r>
            <a:endParaRPr lang="en-US" sz="1684" dirty="0"/>
          </a:p>
        </p:txBody>
      </p:sp>
      <p:sp>
        <p:nvSpPr>
          <p:cNvPr id="8" name="Text 4"/>
          <p:cNvSpPr/>
          <p:nvPr/>
        </p:nvSpPr>
        <p:spPr>
          <a:xfrm>
            <a:off x="4292600" y="2877443"/>
            <a:ext cx="3217926" cy="708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9"/>
              </a:lnSpc>
              <a:buNone/>
            </a:pP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Roles claros e indicadores mínimos para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decidir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explicitación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estructura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92" dirty="0"/>
          </a:p>
        </p:txBody>
      </p:sp>
      <p:sp>
        <p:nvSpPr>
          <p:cNvPr id="9" name="Shape 5"/>
          <p:cNvSpPr/>
          <p:nvPr/>
        </p:nvSpPr>
        <p:spPr>
          <a:xfrm>
            <a:off x="7797800" y="1889621"/>
            <a:ext cx="3581400" cy="1899940"/>
          </a:xfrm>
          <a:prstGeom prst="roundRect">
            <a:avLst>
              <a:gd name="adj" fmla="val 6684"/>
            </a:avLst>
          </a:prstGeom>
          <a:solidFill>
            <a:srgbClr val="FFFBF4"/>
          </a:solidFill>
          <a:ln w="57150">
            <a:solidFill>
              <a:srgbClr val="00B050"/>
            </a:solidFill>
          </a:ln>
        </p:spPr>
        <p:txBody>
          <a:bodyPr/>
          <a:lstStyle/>
          <a:p>
            <a:endParaRPr lang="es-AR"/>
          </a:p>
        </p:txBody>
      </p:sp>
      <p:pic>
        <p:nvPicPr>
          <p:cNvPr id="10" name="Image 2" descr="Settings"/>
          <p:cNvPicPr>
            <a:picLocks noChangeAspect="1"/>
          </p:cNvPicPr>
          <p:nvPr/>
        </p:nvPicPr>
        <p:blipFill>
          <a:blip r:embed="rId5"/>
          <a:srcRect t="-349" b="-349"/>
          <a:stretch/>
        </p:blipFill>
        <p:spPr>
          <a:xfrm>
            <a:off x="8026400" y="2118221"/>
            <a:ext cx="304800" cy="300534"/>
          </a:xfrm>
          <a:prstGeom prst="rect">
            <a:avLst/>
          </a:prstGeom>
          <a:ln/>
        </p:spPr>
      </p:pic>
      <p:sp>
        <p:nvSpPr>
          <p:cNvPr id="11" name="Text 6"/>
          <p:cNvSpPr/>
          <p:nvPr/>
        </p:nvSpPr>
        <p:spPr>
          <a:xfrm>
            <a:off x="8026400" y="2520355"/>
            <a:ext cx="3217926" cy="28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 de Procesos</a:t>
            </a:r>
            <a:endParaRPr lang="en-US" sz="1684" dirty="0"/>
          </a:p>
        </p:txBody>
      </p:sp>
      <p:sp>
        <p:nvSpPr>
          <p:cNvPr id="12" name="Text 7"/>
          <p:cNvSpPr/>
          <p:nvPr/>
        </p:nvSpPr>
        <p:spPr>
          <a:xfrm>
            <a:off x="8026400" y="2877443"/>
            <a:ext cx="3217926" cy="7089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809"/>
              </a:lnSpc>
              <a:buNone/>
            </a:pP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Desde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incorporación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inducción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acompañamiento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. El saber de la fosa, el mixer y la guachera,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escrito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en protocolos simples.</a:t>
            </a:r>
            <a:endParaRPr lang="en-US" sz="1292" dirty="0"/>
          </a:p>
        </p:txBody>
      </p:sp>
      <p:sp>
        <p:nvSpPr>
          <p:cNvPr id="13" name="Shape 8"/>
          <p:cNvSpPr/>
          <p:nvPr/>
        </p:nvSpPr>
        <p:spPr>
          <a:xfrm>
            <a:off x="4064000" y="3941961"/>
            <a:ext cx="3581400" cy="1900039"/>
          </a:xfrm>
          <a:prstGeom prst="roundRect">
            <a:avLst>
              <a:gd name="adj" fmla="val 6684"/>
            </a:avLst>
          </a:prstGeom>
          <a:solidFill>
            <a:srgbClr val="FFFBF4"/>
          </a:solidFill>
          <a:ln w="57150">
            <a:solidFill>
              <a:srgbClr val="B85C38"/>
            </a:solidFill>
          </a:ln>
        </p:spPr>
        <p:txBody>
          <a:bodyPr/>
          <a:lstStyle/>
          <a:p>
            <a:endParaRPr lang="es-AR"/>
          </a:p>
        </p:txBody>
      </p:sp>
      <p:pic>
        <p:nvPicPr>
          <p:cNvPr id="14" name="Image 3" descr="GraduationCap"/>
          <p:cNvPicPr>
            <a:picLocks noChangeAspect="1"/>
          </p:cNvPicPr>
          <p:nvPr/>
        </p:nvPicPr>
        <p:blipFill>
          <a:blip r:embed="rId6"/>
          <a:srcRect t="-349" b="-349"/>
          <a:stretch/>
        </p:blipFill>
        <p:spPr>
          <a:xfrm>
            <a:off x="4292600" y="4170561"/>
            <a:ext cx="304800" cy="300534"/>
          </a:xfrm>
          <a:prstGeom prst="rect">
            <a:avLst/>
          </a:prstGeom>
          <a:ln/>
        </p:spPr>
      </p:pic>
      <p:sp>
        <p:nvSpPr>
          <p:cNvPr id="15" name="Text 9"/>
          <p:cNvSpPr/>
          <p:nvPr/>
        </p:nvSpPr>
        <p:spPr>
          <a:xfrm>
            <a:off x="4292600" y="4572695"/>
            <a:ext cx="3217926" cy="280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Desarrollo del Equipo</a:t>
            </a:r>
            <a:endParaRPr lang="en-US" sz="1684" dirty="0"/>
          </a:p>
        </p:txBody>
      </p:sp>
      <p:sp>
        <p:nvSpPr>
          <p:cNvPr id="16" name="Text 10"/>
          <p:cNvSpPr/>
          <p:nvPr/>
        </p:nvSpPr>
        <p:spPr>
          <a:xfrm>
            <a:off x="4292600" y="4929783"/>
            <a:ext cx="3217926" cy="709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9"/>
              </a:lnSpc>
              <a:buNone/>
            </a:pP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Formar al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equipo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delegar tareas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completas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Incentivar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comunicación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interna y la </a:t>
            </a:r>
            <a:r>
              <a:rPr lang="en-US" sz="1292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interacción</a:t>
            </a:r>
            <a:r>
              <a:rPr lang="en-US" sz="1292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endParaRPr lang="en-US" sz="1292" dirty="0"/>
          </a:p>
        </p:txBody>
      </p:sp>
      <p:sp>
        <p:nvSpPr>
          <p:cNvPr id="17" name="Shape 11"/>
          <p:cNvSpPr/>
          <p:nvPr/>
        </p:nvSpPr>
        <p:spPr>
          <a:xfrm>
            <a:off x="7797800" y="3941961"/>
            <a:ext cx="3581400" cy="1900039"/>
          </a:xfrm>
          <a:prstGeom prst="roundRect">
            <a:avLst>
              <a:gd name="adj" fmla="val 6684"/>
            </a:avLst>
          </a:prstGeom>
          <a:solidFill>
            <a:srgbClr val="FFFBF4"/>
          </a:solidFill>
          <a:ln w="57150">
            <a:solidFill>
              <a:srgbClr val="C9962C"/>
            </a:solidFill>
          </a:ln>
        </p:spPr>
        <p:txBody>
          <a:bodyPr/>
          <a:lstStyle/>
          <a:p>
            <a:endParaRPr lang="es-AR"/>
          </a:p>
        </p:txBody>
      </p:sp>
      <p:pic>
        <p:nvPicPr>
          <p:cNvPr id="18" name="Image 4" descr="Star"/>
          <p:cNvPicPr>
            <a:picLocks noChangeAspect="1"/>
          </p:cNvPicPr>
          <p:nvPr/>
        </p:nvPicPr>
        <p:blipFill>
          <a:blip r:embed="rId7"/>
          <a:srcRect t="-323" b="-323"/>
          <a:stretch/>
        </p:blipFill>
        <p:spPr>
          <a:xfrm>
            <a:off x="7874000" y="4087069"/>
            <a:ext cx="304800" cy="293985"/>
          </a:xfrm>
          <a:prstGeom prst="rect">
            <a:avLst/>
          </a:prstGeom>
          <a:ln/>
        </p:spPr>
      </p:pic>
      <p:sp>
        <p:nvSpPr>
          <p:cNvPr id="19" name="Text 12"/>
          <p:cNvSpPr/>
          <p:nvPr/>
        </p:nvSpPr>
        <p:spPr>
          <a:xfrm>
            <a:off x="8026400" y="4415946"/>
            <a:ext cx="3217926" cy="525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3"/>
              </a:lnSpc>
              <a:buNone/>
            </a:pPr>
            <a:r>
              <a:rPr lang="en-US" sz="1652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Proyección, Incentivos y Cultura</a:t>
            </a:r>
            <a:endParaRPr lang="en-US" sz="1652" dirty="0"/>
          </a:p>
        </p:txBody>
      </p:sp>
      <p:sp>
        <p:nvSpPr>
          <p:cNvPr id="20" name="Text 13"/>
          <p:cNvSpPr/>
          <p:nvPr/>
        </p:nvSpPr>
        <p:spPr>
          <a:xfrm>
            <a:off x="8026400" y="4976004"/>
            <a:ext cx="3217926" cy="739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7"/>
              </a:lnSpc>
              <a:buNone/>
            </a:pP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Rumbo claro,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formación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capacitación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Reconocimiento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oportuno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 incentivos </a:t>
            </a:r>
            <a:r>
              <a:rPr lang="en-US" sz="12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medibles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tambo promedio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alcanza 3.3 y aún depende del dueño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Diagnóstico de 15 empresas tamberas de APSAVET · Sept.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1889621"/>
            <a:ext cx="3048000" cy="3952379"/>
          </a:xfrm>
          <a:prstGeom prst="roundRect">
            <a:avLst>
              <a:gd name="adj" fmla="val 4167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117600" y="2194421"/>
            <a:ext cx="25115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PROMEDIO GENERAL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509341"/>
            <a:ext cx="251155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3.3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1117600" y="3626941"/>
            <a:ext cx="251155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sobre 5.0 · Nivel Definido, cerca del nivel Estratégico</a:t>
            </a:r>
            <a:endParaRPr lang="en-US" sz="1400" dirty="0"/>
          </a:p>
        </p:txBody>
      </p:sp>
      <p:pic>
        <p:nvPicPr>
          <p:cNvPr id="8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7600" y="4747320"/>
            <a:ext cx="2438400" cy="25400"/>
          </a:xfrm>
          <a:prstGeom prst="rect">
            <a:avLst/>
          </a:prstGeom>
          <a:ln/>
        </p:spPr>
      </p:pic>
      <p:sp>
        <p:nvSpPr>
          <p:cNvPr id="9" name="Text 6"/>
          <p:cNvSpPr/>
          <p:nvPr/>
        </p:nvSpPr>
        <p:spPr>
          <a:xfrm>
            <a:off x="1117600" y="4874320"/>
            <a:ext cx="2511552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producción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tiene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rutinas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;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falta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estructurar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</a:t>
            </a:r>
            <a:r>
              <a:rPr lang="en-US" sz="1400" dirty="0" err="1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gestión</a:t>
            </a:r>
            <a:r>
              <a:rPr lang="en-US" sz="14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 personas.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67175" y="1892796"/>
            <a:ext cx="3575050" cy="1893590"/>
          </a:xfrm>
          <a:prstGeom prst="roundRect">
            <a:avLst>
              <a:gd name="adj" fmla="val 6539"/>
            </a:avLst>
          </a:prstGeom>
          <a:solidFill>
            <a:srgbClr val="FFFBF4"/>
          </a:solidFill>
          <a:ln w="57150">
            <a:solidFill>
              <a:srgbClr val="5B6B84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8"/>
          <p:cNvSpPr/>
          <p:nvPr/>
        </p:nvSpPr>
        <p:spPr>
          <a:xfrm>
            <a:off x="4298950" y="2124571"/>
            <a:ext cx="3204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298950" y="2556371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 · Estructura y Resultados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298950" y="2861171"/>
            <a:ext cx="32048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Mayor brecha: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hay un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responsable formal de personas.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00975" y="1892796"/>
            <a:ext cx="3575050" cy="1893590"/>
          </a:xfrm>
          <a:prstGeom prst="roundRect">
            <a:avLst>
              <a:gd name="adj" fmla="val 6539"/>
            </a:avLst>
          </a:prstGeom>
          <a:solidFill>
            <a:srgbClr val="FFFBF4"/>
          </a:solidFill>
          <a:ln w="57150">
            <a:solidFill>
              <a:srgbClr val="66734D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2"/>
          <p:cNvSpPr/>
          <p:nvPr/>
        </p:nvSpPr>
        <p:spPr>
          <a:xfrm>
            <a:off x="8032750" y="2124571"/>
            <a:ext cx="3204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032750" y="2556371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 · Gestión de Procesos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32750" y="2861171"/>
            <a:ext cx="32048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rutina funciona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pero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saber no siempre está escrito.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067175" y="3945136"/>
            <a:ext cx="3575050" cy="1893689"/>
          </a:xfrm>
          <a:prstGeom prst="roundRect">
            <a:avLst>
              <a:gd name="adj" fmla="val 6539"/>
            </a:avLst>
          </a:prstGeom>
          <a:noFill/>
          <a:ln w="57150">
            <a:solidFill>
              <a:srgbClr val="FF0000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6"/>
          <p:cNvSpPr/>
          <p:nvPr/>
        </p:nvSpPr>
        <p:spPr>
          <a:xfrm>
            <a:off x="4298950" y="4176911"/>
            <a:ext cx="3204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8A5A1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3.6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298950" y="4608711"/>
            <a:ext cx="320484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· Desarrollo del Equipo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298950" y="4913511"/>
            <a:ext cx="32048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Fortaleza: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equipo está dispuesto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formar.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800975" y="3945136"/>
            <a:ext cx="3575050" cy="1893689"/>
          </a:xfrm>
          <a:prstGeom prst="roundRect">
            <a:avLst>
              <a:gd name="adj" fmla="val 6539"/>
            </a:avLst>
          </a:prstGeom>
          <a:solidFill>
            <a:srgbClr val="FFFBF4"/>
          </a:solidFill>
          <a:ln w="5715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20"/>
          <p:cNvSpPr/>
          <p:nvPr/>
        </p:nvSpPr>
        <p:spPr>
          <a:xfrm>
            <a:off x="8032750" y="4176911"/>
            <a:ext cx="3204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8032750" y="4608711"/>
            <a:ext cx="32048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 · Proyección, Incentivos y Cultura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032750" y="5142111"/>
            <a:ext cx="320484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Buen clima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con bonos aún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separados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las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métricas.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grupo está definido, pero la estructura sigue rezagada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Tres niveles de madurez y </a:t>
            </a:r>
            <a:r>
              <a:rPr lang="en-US" sz="14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posición actual del</a:t>
            </a: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tambo promedio.</a:t>
            </a:r>
            <a:endParaRPr lang="en-US" sz="1400" dirty="0"/>
          </a:p>
        </p:txBody>
      </p:sp>
      <p:pic>
        <p:nvPicPr>
          <p:cNvPr id="4" name="Image 0" descr="Vacas Holando en el potrero reflejadas en el agua"/>
          <p:cNvPicPr>
            <a:picLocks noChangeAspect="1"/>
          </p:cNvPicPr>
          <p:nvPr/>
        </p:nvPicPr>
        <p:blipFill>
          <a:blip r:embed="rId3"/>
          <a:srcRect t="43247" b="43247"/>
          <a:stretch/>
        </p:blipFill>
        <p:spPr>
          <a:xfrm>
            <a:off x="812800" y="1813421"/>
            <a:ext cx="10566400" cy="952500"/>
          </a:xfrm>
          <a:prstGeom prst="roundRect">
            <a:avLst>
              <a:gd name="adj" fmla="val 13333"/>
            </a:avLst>
          </a:prstGeom>
          <a:ln/>
        </p:spPr>
      </p:pic>
      <p:sp>
        <p:nvSpPr>
          <p:cNvPr id="5" name="Shape 2"/>
          <p:cNvSpPr/>
          <p:nvPr/>
        </p:nvSpPr>
        <p:spPr>
          <a:xfrm>
            <a:off x="815975" y="2997696"/>
            <a:ext cx="3418384" cy="1857772"/>
          </a:xfrm>
          <a:prstGeom prst="roundRect">
            <a:avLst>
              <a:gd name="adj" fmla="val 6665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1047750" y="3229471"/>
            <a:ext cx="30434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REACTIVO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47750" y="3518991"/>
            <a:ext cx="30434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&lt; 2.5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47750" y="3930452"/>
            <a:ext cx="304347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apagan incendios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; la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gestión opera en emergencia.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934" y="2994521"/>
            <a:ext cx="3412034" cy="1864122"/>
          </a:xfrm>
          <a:prstGeom prst="roundRect">
            <a:avLst>
              <a:gd name="adj" fmla="val 6813"/>
            </a:avLst>
          </a:prstGeom>
          <a:solidFill>
            <a:srgbClr val="B85C38"/>
          </a:solidFill>
          <a:ln/>
          <a:effectLst>
            <a:outerShdw blurRad="203200" dist="76200" dir="5400000" algn="bl" rotWithShape="0">
              <a:srgbClr val="783C1E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4618534" y="3223121"/>
            <a:ext cx="304347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E8B86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DEFINIDO · AQUÍ ESTAMOS (3.3)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18534" y="3725962"/>
            <a:ext cx="30434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2.5 – 3.6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618534" y="4137422"/>
            <a:ext cx="304347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Hay rutinas, pero dependen de personas clave.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957542" y="2997696"/>
            <a:ext cx="3418384" cy="1857772"/>
          </a:xfrm>
          <a:prstGeom prst="roundRect">
            <a:avLst>
              <a:gd name="adj" fmla="val 6665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8189317" y="3229471"/>
            <a:ext cx="30434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ESTRATÉGICO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89317" y="3518991"/>
            <a:ext cx="304347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&gt; 3.6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189317" y="3930452"/>
            <a:ext cx="3043479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equipo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gestiona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datos, autonomía y desarrollo.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2800" y="5087243"/>
            <a:ext cx="1088339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equipo </a:t>
            </a:r>
            <a:r>
              <a:rPr lang="en-US" sz="2000" i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avanza; 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estructura </a:t>
            </a:r>
            <a:r>
              <a:rPr lang="en-US" sz="2000" i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debe sostenerlo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Avanzar </a:t>
            </a:r>
            <a:r>
              <a:rPr lang="en-US" sz="32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 </a:t>
            </a:r>
            <a:r>
              <a:rPr lang="en-US" sz="32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 eje sin los demás vuelve frágil al</a:t>
            </a:r>
            <a:r>
              <a:rPr lang="en-US" sz="32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tambo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 una dimensión avanza sola, otra termina frenándola.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12800" y="1889621"/>
            <a:ext cx="3403600" cy="3952379"/>
          </a:xfrm>
          <a:prstGeom prst="roundRect">
            <a:avLst>
              <a:gd name="adj" fmla="val 3731"/>
            </a:avLst>
          </a:prstGeom>
          <a:solidFill>
            <a:srgbClr val="5A463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12800" y="1889621"/>
            <a:ext cx="3403600" cy="3952379"/>
          </a:xfrm>
          <a:custGeom>
            <a:avLst/>
            <a:gdLst/>
            <a:ahLst/>
            <a:cxnLst/>
            <a:rect l="l" t="t" r="r" b="b"/>
            <a:pathLst>
              <a:path w="34036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3276600" y="0"/>
                </a:lnTo>
                <a:arcTo wR="127000" hR="127000" stAng="16200000" swAng="5400000"/>
                <a:lnTo>
                  <a:pt x="340360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6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181721"/>
            <a:ext cx="279400" cy="279400"/>
          </a:xfrm>
          <a:prstGeom prst="rect">
            <a:avLst/>
          </a:prstGeom>
          <a:ln/>
        </p:spPr>
      </p:pic>
      <p:sp>
        <p:nvSpPr>
          <p:cNvPr id="7" name="Text 4"/>
          <p:cNvSpPr/>
          <p:nvPr/>
        </p:nvSpPr>
        <p:spPr>
          <a:xfrm>
            <a:off x="1066800" y="2575421"/>
            <a:ext cx="298246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Cultura fuerte sin estructura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66800" y="3273921"/>
            <a:ext cx="2895600" cy="528241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 sz="2000"/>
          </a:p>
        </p:txBody>
      </p:sp>
      <p:sp>
        <p:nvSpPr>
          <p:cNvPr id="9" name="Text 6"/>
          <p:cNvSpPr/>
          <p:nvPr/>
        </p:nvSpPr>
        <p:spPr>
          <a:xfrm>
            <a:off x="1181100" y="3324721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Cultura y Desarrollo (3.5) vs. Estructura (3.0)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" y="3916462"/>
            <a:ext cx="2982468" cy="1605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compromiso sostiene el tambo,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pero una ausencia puede paralizar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decisiones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clave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94200" y="1889621"/>
            <a:ext cx="3403600" cy="3952379"/>
          </a:xfrm>
          <a:prstGeom prst="roundRect">
            <a:avLst>
              <a:gd name="adj" fmla="val 3731"/>
            </a:avLst>
          </a:prstGeom>
          <a:solidFill>
            <a:srgbClr val="5B6B8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9"/>
          <p:cNvSpPr/>
          <p:nvPr/>
        </p:nvSpPr>
        <p:spPr>
          <a:xfrm>
            <a:off x="4394200" y="1889621"/>
            <a:ext cx="3403600" cy="3952379"/>
          </a:xfrm>
          <a:custGeom>
            <a:avLst/>
            <a:gdLst/>
            <a:ahLst/>
            <a:cxnLst/>
            <a:rect l="l" t="t" r="r" b="b"/>
            <a:pathLst>
              <a:path w="34036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3276600" y="0"/>
                </a:lnTo>
                <a:arcTo wR="127000" hR="127000" stAng="16200000" swAng="5400000"/>
                <a:lnTo>
                  <a:pt x="340360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1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8200" y="2181721"/>
            <a:ext cx="279400" cy="279400"/>
          </a:xfrm>
          <a:prstGeom prst="rect">
            <a:avLst/>
          </a:prstGeom>
          <a:ln/>
        </p:spPr>
      </p:pic>
      <p:sp>
        <p:nvSpPr>
          <p:cNvPr id="14" name="Text 10"/>
          <p:cNvSpPr/>
          <p:nvPr/>
        </p:nvSpPr>
        <p:spPr>
          <a:xfrm>
            <a:off x="4648200" y="2575421"/>
            <a:ext cx="298246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Saber sin sistema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470400" y="3301504"/>
            <a:ext cx="3240532" cy="447179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Text 12"/>
          <p:cNvSpPr/>
          <p:nvPr/>
        </p:nvSpPr>
        <p:spPr>
          <a:xfrm>
            <a:off x="4595368" y="3390850"/>
            <a:ext cx="3035300" cy="39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Desarrollo (3.6) vs. Procesos (3.2)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21784" y="3916462"/>
            <a:ext cx="2982468" cy="1712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equipo aprende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pero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saber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se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documenta se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 con 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persona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7975600" y="1889621"/>
            <a:ext cx="3403600" cy="3952379"/>
          </a:xfrm>
          <a:prstGeom prst="roundRect">
            <a:avLst>
              <a:gd name="adj" fmla="val 3731"/>
            </a:avLst>
          </a:prstGeom>
          <a:solidFill>
            <a:srgbClr val="5663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5"/>
          <p:cNvSpPr/>
          <p:nvPr/>
        </p:nvSpPr>
        <p:spPr>
          <a:xfrm>
            <a:off x="7975600" y="1889621"/>
            <a:ext cx="3403600" cy="3952379"/>
          </a:xfrm>
          <a:custGeom>
            <a:avLst/>
            <a:gdLst/>
            <a:ahLst/>
            <a:cxnLst/>
            <a:rect l="l" t="t" r="r" b="b"/>
            <a:pathLst>
              <a:path w="34036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3276600" y="0"/>
                </a:lnTo>
                <a:arcTo wR="127000" hR="127000" stAng="16200000" swAng="5400000"/>
                <a:lnTo>
                  <a:pt x="3403600" y="127000"/>
                </a:lnTo>
                <a:arcTo wR="127000" hR="88900" stAng="0" swAng="-5400000"/>
                <a:lnTo>
                  <a:pt x="127000" y="38100"/>
                </a:lnTo>
                <a:arcTo wR="127000" hR="88900" stAng="16200000" swAng="-5400000"/>
                <a:close/>
              </a:path>
            </a:pathLst>
          </a:cu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0" name="Image 2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0" y="2181721"/>
            <a:ext cx="279400" cy="279400"/>
          </a:xfrm>
          <a:prstGeom prst="rect">
            <a:avLst/>
          </a:prstGeom>
          <a:ln/>
        </p:spPr>
      </p:pic>
      <p:sp>
        <p:nvSpPr>
          <p:cNvPr id="21" name="Text 16"/>
          <p:cNvSpPr/>
          <p:nvPr/>
        </p:nvSpPr>
        <p:spPr>
          <a:xfrm>
            <a:off x="8229600" y="2575421"/>
            <a:ext cx="298246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Incentivo a ciegas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229600" y="2981821"/>
            <a:ext cx="2895600" cy="528241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18"/>
          <p:cNvSpPr/>
          <p:nvPr/>
        </p:nvSpPr>
        <p:spPr>
          <a:xfrm>
            <a:off x="8343900" y="3032621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Incentivos altos vs. Indicadores (1.0–2.0)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229600" y="3886002"/>
            <a:ext cx="2982468" cy="1517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pagan bonos sin un tablero diario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se 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premia el resultado</a:t>
            </a:r>
            <a:r>
              <a:rPr lang="en-US" sz="16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no</a:t>
            </a:r>
            <a:r>
              <a:rPr lang="en-US" sz="16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la rutina.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estructura explica la mayor brecha entre tambos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Cuartil</a:t>
            </a: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 inferior vs. superior · Datos </a:t>
            </a: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ilustrativos</a:t>
            </a: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2971800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6592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4507992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72784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044184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08976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7580376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45168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9116568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881360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10652760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88366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Estructura</a:t>
            </a:r>
            <a:r>
              <a:rPr lang="en-US" sz="1400" b="1" dirty="0">
                <a:latin typeface="Nunito Sans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5546" y="2295144"/>
            <a:ext cx="2918765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5883250" y="2212848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8802014" y="2212848"/>
            <a:ext cx="164592" cy="164592"/>
          </a:xfrm>
          <a:prstGeom prst="ellipse">
            <a:avLst/>
          </a:prstGeom>
          <a:solidFill>
            <a:srgbClr val="B85C38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 txBox="1"/>
          <p:nvPr/>
        </p:nvSpPr>
        <p:spPr>
          <a:xfrm>
            <a:off x="5508346" y="2404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A4636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27110" y="1947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018520" y="2148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B85C3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+1.9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2491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1400" b="1" dirty="0">
                <a:latin typeface="Nunito Sans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0022" y="3136392"/>
            <a:ext cx="2457907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6497726" y="3054096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8955634" y="3054096"/>
            <a:ext cx="164592" cy="164592"/>
          </a:xfrm>
          <a:prstGeom prst="ellipse">
            <a:avLst/>
          </a:prstGeom>
          <a:solidFill>
            <a:srgbClr val="B85C38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 txBox="1"/>
          <p:nvPr/>
        </p:nvSpPr>
        <p:spPr>
          <a:xfrm>
            <a:off x="6122822" y="3246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A4636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80730" y="2788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18520" y="2990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7A5E4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+1.6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 err="1">
                <a:latin typeface="Nunito Sans" pitchFamily="34" charset="0"/>
                <a:ea typeface="Calibri" pitchFamily="34" charset="-122"/>
                <a:cs typeface="Calibri" pitchFamily="34" charset="-120"/>
              </a:rPr>
              <a:t>Incentivos</a:t>
            </a:r>
            <a:r>
              <a:rPr lang="en-US" sz="1400" b="1" dirty="0">
                <a:latin typeface="Nunito Sans" pitchFamily="34" charset="0"/>
                <a:ea typeface="Calibri" pitchFamily="34" charset="-122"/>
                <a:cs typeface="Calibri" pitchFamily="34" charset="-120"/>
              </a:rPr>
              <a:t> y Cultura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501738" y="3977640"/>
            <a:ext cx="1689811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7419442" y="3895344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9109253" y="3895344"/>
            <a:ext cx="164592" cy="164592"/>
          </a:xfrm>
          <a:prstGeom prst="ellipse">
            <a:avLst/>
          </a:prstGeom>
          <a:solidFill>
            <a:srgbClr val="B85C38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 txBox="1"/>
          <p:nvPr/>
        </p:nvSpPr>
        <p:spPr>
          <a:xfrm>
            <a:off x="7044538" y="4087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A4636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734349" y="3630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018520" y="38313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7A5E4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+1.1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4074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400" b="1" dirty="0">
                <a:latin typeface="Nunito Sans" pitchFamily="34" charset="0"/>
                <a:ea typeface="Calibri" pitchFamily="34" charset="-122"/>
                <a:cs typeface="Calibri" pitchFamily="34" charset="-120"/>
              </a:rPr>
              <a:t>Desarrollo del Equipo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116214" y="4818888"/>
            <a:ext cx="1228954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8033918" y="4736592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Shape 38"/>
          <p:cNvSpPr/>
          <p:nvPr/>
        </p:nvSpPr>
        <p:spPr>
          <a:xfrm>
            <a:off x="9262872" y="4736592"/>
            <a:ext cx="164592" cy="164592"/>
          </a:xfrm>
          <a:prstGeom prst="ellipse">
            <a:avLst/>
          </a:prstGeom>
          <a:solidFill>
            <a:srgbClr val="B85C38"/>
          </a:solidFill>
          <a:ln w="19050">
            <a:solidFill>
              <a:srgbClr val="FFFBF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 txBox="1"/>
          <p:nvPr/>
        </p:nvSpPr>
        <p:spPr>
          <a:xfrm>
            <a:off x="7659014" y="4928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5A4636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887968" y="4471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018520" y="4672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>
                <a:solidFill>
                  <a:srgbClr val="7A5E4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+0.8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200400" y="1572768"/>
            <a:ext cx="128016" cy="128016"/>
          </a:xfrm>
          <a:prstGeom prst="ellipse">
            <a:avLst/>
          </a:prstGeom>
          <a:solidFill>
            <a:srgbClr val="5A4636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 txBox="1"/>
          <p:nvPr/>
        </p:nvSpPr>
        <p:spPr>
          <a:xfrm>
            <a:off x="340156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Cuartil inferior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937760" y="1572768"/>
            <a:ext cx="128016" cy="128016"/>
          </a:xfrm>
          <a:prstGeom prst="ellipse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 txBox="1"/>
          <p:nvPr/>
        </p:nvSpPr>
        <p:spPr>
          <a:xfrm>
            <a:off x="513892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Cuartil superior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1018520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60527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B85C3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EL HALLAZGO QUE QUEDA A LA VISTA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7698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mayor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diferencia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no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está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formar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gente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sino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tener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i="1" dirty="0" err="1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estructura</a:t>
            </a:r>
            <a:r>
              <a:rPr lang="en-US" i="1" dirty="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5411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Qué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pasa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comparamos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al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grupo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una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empresa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referente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el </a:t>
            </a:r>
            <a:r>
              <a:rPr lang="en-US" sz="20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tema</a:t>
            </a:r>
            <a:r>
              <a:rPr lang="en-US" sz="20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? </a:t>
            </a:r>
          </a:p>
          <a:p>
            <a:pPr marL="0" indent="0" algn="l">
              <a:lnSpc>
                <a:spcPts val="3520"/>
              </a:lnSpc>
              <a:buNone/>
            </a:pP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</a:t>
            </a:r>
            <a:r>
              <a:rPr lang="en-US" sz="20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mayoría</a:t>
            </a: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 </a:t>
            </a:r>
            <a:r>
              <a:rPr lang="en-US" sz="20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</a:t>
            </a: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tambos </a:t>
            </a:r>
            <a:r>
              <a:rPr lang="en-US" sz="20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queda</a:t>
            </a: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000" dirty="0" err="1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debajo</a:t>
            </a:r>
            <a:r>
              <a:rPr lang="en-US" sz="2000" dirty="0">
                <a:solidFill>
                  <a:srgbClr val="C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del benchmark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87400" y="18034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Madurez</a:t>
            </a: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por empresa, escala 0–5 · </a:t>
            </a:r>
            <a:r>
              <a:rPr lang="en-US" sz="1400" dirty="0" err="1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Distribución</a:t>
            </a:r>
            <a:r>
              <a:rPr lang="en-US" sz="14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ilustrativa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2800" y="3809901"/>
            <a:ext cx="609600" cy="1066800"/>
          </a:xfrm>
          <a:custGeom>
            <a:avLst/>
            <a:gdLst/>
            <a:ahLst/>
            <a:cxnLst/>
            <a:rect l="l" t="t" r="r" b="b"/>
            <a:pathLst>
              <a:path w="609600" h="1066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066800"/>
                </a:lnTo>
                <a:lnTo>
                  <a:pt x="0" y="1066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787400" y="38734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74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24000" y="3657501"/>
            <a:ext cx="609600" cy="1219200"/>
          </a:xfrm>
          <a:custGeom>
            <a:avLst/>
            <a:gdLst/>
            <a:ahLst/>
            <a:cxnLst/>
            <a:rect l="l" t="t" r="r" b="b"/>
            <a:pathLst>
              <a:path w="609600" h="12192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219200"/>
                </a:lnTo>
                <a:lnTo>
                  <a:pt x="0" y="12192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1498600" y="37210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986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35200" y="3505101"/>
            <a:ext cx="609600" cy="1371600"/>
          </a:xfrm>
          <a:custGeom>
            <a:avLst/>
            <a:gdLst/>
            <a:ahLst/>
            <a:cxnLst/>
            <a:rect l="l" t="t" r="r" b="b"/>
            <a:pathLst>
              <a:path w="609600" h="1371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371600"/>
                </a:lnTo>
                <a:lnTo>
                  <a:pt x="0" y="1371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2209800" y="35686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098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46400" y="3403501"/>
            <a:ext cx="609600" cy="1473200"/>
          </a:xfrm>
          <a:custGeom>
            <a:avLst/>
            <a:gdLst/>
            <a:ahLst/>
            <a:cxnLst/>
            <a:rect l="l" t="t" r="r" b="b"/>
            <a:pathLst>
              <a:path w="609600" h="14732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473200"/>
                </a:lnTo>
                <a:lnTo>
                  <a:pt x="0" y="14732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2921000" y="34670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10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3352701"/>
            <a:ext cx="609600" cy="1524000"/>
          </a:xfrm>
          <a:custGeom>
            <a:avLst/>
            <a:gdLst/>
            <a:ahLst/>
            <a:cxnLst/>
            <a:rect l="l" t="t" r="r" b="b"/>
            <a:pathLst>
              <a:path w="609600" h="15240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524000"/>
                </a:lnTo>
                <a:lnTo>
                  <a:pt x="0" y="15240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3632200" y="34162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322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68800" y="3301901"/>
            <a:ext cx="609600" cy="1574800"/>
          </a:xfrm>
          <a:custGeom>
            <a:avLst/>
            <a:gdLst/>
            <a:ahLst/>
            <a:cxnLst/>
            <a:rect l="l" t="t" r="r" b="b"/>
            <a:pathLst>
              <a:path w="609600" h="1574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574800"/>
                </a:lnTo>
                <a:lnTo>
                  <a:pt x="0" y="1574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4343400" y="33654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434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80000" y="3251101"/>
            <a:ext cx="609600" cy="1625600"/>
          </a:xfrm>
          <a:custGeom>
            <a:avLst/>
            <a:gdLst/>
            <a:ahLst/>
            <a:cxnLst/>
            <a:rect l="l" t="t" r="r" b="b"/>
            <a:pathLst>
              <a:path w="609600" h="1625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625600"/>
                </a:lnTo>
                <a:lnTo>
                  <a:pt x="0" y="1625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Text 21"/>
          <p:cNvSpPr/>
          <p:nvPr/>
        </p:nvSpPr>
        <p:spPr>
          <a:xfrm>
            <a:off x="5054600" y="33146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546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791200" y="3200301"/>
            <a:ext cx="609600" cy="1676400"/>
          </a:xfrm>
          <a:custGeom>
            <a:avLst/>
            <a:gdLst/>
            <a:ahLst/>
            <a:cxnLst/>
            <a:rect l="l" t="t" r="r" b="b"/>
            <a:pathLst>
              <a:path w="609600" h="16764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676400"/>
                </a:lnTo>
                <a:lnTo>
                  <a:pt x="0" y="16764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/>
          <p:nvPr/>
        </p:nvSpPr>
        <p:spPr>
          <a:xfrm>
            <a:off x="5765800" y="32638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58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02400" y="3200301"/>
            <a:ext cx="609600" cy="1676400"/>
          </a:xfrm>
          <a:custGeom>
            <a:avLst/>
            <a:gdLst/>
            <a:ahLst/>
            <a:cxnLst/>
            <a:rect l="l" t="t" r="r" b="b"/>
            <a:pathLst>
              <a:path w="609600" h="16764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676400"/>
                </a:lnTo>
                <a:lnTo>
                  <a:pt x="0" y="16764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Text 27"/>
          <p:cNvSpPr/>
          <p:nvPr/>
        </p:nvSpPr>
        <p:spPr>
          <a:xfrm>
            <a:off x="6477000" y="32638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770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13600" y="3149501"/>
            <a:ext cx="609600" cy="1727200"/>
          </a:xfrm>
          <a:custGeom>
            <a:avLst/>
            <a:gdLst/>
            <a:ahLst/>
            <a:cxnLst/>
            <a:rect l="l" t="t" r="r" b="b"/>
            <a:pathLst>
              <a:path w="609600" h="17272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727200"/>
                </a:lnTo>
                <a:lnTo>
                  <a:pt x="0" y="17272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Text 30"/>
          <p:cNvSpPr/>
          <p:nvPr/>
        </p:nvSpPr>
        <p:spPr>
          <a:xfrm>
            <a:off x="7188200" y="32130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882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24800" y="3098701"/>
            <a:ext cx="609600" cy="1778000"/>
          </a:xfrm>
          <a:custGeom>
            <a:avLst/>
            <a:gdLst/>
            <a:ahLst/>
            <a:cxnLst/>
            <a:rect l="l" t="t" r="r" b="b"/>
            <a:pathLst>
              <a:path w="609600" h="17780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778000"/>
                </a:lnTo>
                <a:lnTo>
                  <a:pt x="0" y="17780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/>
          <p:nvPr/>
        </p:nvSpPr>
        <p:spPr>
          <a:xfrm>
            <a:off x="7899400" y="31622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994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36000" y="3047901"/>
            <a:ext cx="609600" cy="1828800"/>
          </a:xfrm>
          <a:custGeom>
            <a:avLst/>
            <a:gdLst/>
            <a:ahLst/>
            <a:cxnLst/>
            <a:rect l="l" t="t" r="r" b="b"/>
            <a:pathLst>
              <a:path w="609600" h="18288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828800"/>
                </a:lnTo>
                <a:lnTo>
                  <a:pt x="0" y="18288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8610600" y="31114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106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347200" y="2997101"/>
            <a:ext cx="609600" cy="1879600"/>
          </a:xfrm>
          <a:custGeom>
            <a:avLst/>
            <a:gdLst/>
            <a:ahLst/>
            <a:cxnLst/>
            <a:rect l="l" t="t" r="r" b="b"/>
            <a:pathLst>
              <a:path w="609600" h="1879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879600"/>
                </a:lnTo>
                <a:lnTo>
                  <a:pt x="0" y="1879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/>
          <p:nvPr/>
        </p:nvSpPr>
        <p:spPr>
          <a:xfrm>
            <a:off x="9321800" y="30606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3.7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3218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058400" y="2895501"/>
            <a:ext cx="609600" cy="1981200"/>
          </a:xfrm>
          <a:custGeom>
            <a:avLst/>
            <a:gdLst/>
            <a:ahLst/>
            <a:cxnLst/>
            <a:rect l="l" t="t" r="r" b="b"/>
            <a:pathLst>
              <a:path w="609600" h="19812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1981200"/>
                </a:lnTo>
                <a:lnTo>
                  <a:pt x="0" y="19812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4" name="Text 42"/>
          <p:cNvSpPr/>
          <p:nvPr/>
        </p:nvSpPr>
        <p:spPr>
          <a:xfrm>
            <a:off x="10033000" y="29590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3.9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330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769600" y="2743101"/>
            <a:ext cx="609600" cy="2133600"/>
          </a:xfrm>
          <a:custGeom>
            <a:avLst/>
            <a:gdLst/>
            <a:ahLst/>
            <a:cxnLst/>
            <a:rect l="l" t="t" r="r" b="b"/>
            <a:pathLst>
              <a:path w="609600" h="2133600">
                <a:moveTo>
                  <a:pt x="63500" y="0"/>
                </a:moveTo>
                <a:lnTo>
                  <a:pt x="546100" y="0"/>
                </a:lnTo>
                <a:arcTo wR="63500" hR="63500" stAng="16200000" swAng="5400000"/>
                <a:lnTo>
                  <a:pt x="609600" y="2133600"/>
                </a:lnTo>
                <a:lnTo>
                  <a:pt x="0" y="2133600"/>
                </a:lnTo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/>
          <p:nvPr/>
        </p:nvSpPr>
        <p:spPr>
          <a:xfrm>
            <a:off x="10744200" y="28066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4.2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0744200" y="4927501"/>
            <a:ext cx="660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200" dirty="0"/>
          </a:p>
        </p:txBody>
      </p:sp>
      <p:pic>
        <p:nvPicPr>
          <p:cNvPr id="49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38921"/>
            <a:ext cx="10566400" cy="38100"/>
          </a:xfrm>
          <a:prstGeom prst="rect">
            <a:avLst/>
          </a:prstGeom>
          <a:ln/>
        </p:spPr>
      </p:pic>
      <p:sp>
        <p:nvSpPr>
          <p:cNvPr id="50" name="Text 47"/>
          <p:cNvSpPr/>
          <p:nvPr/>
        </p:nvSpPr>
        <p:spPr>
          <a:xfrm>
            <a:off x="812800" y="2346821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BENCHMARK · 4.4</a:t>
            </a:r>
            <a:endParaRPr lang="en-US" sz="1400" dirty="0"/>
          </a:p>
        </p:txBody>
      </p:sp>
      <p:pic>
        <p:nvPicPr>
          <p:cNvPr id="51" name="Image 1" descr="lin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3197721"/>
            <a:ext cx="10566400" cy="381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2" name="Text 48"/>
          <p:cNvSpPr/>
          <p:nvPr/>
        </p:nvSpPr>
        <p:spPr>
          <a:xfrm>
            <a:off x="812800" y="2905621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PROMEDIO DEL GRUPO · 3.3</a:t>
            </a:r>
            <a:endParaRPr lang="en-US" sz="1400" dirty="0"/>
          </a:p>
        </p:txBody>
      </p:sp>
      <p:sp>
        <p:nvSpPr>
          <p:cNvPr id="53" name="Text 49"/>
          <p:cNvSpPr/>
          <p:nvPr/>
        </p:nvSpPr>
        <p:spPr>
          <a:xfrm>
            <a:off x="812800" y="5394821"/>
            <a:ext cx="10883392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rutina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ya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existe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; falta </a:t>
            </a:r>
            <a:r>
              <a:rPr lang="en-US" sz="2000" i="1" dirty="0" err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sostenerla</a:t>
            </a:r>
            <a:r>
              <a:rPr lang="en-US" sz="2000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sin el control.</a:t>
            </a:r>
            <a:endParaRPr lang="en-US" sz="2000" dirty="0"/>
          </a:p>
        </p:txBody>
      </p:sp>
      <p:sp>
        <p:nvSpPr>
          <p:cNvPr id="54" name="Text 50"/>
          <p:cNvSpPr/>
          <p:nvPr/>
        </p:nvSpPr>
        <p:spPr>
          <a:xfrm>
            <a:off x="812800" y="6217940"/>
            <a:ext cx="63236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 · Tambos numerados 01 a 15, de menor a mayor puntaje</a:t>
            </a:r>
            <a:endParaRPr lang="en-US" sz="1200" dirty="0"/>
          </a:p>
        </p:txBody>
      </p:sp>
      <p:sp>
        <p:nvSpPr>
          <p:cNvPr id="55" name="Text 51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>
                <a:solidFill>
                  <a:srgbClr val="3B2A1E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mayoría de los tambos queda debajo del benchmark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Madurez por empresa, escala 0–5 · Distribución ilustrativa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00200" y="1888236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1600200" y="1888236"/>
            <a:ext cx="3725266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1600200" y="2144268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Shape 5"/>
          <p:cNvSpPr/>
          <p:nvPr/>
        </p:nvSpPr>
        <p:spPr>
          <a:xfrm>
            <a:off x="1600200" y="2144268"/>
            <a:ext cx="4257446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Shape 6"/>
          <p:cNvSpPr/>
          <p:nvPr/>
        </p:nvSpPr>
        <p:spPr>
          <a:xfrm>
            <a:off x="1600200" y="2400300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Shape 7"/>
          <p:cNvSpPr/>
          <p:nvPr/>
        </p:nvSpPr>
        <p:spPr>
          <a:xfrm>
            <a:off x="1600200" y="2400300"/>
            <a:ext cx="4789627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1600200" y="2656332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1600200" y="2656332"/>
            <a:ext cx="5144414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1600200" y="2912364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1600200" y="2912364"/>
            <a:ext cx="5321808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1600200" y="3168396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1600200" y="3168396"/>
            <a:ext cx="5499202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1600200" y="3424428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1600200" y="3424428"/>
            <a:ext cx="5676595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1600200" y="3680460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Shape 17"/>
          <p:cNvSpPr/>
          <p:nvPr/>
        </p:nvSpPr>
        <p:spPr>
          <a:xfrm>
            <a:off x="1600200" y="3680460"/>
            <a:ext cx="5853989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8"/>
          <p:cNvSpPr/>
          <p:nvPr/>
        </p:nvSpPr>
        <p:spPr>
          <a:xfrm>
            <a:off x="1600200" y="3936492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1600200" y="3936492"/>
            <a:ext cx="5853989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1600200" y="4192524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1600200" y="4192524"/>
            <a:ext cx="6031382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1600200" y="4448556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1600200" y="4448556"/>
            <a:ext cx="6208776" cy="137160"/>
          </a:xfrm>
          <a:prstGeom prst="rect">
            <a:avLst/>
          </a:prstGeom>
          <a:solidFill>
            <a:srgbClr val="DCC9A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>
            <a:off x="1600200" y="4704588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Shape 25"/>
          <p:cNvSpPr/>
          <p:nvPr/>
        </p:nvSpPr>
        <p:spPr>
          <a:xfrm>
            <a:off x="1600200" y="4704588"/>
            <a:ext cx="6386170" cy="13716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1600200" y="4960620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1600200" y="4960620"/>
            <a:ext cx="6563563" cy="13716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1600200" y="5216652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>
            <a:off x="1600200" y="5216652"/>
            <a:ext cx="6918350" cy="13716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1600200" y="5472684"/>
            <a:ext cx="8869680" cy="137160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1600200" y="5472684"/>
            <a:ext cx="7450531" cy="13716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4" name="Shape 32"/>
          <p:cNvSpPr/>
          <p:nvPr/>
        </p:nvSpPr>
        <p:spPr>
          <a:xfrm>
            <a:off x="7454189" y="1371600"/>
            <a:ext cx="0" cy="4297680"/>
          </a:xfrm>
          <a:prstGeom prst="line">
            <a:avLst/>
          </a:prstGeom>
          <a:noFill/>
          <a:ln w="22225">
            <a:solidFill>
              <a:srgbClr val="C9962C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35" name="Text 33"/>
          <p:cNvSpPr txBox="1"/>
          <p:nvPr/>
        </p:nvSpPr>
        <p:spPr>
          <a:xfrm>
            <a:off x="6631229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C9962C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PROMEDIO · 3.3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405518" y="1371600"/>
            <a:ext cx="0" cy="4297680"/>
          </a:xfrm>
          <a:prstGeom prst="line">
            <a:avLst/>
          </a:prstGeom>
          <a:noFill/>
          <a:ln w="22225">
            <a:solidFill>
              <a:srgbClr val="3B2A1E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37" name="Text 35"/>
          <p:cNvSpPr txBox="1"/>
          <p:nvPr/>
        </p:nvSpPr>
        <p:spPr>
          <a:xfrm>
            <a:off x="8582558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BENCHMARK · 4.4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1810512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 txBox="1"/>
          <p:nvPr/>
        </p:nvSpPr>
        <p:spPr>
          <a:xfrm>
            <a:off x="5029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98618" y="1810512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 txBox="1"/>
          <p:nvPr/>
        </p:nvSpPr>
        <p:spPr>
          <a:xfrm>
            <a:off x="5398618" y="1810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2066544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 txBox="1"/>
          <p:nvPr/>
        </p:nvSpPr>
        <p:spPr>
          <a:xfrm>
            <a:off x="5029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30798" y="2066544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 txBox="1"/>
          <p:nvPr/>
        </p:nvSpPr>
        <p:spPr>
          <a:xfrm>
            <a:off x="5930798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2322576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7" name="Text 45"/>
          <p:cNvSpPr txBox="1"/>
          <p:nvPr/>
        </p:nvSpPr>
        <p:spPr>
          <a:xfrm>
            <a:off x="502920" y="2322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62979" y="2322576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9" name="Text 47"/>
          <p:cNvSpPr txBox="1"/>
          <p:nvPr/>
        </p:nvSpPr>
        <p:spPr>
          <a:xfrm>
            <a:off x="6462979" y="2322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2578608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 txBox="1"/>
          <p:nvPr/>
        </p:nvSpPr>
        <p:spPr>
          <a:xfrm>
            <a:off x="502920" y="2578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7766" y="2578608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3" name="Text 51"/>
          <p:cNvSpPr txBox="1"/>
          <p:nvPr/>
        </p:nvSpPr>
        <p:spPr>
          <a:xfrm>
            <a:off x="6817766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2834640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5" name="Text 53"/>
          <p:cNvSpPr txBox="1"/>
          <p:nvPr/>
        </p:nvSpPr>
        <p:spPr>
          <a:xfrm>
            <a:off x="502920" y="28346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95160" y="2834640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 txBox="1"/>
          <p:nvPr/>
        </p:nvSpPr>
        <p:spPr>
          <a:xfrm>
            <a:off x="6995160" y="2834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3090672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9" name="Text 57"/>
          <p:cNvSpPr txBox="1"/>
          <p:nvPr/>
        </p:nvSpPr>
        <p:spPr>
          <a:xfrm>
            <a:off x="502920" y="3090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06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172554" y="3090672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1" name="Text 59"/>
          <p:cNvSpPr txBox="1"/>
          <p:nvPr/>
        </p:nvSpPr>
        <p:spPr>
          <a:xfrm>
            <a:off x="7172554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3346704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3" name="Text 61"/>
          <p:cNvSpPr txBox="1"/>
          <p:nvPr/>
        </p:nvSpPr>
        <p:spPr>
          <a:xfrm>
            <a:off x="502920" y="33467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349947" y="3346704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5" name="Text 63"/>
          <p:cNvSpPr txBox="1"/>
          <p:nvPr/>
        </p:nvSpPr>
        <p:spPr>
          <a:xfrm>
            <a:off x="7349947" y="3346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3602736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7" name="Text 65"/>
          <p:cNvSpPr txBox="1"/>
          <p:nvPr/>
        </p:nvSpPr>
        <p:spPr>
          <a:xfrm>
            <a:off x="502920" y="36027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08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527341" y="3602736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9" name="Text 67"/>
          <p:cNvSpPr txBox="1"/>
          <p:nvPr/>
        </p:nvSpPr>
        <p:spPr>
          <a:xfrm>
            <a:off x="7527341" y="3602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3858768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1" name="Text 69"/>
          <p:cNvSpPr txBox="1"/>
          <p:nvPr/>
        </p:nvSpPr>
        <p:spPr>
          <a:xfrm>
            <a:off x="502920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09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527341" y="3858768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3" name="Text 71"/>
          <p:cNvSpPr txBox="1"/>
          <p:nvPr/>
        </p:nvSpPr>
        <p:spPr>
          <a:xfrm>
            <a:off x="7527341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57200" y="4114800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5" name="Text 73"/>
          <p:cNvSpPr txBox="1"/>
          <p:nvPr/>
        </p:nvSpPr>
        <p:spPr>
          <a:xfrm>
            <a:off x="502920" y="4114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704734" y="4114800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7" name="Text 75"/>
          <p:cNvSpPr txBox="1"/>
          <p:nvPr/>
        </p:nvSpPr>
        <p:spPr>
          <a:xfrm>
            <a:off x="7704734" y="4114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4370832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9" name="Text 77"/>
          <p:cNvSpPr txBox="1"/>
          <p:nvPr/>
        </p:nvSpPr>
        <p:spPr>
          <a:xfrm>
            <a:off x="502920" y="43708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11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882128" y="4370832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1" name="Text 79"/>
          <p:cNvSpPr txBox="1"/>
          <p:nvPr/>
        </p:nvSpPr>
        <p:spPr>
          <a:xfrm>
            <a:off x="7882128" y="4370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57200" y="4626864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3" name="Text 81"/>
          <p:cNvSpPr txBox="1"/>
          <p:nvPr/>
        </p:nvSpPr>
        <p:spPr>
          <a:xfrm>
            <a:off x="502920" y="46268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12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059522" y="4626864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5" name="Text 83"/>
          <p:cNvSpPr txBox="1"/>
          <p:nvPr/>
        </p:nvSpPr>
        <p:spPr>
          <a:xfrm>
            <a:off x="8059522" y="46268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57200" y="4882896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7" name="Text 85"/>
          <p:cNvSpPr txBox="1"/>
          <p:nvPr/>
        </p:nvSpPr>
        <p:spPr>
          <a:xfrm>
            <a:off x="502920" y="48828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13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236915" y="4882896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9" name="Text 87"/>
          <p:cNvSpPr txBox="1"/>
          <p:nvPr/>
        </p:nvSpPr>
        <p:spPr>
          <a:xfrm>
            <a:off x="8236915" y="4882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57200" y="5138928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1" name="Text 89"/>
          <p:cNvSpPr txBox="1"/>
          <p:nvPr/>
        </p:nvSpPr>
        <p:spPr>
          <a:xfrm>
            <a:off x="502920" y="5138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14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591702" y="5138928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3" name="Text 91"/>
          <p:cNvSpPr txBox="1"/>
          <p:nvPr/>
        </p:nvSpPr>
        <p:spPr>
          <a:xfrm>
            <a:off x="8591702" y="5138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5394960"/>
            <a:ext cx="109728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5" name="Text 93"/>
          <p:cNvSpPr txBox="1"/>
          <p:nvPr/>
        </p:nvSpPr>
        <p:spPr>
          <a:xfrm>
            <a:off x="502920" y="5394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Tambo 15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9123883" y="5394960"/>
            <a:ext cx="548640" cy="256032"/>
          </a:xfrm>
          <a:prstGeom prst="rect">
            <a:avLst/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7" name="Text 95"/>
          <p:cNvSpPr txBox="1"/>
          <p:nvPr/>
        </p:nvSpPr>
        <p:spPr>
          <a:xfrm>
            <a:off x="9123883" y="5394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2A1E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1600200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9" name="Text 97"/>
          <p:cNvSpPr txBox="1"/>
          <p:nvPr/>
        </p:nvSpPr>
        <p:spPr>
          <a:xfrm>
            <a:off x="1371600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374136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1" name="Text 99"/>
          <p:cNvSpPr txBox="1"/>
          <p:nvPr/>
        </p:nvSpPr>
        <p:spPr>
          <a:xfrm>
            <a:off x="3145536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148072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3" name="Text 101"/>
          <p:cNvSpPr txBox="1"/>
          <p:nvPr/>
        </p:nvSpPr>
        <p:spPr>
          <a:xfrm>
            <a:off x="4919472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922008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5" name="Text 103"/>
          <p:cNvSpPr txBox="1"/>
          <p:nvPr/>
        </p:nvSpPr>
        <p:spPr>
          <a:xfrm>
            <a:off x="6693408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695944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7" name="Text 105"/>
          <p:cNvSpPr txBox="1"/>
          <p:nvPr/>
        </p:nvSpPr>
        <p:spPr>
          <a:xfrm>
            <a:off x="8467344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0469880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9" name="Text 107"/>
          <p:cNvSpPr txBox="1"/>
          <p:nvPr/>
        </p:nvSpPr>
        <p:spPr>
          <a:xfrm>
            <a:off x="10241280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B85C38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rutina ya existe; falta sostenerla sin el dueño.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7A5E48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benchmark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creció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porque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instaló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200" dirty="0" err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Partieron </a:t>
            </a:r>
            <a:r>
              <a:rPr lang="en-US" sz="20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igual; cambiaron</a:t>
            </a: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lo que decidieron instalar.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1838821"/>
            <a:ext cx="5181600" cy="3037483"/>
          </a:xfrm>
          <a:prstGeom prst="roundRect">
            <a:avLst>
              <a:gd name="adj" fmla="val 41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92200" y="2118221"/>
            <a:ext cx="80952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003326" y="2153841"/>
            <a:ext cx="17579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 PROMEDIO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03326" y="2392561"/>
            <a:ext cx="175796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Nivel Definido</a:t>
            </a:r>
            <a:endParaRPr lang="en-US" sz="1400" dirty="0"/>
          </a:p>
        </p:txBody>
      </p:sp>
      <p:pic>
        <p:nvPicPr>
          <p:cNvPr id="8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2804021"/>
            <a:ext cx="4622800" cy="25400"/>
          </a:xfrm>
          <a:prstGeom prst="rect">
            <a:avLst/>
          </a:prstGeom>
          <a:ln/>
        </p:spPr>
      </p:pic>
      <p:sp>
        <p:nvSpPr>
          <p:cNvPr id="9" name="Text 6"/>
          <p:cNvSpPr/>
          <p:nvPr/>
        </p:nvSpPr>
        <p:spPr>
          <a:xfrm>
            <a:off x="1092200" y="2956421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estructura depende de la presencia diaria del </a:t>
            </a:r>
            <a:r>
              <a:rPr lang="en-US" sz="13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dueño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/ </a:t>
            </a:r>
            <a:r>
              <a:rPr lang="en-US" sz="13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encargado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2200" y="3314502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rutina se transmite de palabra; casi nada está escrito.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2200" y="3672582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bonos premian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resultados 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sin </a:t>
            </a:r>
            <a:r>
              <a:rPr lang="en-US" sz="13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medir la rutina</a:t>
            </a:r>
            <a:r>
              <a:rPr lang="en-US" sz="13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97600" y="1838821"/>
            <a:ext cx="5181600" cy="3037483"/>
          </a:xfrm>
          <a:prstGeom prst="roundRect">
            <a:avLst>
              <a:gd name="adj" fmla="val 4181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0"/>
          <p:cNvSpPr/>
          <p:nvPr/>
        </p:nvSpPr>
        <p:spPr>
          <a:xfrm>
            <a:off x="6477000" y="2118221"/>
            <a:ext cx="79345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>
                <a:solidFill>
                  <a:srgbClr val="D9A4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4.4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7372052" y="2153841"/>
            <a:ext cx="257450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 BENCHMARK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72052" y="2392561"/>
            <a:ext cx="257450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Nivel Estratégico / Optimizado</a:t>
            </a:r>
            <a:endParaRPr lang="en-US" sz="1400" dirty="0"/>
          </a:p>
        </p:txBody>
      </p:sp>
      <p:pic>
        <p:nvPicPr>
          <p:cNvPr id="16" name="Image 1" descr="lin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7000" y="2804021"/>
            <a:ext cx="4622800" cy="25400"/>
          </a:xfrm>
          <a:prstGeom prst="rect">
            <a:avLst/>
          </a:prstGeom>
          <a:ln/>
        </p:spPr>
      </p:pic>
      <p:sp>
        <p:nvSpPr>
          <p:cNvPr id="17" name="Text 13"/>
          <p:cNvSpPr/>
          <p:nvPr/>
        </p:nvSpPr>
        <p:spPr>
          <a:xfrm>
            <a:off x="6477000" y="2956421"/>
            <a:ext cx="47614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Roles</a:t>
            </a: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procedimientos y reglas de delegación</a:t>
            </a:r>
            <a:r>
              <a:rPr lang="en-US" sz="13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están escritos</a:t>
            </a: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77000" y="3545582"/>
            <a:ext cx="47614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Audita cada tambo </a:t>
            </a:r>
            <a:r>
              <a:rPr lang="en-US" sz="13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cada proceso una vez </a:t>
            </a: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por </a:t>
            </a:r>
            <a:r>
              <a:rPr lang="en-US" sz="13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trimestre</a:t>
            </a: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77000" y="4134743"/>
            <a:ext cx="476148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Mide la rotación y entrevista a cada persona que se va.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12800" y="5130304"/>
            <a:ext cx="10883392" cy="833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Caso: empresa familiar con 2.500 vacas y una estructura que ya no depende de la presencia física del dueño.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8529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Cruzar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techo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exige método, no más inversión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24131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Prácticas de nivel Estratégico: </a:t>
            </a:r>
            <a:r>
              <a:rPr lang="en-US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exigen método</a:t>
            </a:r>
            <a:r>
              <a:rPr lang="en-US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más inversión</a:t>
            </a:r>
            <a:r>
              <a:rPr lang="en-US" dirty="0"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12800" y="1788021"/>
            <a:ext cx="3420467" cy="1348680"/>
          </a:xfrm>
          <a:prstGeom prst="roundRect">
            <a:avLst>
              <a:gd name="adj" fmla="val 9417"/>
            </a:avLst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 sz="2000"/>
          </a:p>
        </p:txBody>
      </p:sp>
      <p:pic>
        <p:nvPicPr>
          <p:cNvPr id="5" name="Image 0" descr="Verifi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000" y="1965821"/>
            <a:ext cx="254000" cy="25400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371600" y="1970881"/>
            <a:ext cx="264195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Identifica y retiene talento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2296020"/>
            <a:ext cx="3104489" cy="789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Ubica a cada persona en el rol correcto y trabaja para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retenerla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85667" y="1788021"/>
            <a:ext cx="3420566" cy="1348680"/>
          </a:xfrm>
          <a:prstGeom prst="roundRect">
            <a:avLst>
              <a:gd name="adj" fmla="val 9417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8867" y="1965821"/>
            <a:ext cx="254000" cy="254000"/>
          </a:xfrm>
          <a:prstGeom prst="rect">
            <a:avLst/>
          </a:prstGeom>
          <a:ln/>
        </p:spPr>
      </p:pic>
      <p:sp>
        <p:nvSpPr>
          <p:cNvPr id="10" name="Text 6"/>
          <p:cNvSpPr/>
          <p:nvPr/>
        </p:nvSpPr>
        <p:spPr>
          <a:xfrm>
            <a:off x="4944467" y="1970881"/>
            <a:ext cx="181182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Formaliza cada rol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36467" y="2296020"/>
            <a:ext cx="3256991" cy="800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Define puestos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procedimientos y reglas de delegación.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958634" y="1788021"/>
            <a:ext cx="3420467" cy="1348680"/>
          </a:xfrm>
          <a:prstGeom prst="roundRect">
            <a:avLst>
              <a:gd name="adj" fmla="val 9417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2" descr="CheckCircl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1834" y="1965821"/>
            <a:ext cx="254000" cy="254000"/>
          </a:xfrm>
          <a:prstGeom prst="rect">
            <a:avLst/>
          </a:prstGeom>
          <a:ln/>
        </p:spPr>
      </p:pic>
      <p:sp>
        <p:nvSpPr>
          <p:cNvPr id="14" name="Text 9"/>
          <p:cNvSpPr/>
          <p:nvPr/>
        </p:nvSpPr>
        <p:spPr>
          <a:xfrm>
            <a:off x="8517434" y="1970881"/>
            <a:ext cx="215243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Audita cada trimestre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61834" y="2296021"/>
            <a:ext cx="3104489" cy="68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Audita cada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tambo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cada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rutina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una escala simple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2800" y="3289102"/>
            <a:ext cx="3420467" cy="1582241"/>
          </a:xfrm>
          <a:prstGeom prst="roundRect">
            <a:avLst>
              <a:gd name="adj" fmla="val 8027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GraduationCap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6000" y="3466902"/>
            <a:ext cx="254000" cy="254000"/>
          </a:xfrm>
          <a:prstGeom prst="rect">
            <a:avLst/>
          </a:prstGeom>
          <a:ln/>
        </p:spPr>
      </p:pic>
      <p:sp>
        <p:nvSpPr>
          <p:cNvPr id="18" name="Text 12"/>
          <p:cNvSpPr/>
          <p:nvPr/>
        </p:nvSpPr>
        <p:spPr>
          <a:xfrm>
            <a:off x="1371600" y="3471962"/>
            <a:ext cx="243470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Forma con un plan anual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70788" y="3915399"/>
            <a:ext cx="3104489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Capacita según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evaluación de desempeño, no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por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moda.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385667" y="3289102"/>
            <a:ext cx="3420566" cy="1582241"/>
          </a:xfrm>
          <a:prstGeom prst="roundRect">
            <a:avLst>
              <a:gd name="adj" fmla="val 8027"/>
            </a:avLst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1" name="Image 4" descr="Star"/>
          <p:cNvPicPr>
            <a:picLocks noChangeAspect="1"/>
          </p:cNvPicPr>
          <p:nvPr/>
        </p:nvPicPr>
        <p:blipFill>
          <a:blip r:embed="rId7"/>
          <a:srcRect l="-401" r="-401"/>
          <a:stretch/>
        </p:blipFill>
        <p:spPr>
          <a:xfrm>
            <a:off x="4588867" y="3583682"/>
            <a:ext cx="249634" cy="254000"/>
          </a:xfrm>
          <a:prstGeom prst="rect">
            <a:avLst/>
          </a:prstGeom>
          <a:ln/>
        </p:spPr>
      </p:pic>
      <p:sp>
        <p:nvSpPr>
          <p:cNvPr id="22" name="Text 15"/>
          <p:cNvSpPr/>
          <p:nvPr/>
        </p:nvSpPr>
        <p:spPr>
          <a:xfrm>
            <a:off x="4940102" y="3466902"/>
            <a:ext cx="274282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Evalúa también a sus líderes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88867" y="4030662"/>
            <a:ext cx="3104591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También evalúa y responsabiliza 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encargados.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7958634" y="3289102"/>
            <a:ext cx="3420467" cy="1582241"/>
          </a:xfrm>
          <a:prstGeom prst="roundRect">
            <a:avLst>
              <a:gd name="adj" fmla="val 8027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5" name="Image 5" descr="Chat"/>
          <p:cNvPicPr>
            <a:picLocks noChangeAspect="1"/>
          </p:cNvPicPr>
          <p:nvPr/>
        </p:nvPicPr>
        <p:blipFill>
          <a:blip r:embed="rId8"/>
          <a:srcRect t="-361" b="-361"/>
          <a:stretch/>
        </p:blipFill>
        <p:spPr>
          <a:xfrm>
            <a:off x="8161834" y="3583682"/>
            <a:ext cx="233263" cy="254000"/>
          </a:xfrm>
          <a:prstGeom prst="rect">
            <a:avLst/>
          </a:prstGeom>
          <a:ln/>
        </p:spPr>
      </p:pic>
      <p:sp>
        <p:nvSpPr>
          <p:cNvPr id="26" name="Text 18"/>
          <p:cNvSpPr/>
          <p:nvPr/>
        </p:nvSpPr>
        <p:spPr>
          <a:xfrm>
            <a:off x="8496697" y="3466902"/>
            <a:ext cx="2759580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Escucha por qué se va la gente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161834" y="4030662"/>
            <a:ext cx="3104489" cy="71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Registra cada salida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mide la 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rotación.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812800" y="5074543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i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Sostiene una rutina mensual para celebrar, compartir resultados y escuchar.</a:t>
            </a: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  <p:bldP spid="20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CASO DE REFERENCIA ·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Evaluar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personas y procesos mejora resultados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3810000" cy="1668661"/>
          </a:xfrm>
          <a:prstGeom prst="roundRect">
            <a:avLst>
              <a:gd name="adj" fmla="val 7611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41400" y="2006501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PASO 1 · CADA TRIMESTRE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283321"/>
            <a:ext cx="34533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Auditoría de procesos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400" y="2605881"/>
            <a:ext cx="3453384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Evalúa cada área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califica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sus rutinas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: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óptimas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satisfactorias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aceptables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deficientes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pic>
        <p:nvPicPr>
          <p:cNvPr id="8" name="Image 0" descr="arrow-dow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5400" y="3573562"/>
            <a:ext cx="304800" cy="304800"/>
          </a:xfrm>
          <a:prstGeom prst="rect">
            <a:avLst/>
          </a:prstGeom>
          <a:ln/>
        </p:spPr>
      </p:pic>
      <p:sp>
        <p:nvSpPr>
          <p:cNvPr id="9" name="Shape 6"/>
          <p:cNvSpPr/>
          <p:nvPr/>
        </p:nvSpPr>
        <p:spPr>
          <a:xfrm>
            <a:off x="812800" y="3979962"/>
            <a:ext cx="3810000" cy="1668661"/>
          </a:xfrm>
          <a:prstGeom prst="roundRect">
            <a:avLst>
              <a:gd name="adj" fmla="val 7611"/>
            </a:avLst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1041400" y="4183162"/>
            <a:ext cx="34533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>
                <a:solidFill>
                  <a:srgbClr val="E8B86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PASO 2 · UNA VEZ POR AÑO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41400" y="4459982"/>
            <a:ext cx="345338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Evaluación de desempeño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41400" y="4782542"/>
            <a:ext cx="3453384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Cada gerente evalúa persona por persona y cruza desempeño con objetivos.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79975" y="1806476"/>
            <a:ext cx="6496050" cy="4032349"/>
          </a:xfrm>
          <a:prstGeom prst="roundRect">
            <a:avLst>
              <a:gd name="adj" fmla="val 3071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1"/>
          <p:cNvSpPr/>
          <p:nvPr/>
        </p:nvSpPr>
        <p:spPr>
          <a:xfrm>
            <a:off x="5137150" y="2038251"/>
            <a:ext cx="21277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3.6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137150" y="2520851"/>
            <a:ext cx="2127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desempeño promedio, sobre 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07684" y="2038251"/>
            <a:ext cx="133240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dirty="0">
                <a:solidFill>
                  <a:srgbClr val="8A5A1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108%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7507684" y="2520851"/>
            <a:ext cx="133240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cumplimiento total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38787"/>
              </p:ext>
            </p:extLst>
          </p:nvPr>
        </p:nvGraphicFramePr>
        <p:xfrm>
          <a:off x="5149850" y="2873871"/>
          <a:ext cx="5969000" cy="2514897"/>
        </p:xfrm>
        <a:graphic>
          <a:graphicData uri="http://schemas.openxmlformats.org/drawingml/2006/table">
            <a:tbl>
              <a:tblPr/>
              <a:tblGrid>
                <a:gridCol w="2745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1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Área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Desempeño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Cumplimiento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1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3.7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104%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8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2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3.6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101%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3 · el mejor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4.1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115%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4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3.9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110%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Tambo 5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3.9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110%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Técnicos y soporte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3.9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—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812800" y="6217940"/>
            <a:ext cx="6146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 · Caso de referencia: 5 tambos, 2.500 vacas en ordeñe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CASO DE REFERENCIA ·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capacitación creció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 a casi 3.500 horas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5918200" cy="4038699"/>
          </a:xfrm>
          <a:prstGeom prst="roundRect">
            <a:avLst>
              <a:gd name="adj" fmla="val 3145"/>
            </a:avLst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2031901"/>
            <a:ext cx="55725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Horas de capacitación por campaña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351881"/>
            <a:ext cx="55725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0 a casi 3.500 horas en seis campañas.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50851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66800" y="5336580"/>
            <a:ext cx="696714" cy="25400"/>
          </a:xfrm>
          <a:prstGeom prst="rect">
            <a:avLst/>
          </a:pr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/>
          <p:nvPr/>
        </p:nvSpPr>
        <p:spPr>
          <a:xfrm>
            <a:off x="1041400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19-20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7014" y="49708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256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52414" y="5222280"/>
            <a:ext cx="696714" cy="139700"/>
          </a:xfrm>
          <a:custGeom>
            <a:avLst/>
            <a:gdLst/>
            <a:ahLst/>
            <a:cxnLst/>
            <a:rect l="l" t="t" r="r" b="b"/>
            <a:pathLst>
              <a:path w="696714" h="13970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39700"/>
                </a:lnTo>
                <a:lnTo>
                  <a:pt x="0" y="1397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/>
          <p:nvPr/>
        </p:nvSpPr>
        <p:spPr>
          <a:xfrm>
            <a:off x="1827014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20-21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12628" y="399930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2.033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38028" y="4250730"/>
            <a:ext cx="696714" cy="1111250"/>
          </a:xfrm>
          <a:custGeom>
            <a:avLst/>
            <a:gdLst/>
            <a:ahLst/>
            <a:cxnLst/>
            <a:rect l="l" t="t" r="r" b="b"/>
            <a:pathLst>
              <a:path w="696714" h="111125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111250"/>
                </a:lnTo>
                <a:lnTo>
                  <a:pt x="0" y="111125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C98A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/>
          <p:nvPr/>
        </p:nvSpPr>
        <p:spPr>
          <a:xfrm>
            <a:off x="2612628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21-22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98242" y="35484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2.856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23642" y="3799880"/>
            <a:ext cx="696714" cy="1562100"/>
          </a:xfrm>
          <a:custGeom>
            <a:avLst/>
            <a:gdLst/>
            <a:ahLst/>
            <a:cxnLst/>
            <a:rect l="l" t="t" r="r" b="b"/>
            <a:pathLst>
              <a:path w="696714" h="156210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562100"/>
                </a:lnTo>
                <a:lnTo>
                  <a:pt x="0" y="15621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3398242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22-23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83856" y="369450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2.593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9256" y="3945930"/>
            <a:ext cx="696714" cy="1416050"/>
          </a:xfrm>
          <a:custGeom>
            <a:avLst/>
            <a:gdLst/>
            <a:ahLst/>
            <a:cxnLst/>
            <a:rect l="l" t="t" r="r" b="b"/>
            <a:pathLst>
              <a:path w="696714" h="141605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416050"/>
                </a:lnTo>
                <a:lnTo>
                  <a:pt x="0" y="141605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9"/>
          <p:cNvSpPr/>
          <p:nvPr/>
        </p:nvSpPr>
        <p:spPr>
          <a:xfrm>
            <a:off x="4183856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23-24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9470" y="32055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3.484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94870" y="3456980"/>
            <a:ext cx="696714" cy="1905000"/>
          </a:xfrm>
          <a:custGeom>
            <a:avLst/>
            <a:gdLst/>
            <a:ahLst/>
            <a:cxnLst/>
            <a:rect l="l" t="t" r="r" b="b"/>
            <a:pathLst>
              <a:path w="696714" h="190500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905000"/>
                </a:lnTo>
                <a:lnTo>
                  <a:pt x="0" y="19050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A14E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Text 22"/>
          <p:cNvSpPr/>
          <p:nvPr/>
        </p:nvSpPr>
        <p:spPr>
          <a:xfrm>
            <a:off x="4969470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24-25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55084" y="3205559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3.485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80484" y="3456980"/>
            <a:ext cx="696714" cy="1905000"/>
          </a:xfrm>
          <a:custGeom>
            <a:avLst/>
            <a:gdLst/>
            <a:ahLst/>
            <a:cxnLst/>
            <a:rect l="l" t="t" r="r" b="b"/>
            <a:pathLst>
              <a:path w="696714" h="1905000">
                <a:moveTo>
                  <a:pt x="50800" y="0"/>
                </a:moveTo>
                <a:lnTo>
                  <a:pt x="645914" y="0"/>
                </a:lnTo>
                <a:arcTo wR="50800" hR="50800" stAng="16200000" swAng="5400000"/>
                <a:lnTo>
                  <a:pt x="696714" y="1905000"/>
                </a:lnTo>
                <a:lnTo>
                  <a:pt x="0" y="1905000"/>
                </a:lnTo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A14E2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5755084" y="5400080"/>
            <a:ext cx="7475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25-26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34200" y="1803301"/>
            <a:ext cx="4445000" cy="4038699"/>
          </a:xfrm>
          <a:prstGeom prst="roundRect">
            <a:avLst>
              <a:gd name="adj" fmla="val 3145"/>
            </a:avLst>
          </a:prstGeom>
          <a:solidFill>
            <a:srgbClr val="FFFBF4"/>
          </a:solidFill>
          <a:ln/>
        </p:spPr>
        <p:txBody>
          <a:bodyPr/>
          <a:lstStyle/>
          <a:p>
            <a:endParaRPr lang="es-AR" sz="2000"/>
          </a:p>
        </p:txBody>
      </p:sp>
      <p:sp>
        <p:nvSpPr>
          <p:cNvPr id="29" name="Text 27"/>
          <p:cNvSpPr/>
          <p:nvPr/>
        </p:nvSpPr>
        <p:spPr>
          <a:xfrm>
            <a:off x="7188200" y="2031901"/>
            <a:ext cx="40551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 qué se capacita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88200" y="2364581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Los temas surgen de la evaluación de desempeño.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88200" y="2666802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Mantenimiento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77300" y="2697262"/>
            <a:ext cx="1625600" cy="152400"/>
          </a:xfrm>
          <a:prstGeom prst="roundRect">
            <a:avLst>
              <a:gd name="adj" fmla="val 25000"/>
            </a:avLst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3" name="Text 31"/>
          <p:cNvSpPr/>
          <p:nvPr/>
        </p:nvSpPr>
        <p:spPr>
          <a:xfrm>
            <a:off x="10604500" y="266680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88200" y="2969022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Calidad de leche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877300" y="2999482"/>
            <a:ext cx="1422400" cy="152400"/>
          </a:xfrm>
          <a:prstGeom prst="roundRect">
            <a:avLst>
              <a:gd name="adj" fmla="val 25000"/>
            </a:avLst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6" name="Text 34"/>
          <p:cNvSpPr/>
          <p:nvPr/>
        </p:nvSpPr>
        <p:spPr>
          <a:xfrm>
            <a:off x="10401300" y="296902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88200" y="3271242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Alimentación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877300" y="3301702"/>
            <a:ext cx="1422400" cy="152400"/>
          </a:xfrm>
          <a:prstGeom prst="roundRect">
            <a:avLst>
              <a:gd name="adj" fmla="val 25000"/>
            </a:avLst>
          </a:pr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9" name="Text 37"/>
          <p:cNvSpPr/>
          <p:nvPr/>
        </p:nvSpPr>
        <p:spPr>
          <a:xfrm>
            <a:off x="10401300" y="327124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88200" y="357346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Seguridad e higiene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877300" y="3603923"/>
            <a:ext cx="1219200" cy="152400"/>
          </a:xfrm>
          <a:prstGeom prst="roundRect">
            <a:avLst>
              <a:gd name="adj" fmla="val 25000"/>
            </a:avLst>
          </a:prstGeom>
          <a:solidFill>
            <a:srgbClr val="C98A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2" name="Text 40"/>
          <p:cNvSpPr/>
          <p:nvPr/>
        </p:nvSpPr>
        <p:spPr>
          <a:xfrm>
            <a:off x="10198100" y="3573463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88200" y="387568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Bienestar y confort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877300" y="3906143"/>
            <a:ext cx="1016000" cy="152400"/>
          </a:xfrm>
          <a:prstGeom prst="roundRect">
            <a:avLst>
              <a:gd name="adj" fmla="val 25000"/>
            </a:avLst>
          </a:prstGeom>
          <a:solidFill>
            <a:srgbClr val="C98A5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5" name="Text 43"/>
          <p:cNvSpPr/>
          <p:nvPr/>
        </p:nvSpPr>
        <p:spPr>
          <a:xfrm>
            <a:off x="9994900" y="3875683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188200" y="417790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Habilidades blandas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877300" y="4208363"/>
            <a:ext cx="91440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9893300" y="4177903"/>
            <a:ext cx="287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9%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188200" y="4480123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Pastoreo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877300" y="4510584"/>
            <a:ext cx="812800" cy="152400"/>
          </a:xfrm>
          <a:prstGeom prst="roundRect">
            <a:avLst>
              <a:gd name="adj" fmla="val 25000"/>
            </a:avLst>
          </a:pr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9791700" y="4480123"/>
            <a:ext cx="287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8%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88200" y="4782344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Reproducción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877300" y="4812804"/>
            <a:ext cx="711200" cy="152400"/>
          </a:xfrm>
          <a:prstGeom prst="roundRect">
            <a:avLst>
              <a:gd name="adj" fmla="val 25000"/>
            </a:avLst>
          </a:pr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9690100" y="4782344"/>
            <a:ext cx="2877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7%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188200" y="5084564"/>
            <a:ext cx="1638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Otras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877300" y="5115024"/>
            <a:ext cx="1016000" cy="152400"/>
          </a:xfrm>
          <a:prstGeom prst="roundRect">
            <a:avLst>
              <a:gd name="adj" fmla="val 25000"/>
            </a:avLst>
          </a:prstGeom>
          <a:solidFill>
            <a:srgbClr val="DDBF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/>
          <p:nvPr/>
        </p:nvSpPr>
        <p:spPr>
          <a:xfrm>
            <a:off x="9994900" y="5084564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10%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12800" y="6217940"/>
            <a:ext cx="6146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 · Caso de referencia: 5 tambos, 2.500 vacas en ordeñe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rotación del tambo cayó de 42% a 13%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Rotación anual del mismo tambo desde que instaló estas prácticas.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4800600"/>
            <a:ext cx="9692640" cy="0"/>
          </a:xfrm>
          <a:prstGeom prst="line">
            <a:avLst/>
          </a:prstGeom>
          <a:noFill/>
          <a:ln w="9525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594360" y="4690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88720" y="3794760"/>
            <a:ext cx="9692640" cy="0"/>
          </a:xfrm>
          <a:prstGeom prst="line">
            <a:avLst/>
          </a:prstGeom>
          <a:noFill/>
          <a:ln w="9525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594360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88720" y="2788920"/>
            <a:ext cx="9692640" cy="0"/>
          </a:xfrm>
          <a:prstGeom prst="line">
            <a:avLst/>
          </a:prstGeom>
          <a:noFill/>
          <a:ln w="9525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594360" y="26791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8720" y="1783080"/>
            <a:ext cx="9692640" cy="0"/>
          </a:xfrm>
          <a:prstGeom prst="line">
            <a:avLst/>
          </a:prstGeom>
          <a:noFill/>
          <a:ln w="9525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594360" y="16733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1188720" y="3442716"/>
            <a:ext cx="1615440" cy="251460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>
            <a:off x="2804160" y="3442716"/>
            <a:ext cx="1615440" cy="301752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4419600" y="3744468"/>
            <a:ext cx="1615440" cy="336956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6035040" y="4081424"/>
            <a:ext cx="1615440" cy="95555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7650480" y="4176979"/>
            <a:ext cx="1615440" cy="186080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 flipV="1">
            <a:off x="9265920" y="4136746"/>
            <a:ext cx="1615440" cy="226314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1129284" y="3634740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731520" y="3785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4724" y="3383280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9"/>
          <p:cNvSpPr/>
          <p:nvPr/>
        </p:nvSpPr>
        <p:spPr>
          <a:xfrm>
            <a:off x="4360164" y="3685032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20"/>
          <p:cNvSpPr/>
          <p:nvPr/>
        </p:nvSpPr>
        <p:spPr>
          <a:xfrm>
            <a:off x="5975604" y="4021988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7591044" y="4117543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9206484" y="4303624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10821924" y="4077310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4"/>
          <p:cNvSpPr txBox="1"/>
          <p:nvPr/>
        </p:nvSpPr>
        <p:spPr>
          <a:xfrm>
            <a:off x="10424160" y="422818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flipV="1">
            <a:off x="1188720" y="1898752"/>
            <a:ext cx="1615440" cy="804672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6"/>
          <p:cNvSpPr/>
          <p:nvPr/>
        </p:nvSpPr>
        <p:spPr>
          <a:xfrm>
            <a:off x="2804160" y="1898752"/>
            <a:ext cx="1615440" cy="568300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Shape 27"/>
          <p:cNvSpPr/>
          <p:nvPr/>
        </p:nvSpPr>
        <p:spPr>
          <a:xfrm>
            <a:off x="4419600" y="2467051"/>
            <a:ext cx="1615440" cy="1629461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28"/>
          <p:cNvSpPr/>
          <p:nvPr/>
        </p:nvSpPr>
        <p:spPr>
          <a:xfrm>
            <a:off x="6035040" y="4096512"/>
            <a:ext cx="1615440" cy="186080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1" name="Shape 29"/>
          <p:cNvSpPr/>
          <p:nvPr/>
        </p:nvSpPr>
        <p:spPr>
          <a:xfrm flipV="1">
            <a:off x="7650480" y="4106570"/>
            <a:ext cx="1615440" cy="176022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30"/>
          <p:cNvSpPr/>
          <p:nvPr/>
        </p:nvSpPr>
        <p:spPr>
          <a:xfrm>
            <a:off x="9265920" y="4106570"/>
            <a:ext cx="1615440" cy="25146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>
            <a:off x="1129284" y="2643988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4" name="Text 32"/>
          <p:cNvSpPr txBox="1"/>
          <p:nvPr/>
        </p:nvSpPr>
        <p:spPr>
          <a:xfrm>
            <a:off x="731520" y="2355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C9962C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41.7%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4724" y="1839316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Shape 34"/>
          <p:cNvSpPr/>
          <p:nvPr/>
        </p:nvSpPr>
        <p:spPr>
          <a:xfrm>
            <a:off x="4360164" y="2407615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7" name="Shape 35"/>
          <p:cNvSpPr/>
          <p:nvPr/>
        </p:nvSpPr>
        <p:spPr>
          <a:xfrm>
            <a:off x="5975604" y="4037076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Shape 36"/>
          <p:cNvSpPr/>
          <p:nvPr/>
        </p:nvSpPr>
        <p:spPr>
          <a:xfrm>
            <a:off x="7591044" y="4223156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9" name="Shape 37"/>
          <p:cNvSpPr/>
          <p:nvPr/>
        </p:nvSpPr>
        <p:spPr>
          <a:xfrm>
            <a:off x="9206484" y="4047134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Shape 38"/>
          <p:cNvSpPr/>
          <p:nvPr/>
        </p:nvSpPr>
        <p:spPr>
          <a:xfrm>
            <a:off x="10821924" y="4072280"/>
            <a:ext cx="118872" cy="118872"/>
          </a:xfrm>
          <a:prstGeom prst="ellipse">
            <a:avLst/>
          </a:prstGeom>
          <a:solidFill>
            <a:srgbClr val="FFFBF4"/>
          </a:solidFill>
          <a:ln w="2857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1" name="Text 39"/>
          <p:cNvSpPr txBox="1"/>
          <p:nvPr/>
        </p:nvSpPr>
        <p:spPr>
          <a:xfrm>
            <a:off x="10424160" y="37842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C9962C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19-20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4384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20-21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05384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21-22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22-23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28472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23-24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90016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24-25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25-26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1627632"/>
            <a:ext cx="320040" cy="0"/>
          </a:xfrm>
          <a:prstGeom prst="line">
            <a:avLst/>
          </a:prstGeom>
          <a:noFill/>
          <a:ln w="34925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0" name="Text 48"/>
          <p:cNvSpPr txBox="1"/>
          <p:nvPr/>
        </p:nvSpPr>
        <p:spPr>
          <a:xfrm>
            <a:off x="8503920" y="15179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Rotación en tambo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332720" y="1627632"/>
            <a:ext cx="320040" cy="0"/>
          </a:xfrm>
          <a:prstGeom prst="line">
            <a:avLst/>
          </a:prstGeom>
          <a:noFill/>
          <a:ln w="34925">
            <a:solidFill>
              <a:srgbClr val="5B6B84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2" name="Text 50"/>
          <p:cNvSpPr txBox="1"/>
          <p:nvPr/>
        </p:nvSpPr>
        <p:spPr>
          <a:xfrm>
            <a:off x="10698480" y="1517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Rotación general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rotación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bajó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de 42% a 13%.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Medir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y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entrevistar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evita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repetir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b="1" i="1" dirty="0" err="1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causas</a:t>
            </a:r>
            <a:r>
              <a:rPr lang="en-US" sz="1400" b="1" i="1" dirty="0">
                <a:solidFill>
                  <a:srgbClr val="5B6B84"/>
                </a:solidFill>
                <a:latin typeface="Lor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84"/>
                </a:solidFill>
                <a:latin typeface="Nunito Sans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CASO DE REFERENCIA · 3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Las salidas responden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gestión, no </a:t>
            </a: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salario o técnica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7901"/>
            <a:ext cx="3937000" cy="4064099"/>
          </a:xfrm>
          <a:prstGeom prst="roundRect">
            <a:avLst>
              <a:gd name="adj" fmla="val 3226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/>
          <p:nvPr/>
        </p:nvSpPr>
        <p:spPr>
          <a:xfrm>
            <a:off x="1066800" y="2006501"/>
            <a:ext cx="353187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Cómo ve el equipo a sus jefes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6800" y="2351881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Credibilidad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5400" y="2382341"/>
            <a:ext cx="135255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4019550" y="2351881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71%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2666802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Respeto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5400" y="2697262"/>
            <a:ext cx="139065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/>
          <p:nvPr/>
        </p:nvSpPr>
        <p:spPr>
          <a:xfrm>
            <a:off x="4057650" y="266680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73%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800" y="2981722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Imparcialidad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5400" y="3012182"/>
            <a:ext cx="146685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4133850" y="298172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77%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6800" y="3296642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Orgullo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5400" y="3327102"/>
            <a:ext cx="1371600" cy="152400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/>
          <p:nvPr/>
        </p:nvSpPr>
        <p:spPr>
          <a:xfrm>
            <a:off x="4038600" y="3296642"/>
            <a:ext cx="3791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AF4E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72%</a:t>
            </a:r>
            <a:endParaRPr lang="en-US" sz="1200" dirty="0"/>
          </a:p>
        </p:txBody>
      </p:sp>
      <p:pic>
        <p:nvPicPr>
          <p:cNvPr id="18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3611563"/>
            <a:ext cx="3429000" cy="25400"/>
          </a:xfrm>
          <a:prstGeom prst="rect">
            <a:avLst/>
          </a:prstGeom>
          <a:ln/>
        </p:spPr>
      </p:pic>
      <p:sp>
        <p:nvSpPr>
          <p:cNvPr id="19" name="Text 16"/>
          <p:cNvSpPr/>
          <p:nvPr/>
        </p:nvSpPr>
        <p:spPr>
          <a:xfrm>
            <a:off x="1066800" y="3738563"/>
            <a:ext cx="353187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i="1">
                <a:solidFill>
                  <a:srgbClr val="EADCC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«Teniendo en cuenta todo, diría que este es un excelente lugar para trabajar»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66800" y="4583113"/>
            <a:ext cx="35318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>
                <a:solidFill>
                  <a:srgbClr val="D9A4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87%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4930775" y="1781076"/>
            <a:ext cx="3155950" cy="3220839"/>
          </a:xfrm>
          <a:prstGeom prst="roundRect">
            <a:avLst>
              <a:gd name="adj" fmla="val 3924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19"/>
          <p:cNvSpPr/>
          <p:nvPr/>
        </p:nvSpPr>
        <p:spPr>
          <a:xfrm>
            <a:off x="5137150" y="1962051"/>
            <a:ext cx="28254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qué renuncian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49850" y="2279551"/>
          <a:ext cx="2730500" cy="2541388"/>
        </p:xfrm>
        <a:graphic>
          <a:graphicData uri="http://schemas.openxmlformats.org/drawingml/2006/table">
            <a:tbl>
              <a:tblPr/>
              <a:tblGrid>
                <a:gridCol w="212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Necesidades familiares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Mejor ubicación o comodidad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Relación con jefe o equipo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Presión o jornadas largas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Expectativas no cumplidas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Falta de crecimiento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Motivos económicos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8220075" y="1781076"/>
            <a:ext cx="3155950" cy="3220839"/>
          </a:xfrm>
          <a:prstGeom prst="roundRect">
            <a:avLst>
              <a:gd name="adj" fmla="val 3924"/>
            </a:avLst>
          </a:prstGeom>
          <a:solidFill>
            <a:srgbClr val="FFFBF4"/>
          </a:solidFill>
          <a:ln w="6350">
            <a:solidFill>
              <a:srgbClr val="E8D9C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1"/>
          <p:cNvSpPr/>
          <p:nvPr/>
        </p:nvSpPr>
        <p:spPr>
          <a:xfrm>
            <a:off x="8426450" y="1962051"/>
            <a:ext cx="282549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 qué se los despide</a:t>
            </a:r>
            <a:endParaRPr lang="en-US" sz="1500" dirty="0"/>
          </a:p>
        </p:txBody>
      </p:sp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39150" y="2279551"/>
          <a:ext cx="2730500" cy="1662905"/>
        </p:xfrm>
        <a:graphic>
          <a:graphicData uri="http://schemas.openxmlformats.org/drawingml/2006/table">
            <a:tbl>
              <a:tblPr/>
              <a:tblGrid>
                <a:gridCol w="212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Actitudes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80%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Hábitos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C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Valores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Conocimientos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Inteligencia emocional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B2A1E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0%</a:t>
                      </a:r>
                      <a:endParaRPr lang="en-US" sz="12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2"/>
          <p:cNvSpPr/>
          <p:nvPr/>
        </p:nvSpPr>
        <p:spPr>
          <a:xfrm>
            <a:off x="8426450" y="4018657"/>
            <a:ext cx="28254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Una salida puede tener más de una causa.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927600" y="5132090"/>
            <a:ext cx="664514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Nadie se fue por </a:t>
            </a:r>
            <a:r>
              <a:rPr lang="en-US" i="1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salario ni</a:t>
            </a:r>
            <a:r>
              <a:rPr lang="en-US" i="1" dirty="0">
                <a:solidFill>
                  <a:srgbClr val="A14E2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fue despedido por falta de conocimiento técnico.</a:t>
            </a: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812800" y="6217940"/>
            <a:ext cx="6146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 · Caso de referencia: 5 tambos, 2.500 vacas en ordeñe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cambio</a:t>
            </a: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exige mover a la persona y al sistema a la vez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21753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20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Cada </a:t>
            </a: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dimensión </a:t>
            </a:r>
            <a:r>
              <a:rPr lang="en-US" sz="20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exige mover </a:t>
            </a: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la </a:t>
            </a:r>
            <a:r>
              <a:rPr lang="en-US" sz="20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persona y al sistema</a:t>
            </a:r>
            <a:r>
              <a:rPr lang="en-US" sz="20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2800" y="1889621"/>
            <a:ext cx="4749800" cy="3952379"/>
          </a:xfrm>
          <a:prstGeom prst="roundRect">
            <a:avLst>
              <a:gd name="adj" fmla="val 3213"/>
            </a:avLst>
          </a:prstGeom>
          <a:solidFill>
            <a:srgbClr val="FFFBF4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812800" y="1889621"/>
            <a:ext cx="4749800" cy="3952379"/>
          </a:xfrm>
          <a:custGeom>
            <a:avLst/>
            <a:gdLst/>
            <a:ahLst/>
            <a:cxnLst/>
            <a:rect l="l" t="t" r="r" b="b"/>
            <a:pathLst>
              <a:path w="47498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4622800" y="0"/>
                </a:lnTo>
                <a:arcTo wR="127000" hR="127000" stAng="16200000" swAng="5400000"/>
                <a:lnTo>
                  <a:pt x="47498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B85C3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1092200" y="221982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A14E2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PLANO PERSONA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2200" y="2471241"/>
            <a:ext cx="431673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 que </a:t>
            </a:r>
            <a:r>
              <a:rPr lang="en-US" sz="1800" b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debe practicar</a:t>
            </a:r>
            <a:r>
              <a:rPr lang="en-US" sz="18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quien lidera</a:t>
            </a:r>
            <a:endParaRPr lang="en-US" sz="1800" dirty="0"/>
          </a:p>
        </p:txBody>
      </p:sp>
      <p:pic>
        <p:nvPicPr>
          <p:cNvPr id="8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2916238"/>
            <a:ext cx="203200" cy="203200"/>
          </a:xfrm>
          <a:prstGeom prst="rect">
            <a:avLst/>
          </a:prstGeom>
          <a:ln/>
        </p:spPr>
      </p:pic>
      <p:sp>
        <p:nvSpPr>
          <p:cNvPr id="9" name="Text 6"/>
          <p:cNvSpPr/>
          <p:nvPr/>
        </p:nvSpPr>
        <p:spPr>
          <a:xfrm>
            <a:off x="1397000" y="2897882"/>
            <a:ext cx="312860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Delegar autoridad, no solo tareas.</a:t>
            </a:r>
            <a:endParaRPr lang="en-US" sz="1400" dirty="0"/>
          </a:p>
        </p:txBody>
      </p:sp>
      <p:pic>
        <p:nvPicPr>
          <p:cNvPr id="10" name="Image 1" descr="Check"/>
          <p:cNvPicPr>
            <a:picLocks noChangeAspect="1"/>
          </p:cNvPicPr>
          <p:nvPr/>
        </p:nvPicPr>
        <p:blipFill>
          <a:blip r:embed="rId4"/>
          <a:srcRect l="-25" r="-25"/>
          <a:stretch/>
        </p:blipFill>
        <p:spPr>
          <a:xfrm>
            <a:off x="1092200" y="3428702"/>
            <a:ext cx="196949" cy="20320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1390749" y="3290292"/>
            <a:ext cx="400922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Decidir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 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datos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no solo con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intuición.</a:t>
            </a:r>
            <a:endParaRPr lang="en-US" sz="1400" dirty="0"/>
          </a:p>
        </p:txBody>
      </p:sp>
      <p:pic>
        <p:nvPicPr>
          <p:cNvPr id="12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3941068"/>
            <a:ext cx="203200" cy="20320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1397000" y="3922713"/>
            <a:ext cx="386707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Definir y sostener los 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límites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 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rol.</a:t>
            </a:r>
            <a:endParaRPr lang="en-US" sz="1400" dirty="0"/>
          </a:p>
        </p:txBody>
      </p:sp>
      <p:pic>
        <p:nvPicPr>
          <p:cNvPr id="14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4333478"/>
            <a:ext cx="203200" cy="203200"/>
          </a:xfrm>
          <a:prstGeom prst="rect">
            <a:avLst/>
          </a:prstGeom>
          <a:ln/>
        </p:spPr>
      </p:pic>
      <p:sp>
        <p:nvSpPr>
          <p:cNvPr id="15" name="Text 9"/>
          <p:cNvSpPr/>
          <p:nvPr/>
        </p:nvSpPr>
        <p:spPr>
          <a:xfrm>
            <a:off x="1397000" y="4315123"/>
            <a:ext cx="3275564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Escuchar antes de suponer.</a:t>
            </a:r>
            <a:endParaRPr lang="en-US" sz="1400" dirty="0"/>
          </a:p>
        </p:txBody>
      </p:sp>
      <p:pic>
        <p:nvPicPr>
          <p:cNvPr id="16" name="Image 4" descr="arrow-righ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91200" y="3369270"/>
            <a:ext cx="609600" cy="304800"/>
          </a:xfrm>
          <a:prstGeom prst="rect">
            <a:avLst/>
          </a:prstGeom>
          <a:ln/>
        </p:spPr>
      </p:pic>
      <p:sp>
        <p:nvSpPr>
          <p:cNvPr id="17" name="Text 10"/>
          <p:cNvSpPr/>
          <p:nvPr/>
        </p:nvSpPr>
        <p:spPr>
          <a:xfrm>
            <a:off x="5791597" y="3750270"/>
            <a:ext cx="60870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8A5A12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la vez</a:t>
            </a:r>
            <a:endParaRPr lang="en-US" sz="1300" dirty="0"/>
          </a:p>
        </p:txBody>
      </p:sp>
      <p:pic>
        <p:nvPicPr>
          <p:cNvPr id="18" name="Image 5" descr="arrow-lef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91200" y="4057551"/>
            <a:ext cx="609600" cy="304800"/>
          </a:xfrm>
          <a:prstGeom prst="rect">
            <a:avLst/>
          </a:prstGeom>
          <a:ln/>
        </p:spPr>
      </p:pic>
      <p:sp>
        <p:nvSpPr>
          <p:cNvPr id="19" name="Shape 11"/>
          <p:cNvSpPr/>
          <p:nvPr/>
        </p:nvSpPr>
        <p:spPr>
          <a:xfrm>
            <a:off x="6629400" y="1889621"/>
            <a:ext cx="4749800" cy="3952379"/>
          </a:xfrm>
          <a:prstGeom prst="roundRect">
            <a:avLst>
              <a:gd name="adj" fmla="val 3213"/>
            </a:avLst>
          </a:prstGeom>
          <a:solidFill>
            <a:srgbClr val="FCF3E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0" name="Shape 12"/>
          <p:cNvSpPr/>
          <p:nvPr/>
        </p:nvSpPr>
        <p:spPr>
          <a:xfrm>
            <a:off x="6629400" y="1889621"/>
            <a:ext cx="4749800" cy="3952379"/>
          </a:xfrm>
          <a:custGeom>
            <a:avLst/>
            <a:gdLst/>
            <a:ahLst/>
            <a:cxnLst/>
            <a:rect l="l" t="t" r="r" b="b"/>
            <a:pathLst>
              <a:path w="4749800" h="3952379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4622800" y="0"/>
                </a:lnTo>
                <a:arcTo wR="127000" hR="127000" stAng="16200000" swAng="5400000"/>
                <a:lnTo>
                  <a:pt x="47498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1" name="Text 13"/>
          <p:cNvSpPr/>
          <p:nvPr/>
        </p:nvSpPr>
        <p:spPr>
          <a:xfrm>
            <a:off x="6908800" y="221982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A5A1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PLANO SISTEMA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908800" y="2471241"/>
            <a:ext cx="4316730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 que la empresa</a:t>
            </a:r>
            <a:r>
              <a:rPr lang="en-US" sz="1800" b="1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debe dejar por escrito</a:t>
            </a:r>
            <a:endParaRPr lang="en-US" sz="1800" dirty="0"/>
          </a:p>
        </p:txBody>
      </p:sp>
      <p:pic>
        <p:nvPicPr>
          <p:cNvPr id="23" name="Image 6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8800" y="3190478"/>
            <a:ext cx="203200" cy="203200"/>
          </a:xfrm>
          <a:prstGeom prst="rect">
            <a:avLst/>
          </a:prstGeom>
          <a:ln/>
        </p:spPr>
      </p:pic>
      <p:sp>
        <p:nvSpPr>
          <p:cNvPr id="24" name="Text 15"/>
          <p:cNvSpPr/>
          <p:nvPr/>
        </p:nvSpPr>
        <p:spPr>
          <a:xfrm>
            <a:off x="7213600" y="3172123"/>
            <a:ext cx="333013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Organigrama funcional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una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página.</a:t>
            </a:r>
            <a:endParaRPr lang="en-US" sz="1400" dirty="0"/>
          </a:p>
        </p:txBody>
      </p:sp>
      <p:pic>
        <p:nvPicPr>
          <p:cNvPr id="25" name="Image 7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8800" y="3582888"/>
            <a:ext cx="203200" cy="203200"/>
          </a:xfrm>
          <a:prstGeom prst="rect">
            <a:avLst/>
          </a:prstGeom>
          <a:ln/>
        </p:spPr>
      </p:pic>
      <p:sp>
        <p:nvSpPr>
          <p:cNvPr id="26" name="Text 16"/>
          <p:cNvSpPr/>
          <p:nvPr/>
        </p:nvSpPr>
        <p:spPr>
          <a:xfrm>
            <a:off x="7213600" y="3564533"/>
            <a:ext cx="3475049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Tablero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mensual con pocos 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indicadores.</a:t>
            </a:r>
            <a:endParaRPr lang="en-US" sz="1400" dirty="0"/>
          </a:p>
        </p:txBody>
      </p:sp>
      <p:pic>
        <p:nvPicPr>
          <p:cNvPr id="27" name="Image 8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8800" y="3975298"/>
            <a:ext cx="203200" cy="203200"/>
          </a:xfrm>
          <a:prstGeom prst="rect">
            <a:avLst/>
          </a:prstGeom>
          <a:ln/>
        </p:spPr>
      </p:pic>
      <p:sp>
        <p:nvSpPr>
          <p:cNvPr id="28" name="Text 17"/>
          <p:cNvSpPr/>
          <p:nvPr/>
        </p:nvSpPr>
        <p:spPr>
          <a:xfrm>
            <a:off x="7213600" y="3956943"/>
            <a:ext cx="301353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Protocolos </a:t>
            </a: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tareas críticas.</a:t>
            </a:r>
            <a:endParaRPr lang="en-US" sz="1400" dirty="0"/>
          </a:p>
        </p:txBody>
      </p:sp>
      <p:pic>
        <p:nvPicPr>
          <p:cNvPr id="29" name="Image 9" descr="Check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08800" y="4367709"/>
            <a:ext cx="203200" cy="203200"/>
          </a:xfrm>
          <a:prstGeom prst="rect">
            <a:avLst/>
          </a:prstGeom>
          <a:ln/>
        </p:spPr>
      </p:pic>
      <p:sp>
        <p:nvSpPr>
          <p:cNvPr id="30" name="Text 18"/>
          <p:cNvSpPr/>
          <p:nvPr/>
        </p:nvSpPr>
        <p:spPr>
          <a:xfrm>
            <a:off x="7213600" y="4349353"/>
            <a:ext cx="386216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Delegación escrita</a:t>
            </a:r>
            <a:r>
              <a:rPr lang="en-US" sz="1400" dirty="0">
                <a:solidFill>
                  <a:srgbClr val="3B2A1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con límites de autonomía.</a:t>
            </a:r>
            <a:endParaRPr lang="en-US" sz="1400" dirty="0"/>
          </a:p>
        </p:txBody>
      </p:sp>
      <p:sp>
        <p:nvSpPr>
          <p:cNvPr id="31" name="Text 19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32" name="Text 20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arla de buenas prácticas en el corral con el equipo de un tambo del grupo APSAVET"/>
          <p:cNvPicPr>
            <a:picLocks noChangeAspect="1"/>
          </p:cNvPicPr>
          <p:nvPr/>
        </p:nvPicPr>
        <p:blipFill>
          <a:blip r:embed="rId3"/>
          <a:srcRect l="13157" r="13157"/>
          <a:stretch/>
        </p:blipFill>
        <p:spPr>
          <a:xfrm>
            <a:off x="0" y="0"/>
            <a:ext cx="5842000" cy="685800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6246686" y="488702"/>
            <a:ext cx="563714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4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Simplificar protege a los</a:t>
            </a:r>
            <a:r>
              <a:rPr lang="en-US" sz="24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equipos de 6 a 15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246686" y="1217983"/>
            <a:ext cx="5012675" cy="576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escala </a:t>
            </a:r>
            <a:r>
              <a:rPr lang="en-US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habitual </a:t>
            </a:r>
            <a:r>
              <a:rPr lang="en-US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los tambos </a:t>
            </a:r>
            <a:r>
              <a:rPr lang="en-US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del</a:t>
            </a:r>
            <a:r>
              <a:rPr lang="en-US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grupo.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0" y="2051248"/>
            <a:ext cx="5842000" cy="886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estructura, los procesos y las decisiones </a:t>
            </a: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todavía dependen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del propietario.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096000" y="3051919"/>
            <a:ext cx="5473912" cy="1183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 equipos 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 8 a 12 </a:t>
            </a: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personas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</a:t>
            </a: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perder 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</a:t>
            </a:r>
            <a:r>
              <a:rPr lang="en-US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 clave puede frenar todo </a:t>
            </a:r>
            <a:r>
              <a:rPr lang="en-US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proceso.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0" y="5509320"/>
            <a:ext cx="12192000" cy="1348680"/>
          </a:xfrm>
          <a:prstGeom prst="roundRect">
            <a:avLst>
              <a:gd name="adj" fmla="val 9417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0" name="Text 7"/>
          <p:cNvSpPr/>
          <p:nvPr/>
        </p:nvSpPr>
        <p:spPr>
          <a:xfrm>
            <a:off x="332740" y="5610921"/>
            <a:ext cx="12034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PRINCIPIO METODOLÓGICO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2740" y="5900441"/>
            <a:ext cx="1203452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“Antes de profesionalizar, simplificar.”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2740" y="6281441"/>
            <a:ext cx="1203452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Las estructuras grandes suelen fallar en equipos chicos.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00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quipo de trabajo de un tambo posando junto en la sala"/>
          <p:cNvPicPr>
            <a:picLocks noChangeAspect="1"/>
          </p:cNvPicPr>
          <p:nvPr/>
        </p:nvPicPr>
        <p:blipFill>
          <a:blip r:embed="rId3"/>
          <a:srcRect l="46" r="46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3B2A1E">
                  <a:alpha val="96000"/>
                </a:srgbClr>
              </a:gs>
              <a:gs pos="50000">
                <a:srgbClr val="3B2A1E">
                  <a:alpha val="88000"/>
                </a:srgbClr>
              </a:gs>
              <a:gs pos="100000">
                <a:srgbClr val="3B2A1E">
                  <a:alpha val="25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812800" y="128914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>
                <a:solidFill>
                  <a:srgbClr val="D9A441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PRIMER COMPROMISO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1723430"/>
            <a:ext cx="6932930" cy="1617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Nombrá hoy a quien va a liderar </a:t>
            </a:r>
            <a:r>
              <a:rPr lang="en-US" sz="38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</a:t>
            </a:r>
            <a:r>
              <a:rPr lang="en-US" sz="38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gestión de personas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12800" y="3519091"/>
            <a:ext cx="62788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Puede ser part-time o parte del rol administrativo.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12799" y="4291211"/>
            <a:ext cx="656045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Definí responsable, horas y autoridad. Sin dueño, la urgencia productiva vuelve a ganar.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812800" y="5175052"/>
            <a:ext cx="406400" cy="25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9" name="Text 6"/>
          <p:cNvSpPr/>
          <p:nvPr/>
        </p:nvSpPr>
        <p:spPr>
          <a:xfrm>
            <a:off x="1371600" y="5009952"/>
            <a:ext cx="547572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i="1">
                <a:solidFill>
                  <a:srgbClr val="D9A4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 cambio empieza cuando alguien se hace cargo.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 60 días, la gestión debe quedar visible y funcionando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Cinco </a:t>
            </a:r>
            <a:r>
              <a:rPr lang="en-US" sz="16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entregables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simples para pasar de la </a:t>
            </a:r>
            <a:r>
              <a:rPr lang="en-US" sz="16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intención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al </a:t>
            </a:r>
            <a:r>
              <a:rPr lang="en-US" sz="1600" dirty="0" err="1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hábito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600" y="2016621"/>
            <a:ext cx="279400" cy="27940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990600" y="2384921"/>
            <a:ext cx="17068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Organigrama real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90600" y="2702421"/>
            <a:ext cx="1706860" cy="97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Roles visibles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6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 todos</a:t>
            </a:r>
            <a:r>
              <a:rPr lang="en-US" sz="16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51460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9" name="Image 1" descr="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9260" y="2016621"/>
            <a:ext cx="279400" cy="279400"/>
          </a:xfrm>
          <a:prstGeom prst="rect">
            <a:avLst/>
          </a:prstGeom>
          <a:ln/>
        </p:spPr>
      </p:pic>
      <p:sp>
        <p:nvSpPr>
          <p:cNvPr id="10" name="Text 6"/>
          <p:cNvSpPr/>
          <p:nvPr/>
        </p:nvSpPr>
        <p:spPr>
          <a:xfrm>
            <a:off x="3129260" y="2384921"/>
            <a:ext cx="17068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Tablero mínimo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129260" y="2702421"/>
            <a:ext cx="17068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indicador escrito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y revisado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90120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3" name="Image 2" descr="Boo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267920" y="2016621"/>
            <a:ext cx="279400" cy="279400"/>
          </a:xfrm>
          <a:prstGeom prst="rect">
            <a:avLst/>
          </a:prstGeom>
          <a:ln/>
        </p:spPr>
      </p:pic>
      <p:sp>
        <p:nvSpPr>
          <p:cNvPr id="14" name="Text 9"/>
          <p:cNvSpPr/>
          <p:nvPr/>
        </p:nvSpPr>
        <p:spPr>
          <a:xfrm>
            <a:off x="5267920" y="2384921"/>
            <a:ext cx="17068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Protocolo crítico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267920" y="2702421"/>
            <a:ext cx="17068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Una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página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para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rutina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crítica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8780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17" name="Image 3" descr="Hom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06580" y="2016621"/>
            <a:ext cx="279400" cy="279400"/>
          </a:xfrm>
          <a:prstGeom prst="rect">
            <a:avLst/>
          </a:prstGeom>
          <a:ln/>
        </p:spPr>
      </p:pic>
      <p:sp>
        <p:nvSpPr>
          <p:cNvPr id="18" name="Text 12"/>
          <p:cNvSpPr/>
          <p:nvPr/>
        </p:nvSpPr>
        <p:spPr>
          <a:xfrm>
            <a:off x="7406580" y="2384921"/>
            <a:ext cx="17068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Inducción de 30 días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406580" y="2931021"/>
            <a:ext cx="17068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Bienvenida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seguimiento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desde el día uno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367441" y="1838821"/>
            <a:ext cx="2011660" cy="1909961"/>
          </a:xfrm>
          <a:prstGeom prst="roundRect">
            <a:avLst>
              <a:gd name="adj" fmla="val 6649"/>
            </a:avLst>
          </a:prstGeom>
          <a:solidFill>
            <a:schemeClr val="bg2">
              <a:lumMod val="90000"/>
            </a:schemeClr>
          </a:solidFill>
          <a:ln/>
        </p:spPr>
        <p:txBody>
          <a:bodyPr/>
          <a:lstStyle/>
          <a:p>
            <a:endParaRPr lang="es-AR"/>
          </a:p>
        </p:txBody>
      </p:sp>
      <p:pic>
        <p:nvPicPr>
          <p:cNvPr id="21" name="Image 4" descr="Key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45241" y="2016621"/>
            <a:ext cx="279400" cy="279400"/>
          </a:xfrm>
          <a:prstGeom prst="rect">
            <a:avLst/>
          </a:prstGeom>
          <a:ln/>
        </p:spPr>
      </p:pic>
      <p:sp>
        <p:nvSpPr>
          <p:cNvPr id="22" name="Text 15"/>
          <p:cNvSpPr/>
          <p:nvPr/>
        </p:nvSpPr>
        <p:spPr>
          <a:xfrm>
            <a:off x="9545241" y="2384921"/>
            <a:ext cx="17068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Carta de delegación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545241" y="2931021"/>
            <a:ext cx="17068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Autoridad 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 </a:t>
            </a:r>
            <a:r>
              <a:rPr lang="en-US" sz="120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límites acordados por escrito</a:t>
            </a:r>
            <a:r>
              <a:rPr lang="en-US" sz="1200" dirty="0">
                <a:solidFill>
                  <a:srgbClr val="5A46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2800" y="4002782"/>
            <a:ext cx="10566400" cy="1206500"/>
          </a:xfrm>
          <a:prstGeom prst="roundRect">
            <a:avLst>
              <a:gd name="adj" fmla="val 10526"/>
            </a:avLst>
          </a:prstGeom>
          <a:solidFill>
            <a:srgbClr val="3B2A1E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18"/>
          <p:cNvSpPr/>
          <p:nvPr/>
        </p:nvSpPr>
        <p:spPr>
          <a:xfrm>
            <a:off x="1117600" y="4308872"/>
            <a:ext cx="850265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i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</a:t>
            </a:r>
            <a:r>
              <a:rPr lang="en-US" sz="18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los </a:t>
            </a:r>
            <a:r>
              <a:rPr lang="en-US" sz="1800" i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 días, revisá qué se usa,</a:t>
            </a:r>
            <a:r>
              <a:rPr lang="en-US" sz="18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800" i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corregí lo que </a:t>
            </a:r>
            <a:r>
              <a:rPr lang="en-US" sz="18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</a:t>
            </a:r>
            <a:r>
              <a:rPr lang="en-US" sz="1800" i="1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 sostené el ritmo</a:t>
            </a:r>
            <a:r>
              <a:rPr lang="en-US" sz="1800" i="1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8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t="41434" b="41434"/>
          <a:stretch/>
        </p:blipFill>
        <p:spPr>
          <a:xfrm>
            <a:off x="812800" y="4002782"/>
            <a:ext cx="10566400" cy="1519238"/>
          </a:xfrm>
          <a:prstGeom prst="rect">
            <a:avLst/>
          </a:prstGeom>
          <a:ln/>
        </p:spPr>
      </p:pic>
      <p:sp>
        <p:nvSpPr>
          <p:cNvPr id="28" name="Text 20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196241" y="6217940"/>
            <a:ext cx="233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B2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Joven tambero junto al corral con las vacas, en luz cálida de la tarde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2418">
              <a:alpha val="72000"/>
            </a:srgbClr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1"/>
          <p:cNvSpPr/>
          <p:nvPr/>
        </p:nvSpPr>
        <p:spPr>
          <a:xfrm>
            <a:off x="1444580" y="2134890"/>
            <a:ext cx="9302839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5720"/>
              </a:lnSpc>
              <a:buNone/>
            </a:pPr>
            <a:r>
              <a:rPr lang="en-US" sz="5200" dirty="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diferencia </a:t>
            </a:r>
            <a:r>
              <a:rPr lang="en-US" sz="5200">
                <a:solidFill>
                  <a:srgbClr val="FAF4E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empieza mañana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5791200" y="3115270"/>
            <a:ext cx="609600" cy="254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Text 3"/>
          <p:cNvSpPr/>
          <p:nvPr/>
        </p:nvSpPr>
        <p:spPr>
          <a:xfrm>
            <a:off x="1517650" y="3394670"/>
            <a:ext cx="91567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i="1">
                <a:solidFill>
                  <a:srgbClr val="EADCC6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Elegí una persona, un entregable y una fecha.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534883" y="4359870"/>
            <a:ext cx="5122233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60"/>
              </a:lnSpc>
              <a:buNone/>
            </a:pPr>
            <a:r>
              <a:rPr lang="en-US" sz="2200" i="1">
                <a:solidFill>
                  <a:srgbClr val="D9A44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¿Cuál va a ser tu primer compromiso?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4304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>
                <a:solidFill>
                  <a:srgbClr val="EADCC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Fernando Preumayr · Metodología Escala Humana · APSAVET, Día de la Actividad 2026</a:t>
            </a:r>
            <a:endParaRPr lang="en-US" sz="1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C9403DE-3B68-08E1-60C5-B1A529B90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78911" y="5436641"/>
            <a:ext cx="1541489" cy="102766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900000"/>
            <a:ext cx="69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A14E2E"/>
                </a:solidFill>
                <a:latin typeface="Nunito Sans"/>
              </a:rPr>
              <a:t>MENTIMETER · PREGUNTA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350000"/>
            <a:ext cx="69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3B2A1E"/>
                </a:solidFill>
                <a:latin typeface="Lora"/>
              </a:rPr>
              <a:t>¿Cuáles son sus principales preocupaciones con relación a sus equipos?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50000" y="1750000"/>
            <a:ext cx="2600000" cy="2600000"/>
          </a:xfrm>
          <a:prstGeom prst="roundRect">
            <a:avLst>
              <a:gd name="adj" fmla="val 6000"/>
            </a:avLst>
          </a:prstGeom>
          <a:solidFill>
            <a:srgbClr val="FFFBF4"/>
          </a:solidFill>
          <a:ln w="19050">
            <a:solidFill>
              <a:srgbClr val="A14E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50000" y="1750000"/>
            <a:ext cx="2600000" cy="2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A14E2E"/>
                </a:solidFill>
                <a:latin typeface="Nunito Sans"/>
              </a:rPr>
              <a:t>[QR Mentimeter]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0000" y="4600000"/>
            <a:ext cx="2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B2A1E"/>
                </a:solidFill>
                <a:latin typeface="Nunito Sans"/>
              </a:rPr>
              <a:t>Escaneá para votar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0000" y="5000000"/>
            <a:ext cx="26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A4636"/>
                </a:solidFill>
                <a:latin typeface="Nunito Sans"/>
              </a:rPr>
              <a:t>menti.com · código [____]</a:t>
            </a:r>
          </a:p>
        </p:txBody>
      </p:sp>
      <p:sp>
        <p:nvSpPr>
          <p:cNvPr id="26" name="Text 23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Fuertes en la tarea, frágiles con la persona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Promedio por pregunta, escala 1 a 5. El grupo APSAVET frente a 99 diagnósticos del resto del país.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812800" y="1889621"/>
            <a:ext cx="7632192" cy="3952379"/>
          </a:xfrm>
          <a:prstGeom prst="roundRect">
            <a:avLst>
              <a:gd name="adj" fmla="val 2500"/>
            </a:avLst>
          </a:prstGeom>
          <a:solidFill>
            <a:srgbClr val="FFFBF4"/>
          </a:solidFill>
          <a:ln w="9525">
            <a:solidFill>
              <a:srgbClr val="EAD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892800" y="1949621"/>
          <a:ext cx="7472192" cy="383237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8648192" y="1889621"/>
            <a:ext cx="3048000" cy="3952379"/>
          </a:xfrm>
          <a:prstGeom prst="roundRect">
            <a:avLst>
              <a:gd name="adj" fmla="val 4170"/>
            </a:avLst>
          </a:prstGeom>
          <a:solidFill>
            <a:srgbClr val="3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8192" y="2219621"/>
            <a:ext cx="2448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9A441"/>
                </a:solidFill>
                <a:latin typeface="Nunito Sans"/>
              </a:rPr>
              <a:t>POR ENCIMA DEL PAÍS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48192" y="2539621"/>
            <a:ext cx="2448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D9C2"/>
                </a:solidFill>
                <a:latin typeface="Nunito Sans"/>
              </a:rPr>
              <a:t>Procesos, capacitación y conocimiento escrito. El oficio está bien resuelto.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8192" y="3853110"/>
            <a:ext cx="2448000" cy="25400"/>
          </a:xfrm>
          <a:prstGeom prst="roundRect">
            <a:avLst>
              <a:gd name="adj" fmla="val 0"/>
            </a:avLst>
          </a:prstGeom>
          <a:solidFill>
            <a:srgbClr val="6B5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8192" y="4165810"/>
            <a:ext cx="2448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D9A441"/>
                </a:solidFill>
                <a:latin typeface="Nunito Sans"/>
              </a:rPr>
              <a:t>POR DEBAJO DEL PAÍS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8192" y="4485810"/>
            <a:ext cx="2448000" cy="1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AF4EA"/>
                </a:solidFill>
                <a:latin typeface="Nunito Sans"/>
              </a:rPr>
              <a:t>Todo lo que tiene que ver con la persona: cómo llega, quién se ocupa de ella y por qué se queda.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dirty="0">
                <a:solidFill>
                  <a:srgbClr val="3B2A1E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 palanca: el encargado que lidera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3598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Dentro del grupo, Liderazgo de mandos medios es la pregunta que más arrastra a todas las demás.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12800" y="6217940"/>
            <a:ext cx="2329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Escala Humana · APSAVET 2026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287720" y="621794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>
                <a:solidFill>
                  <a:srgbClr val="7A5E4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812800" y="1889621"/>
            <a:ext cx="3048000" cy="3952379"/>
          </a:xfrm>
          <a:prstGeom prst="roundRect">
            <a:avLst>
              <a:gd name="adj" fmla="val 4170"/>
            </a:avLst>
          </a:prstGeom>
          <a:solidFill>
            <a:srgbClr val="3B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2800" y="2169621"/>
            <a:ext cx="2448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">
                <a:solidFill>
                  <a:srgbClr val="D9A441"/>
                </a:solidFill>
                <a:latin typeface="Nunito Sans"/>
              </a:rPr>
              <a:t>ENCARGADO QUE LIDERA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2800" y="2469621"/>
            <a:ext cx="2448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D9C2"/>
                </a:solidFill>
                <a:latin typeface="Nunito Sans"/>
              </a:rPr>
              <a:t>Liderazgo en nivel 4 o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800" y="2769621"/>
            <a:ext cx="244800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>
                <a:solidFill>
                  <a:srgbClr val="D9A441"/>
                </a:solidFill>
                <a:latin typeface="Lora"/>
              </a:rPr>
              <a:t>3.8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2800" y="3699621"/>
            <a:ext cx="2448000" cy="25400"/>
          </a:xfrm>
          <a:prstGeom prst="roundRect">
            <a:avLst>
              <a:gd name="adj" fmla="val 0"/>
            </a:avLst>
          </a:prstGeom>
          <a:solidFill>
            <a:srgbClr val="6B54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2800" y="3869621"/>
            <a:ext cx="2448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40">
                <a:solidFill>
                  <a:srgbClr val="E8D9C2"/>
                </a:solidFill>
                <a:latin typeface="Nunito Sans"/>
              </a:rPr>
              <a:t>ENCARGADO QUE NO LIDERA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2800" y="4169621"/>
            <a:ext cx="2448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D9C2"/>
                </a:solidFill>
                <a:latin typeface="Nunito Sans"/>
              </a:rPr>
              <a:t>Liderazgo en nivel 1 a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2800" y="4469621"/>
            <a:ext cx="244800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0" i="0">
                <a:solidFill>
                  <a:srgbClr val="FAF4EA"/>
                </a:solidFill>
                <a:latin typeface="Lora"/>
              </a:rPr>
              <a:t>2.9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2800" y="5362000"/>
            <a:ext cx="2448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DBF93"/>
                </a:solidFill>
                <a:latin typeface="Nunito Sans"/>
              </a:rPr>
              <a:t>Índice general, escala 1 a 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64000" y="1889621"/>
            <a:ext cx="7632192" cy="3952379"/>
          </a:xfrm>
          <a:prstGeom prst="roundRect">
            <a:avLst>
              <a:gd name="adj" fmla="val 2500"/>
            </a:avLst>
          </a:prstGeom>
          <a:solidFill>
            <a:srgbClr val="FFFBF4"/>
          </a:solidFill>
          <a:ln w="9525">
            <a:solidFill>
              <a:srgbClr val="EAD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64000" y="2129621"/>
            <a:ext cx="7032192" cy="3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3B2A1E"/>
                </a:solidFill>
                <a:latin typeface="Lora"/>
              </a:rPr>
              <a:t>Y mueve justo lo que al grupo le falta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4144000" y="2589621"/>
          <a:ext cx="7472192" cy="317237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2978</Words>
  <Application>Microsoft Macintosh PowerPoint</Application>
  <PresentationFormat>Panorámica</PresentationFormat>
  <Paragraphs>454</Paragraphs>
  <Slides>20</Slides>
  <Notes>20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Lora</vt:lpstr>
      <vt:lpstr>Nunito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Escala Humana en el tambo · APSAVET 2026</dc:title>
  <dc:subject>PptxGenJS Presentation</dc:subject>
  <dc:creator>PptxGenJS</dc:creator>
  <cp:lastModifiedBy>Fernando M. Preumayr</cp:lastModifiedBy>
  <cp:revision>5</cp:revision>
  <dcterms:created xsi:type="dcterms:W3CDTF">2026-09-25T22:27:08Z</dcterms:created>
  <dcterms:modified xsi:type="dcterms:W3CDTF">2026-10-22T13:49:21Z</dcterms:modified>
</cp:coreProperties>
</file>