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Apertura. Empezar con una escena de campo, no con una definición: "Todos los que estamos en el agro conocemos los tiempos del tambo -la rutina de ordeñe, el destete, la época de servicio-. Pero hay otros tiempos, menos visibles, que también corren: los tiempos de nuestra gente." Presentarse y presentar el hilo del día.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¿Cuántos ya invirtieron en genética, nutrición, instalaciones? Seguro que sí. La pregunta que conviene hacerse es otra: ¿qué pasa en el tambo el día que yo no estoy? Esa es la grieta por donde se escapa el crecimiento.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promedio del grupo no es un aprobado cómodo: es una frontera. Estamos en Definido, a un paso de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preguntas para llevarse a la propia empresa: ¿quién decide cuando yo no estoy? ¿lo que sabe mi mejor tambero está escrito? ¿estoy formando gente? ¿lo que pago está atado a lo que quiero lograr?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Como grupo, ya salimos del modo reactivo. Estamos cruzando el puente hacia lo estratégico.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barra es un tambo del grupo, ustedes incluidos. La línea dorada es el promedio de hoy; la línea oscura es el benchmark del sector.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Miren el orden: la brecha más chica es Desarrollo del Equipo. Lo que separa al 25% de arriba del 25% de abajo es Estructura: casi 2 puntos.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benchmark no tiene mejores vacas ni mejor clima. Tiene menos cosas guardadas en la cabeza del dueño y más cosas escritas, medidas y delegadas.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es una empresa de otro planeta: es un tambo del mismo sector, con el mismo clima y las mismas vacas. La diferencia está en el método.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Esto no bajó solo. Bajó porque alguien se sentó a medir, año tras año, y a preguntarle a cada persona que se iba por qué se iba.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¿Cuál de estas tres les resuena más? Si hoy se les fuera el mejor tambero por dos semanas, ¿qué pasaría con la rutina de ordeñe?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error más común: comprar un software (Sistema) cuando el dueño todavía micro-gestiona todo (Persona). Ninguno de los dos ejes avanza si el otro no se mueve a la vez.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se trata de bajarle a nuestro tambo el manual de una empresa de 200 personas. Se trata de sacar UNA decisión de la cabeza del dueño esta semana.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 hoy se llevan una sola acción de esta charla, que sea esta: alguien, con nombre y apellido, ocupándose de la gente.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Elegí una sola de estas cinco herramientas para arrancar la semana que viene. ¿Cuál es la que más falta te hace hoy?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 con las preguntas espejo, en silencio unos segundos antes de pasar a preguntas del público.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1.png"/><Relationship Id="rId3" Type="http://schemas.openxmlformats.org/officeDocument/2006/relationships/image" Target="../media/image-11-1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2.png"/><Relationship Id="rId4" Type="http://schemas.openxmlformats.org/officeDocument/2006/relationships/image" Target="../media/image-12-2.png"/><Relationship Id="rId5" Type="http://schemas.openxmlformats.org/officeDocument/2006/relationships/image" Target="../media/image-12-2.png"/><Relationship Id="rId6" Type="http://schemas.openxmlformats.org/officeDocument/2006/relationships/image" Target="../media/image-12-2.png"/><Relationship Id="rId7" Type="http://schemas.openxmlformats.org/officeDocument/2006/relationships/image" Target="../media/image-12-2.png"/><Relationship Id="rId8" Type="http://schemas.openxmlformats.org/officeDocument/2006/relationships/image" Target="../media/image-12-2.png"/><Relationship Id="rId9" Type="http://schemas.openxmlformats.org/officeDocument/2006/relationships/image" Target="../media/image-12-2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image" Target="../media/image-15-4.png"/><Relationship Id="rId5" Type="http://schemas.openxmlformats.org/officeDocument/2006/relationships/image" Target="../media/image-1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portada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58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3B2B1E">
              <a:alpha val="52000"/>
            </a:srgbClr>
          </a:solidFill>
          <a:ln/>
        </p:spPr>
      </p:sp>
      <p:sp>
        <p:nvSpPr>
          <p:cNvPr id="5" name="Shape 2"/>
          <p:cNvSpPr/>
          <p:nvPr/>
        </p:nvSpPr>
        <p:spPr>
          <a:xfrm>
            <a:off x="4206240" y="0"/>
            <a:ext cx="2651760" cy="6858000"/>
          </a:xfrm>
          <a:prstGeom prst="rect">
            <a:avLst/>
          </a:prstGeom>
          <a:solidFill>
            <a:srgbClr val="3B2B1E">
              <a:alpha val="38000"/>
            </a:srgbClr>
          </a:solidFill>
          <a:ln/>
        </p:spPr>
      </p:sp>
      <p:sp>
        <p:nvSpPr>
          <p:cNvPr id="6" name="Shape 3"/>
          <p:cNvSpPr/>
          <p:nvPr/>
        </p:nvSpPr>
        <p:spPr>
          <a:xfrm>
            <a:off x="6858000" y="0"/>
            <a:ext cx="1828800" cy="6858000"/>
          </a:xfrm>
          <a:prstGeom prst="rect">
            <a:avLst/>
          </a:prstGeom>
          <a:solidFill>
            <a:srgbClr val="3B2B1E">
              <a:alpha val="24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8686800" y="0"/>
            <a:ext cx="1463040" cy="6858000"/>
          </a:xfrm>
          <a:prstGeom prst="rect">
            <a:avLst/>
          </a:prstGeom>
          <a:solidFill>
            <a:srgbClr val="3B2B1E">
              <a:alpha val="12000"/>
            </a:srgbClr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822960" y="141732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APSAVET  ·  DÍA DE LA ACTIVIDAD  ·  SEPTIEMBRE 2026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77240" y="1920240"/>
            <a:ext cx="106070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dirty="0">
                <a:solidFill>
                  <a:srgbClr val="FFFAF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techo invisible de la lechería</a:t>
            </a:r>
            <a:endParaRPr lang="en-US" sz="48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3246120"/>
            <a:ext cx="8778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está en la gente: gestión de personas en el tambo, diagnóstico y hoja de ruta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22960" y="5806440"/>
            <a:ext cx="1005840" cy="0"/>
          </a:xfrm>
          <a:prstGeom prst="line">
            <a:avLst/>
          </a:prstGeom>
          <a:noFill/>
          <a:ln w="31750">
            <a:solidFill>
              <a:srgbClr val="DDA44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22960" y="58978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A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Preumayr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822960" y="6236208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Escala Humana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38912"/>
            <a:ext cx="5943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techo invisible de la producción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548640" y="1207008"/>
            <a:ext cx="107899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207008"/>
            <a:ext cx="8046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Genética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1792224" y="1207008"/>
            <a:ext cx="117043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1929384" y="1207008"/>
            <a:ext cx="896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Nutrición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3127248" y="1207008"/>
            <a:ext cx="1536192" cy="384048"/>
          </a:xfrm>
          <a:prstGeom prst="roundRect">
            <a:avLst>
              <a:gd name="adj" fmla="val 50000"/>
            </a:avLst>
          </a:prstGeom>
          <a:solidFill>
            <a:srgbClr val="EFE3CC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264408" y="1207008"/>
            <a:ext cx="12618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Instalaciones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1874520"/>
            <a:ext cx="5943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genética, nutrición e instalaciones venimos invirtiendo hace rato.</a:t>
            </a:r>
            <a:endParaRPr lang="en-US" sz="1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límite que queda es otro.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2971800"/>
            <a:ext cx="5943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agotamiento de la gestión de personas es el techo invisible del tambo.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0" y="4160520"/>
            <a:ext cx="64008" cy="205740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12" name="Shape 10"/>
          <p:cNvSpPr/>
          <p:nvPr/>
        </p:nvSpPr>
        <p:spPr>
          <a:xfrm>
            <a:off x="64008" y="4160520"/>
            <a:ext cx="6062472" cy="205740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365760" y="4343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TECHO OPERATIVO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7091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crecimiento rara vez se frena por vacas, tierra o tecnología. Se frena cuando el sistema productivo sigue dependiendo, todos los días, de la presencia física del dueño y de esquemas informales para gestionar a la gente.</a:t>
            </a:r>
            <a:endParaRPr lang="en-US" sz="1200" dirty="0"/>
          </a:p>
        </p:txBody>
      </p:sp>
      <p:pic>
        <p:nvPicPr>
          <p:cNvPr id="15" name="Image 0" descr="/tmp/claude-0/-home-user-49981083/a3287cd6-0684-5a32-9225-3b9542fafbeb/scratchpad/apsavet_deck/photos/corral_t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diagnóstico del tambo promedio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Consolidado de 15 empresas tamberas del grupo APSAVET · Escala Humana, sept. 2026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416052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0116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GENERAL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86000"/>
            <a:ext cx="292608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6800" dirty="0"/>
          </a:p>
        </p:txBody>
      </p:sp>
      <p:sp>
        <p:nvSpPr>
          <p:cNvPr id="7" name="Shape 5"/>
          <p:cNvSpPr/>
          <p:nvPr/>
        </p:nvSpPr>
        <p:spPr>
          <a:xfrm>
            <a:off x="822960" y="3794760"/>
            <a:ext cx="2011680" cy="0"/>
          </a:xfrm>
          <a:prstGeom prst="line">
            <a:avLst/>
          </a:prstGeom>
          <a:noFill/>
          <a:ln w="15875">
            <a:solidFill>
              <a:srgbClr val="DCC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3931920"/>
            <a:ext cx="2834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sobre 5.0 · Nivel Definido, en la frontera con el nivel Estratégico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22960" y="4983480"/>
            <a:ext cx="2834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e hitos de producción consolidados; sigue pendiente estructurar la gestión de personas.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4340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2F559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6177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3.0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617720" y="25328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Estructura y Resultados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461772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Mayor brecha: falta responsable formal de personas.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229600" y="178308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4F7A2E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9659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3.2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53288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Gestión de Procesos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8503920" y="292608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rutina funciona; el saber técnico no siempre está escrito.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343400" y="3977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C7402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177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3.6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4617720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Desarrollo del Equipo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46177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Fortaleza principal: disposición a formar al equipo.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229600" y="3977640"/>
            <a:ext cx="36118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E3B04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503920" y="416052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3.4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8503920" y="4727448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Proyección, Incentivos y Cultura</a:t>
            </a:r>
            <a:endParaRPr lang="en-US" sz="1250" dirty="0"/>
          </a:p>
        </p:txBody>
      </p:sp>
      <p:sp>
        <p:nvSpPr>
          <p:cNvPr id="25" name="Text 23"/>
          <p:cNvSpPr txBox="1"/>
          <p:nvPr/>
        </p:nvSpPr>
        <p:spPr>
          <a:xfrm>
            <a:off x="8503920" y="5120640"/>
            <a:ext cx="3063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Clima comprometido, con bonos aún desligados de métricas.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Las cuatro dimensiones de la Escala Humana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marco para leer cualquier tambo, de 6 a 60 colaboradores.</a:t>
            </a:r>
            <a:endParaRPr lang="en-US" sz="1400" dirty="0"/>
          </a:p>
        </p:txBody>
      </p:sp>
      <p:pic>
        <p:nvPicPr>
          <p:cNvPr id="4" name="Image 0" descr="/tmp/claude-0/-home-user-49981083/a3287cd6-0684-5a32-9225-3b9542fafbeb/scratchpad/apsavet_deck/photos/ta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783080"/>
            <a:ext cx="3017520" cy="416052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3931920" y="17830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2F5596"/>
            </a:solidFill>
            <a:prstDash val="solid"/>
          </a:ln>
        </p:spPr>
      </p:sp>
      <p:pic>
        <p:nvPicPr>
          <p:cNvPr id="6" name="Image 1" descr="/tmp/claude-0/-home-user-49981083/a3287cd6-0684-5a32-9225-3b9542fafbeb/scratchpad/apsavet_deck/icons_terracotta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87952" y="2002536"/>
            <a:ext cx="365760" cy="365760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4187952" y="244144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Resultados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4187952" y="289864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Quién decide qué. Roles claros e indicadores mínimos que ya se miran, aunque sean pocos.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046720" y="178308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4F7A2E"/>
            </a:solidFill>
            <a:prstDash val="solid"/>
          </a:ln>
        </p:spPr>
      </p:sp>
      <p:pic>
        <p:nvPicPr>
          <p:cNvPr id="10" name="Image 2" descr="/tmp/claude-0/-home-user-49981083/a3287cd6-0684-5a32-9225-3b9542fafbeb/scratchpad/apsavet_deck/icons_terracotta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2752" y="2002536"/>
            <a:ext cx="365760" cy="36576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8302752" y="244144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350" dirty="0"/>
          </a:p>
        </p:txBody>
      </p:sp>
      <p:sp>
        <p:nvSpPr>
          <p:cNvPr id="12" name="Text 7"/>
          <p:cNvSpPr txBox="1"/>
          <p:nvPr/>
        </p:nvSpPr>
        <p:spPr>
          <a:xfrm>
            <a:off x="8302752" y="289864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saber hacer de la fosa, el mixer y la guachera, puesto en protocolos simples y escritos.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3931920" y="39776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C7402E"/>
            </a:solidFill>
            <a:prstDash val="solid"/>
          </a:ln>
        </p:spPr>
      </p:sp>
      <p:pic>
        <p:nvPicPr>
          <p:cNvPr id="14" name="Image 3" descr="/tmp/claude-0/-home-user-49981083/a3287cd6-0684-5a32-9225-3b9542fafbeb/scratchpad/apsavet_deck/icons_terracotta/boo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87952" y="4197096"/>
            <a:ext cx="365760" cy="36576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4187952" y="463600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350" dirty="0"/>
          </a:p>
        </p:txBody>
      </p:sp>
      <p:sp>
        <p:nvSpPr>
          <p:cNvPr id="16" name="Text 10"/>
          <p:cNvSpPr txBox="1"/>
          <p:nvPr/>
        </p:nvSpPr>
        <p:spPr>
          <a:xfrm>
            <a:off x="4187952" y="509320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Formar tamberos, mixeristas y encargados; delegar tareas completas, no solo instrucciones.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8046720" y="3977640"/>
            <a:ext cx="3840480" cy="1920240"/>
          </a:xfrm>
          <a:prstGeom prst="roundRect">
            <a:avLst>
              <a:gd name="adj" fmla="val 3810"/>
            </a:avLst>
          </a:prstGeom>
          <a:solidFill>
            <a:srgbClr val="FFFAF4"/>
          </a:solidFill>
          <a:ln w="28575">
            <a:solidFill>
              <a:srgbClr val="E3B04E"/>
            </a:solidFill>
            <a:prstDash val="solid"/>
          </a:ln>
        </p:spPr>
      </p:sp>
      <p:pic>
        <p:nvPicPr>
          <p:cNvPr id="18" name="Image 4" descr="/tmp/claude-0/-home-user-49981083/a3287cd6-0684-5a32-9225-3b9542fafbeb/scratchpad/apsavet_deck/icons_terracotta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02752" y="4197096"/>
            <a:ext cx="365760" cy="365760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8302752" y="463600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Proyección, Incentivos y Cultura</a:t>
            </a:r>
            <a:endParaRPr lang="en-US" sz="1350" dirty="0"/>
          </a:p>
        </p:txBody>
      </p:sp>
      <p:sp>
        <p:nvSpPr>
          <p:cNvPr id="20" name="Text 13"/>
          <p:cNvSpPr txBox="1"/>
          <p:nvPr/>
        </p:nvSpPr>
        <p:spPr>
          <a:xfrm>
            <a:off x="8302752" y="5093208"/>
            <a:ext cx="332841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rumbo creíble, reconocimiento a tiempo e incentivos atados a indicadores.</a:t>
            </a:r>
            <a:endParaRPr lang="en-US" sz="1050" dirty="0"/>
          </a:p>
        </p:txBody>
      </p:sp>
      <p:sp>
        <p:nvSpPr>
          <p:cNvPr id="21" name="Text 14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2" name="Text 15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¿Dónde estamos parados como sector?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155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niveles de madurez en gestión de personas, y dónde se ubica hoy el tambo promedio.</a:t>
            </a:r>
            <a:endParaRPr lang="en-US" sz="1350" dirty="0"/>
          </a:p>
        </p:txBody>
      </p:sp>
      <p:pic>
        <p:nvPicPr>
          <p:cNvPr id="4" name="Image 0" descr="/tmp/claude-0/-home-user-49981083/a3287cd6-0684-5a32-9225-3b9542fafbeb/scratchpad/apsavet_deck/photos/corral_tall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321040" y="0"/>
            <a:ext cx="3867912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8321040" y="6199632"/>
            <a:ext cx="373075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Charla de buenas prácticas en el corral · grupo APSAVET</a:t>
            </a:r>
            <a:endParaRPr lang="en-US" sz="85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048256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REACTIVO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33172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2.5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3383280" y="2157984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apagan incendios. La gestión de personas opera en modo emergencia.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548640" y="3227832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B5572F"/>
          </a:solidFill>
          <a:ln w="19050">
            <a:solidFill>
              <a:srgbClr val="B5572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335584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DEFINIDO · AQUÍ ESTAMOS (3.3)</a:t>
            </a:r>
            <a:endParaRPr lang="en-US" sz="1150" dirty="0"/>
          </a:p>
        </p:txBody>
      </p:sp>
      <p:sp>
        <p:nvSpPr>
          <p:cNvPr id="12" name="Text 9"/>
          <p:cNvSpPr txBox="1"/>
          <p:nvPr/>
        </p:nvSpPr>
        <p:spPr>
          <a:xfrm>
            <a:off x="822960" y="3639312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 – 3.6</a:t>
            </a:r>
            <a:endParaRPr lang="en-US" sz="2200" dirty="0"/>
          </a:p>
        </p:txBody>
      </p:sp>
      <p:sp>
        <p:nvSpPr>
          <p:cNvPr id="13" name="Text 10"/>
          <p:cNvSpPr txBox="1"/>
          <p:nvPr/>
        </p:nvSpPr>
        <p:spPr>
          <a:xfrm>
            <a:off x="3383280" y="3465576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Rutinas reconocibles. Funciona, pero depende de las personas clave.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48640" y="4535424"/>
            <a:ext cx="7589520" cy="1143000"/>
          </a:xfrm>
          <a:prstGeom prst="roundRect">
            <a:avLst>
              <a:gd name="adj" fmla="val 6400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960" y="466344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5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</a:t>
            </a:r>
            <a:endParaRPr lang="en-US" sz="1150" dirty="0"/>
          </a:p>
        </p:txBody>
      </p:sp>
      <p:sp>
        <p:nvSpPr>
          <p:cNvPr id="16" name="Text 13"/>
          <p:cNvSpPr txBox="1"/>
          <p:nvPr/>
        </p:nvSpPr>
        <p:spPr>
          <a:xfrm>
            <a:off x="822960" y="4946904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3.6</a:t>
            </a:r>
            <a:endParaRPr lang="en-US" sz="2200" dirty="0"/>
          </a:p>
        </p:txBody>
      </p:sp>
      <p:sp>
        <p:nvSpPr>
          <p:cNvPr id="17" name="Text 14"/>
          <p:cNvSpPr txBox="1"/>
          <p:nvPr/>
        </p:nvSpPr>
        <p:spPr>
          <a:xfrm>
            <a:off x="3383280" y="4773168"/>
            <a:ext cx="4480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gestión del equipo es un plan, con datos, autonomía y desarrollo sostenido.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5815584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desarrollo del equipo hoy va delante del resto: el riesgo es que la estructura no lo sostenga.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0" name="Text 17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Los 15 tambos del grupo, uno por uno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789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Puntaje general de madurez por empresa (distribución ilustrativa del patrón grupal) · escala 0–5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600200" y="188823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5" name="Shape 3"/>
          <p:cNvSpPr/>
          <p:nvPr/>
        </p:nvSpPr>
        <p:spPr>
          <a:xfrm>
            <a:off x="1600200" y="1888236"/>
            <a:ext cx="372526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6" name="Shape 4"/>
          <p:cNvSpPr/>
          <p:nvPr/>
        </p:nvSpPr>
        <p:spPr>
          <a:xfrm>
            <a:off x="1600200" y="214426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7" name="Shape 5"/>
          <p:cNvSpPr/>
          <p:nvPr/>
        </p:nvSpPr>
        <p:spPr>
          <a:xfrm>
            <a:off x="1600200" y="2144268"/>
            <a:ext cx="425744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8" name="Shape 6"/>
          <p:cNvSpPr/>
          <p:nvPr/>
        </p:nvSpPr>
        <p:spPr>
          <a:xfrm>
            <a:off x="1600200" y="240030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9" name="Shape 7"/>
          <p:cNvSpPr/>
          <p:nvPr/>
        </p:nvSpPr>
        <p:spPr>
          <a:xfrm>
            <a:off x="1600200" y="2400300"/>
            <a:ext cx="4789627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0" name="Shape 8"/>
          <p:cNvSpPr/>
          <p:nvPr/>
        </p:nvSpPr>
        <p:spPr>
          <a:xfrm>
            <a:off x="1600200" y="265633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1" name="Shape 9"/>
          <p:cNvSpPr/>
          <p:nvPr/>
        </p:nvSpPr>
        <p:spPr>
          <a:xfrm>
            <a:off x="1600200" y="2656332"/>
            <a:ext cx="5144414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2" name="Shape 10"/>
          <p:cNvSpPr/>
          <p:nvPr/>
        </p:nvSpPr>
        <p:spPr>
          <a:xfrm>
            <a:off x="1600200" y="291236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3" name="Shape 11"/>
          <p:cNvSpPr/>
          <p:nvPr/>
        </p:nvSpPr>
        <p:spPr>
          <a:xfrm>
            <a:off x="1600200" y="2912364"/>
            <a:ext cx="5321808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4" name="Shape 12"/>
          <p:cNvSpPr/>
          <p:nvPr/>
        </p:nvSpPr>
        <p:spPr>
          <a:xfrm>
            <a:off x="1600200" y="316839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5" name="Shape 13"/>
          <p:cNvSpPr/>
          <p:nvPr/>
        </p:nvSpPr>
        <p:spPr>
          <a:xfrm>
            <a:off x="1600200" y="3168396"/>
            <a:ext cx="5499202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6" name="Shape 14"/>
          <p:cNvSpPr/>
          <p:nvPr/>
        </p:nvSpPr>
        <p:spPr>
          <a:xfrm>
            <a:off x="1600200" y="342442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7" name="Shape 15"/>
          <p:cNvSpPr/>
          <p:nvPr/>
        </p:nvSpPr>
        <p:spPr>
          <a:xfrm>
            <a:off x="1600200" y="3424428"/>
            <a:ext cx="5676595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18" name="Shape 16"/>
          <p:cNvSpPr/>
          <p:nvPr/>
        </p:nvSpPr>
        <p:spPr>
          <a:xfrm>
            <a:off x="1600200" y="368046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19" name="Shape 17"/>
          <p:cNvSpPr/>
          <p:nvPr/>
        </p:nvSpPr>
        <p:spPr>
          <a:xfrm>
            <a:off x="1600200" y="3680460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0" name="Shape 18"/>
          <p:cNvSpPr/>
          <p:nvPr/>
        </p:nvSpPr>
        <p:spPr>
          <a:xfrm>
            <a:off x="1600200" y="393649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1" name="Shape 19"/>
          <p:cNvSpPr/>
          <p:nvPr/>
        </p:nvSpPr>
        <p:spPr>
          <a:xfrm>
            <a:off x="1600200" y="3936492"/>
            <a:ext cx="5853989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2" name="Shape 20"/>
          <p:cNvSpPr/>
          <p:nvPr/>
        </p:nvSpPr>
        <p:spPr>
          <a:xfrm>
            <a:off x="1600200" y="419252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3" name="Shape 21"/>
          <p:cNvSpPr/>
          <p:nvPr/>
        </p:nvSpPr>
        <p:spPr>
          <a:xfrm>
            <a:off x="1600200" y="4192524"/>
            <a:ext cx="6031382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4" name="Shape 22"/>
          <p:cNvSpPr/>
          <p:nvPr/>
        </p:nvSpPr>
        <p:spPr>
          <a:xfrm>
            <a:off x="1600200" y="4448556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5" name="Shape 23"/>
          <p:cNvSpPr/>
          <p:nvPr/>
        </p:nvSpPr>
        <p:spPr>
          <a:xfrm>
            <a:off x="1600200" y="4448556"/>
            <a:ext cx="6208776" cy="137160"/>
          </a:xfrm>
          <a:prstGeom prst="rect">
            <a:avLst/>
          </a:prstGeom>
          <a:solidFill>
            <a:srgbClr val="DCC9A3"/>
          </a:solidFill>
          <a:ln/>
        </p:spPr>
      </p:sp>
      <p:sp>
        <p:nvSpPr>
          <p:cNvPr id="26" name="Shape 24"/>
          <p:cNvSpPr/>
          <p:nvPr/>
        </p:nvSpPr>
        <p:spPr>
          <a:xfrm>
            <a:off x="1600200" y="4704588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7" name="Shape 25"/>
          <p:cNvSpPr/>
          <p:nvPr/>
        </p:nvSpPr>
        <p:spPr>
          <a:xfrm>
            <a:off x="1600200" y="4704588"/>
            <a:ext cx="6386170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28" name="Shape 26"/>
          <p:cNvSpPr/>
          <p:nvPr/>
        </p:nvSpPr>
        <p:spPr>
          <a:xfrm>
            <a:off x="1600200" y="4960620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29" name="Shape 27"/>
          <p:cNvSpPr/>
          <p:nvPr/>
        </p:nvSpPr>
        <p:spPr>
          <a:xfrm>
            <a:off x="1600200" y="4960620"/>
            <a:ext cx="6563563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0" name="Shape 28"/>
          <p:cNvSpPr/>
          <p:nvPr/>
        </p:nvSpPr>
        <p:spPr>
          <a:xfrm>
            <a:off x="1600200" y="5216652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31" name="Shape 29"/>
          <p:cNvSpPr/>
          <p:nvPr/>
        </p:nvSpPr>
        <p:spPr>
          <a:xfrm>
            <a:off x="1600200" y="5216652"/>
            <a:ext cx="6918350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2" name="Shape 30"/>
          <p:cNvSpPr/>
          <p:nvPr/>
        </p:nvSpPr>
        <p:spPr>
          <a:xfrm>
            <a:off x="1600200" y="5472684"/>
            <a:ext cx="8869680" cy="137160"/>
          </a:xfrm>
          <a:prstGeom prst="rect">
            <a:avLst/>
          </a:prstGeom>
          <a:solidFill>
            <a:srgbClr val="FFFAF4"/>
          </a:solidFill>
          <a:ln/>
        </p:spPr>
      </p:sp>
      <p:sp>
        <p:nvSpPr>
          <p:cNvPr id="33" name="Shape 31"/>
          <p:cNvSpPr/>
          <p:nvPr/>
        </p:nvSpPr>
        <p:spPr>
          <a:xfrm>
            <a:off x="1600200" y="5472684"/>
            <a:ext cx="7450531" cy="137160"/>
          </a:xfrm>
          <a:prstGeom prst="rect">
            <a:avLst/>
          </a:prstGeom>
          <a:solidFill>
            <a:srgbClr val="B5572F"/>
          </a:solidFill>
          <a:ln/>
        </p:spPr>
      </p:sp>
      <p:sp>
        <p:nvSpPr>
          <p:cNvPr id="34" name="Shape 32"/>
          <p:cNvSpPr/>
          <p:nvPr/>
        </p:nvSpPr>
        <p:spPr>
          <a:xfrm>
            <a:off x="7454189" y="1371600"/>
            <a:ext cx="0" cy="4297680"/>
          </a:xfrm>
          <a:prstGeom prst="line">
            <a:avLst/>
          </a:prstGeom>
          <a:noFill/>
          <a:ln w="22225">
            <a:solidFill>
              <a:srgbClr val="DDA448"/>
            </a:solidFill>
            <a:prstDash val="dash"/>
          </a:ln>
        </p:spPr>
      </p:sp>
      <p:sp>
        <p:nvSpPr>
          <p:cNvPr id="35" name="Text 33"/>
          <p:cNvSpPr txBox="1"/>
          <p:nvPr/>
        </p:nvSpPr>
        <p:spPr>
          <a:xfrm>
            <a:off x="6631229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PROMEDIO · 3.3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405518" y="1371600"/>
            <a:ext cx="0" cy="4297680"/>
          </a:xfrm>
          <a:prstGeom prst="line">
            <a:avLst/>
          </a:prstGeom>
          <a:noFill/>
          <a:ln w="22225">
            <a:solidFill>
              <a:srgbClr val="3B2B1E"/>
            </a:solidFill>
            <a:prstDash val="dash"/>
          </a:ln>
        </p:spPr>
      </p:sp>
      <p:sp>
        <p:nvSpPr>
          <p:cNvPr id="37" name="Text 35"/>
          <p:cNvSpPr txBox="1"/>
          <p:nvPr/>
        </p:nvSpPr>
        <p:spPr>
          <a:xfrm>
            <a:off x="8582558" y="13716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· 4.4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457200" y="181051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502920" y="181051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01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398618" y="18105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57200" y="206654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502920" y="206654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02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5930798" y="206654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2.4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457200" y="232257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02920" y="232257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03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462979" y="232257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457200" y="257860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502920" y="257860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04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6817766" y="25786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57200" y="283464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502920" y="283464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05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6995160" y="283464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3.0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457200" y="309067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502920" y="309067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06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7172554" y="309067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457200" y="334670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502920" y="334670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07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7349947" y="33467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950" dirty="0"/>
          </a:p>
        </p:txBody>
      </p:sp>
      <p:sp>
        <p:nvSpPr>
          <p:cNvPr id="66" name="Shape 64"/>
          <p:cNvSpPr/>
          <p:nvPr/>
        </p:nvSpPr>
        <p:spPr>
          <a:xfrm>
            <a:off x="457200" y="360273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502920" y="360273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08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7527341" y="360273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0" name="Shape 68"/>
          <p:cNvSpPr/>
          <p:nvPr/>
        </p:nvSpPr>
        <p:spPr>
          <a:xfrm>
            <a:off x="457200" y="385876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502920" y="385876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09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7527341" y="38587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</a:t>
            </a:r>
            <a:endParaRPr lang="en-US" sz="950" dirty="0"/>
          </a:p>
        </p:txBody>
      </p:sp>
      <p:sp>
        <p:nvSpPr>
          <p:cNvPr id="74" name="Shape 72"/>
          <p:cNvSpPr/>
          <p:nvPr/>
        </p:nvSpPr>
        <p:spPr>
          <a:xfrm>
            <a:off x="457200" y="411480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502920" y="411480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10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7704734" y="411480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</a:t>
            </a:r>
            <a:endParaRPr lang="en-US" sz="950" dirty="0"/>
          </a:p>
        </p:txBody>
      </p:sp>
      <p:sp>
        <p:nvSpPr>
          <p:cNvPr id="78" name="Shape 76"/>
          <p:cNvSpPr/>
          <p:nvPr/>
        </p:nvSpPr>
        <p:spPr>
          <a:xfrm>
            <a:off x="457200" y="4370832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502920" y="43708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11</a:t>
            </a:r>
            <a:endParaRPr lang="en-US" sz="950" dirty="0"/>
          </a:p>
        </p:txBody>
      </p:sp>
      <p:sp>
        <p:nvSpPr>
          <p:cNvPr id="80" name="Shape 78"/>
          <p:cNvSpPr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1" name="Text 79"/>
          <p:cNvSpPr txBox="1"/>
          <p:nvPr/>
        </p:nvSpPr>
        <p:spPr>
          <a:xfrm>
            <a:off x="7882128" y="437083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950" dirty="0"/>
          </a:p>
        </p:txBody>
      </p:sp>
      <p:sp>
        <p:nvSpPr>
          <p:cNvPr id="82" name="Shape 80"/>
          <p:cNvSpPr/>
          <p:nvPr/>
        </p:nvSpPr>
        <p:spPr>
          <a:xfrm>
            <a:off x="457200" y="4626864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502920" y="4626864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12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5" name="Text 83"/>
          <p:cNvSpPr txBox="1"/>
          <p:nvPr/>
        </p:nvSpPr>
        <p:spPr>
          <a:xfrm>
            <a:off x="8059522" y="462686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</a:t>
            </a:r>
            <a:endParaRPr lang="en-US" sz="950" dirty="0"/>
          </a:p>
        </p:txBody>
      </p:sp>
      <p:sp>
        <p:nvSpPr>
          <p:cNvPr id="86" name="Shape 84"/>
          <p:cNvSpPr/>
          <p:nvPr/>
        </p:nvSpPr>
        <p:spPr>
          <a:xfrm>
            <a:off x="457200" y="4882896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502920" y="4882896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13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8236915" y="48828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950" dirty="0"/>
          </a:p>
        </p:txBody>
      </p:sp>
      <p:sp>
        <p:nvSpPr>
          <p:cNvPr id="90" name="Shape 88"/>
          <p:cNvSpPr/>
          <p:nvPr/>
        </p:nvSpPr>
        <p:spPr>
          <a:xfrm>
            <a:off x="457200" y="5138928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502920" y="5138928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14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8591702" y="51389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950" dirty="0"/>
          </a:p>
        </p:txBody>
      </p:sp>
      <p:sp>
        <p:nvSpPr>
          <p:cNvPr id="94" name="Shape 92"/>
          <p:cNvSpPr/>
          <p:nvPr/>
        </p:nvSpPr>
        <p:spPr>
          <a:xfrm>
            <a:off x="457200" y="5394960"/>
            <a:ext cx="109728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502920" y="5394960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15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solidFill>
            <a:srgbClr val="FCF3EA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9123883" y="53949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</a:t>
            </a:r>
            <a:endParaRPr lang="en-US" sz="950" dirty="0"/>
          </a:p>
        </p:txBody>
      </p:sp>
      <p:sp>
        <p:nvSpPr>
          <p:cNvPr id="98" name="Shape 96"/>
          <p:cNvSpPr/>
          <p:nvPr/>
        </p:nvSpPr>
        <p:spPr>
          <a:xfrm>
            <a:off x="160020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99" name="Text 97"/>
          <p:cNvSpPr txBox="1"/>
          <p:nvPr/>
        </p:nvSpPr>
        <p:spPr>
          <a:xfrm>
            <a:off x="137160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374136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1" name="Text 99"/>
          <p:cNvSpPr txBox="1"/>
          <p:nvPr/>
        </p:nvSpPr>
        <p:spPr>
          <a:xfrm>
            <a:off x="3145536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5148072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4919472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104" name="Shape 102"/>
          <p:cNvSpPr/>
          <p:nvPr/>
        </p:nvSpPr>
        <p:spPr>
          <a:xfrm>
            <a:off x="6922008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5" name="Text 103"/>
          <p:cNvSpPr txBox="1"/>
          <p:nvPr/>
        </p:nvSpPr>
        <p:spPr>
          <a:xfrm>
            <a:off x="6693408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8695944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7" name="Text 105"/>
          <p:cNvSpPr txBox="1"/>
          <p:nvPr/>
        </p:nvSpPr>
        <p:spPr>
          <a:xfrm>
            <a:off x="8467344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0469880" y="5669280"/>
            <a:ext cx="0" cy="73152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10241280" y="57424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110" name="Text 108"/>
          <p:cNvSpPr txBox="1"/>
          <p:nvPr/>
        </p:nvSpPr>
        <p:spPr>
          <a:xfrm>
            <a:off x="548640" y="601675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mayoría ya estandarizó rutinas básicas. Lo que falta es sostenerlas sin el dueño arriba del mixer.</a:t>
            </a:r>
            <a:endParaRPr lang="en-US" sz="1300" dirty="0"/>
          </a:p>
        </p:txBody>
      </p:sp>
      <p:sp>
        <p:nvSpPr>
          <p:cNvPr id="111" name="Text 10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12" name="Text 1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Dónde se abre la brecha, dimensión por dimensión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1064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25% de tambos con menor puntaje contra el 25% con mayor puntaje del grupo · datos ilustrativos sobre el mismo patrón del diagnóstico real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320040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297180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736592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07992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272784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44184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808976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580376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9345168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16568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0881360" y="1783080"/>
            <a:ext cx="0" cy="3456432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0652760" y="528523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457200" y="1883664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Estructura y Resultados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65546" y="2295144"/>
            <a:ext cx="2918765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83250" y="2212848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02014" y="2212848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508346" y="24048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1.8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427110" y="194767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11018520" y="21488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+1.9</a:t>
            </a:r>
            <a:endParaRPr lang="en-US" sz="1500" dirty="0"/>
          </a:p>
        </p:txBody>
      </p:sp>
      <p:sp>
        <p:nvSpPr>
          <p:cNvPr id="23" name="Text 21"/>
          <p:cNvSpPr txBox="1"/>
          <p:nvPr/>
        </p:nvSpPr>
        <p:spPr>
          <a:xfrm>
            <a:off x="457200" y="2724912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Procesos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80022" y="3136392"/>
            <a:ext cx="2457907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497726" y="3054096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955634" y="3054096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2822" y="32461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580730" y="2788920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3.8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018520" y="299008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+1.6</a:t>
            </a:r>
            <a:endParaRPr lang="en-US" sz="1500" dirty="0"/>
          </a:p>
        </p:txBody>
      </p:sp>
      <p:sp>
        <p:nvSpPr>
          <p:cNvPr id="30" name="Text 28"/>
          <p:cNvSpPr txBox="1"/>
          <p:nvPr/>
        </p:nvSpPr>
        <p:spPr>
          <a:xfrm>
            <a:off x="457200" y="356616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y Cultura</a:t>
            </a:r>
            <a:endParaRPr lang="en-US" sz="1250" dirty="0"/>
          </a:p>
        </p:txBody>
      </p:sp>
      <p:sp>
        <p:nvSpPr>
          <p:cNvPr id="31" name="Shape 29"/>
          <p:cNvSpPr/>
          <p:nvPr/>
        </p:nvSpPr>
        <p:spPr>
          <a:xfrm>
            <a:off x="7501738" y="3977640"/>
            <a:ext cx="1689811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19442" y="3895344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9109253" y="3895344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044538" y="40873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2.8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8734349" y="3630168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3.9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11018520" y="3831336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+1.1</a:t>
            </a:r>
            <a:endParaRPr lang="en-US" sz="1500" dirty="0"/>
          </a:p>
        </p:txBody>
      </p:sp>
      <p:sp>
        <p:nvSpPr>
          <p:cNvPr id="37" name="Text 35"/>
          <p:cNvSpPr txBox="1"/>
          <p:nvPr/>
        </p:nvSpPr>
        <p:spPr>
          <a:xfrm>
            <a:off x="457200" y="4407408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del Equipo</a:t>
            </a:r>
            <a:endParaRPr lang="en-US" sz="1250" dirty="0"/>
          </a:p>
        </p:txBody>
      </p:sp>
      <p:sp>
        <p:nvSpPr>
          <p:cNvPr id="38" name="Shape 36"/>
          <p:cNvSpPr/>
          <p:nvPr/>
        </p:nvSpPr>
        <p:spPr>
          <a:xfrm>
            <a:off x="8116214" y="4818888"/>
            <a:ext cx="1228954" cy="0"/>
          </a:xfrm>
          <a:prstGeom prst="line">
            <a:avLst/>
          </a:prstGeom>
          <a:noFill/>
          <a:ln w="38100">
            <a:solidFill>
              <a:srgbClr val="DCC9A3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033918" y="4736592"/>
            <a:ext cx="164592" cy="164592"/>
          </a:xfrm>
          <a:prstGeom prst="ellipse">
            <a:avLst/>
          </a:prstGeom>
          <a:solidFill>
            <a:srgbClr val="5A4636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262872" y="4736592"/>
            <a:ext cx="164592" cy="164592"/>
          </a:xfrm>
          <a:prstGeom prst="ellipse">
            <a:avLst/>
          </a:prstGeom>
          <a:solidFill>
            <a:srgbClr val="B5572F"/>
          </a:solidFill>
          <a:ln w="19050">
            <a:solidFill>
              <a:srgbClr val="FCF3EA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7659014" y="4928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</a:t>
            </a:r>
            <a:endParaRPr lang="en-US" sz="1000" dirty="0"/>
          </a:p>
        </p:txBody>
      </p:sp>
      <p:sp>
        <p:nvSpPr>
          <p:cNvPr id="42" name="Text 40"/>
          <p:cNvSpPr txBox="1"/>
          <p:nvPr/>
        </p:nvSpPr>
        <p:spPr>
          <a:xfrm>
            <a:off x="8887968" y="44714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11018520" y="4672584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+0.8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3200400" y="1572768"/>
            <a:ext cx="128016" cy="128016"/>
          </a:xfrm>
          <a:prstGeom prst="ellipse">
            <a:avLst/>
          </a:prstGeom>
          <a:solidFill>
            <a:srgbClr val="5A4636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340156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Cuartil inferior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4937760" y="1572768"/>
            <a:ext cx="128016" cy="128016"/>
          </a:xfrm>
          <a:prstGeom prst="ellipse">
            <a:avLst/>
          </a:prstGeom>
          <a:solidFill>
            <a:srgbClr val="B5572F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5138928" y="149047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Cuartil superior</a:t>
            </a:r>
            <a:endParaRPr lang="en-US" sz="1050" dirty="0"/>
          </a:p>
        </p:txBody>
      </p:sp>
      <p:sp>
        <p:nvSpPr>
          <p:cNvPr id="48" name="Text 46"/>
          <p:cNvSpPr txBox="1"/>
          <p:nvPr/>
        </p:nvSpPr>
        <p:spPr>
          <a:xfrm>
            <a:off x="11018520" y="14904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BRECHA</a:t>
            </a:r>
            <a:endParaRPr lang="en-US" sz="950" dirty="0"/>
          </a:p>
        </p:txBody>
      </p:sp>
      <p:sp>
        <p:nvSpPr>
          <p:cNvPr id="49" name="Text 47"/>
          <p:cNvSpPr txBox="1"/>
          <p:nvPr/>
        </p:nvSpPr>
        <p:spPr>
          <a:xfrm>
            <a:off x="548640" y="5495544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spc="15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HALLAZGO QUE QUEDA A LA VISTA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548640" y="5769864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300" i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separa al 25% de arriba del 25% de abajo no es si forman gente —eso lo hace casi todo el mundo, por eso ahí la brecha es chica— sino si tienen estructura.</a:t>
            </a:r>
            <a:endParaRPr lang="en-US" sz="1300" dirty="0"/>
          </a:p>
        </p:txBody>
      </p:sp>
      <p:sp>
        <p:nvSpPr>
          <p:cNvPr id="51" name="Text 4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2" name="Text 5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tambo promedio frente al tambo benchmark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789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dos partieron del mismo punto de partida. La diferencia está en lo que decidieron instalar.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5349240" cy="3931920"/>
          </a:xfrm>
          <a:prstGeom prst="rect">
            <a:avLst/>
          </a:prstGeom>
          <a:solidFill>
            <a:srgbClr val="EFE3CC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1901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3.3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2240280" y="2011680"/>
            <a:ext cx="3291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PROMEDIO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Definido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868680" y="3017520"/>
            <a:ext cx="4480560" cy="0"/>
          </a:xfrm>
          <a:prstGeom prst="line">
            <a:avLst/>
          </a:prstGeom>
          <a:noFill/>
          <a:ln w="12700">
            <a:solidFill>
              <a:srgbClr val="DCC9A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3200400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estructura depende de la presencia diaria del dueño.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913632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rutina se transmite de palabra; casi nada está escrito.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868680" y="4626864"/>
            <a:ext cx="4709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bonos premian el resultado, sin indicador que lo explique.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355080" y="1645920"/>
            <a:ext cx="5349240" cy="3931920"/>
          </a:xfrm>
          <a:prstGeom prst="rect">
            <a:avLst/>
          </a:prstGeom>
          <a:solidFill>
            <a:srgbClr val="3B2B1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675120" y="190195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4.4</a:t>
            </a:r>
            <a:endParaRPr lang="en-US" sz="4600" dirty="0"/>
          </a:p>
        </p:txBody>
      </p:sp>
      <p:sp>
        <p:nvSpPr>
          <p:cNvPr id="13" name="Text 11"/>
          <p:cNvSpPr txBox="1"/>
          <p:nvPr/>
        </p:nvSpPr>
        <p:spPr>
          <a:xfrm>
            <a:off x="8046720" y="201168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TAMBO BENCHMARK</a:t>
            </a:r>
            <a:endParaRPr lang="en-US" sz="125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Estratégico / Optimizado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675120" y="3017520"/>
            <a:ext cx="4480560" cy="0"/>
          </a:xfrm>
          <a:prstGeom prst="line">
            <a:avLst/>
          </a:prstGeom>
          <a:noFill/>
          <a:ln w="12700">
            <a:solidFill>
              <a:srgbClr val="5A463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675120" y="3200400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rol tiene descripción de puesto, procedimientos escritos y reglas claras de delegación.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913632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procesos todos los meses, tambo por tambo, con una escala simple de desempeño.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675120" y="4626864"/>
            <a:ext cx="4709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Mide la rotación y hace entrevista de egreso a cada persona que se va, por decisión propia o no.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58064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 de referencia: empresa familiar agropecuaria de 5 tambos, 2.500 vacas en ordeñe y 18.500.000 litros/año, con arquitectura organizacional que desacopló el crecimiento de la presencia física del dueño.</a:t>
            </a:r>
            <a:endParaRPr lang="en-US" sz="1150" dirty="0"/>
          </a:p>
        </p:txBody>
      </p:sp>
      <p:sp>
        <p:nvSpPr>
          <p:cNvPr id="19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Así se ve un tambo que ya cruzó el techo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32688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Prácticas de un tambo del sector en nivel Estratégico: ninguna requiere más plata, requieren método.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3EAF4"/>
          </a:solidFill>
          <a:ln/>
        </p:spPr>
      </p:sp>
      <p:pic>
        <p:nvPicPr>
          <p:cNvPr id="5" name="Image 0" descr="/tmp/claude-0/-home-user-49981083/a3287cd6-0684-5a32-9225-3b9542fafbeb/scratchpad/apsavet_deck/icons_terracotta/user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096" y="1618488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6809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Identifica y retiene talento</a:t>
            </a:r>
            <a:endParaRPr lang="en-US" sz="1250" dirty="0"/>
          </a:p>
        </p:txBody>
      </p:sp>
      <p:sp>
        <p:nvSpPr>
          <p:cNvPr id="7" name="Text 4"/>
          <p:cNvSpPr txBox="1"/>
          <p:nvPr/>
        </p:nvSpPr>
        <p:spPr>
          <a:xfrm>
            <a:off x="76809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Ubica a cada persona en el rol correcto y trabaja activamente para no perderla.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434340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6EDDC"/>
          </a:solidFill>
          <a:ln/>
        </p:spPr>
      </p:sp>
      <p:pic>
        <p:nvPicPr>
          <p:cNvPr id="9" name="Image 1" descr="/tmp/claude-0/-home-user-49981083/a3287cd6-0684-5a32-9225-3b9542fafbeb/scratchpad/apsavet_deck/icons_terracotta/clip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62856" y="1618488"/>
            <a:ext cx="292608" cy="292608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6285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 cada rol</a:t>
            </a:r>
            <a:endParaRPr lang="en-US" sz="1250" dirty="0"/>
          </a:p>
        </p:txBody>
      </p:sp>
      <p:sp>
        <p:nvSpPr>
          <p:cNvPr id="11" name="Text 7"/>
          <p:cNvSpPr txBox="1"/>
          <p:nvPr/>
        </p:nvSpPr>
        <p:spPr>
          <a:xfrm>
            <a:off x="456285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Descripción de puesto, procedimientos escritos y reglas claras de delegación, tarea por tarea.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138160" y="14173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AE7E3"/>
          </a:solidFill>
          <a:ln/>
        </p:spPr>
      </p:sp>
      <p:pic>
        <p:nvPicPr>
          <p:cNvPr id="13" name="Image 2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7616" y="1618488"/>
            <a:ext cx="292608" cy="292608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357616" y="20116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 todos los meses</a:t>
            </a:r>
            <a:endParaRPr lang="en-US" sz="1250" dirty="0"/>
          </a:p>
        </p:txBody>
      </p:sp>
      <p:sp>
        <p:nvSpPr>
          <p:cNvPr id="15" name="Text 10"/>
          <p:cNvSpPr txBox="1"/>
          <p:nvPr/>
        </p:nvSpPr>
        <p:spPr>
          <a:xfrm>
            <a:off x="8357616" y="24231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mensual por tambo: óptimo, satisfactorio, aceptable o deficiente, rutina por rutina.</a:t>
            </a:r>
            <a:endParaRPr lang="en-US" sz="1000" dirty="0"/>
          </a:p>
        </p:txBody>
      </p:sp>
      <p:sp>
        <p:nvSpPr>
          <p:cNvPr id="16" name="Shape 11"/>
          <p:cNvSpPr/>
          <p:nvPr/>
        </p:nvSpPr>
        <p:spPr>
          <a:xfrm>
            <a:off x="54864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5E3DA"/>
          </a:solidFill>
          <a:ln/>
        </p:spPr>
      </p:sp>
      <p:pic>
        <p:nvPicPr>
          <p:cNvPr id="17" name="Image 3" descr="/tmp/claude-0/-home-user-49981083/a3287cd6-0684-5a32-9225-3b9542fafbeb/scratchpad/apsavet_deck/icons_terracotta/trendin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096" y="3675888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6809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 con un plan anual</a:t>
            </a:r>
            <a:endParaRPr lang="en-US" sz="1250" dirty="0"/>
          </a:p>
        </p:txBody>
      </p:sp>
      <p:sp>
        <p:nvSpPr>
          <p:cNvPr id="19" name="Text 13"/>
          <p:cNvSpPr txBox="1"/>
          <p:nvPr/>
        </p:nvSpPr>
        <p:spPr>
          <a:xfrm>
            <a:off x="76809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capacitaciones salen de la evaluación de desempeño real, no de la moda del momento.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434340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E4E7EA"/>
          </a:solidFill>
          <a:ln/>
        </p:spPr>
      </p:sp>
      <p:pic>
        <p:nvPicPr>
          <p:cNvPr id="21" name="Image 4" descr="/tmp/claude-0/-home-user-49981083/a3287cd6-0684-5a32-9225-3b9542fafbeb/scratchpad/apsavet_deck/icons_terracotta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2856" y="3675888"/>
            <a:ext cx="292608" cy="292608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6285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Evalúa también a sus líderes</a:t>
            </a:r>
            <a:endParaRPr lang="en-US" sz="1250" dirty="0"/>
          </a:p>
        </p:txBody>
      </p:sp>
      <p:sp>
        <p:nvSpPr>
          <p:cNvPr id="23" name="Text 16"/>
          <p:cNvSpPr txBox="1"/>
          <p:nvPr/>
        </p:nvSpPr>
        <p:spPr>
          <a:xfrm>
            <a:off x="456285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mirada no se detiene en el operario de base: los encargados también rinden cuentas.</a:t>
            </a:r>
            <a:endParaRPr lang="en-US" sz="1000" dirty="0"/>
          </a:p>
        </p:txBody>
      </p:sp>
      <p:sp>
        <p:nvSpPr>
          <p:cNvPr id="24" name="Shape 17"/>
          <p:cNvSpPr/>
          <p:nvPr/>
        </p:nvSpPr>
        <p:spPr>
          <a:xfrm>
            <a:off x="8138160" y="3474720"/>
            <a:ext cx="3520440" cy="1874520"/>
          </a:xfrm>
          <a:prstGeom prst="roundRect">
            <a:avLst>
              <a:gd name="adj" fmla="val 4878"/>
            </a:avLst>
          </a:prstGeom>
          <a:solidFill>
            <a:srgbClr val="F6EFDF"/>
          </a:solidFill>
          <a:ln/>
        </p:spPr>
      </p:sp>
      <p:pic>
        <p:nvPicPr>
          <p:cNvPr id="25" name="Image 5" descr="/tmp/claude-0/-home-user-49981083/a3287cd6-0684-5a32-9225-3b9542fafbeb/scratchpad/apsavet_deck/icons_terracotta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57616" y="3675888"/>
            <a:ext cx="292608" cy="292608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357616" y="4069080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 por qué se va la gente</a:t>
            </a:r>
            <a:endParaRPr lang="en-US" sz="1250" dirty="0"/>
          </a:p>
        </p:txBody>
      </p:sp>
      <p:sp>
        <p:nvSpPr>
          <p:cNvPr id="27" name="Text 19"/>
          <p:cNvSpPr txBox="1"/>
          <p:nvPr/>
        </p:nvSpPr>
        <p:spPr>
          <a:xfrm>
            <a:off x="8357616" y="4480560"/>
            <a:ext cx="308152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Entrevista de egreso —voluntario o no— y rotación medida como indicador de gestión.</a:t>
            </a:r>
            <a:endParaRPr lang="en-US" sz="1000" dirty="0"/>
          </a:p>
        </p:txBody>
      </p:sp>
      <p:sp>
        <p:nvSpPr>
          <p:cNvPr id="28" name="Text 20"/>
          <p:cNvSpPr txBox="1"/>
          <p:nvPr/>
        </p:nvSpPr>
        <p:spPr>
          <a:xfrm>
            <a:off x="548640" y="5440680"/>
            <a:ext cx="11064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 por debajo de todo eso, un ritmo de comunicación: celebran los logros, comparten resultados cada mes y buscan la participación de la gente.</a:t>
            </a:r>
            <a:endParaRPr lang="en-US" sz="1200" dirty="0"/>
          </a:p>
        </p:txBody>
      </p:sp>
      <p:sp>
        <p:nvSpPr>
          <p:cNvPr id="29" name="Text 21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30" name="Text 22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prueba: la rotación, antes y después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41832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rotación del mismo tambo del sector, año a año, desde que instaló estas prácticas.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188720" y="480060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469087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188720" y="379476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368503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188720" y="278892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67919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40%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1188720" y="1783080"/>
            <a:ext cx="9692640" cy="0"/>
          </a:xfrm>
          <a:prstGeom prst="line">
            <a:avLst/>
          </a:prstGeom>
          <a:noFill/>
          <a:ln w="9525">
            <a:solidFill>
              <a:srgbClr val="DCC9A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673352"/>
            <a:ext cx="502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60%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 flipV="1">
            <a:off x="1188720" y="3442716"/>
            <a:ext cx="1615440" cy="25146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04160" y="3442716"/>
            <a:ext cx="1615440" cy="301752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419600" y="3744468"/>
            <a:ext cx="1615440" cy="336956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4081424"/>
            <a:ext cx="1615440" cy="95555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0480" y="4176979"/>
            <a:ext cx="1615440" cy="18608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 flipV="1">
            <a:off x="9265920" y="4136746"/>
            <a:ext cx="1615440" cy="226314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129284" y="363474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78561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22.0%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2744724" y="338328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0164" y="3685032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75604" y="4021988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91044" y="4117543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206484" y="4303624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821924" y="407731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5A463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424160" y="4228186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5A463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13.2%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 flipV="1">
            <a:off x="1188720" y="1898752"/>
            <a:ext cx="1615440" cy="804672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804160" y="1898752"/>
            <a:ext cx="1615440" cy="56830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419600" y="2467051"/>
            <a:ext cx="1615440" cy="1629461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4096512"/>
            <a:ext cx="1615440" cy="18608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flipV="1">
            <a:off x="7650480" y="4106570"/>
            <a:ext cx="1615440" cy="176022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65920" y="4106570"/>
            <a:ext cx="1615440" cy="25146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29284" y="2643988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31520" y="235595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41.7%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2744724" y="183931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60164" y="2407615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75604" y="403707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591044" y="4223156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206484" y="4047134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21924" y="4072280"/>
            <a:ext cx="118872" cy="118872"/>
          </a:xfrm>
          <a:prstGeom prst="ellipse">
            <a:avLst/>
          </a:prstGeom>
          <a:solidFill>
            <a:srgbClr val="FCF3EA"/>
          </a:solidFill>
          <a:ln w="28575">
            <a:solidFill>
              <a:srgbClr val="B5572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10424160" y="3784244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13.3%</a:t>
            </a:r>
            <a:endParaRPr lang="en-US" sz="1050" dirty="0"/>
          </a:p>
        </p:txBody>
      </p:sp>
      <p:sp>
        <p:nvSpPr>
          <p:cNvPr id="42" name="Text 40"/>
          <p:cNvSpPr txBox="1"/>
          <p:nvPr/>
        </p:nvSpPr>
        <p:spPr>
          <a:xfrm>
            <a:off x="8229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19-20</a:t>
            </a:r>
            <a:endParaRPr lang="en-US" sz="1000" dirty="0"/>
          </a:p>
        </p:txBody>
      </p:sp>
      <p:sp>
        <p:nvSpPr>
          <p:cNvPr id="43" name="Text 41"/>
          <p:cNvSpPr txBox="1"/>
          <p:nvPr/>
        </p:nvSpPr>
        <p:spPr>
          <a:xfrm>
            <a:off x="24384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20-21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405384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21-22</a:t>
            </a:r>
            <a:endParaRPr lang="en-US" sz="1000" dirty="0"/>
          </a:p>
        </p:txBody>
      </p:sp>
      <p:sp>
        <p:nvSpPr>
          <p:cNvPr id="45" name="Text 43"/>
          <p:cNvSpPr txBox="1"/>
          <p:nvPr/>
        </p:nvSpPr>
        <p:spPr>
          <a:xfrm>
            <a:off x="566928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22-23</a:t>
            </a:r>
            <a:endParaRPr lang="en-US" sz="1000" dirty="0"/>
          </a:p>
        </p:txBody>
      </p:sp>
      <p:sp>
        <p:nvSpPr>
          <p:cNvPr id="46" name="Text 44"/>
          <p:cNvSpPr txBox="1"/>
          <p:nvPr/>
        </p:nvSpPr>
        <p:spPr>
          <a:xfrm>
            <a:off x="728472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23-24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890016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24-25</a:t>
            </a:r>
            <a:endParaRPr lang="en-US" sz="1000" dirty="0"/>
          </a:p>
        </p:txBody>
      </p:sp>
      <p:sp>
        <p:nvSpPr>
          <p:cNvPr id="48" name="Text 46"/>
          <p:cNvSpPr txBox="1"/>
          <p:nvPr/>
        </p:nvSpPr>
        <p:spPr>
          <a:xfrm>
            <a:off x="10515600" y="48920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25-26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138160" y="1627632"/>
            <a:ext cx="320040" cy="0"/>
          </a:xfrm>
          <a:prstGeom prst="line">
            <a:avLst/>
          </a:prstGeom>
          <a:noFill/>
          <a:ln w="34925">
            <a:solidFill>
              <a:srgbClr val="B5572F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8503920" y="1517904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en tambo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10332720" y="1627632"/>
            <a:ext cx="320040" cy="0"/>
          </a:xfrm>
          <a:prstGeom prst="line">
            <a:avLst/>
          </a:prstGeom>
          <a:noFill/>
          <a:ln w="34925">
            <a:solidFill>
              <a:srgbClr val="5A4636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10698480" y="1517904"/>
            <a:ext cx="1188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general</a:t>
            </a:r>
            <a:endParaRPr lang="en-US" sz="1000" dirty="0"/>
          </a:p>
        </p:txBody>
      </p:sp>
      <p:sp>
        <p:nvSpPr>
          <p:cNvPr id="53" name="Text 51"/>
          <p:cNvSpPr txBox="1"/>
          <p:nvPr/>
        </p:nvSpPr>
        <p:spPr>
          <a:xfrm>
            <a:off x="548640" y="530352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42% a 13% en el tambo. La entrevista de egreso y la medición mensual no evitan que alguien se vaya: evitan que se repita sin que nadie se entere por qué.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55" name="Text 53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3B2B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incoherencias que se repiten en el tambo</a:t>
            </a:r>
            <a:endParaRPr lang="en-US" sz="27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9144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 que se siente en el día a día, al cruce que lo explica, a la brecha que hay que cerrar.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7C7B7A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5" name="Image 0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27632"/>
            <a:ext cx="292608" cy="2926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Cultura fuerte sin estructura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2296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96012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 y Desarrollo (3.5) vs. Estructura (3.0)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carisma del líder sostiene la operación. Si el dueño se ausenta o se enferma, las decisiones en la fosa o el patio de comidas quedan paralizadas.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82296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gente se pone la camiseta, pero si me voy un mes, el tambo se cae a pedazos.”</a:t>
            </a:r>
            <a:endParaRPr lang="en-US" sz="950" dirty="0"/>
          </a:p>
        </p:txBody>
      </p:sp>
      <p:sp>
        <p:nvSpPr>
          <p:cNvPr id="12" name="Shape 9"/>
          <p:cNvSpPr/>
          <p:nvPr/>
        </p:nvSpPr>
        <p:spPr>
          <a:xfrm>
            <a:off x="434340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2F5596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13" name="Image 1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1627632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1772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Saber sin sistema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461772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75488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(3.6) vs. Procesos (3.2)</a:t>
            </a:r>
            <a:endParaRPr lang="en-US" sz="1050" dirty="0"/>
          </a:p>
        </p:txBody>
      </p:sp>
      <p:sp>
        <p:nvSpPr>
          <p:cNvPr id="17" name="Text 13"/>
          <p:cNvSpPr txBox="1"/>
          <p:nvPr/>
        </p:nvSpPr>
        <p:spPr>
          <a:xfrm>
            <a:off x="461772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forma al tambero y al mixerista, pero el conocimiento no queda documentado. Si un operario clave se va, la receta operativa se va con él.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461772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19" name="Text 15"/>
          <p:cNvSpPr txBox="1"/>
          <p:nvPr/>
        </p:nvSpPr>
        <p:spPr>
          <a:xfrm>
            <a:off x="461772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“La rutina funciona bien, pero nadie sabe quién es responsable si cae la producción.”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8138160" y="1389888"/>
            <a:ext cx="3520440" cy="4663440"/>
          </a:xfrm>
          <a:prstGeom prst="roundRect">
            <a:avLst>
              <a:gd name="adj" fmla="val 2597"/>
            </a:avLst>
          </a:prstGeom>
          <a:solidFill>
            <a:srgbClr val="395723"/>
          </a:solidFill>
          <a:ln w="15875">
            <a:solidFill>
              <a:srgbClr val="DDA448"/>
            </a:solidFill>
            <a:prstDash val="solid"/>
          </a:ln>
        </p:spPr>
      </p:sp>
      <p:pic>
        <p:nvPicPr>
          <p:cNvPr id="21" name="Image 2" descr="/tmp/claude-0/-home-user-49981083/a3287cd6-0684-5a32-9225-3b9542fafbeb/scratchpad/apsavet_deck/icons_white/ale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627632"/>
            <a:ext cx="292608" cy="292608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8412480" y="2011680"/>
            <a:ext cx="2971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Incentivo a ciegas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8412480" y="2761488"/>
            <a:ext cx="2971800" cy="548640"/>
          </a:xfrm>
          <a:prstGeom prst="roundRect">
            <a:avLst>
              <a:gd name="adj" fmla="val 50000"/>
            </a:avLst>
          </a:prstGeom>
          <a:solidFill>
            <a:srgbClr val="DDA448"/>
          </a:solidFill>
          <a:ln/>
        </p:spPr>
      </p:sp>
      <p:sp>
        <p:nvSpPr>
          <p:cNvPr id="24" name="Text 19"/>
          <p:cNvSpPr txBox="1"/>
          <p:nvPr/>
        </p:nvSpPr>
        <p:spPr>
          <a:xfrm>
            <a:off x="8549640" y="2761488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Incentivos altos vs. Indicadores (1.0–2.0)</a:t>
            </a:r>
            <a:endParaRPr lang="en-US" sz="1050" dirty="0"/>
          </a:p>
        </p:txBody>
      </p:sp>
      <p:sp>
        <p:nvSpPr>
          <p:cNvPr id="25" name="Text 20"/>
          <p:cNvSpPr txBox="1"/>
          <p:nvPr/>
        </p:nvSpPr>
        <p:spPr>
          <a:xfrm>
            <a:off x="8412480" y="3493008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premia el resultado final sin un tablero de seguimiento diario, sin medir si se cumple la rutina que lo sostiene.</a:t>
            </a:r>
            <a:endParaRPr lang="en-US" sz="1100" dirty="0"/>
          </a:p>
        </p:txBody>
      </p:sp>
      <p:sp>
        <p:nvSpPr>
          <p:cNvPr id="26" name="Shape 21"/>
          <p:cNvSpPr/>
          <p:nvPr/>
        </p:nvSpPr>
        <p:spPr>
          <a:xfrm>
            <a:off x="8412480" y="5001768"/>
            <a:ext cx="2971800" cy="0"/>
          </a:xfrm>
          <a:prstGeom prst="line">
            <a:avLst/>
          </a:prstGeom>
          <a:noFill/>
          <a:ln w="12700">
            <a:solidFill>
              <a:srgbClr val="FCF3EA">
                <a:alpha val="30000"/>
              </a:srgbClr>
            </a:solidFill>
            <a:prstDash val="solid"/>
          </a:ln>
        </p:spPr>
      </p:sp>
      <p:sp>
        <p:nvSpPr>
          <p:cNvPr id="27" name="Text 22"/>
          <p:cNvSpPr txBox="1"/>
          <p:nvPr/>
        </p:nvSpPr>
        <p:spPr>
          <a:xfrm>
            <a:off x="8412480" y="5138928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9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“Pagamos bonos por litros, pero si me preguntan qué estamos premiando en realidad, no tengo una respuesta clara.”</a:t>
            </a:r>
            <a:endParaRPr lang="en-US" sz="950" dirty="0"/>
          </a:p>
        </p:txBody>
      </p:sp>
      <p:sp>
        <p:nvSpPr>
          <p:cNvPr id="28" name="Text 23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9" name="Text 24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motor del cambio: doble eje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dimensión avanza si no se mueven, a la vez, sus dos planos.</a:t>
            </a:r>
            <a:endParaRPr lang="en-US" sz="1500" dirty="0"/>
          </a:p>
        </p:txBody>
      </p:sp>
      <p:pic>
        <p:nvPicPr>
          <p:cNvPr id="4" name="Image 0" descr="/tmp/claude-0/-home-user-49981083/a3287cd6-0684-5a32-9225-3b9542fafbeb/scratchpad/apsavet_deck/icons_terracotta/arrowR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3200400"/>
            <a:ext cx="384048" cy="384048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5394960" y="36576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A796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la vez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48640" y="192024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FFFAF4"/>
          </a:solidFill>
          <a:ln w="31750">
            <a:solidFill>
              <a:srgbClr val="B5572F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2296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PERSONA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ejercita en quien lidera</a:t>
            </a:r>
            <a:endParaRPr lang="en-US" sz="1500" dirty="0"/>
          </a:p>
        </p:txBody>
      </p:sp>
      <p:pic>
        <p:nvPicPr>
          <p:cNvPr id="9" name="Image 1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081528"/>
            <a:ext cx="182880" cy="1828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114300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Delegar autoridad real, no solo tareas.</a:t>
            </a:r>
            <a:endParaRPr lang="en-US" sz="1250" dirty="0"/>
          </a:p>
        </p:txBody>
      </p:sp>
      <p:pic>
        <p:nvPicPr>
          <p:cNvPr id="11" name="Image 2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767328"/>
            <a:ext cx="182880" cy="18288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114300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Decidir por datos objetivos antes que por intuición.</a:t>
            </a:r>
            <a:endParaRPr lang="en-US" sz="1250" dirty="0"/>
          </a:p>
        </p:txBody>
      </p:sp>
      <p:pic>
        <p:nvPicPr>
          <p:cNvPr id="13" name="Image 3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453128"/>
            <a:ext cx="182880" cy="18288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1143000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Poner límites claros al propio rol, y sostenerlos.</a:t>
            </a:r>
            <a:endParaRPr lang="en-US" sz="1250" dirty="0"/>
          </a:p>
        </p:txBody>
      </p:sp>
      <p:pic>
        <p:nvPicPr>
          <p:cNvPr id="15" name="Image 4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5138928"/>
            <a:ext cx="182880" cy="182880"/>
          </a:xfrm>
          <a:prstGeom prst="rect">
            <a:avLst/>
          </a:prstGeom>
        </p:spPr>
      </p:pic>
      <p:sp>
        <p:nvSpPr>
          <p:cNvPr id="16" name="Text 9"/>
          <p:cNvSpPr txBox="1"/>
          <p:nvPr/>
        </p:nvSpPr>
        <p:spPr>
          <a:xfrm>
            <a:off x="114300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Escuchar activamente antes de suponer.</a:t>
            </a:r>
            <a:endParaRPr lang="en-US" sz="1250" dirty="0"/>
          </a:p>
        </p:txBody>
      </p:sp>
      <p:sp>
        <p:nvSpPr>
          <p:cNvPr id="17" name="Shape 10"/>
          <p:cNvSpPr/>
          <p:nvPr/>
        </p:nvSpPr>
        <p:spPr>
          <a:xfrm>
            <a:off x="6858000" y="1920240"/>
            <a:ext cx="4754880" cy="4160520"/>
          </a:xfrm>
          <a:prstGeom prst="roundRect">
            <a:avLst>
              <a:gd name="adj" fmla="val 1978"/>
            </a:avLst>
          </a:prstGeom>
          <a:solidFill>
            <a:srgbClr val="EFE3CC"/>
          </a:solidFill>
          <a:ln w="31750">
            <a:solidFill>
              <a:srgbClr val="DDA448"/>
            </a:solidFill>
            <a:prstDash val="solid"/>
          </a:ln>
        </p:spPr>
      </p:sp>
      <p:sp>
        <p:nvSpPr>
          <p:cNvPr id="18" name="Text 11"/>
          <p:cNvSpPr txBox="1"/>
          <p:nvPr/>
        </p:nvSpPr>
        <p:spPr>
          <a:xfrm>
            <a:off x="7132320" y="21488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B557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SISTEMA</a:t>
            </a:r>
            <a:endParaRPr lang="en-US" sz="1300" dirty="0"/>
          </a:p>
        </p:txBody>
      </p:sp>
      <p:sp>
        <p:nvSpPr>
          <p:cNvPr id="19" name="Text 12"/>
          <p:cNvSpPr txBox="1"/>
          <p:nvPr/>
        </p:nvSpPr>
        <p:spPr>
          <a:xfrm>
            <a:off x="7132320" y="248716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se instala por escrito en la empresa</a:t>
            </a:r>
            <a:endParaRPr lang="en-US" sz="1500" dirty="0"/>
          </a:p>
        </p:txBody>
      </p:sp>
      <p:pic>
        <p:nvPicPr>
          <p:cNvPr id="20" name="Image 5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50608" y="3081528"/>
            <a:ext cx="182880" cy="182880"/>
          </a:xfrm>
          <a:prstGeom prst="rect">
            <a:avLst/>
          </a:prstGeom>
        </p:spPr>
      </p:pic>
      <p:sp>
        <p:nvSpPr>
          <p:cNvPr id="21" name="Text 13"/>
          <p:cNvSpPr txBox="1"/>
          <p:nvPr/>
        </p:nvSpPr>
        <p:spPr>
          <a:xfrm>
            <a:off x="7452360" y="30632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funcional real, en 1 página.</a:t>
            </a:r>
            <a:endParaRPr lang="en-US" sz="1250" dirty="0"/>
          </a:p>
        </p:txBody>
      </p:sp>
      <p:pic>
        <p:nvPicPr>
          <p:cNvPr id="22" name="Image 6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150608" y="3767328"/>
            <a:ext cx="182880" cy="182880"/>
          </a:xfrm>
          <a:prstGeom prst="rect">
            <a:avLst/>
          </a:prstGeom>
        </p:spPr>
      </p:pic>
      <p:sp>
        <p:nvSpPr>
          <p:cNvPr id="23" name="Text 14"/>
          <p:cNvSpPr txBox="1"/>
          <p:nvPr/>
        </p:nvSpPr>
        <p:spPr>
          <a:xfrm>
            <a:off x="745236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mínimo de indicadores mensuales.</a:t>
            </a:r>
            <a:endParaRPr lang="en-US" sz="1250" dirty="0"/>
          </a:p>
        </p:txBody>
      </p:sp>
      <p:pic>
        <p:nvPicPr>
          <p:cNvPr id="24" name="Image 7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50608" y="4453128"/>
            <a:ext cx="182880" cy="18288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7452360" y="44348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Protocolos escritos de tareas críticas.</a:t>
            </a:r>
            <a:endParaRPr lang="en-US" sz="1250" dirty="0"/>
          </a:p>
        </p:txBody>
      </p:sp>
      <p:pic>
        <p:nvPicPr>
          <p:cNvPr id="26" name="Image 8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50608" y="5138928"/>
            <a:ext cx="182880" cy="182880"/>
          </a:xfrm>
          <a:prstGeom prst="rect">
            <a:avLst/>
          </a:prstGeom>
        </p:spPr>
      </p:pic>
      <p:sp>
        <p:nvSpPr>
          <p:cNvPr id="27" name="Text 16"/>
          <p:cNvSpPr txBox="1"/>
          <p:nvPr/>
        </p:nvSpPr>
        <p:spPr>
          <a:xfrm>
            <a:off x="7452360" y="51206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Cartas de delegación con límites de autonomía.</a:t>
            </a:r>
            <a:endParaRPr lang="en-US" sz="1250" dirty="0"/>
          </a:p>
        </p:txBody>
      </p:sp>
      <p:sp>
        <p:nvSpPr>
          <p:cNvPr id="28" name="Text 17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9" name="Text 18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6035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Círculo de Confianza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97280"/>
            <a:ext cx="6035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Equipos de 6 a 15: la escala en la que vive la mayoría de los tambos de este grupo.</a:t>
            </a:r>
            <a:endParaRPr lang="en-US" sz="1400" dirty="0"/>
          </a:p>
        </p:txBody>
      </p:sp>
      <p:pic>
        <p:nvPicPr>
          <p:cNvPr id="4" name="Image 0" descr="/tmp/claude-0/-home-user-49981083/a3287cd6-0684-5a32-9225-3b9542fafbeb/scratchpad/apsavet_deck/photos/taller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0"/>
            <a:ext cx="5422392" cy="685800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766560" y="6199632"/>
            <a:ext cx="5285232" cy="237744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r" indent="0" marL="0">
              <a:buNone/>
            </a:pPr>
            <a:r>
              <a:rPr lang="en-US" sz="850" i="1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 de diagnóstico con el equipo · grupo APSAVET</a:t>
            </a:r>
            <a:endParaRPr lang="en-US" sz="8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874520"/>
            <a:ext cx="5943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esta escala, la estructura, los procesos y las decisiones se apoyan directamente en el saber hacer y en la presencia física del propietario.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3063240"/>
            <a:ext cx="5943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riesgo principal es la fragilidad: en un tambo de 8 a 12 operarios, la salida no planificada de un tambero o mixerista estrella paraliza un proceso entero.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4343400"/>
            <a:ext cx="5943600" cy="2148840"/>
          </a:xfrm>
          <a:prstGeom prst="rect">
            <a:avLst/>
          </a:prstGeom>
          <a:solidFill>
            <a:srgbClr val="3B2B1E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822960" y="4553712"/>
            <a:ext cx="5394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PRINCIPIO METODOLÓGICO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4864608"/>
            <a:ext cx="5394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i="1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“Antes de profesionalizar, simplificar.”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822960" y="56235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Copiar la estructura de una empresa grande —o sobredocumentar— es la causa más frecuente de fracaso en equipos chicos.</a:t>
            </a:r>
            <a:endParaRPr lang="en-US" sz="11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team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7500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0" y="3566160"/>
            <a:ext cx="12191695" cy="3291840"/>
          </a:xfrm>
          <a:prstGeom prst="rect">
            <a:avLst/>
          </a:prstGeom>
          <a:solidFill>
            <a:srgbClr val="3B2B1E">
              <a:alpha val="95000"/>
            </a:srgbClr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8229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DA4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PRÓXIMO PASO CONCRETO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822960" y="1828800"/>
            <a:ext cx="10149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4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Designar un responsable formal de la gestión de personas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9184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Aunque sea part-time, o asignando horas específicas de la administración.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22960" y="4206240"/>
            <a:ext cx="10332720" cy="0"/>
          </a:xfrm>
          <a:prstGeom prst="line">
            <a:avLst/>
          </a:prstGeom>
          <a:noFill/>
          <a:ln w="12700">
            <a:solidFill>
              <a:srgbClr val="DDA448">
                <a:alpha val="6000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22960" y="448056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CF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un responsable claro, la gestión del equipo siempre va a quedar en segundo plano frente a la urgencia productiva del día a día.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822960" y="5440680"/>
            <a:ext cx="868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DA4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alcanza con sostener: hay que hacer crecer.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3B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Caja de herramientas: entregables a 60 días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78992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acción deja un entregable físico o una rutina instalada, verificable en el terreno.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5" name="Image 0" descr="/tmp/claude-0/-home-user-49981083/a3287cd6-0684-5a32-9225-3b9542fafbeb/scratchpad/apsavet_deck/icons_terracotta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89888" y="2194560"/>
            <a:ext cx="402336" cy="40233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Organigrama real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713232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Hoja de roles pegada en la oficina o el galpón.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2798064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9" name="Image 1" descr="/tmp/claude-0/-home-user-49981083/a3287cd6-0684-5a32-9225-3b9542fafbeb/scratchpad/apsavet_deck/icons_terracotta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9312" y="2194560"/>
            <a:ext cx="402336" cy="402336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935224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Tablero mínimo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2962656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indicador que el dueño ya mira mentalmente, ahora escrito.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047488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13" name="Image 2" descr="/tmp/claude-0/-home-user-49981083/a3287cd6-0684-5a32-9225-3b9542fafbeb/scratchpad/apsavet_deck/icons_terracotta/setting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8736" y="2194560"/>
            <a:ext cx="402336" cy="402336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5184648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crítico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5212080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 de 1 página sobre la rutina de fosa o el mixer.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7296912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17" name="Image 3" descr="/tmp/claude-0/-home-user-49981083/a3287cd6-0684-5a32-9225-3b9542fafbeb/scratchpad/apsavet_deck/icons_terracotta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194560"/>
            <a:ext cx="402336" cy="402336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434072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Inducción de 30 días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7461504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Planilla de bienvenida y seguimiento por cada ingreso.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9546336" y="1874520"/>
            <a:ext cx="2084832" cy="3383280"/>
          </a:xfrm>
          <a:prstGeom prst="roundRect">
            <a:avLst>
              <a:gd name="adj" fmla="val 4386"/>
            </a:avLst>
          </a:prstGeom>
          <a:solidFill>
            <a:srgbClr val="FFFAF4"/>
          </a:solidFill>
          <a:ln w="19050">
            <a:solidFill>
              <a:srgbClr val="DCC9A3"/>
            </a:solidFill>
            <a:prstDash val="solid"/>
          </a:ln>
        </p:spPr>
      </p:sp>
      <p:pic>
        <p:nvPicPr>
          <p:cNvPr id="21" name="Image 4" descr="/tmp/claude-0/-home-user-49981083/a3287cd6-0684-5a32-9225-3b9542fafbeb/scratchpad/apsavet_deck/icons_terracotta/fla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7584" y="2194560"/>
            <a:ext cx="402336" cy="402336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9683496" y="2880360"/>
            <a:ext cx="18105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Carta de delegación</a:t>
            </a:r>
            <a:endParaRPr lang="en-US" sz="1300" dirty="0"/>
          </a:p>
        </p:txBody>
      </p:sp>
      <p:sp>
        <p:nvSpPr>
          <p:cNvPr id="23" name="Text 16"/>
          <p:cNvSpPr txBox="1"/>
          <p:nvPr/>
        </p:nvSpPr>
        <p:spPr>
          <a:xfrm>
            <a:off x="9710928" y="3474720"/>
            <a:ext cx="175564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Acuerdo escrito entre el dueño y el encargado.</a:t>
            </a:r>
            <a:endParaRPr lang="en-US" sz="1050" dirty="0"/>
          </a:p>
        </p:txBody>
      </p:sp>
      <p:sp>
        <p:nvSpPr>
          <p:cNvPr id="24" name="Text 17"/>
          <p:cNvSpPr txBox="1"/>
          <p:nvPr/>
        </p:nvSpPr>
        <p:spPr>
          <a:xfrm>
            <a:off x="548640" y="562356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B557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Una herramienta que nadie usa a los dos meses no fue una mala herramienta: fue una mala elección.</a:t>
            </a:r>
            <a:endParaRPr lang="en-US" sz="1400" dirty="0"/>
          </a:p>
        </p:txBody>
      </p:sp>
      <p:sp>
        <p:nvSpPr>
          <p:cNvPr id="25" name="Text 18"/>
          <p:cNvSpPr txBox="1"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Humana · APSAVET 2026</a:t>
            </a:r>
            <a:endParaRPr lang="en-US" sz="1000" dirty="0"/>
          </a:p>
        </p:txBody>
      </p:sp>
      <p:sp>
        <p:nvSpPr>
          <p:cNvPr id="26" name="Text 19"/>
          <p:cNvSpPr txBox="1"/>
          <p:nvPr/>
        </p:nvSpPr>
        <p:spPr>
          <a:xfrm>
            <a:off x="11338560" y="647395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79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49981083/a3287cd6-0684-5a32-9225-3b9542fafbeb/scratchpad/apsavet_deck/photos/portada_bg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B2B1E">
              <a:alpha val="80000"/>
            </a:srgbClr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731520" y="1965960"/>
            <a:ext cx="106984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dirty="0">
                <a:solidFill>
                  <a:srgbClr val="FCF3E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diferencia está en la gente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5394960" y="3063240"/>
            <a:ext cx="1371600" cy="0"/>
          </a:xfrm>
          <a:prstGeom prst="line">
            <a:avLst/>
          </a:prstGeom>
          <a:noFill/>
          <a:ln w="25400">
            <a:solidFill>
              <a:srgbClr val="DDA448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1188720" y="333756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¿Quién en tu tambo se ocupa hoy de la gente? ¿Qué pasa el día que vos no estás?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1188720" y="3931920"/>
            <a:ext cx="9784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i="1" dirty="0">
                <a:solidFill>
                  <a:srgbClr val="DDA44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¿Qué vas a mover, a partir de mañana?</a:t>
            </a:r>
            <a:endParaRPr lang="en-US" sz="19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5989320"/>
            <a:ext cx="10698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4E9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Fernando Preumayr  ·  Metodología Escala Humana  ·  APSAVET, Día de la Actividad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2026-10-16T22:22:28Z</dcterms:created>
  <dcterms:modified xsi:type="dcterms:W3CDTF">2026-10-16T22:22:28Z</dcterms:modified>
</cp:coreProperties>
</file>