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Empezar con una escena de campo, no con una definición: "Todos los que estamos en el agro conocemos los tiempos del tambo -la rutina de ordeñe, el destete, la época de servicio-. Pero hay otros tiempos, menos visibles, que también corren: los tiempos de nuestra gente." Presentarse y presentar el hilo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¿Cuántos ya invirtieron en genética, nutrición, instalaciones? Seguro que sí. La pregunta que conviene hacerse es otra: ¿qué pasa en el tambo el día que yo no estoy? Esa es la grieta por donde se escapa el crecimiento.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promedio del grupo no es un aprobado cómodo: es una frontera. Estamos en Definido, a un paso de Estratégico.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preguntas para llevarse a la propia empresa: ¿quién decide cuando yo no estoy? ¿lo que sabe mi mejor tambero está escrito? ¿estoy formando gente? ¿lo que pago está atado a lo que quiero lograr?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grupo, ya salimos del modo reactivo. Estamos cruzando el puente hacia lo estratégico.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barra es un tambo del grupo, ustedes incluidos. La línea dorada es el promedio de hoy; la línea oscura es el benchmark del 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Miren el orden: la brecha más chica es Desarrollo del Equipo. Lo que separa al 25% de arriba del 25% de abajo es Estructura: casi 2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benchmark no tiene mejores vacas ni mejor clima. Tiene menos cosas guardadas en la cabeza del dueño y más cosas escritas, medidas y delegadas.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es una empresa de otro planeta: es un tambo del mismo sector, con el mismo clima y las mismas vacas. La diferencia está en el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bajó solo. Bajó porque alguien se sentó a medir, año tras año, y a preguntarle a cada persona que se iba por qué se 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¿Cuál de estas tres les resuena más? Si hoy se les fuera el mejor tambero por dos semanas, ¿qué pasaría con la rutina de ordeñe?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más común: comprar un software (Sistema) cuando el dueño todavía micro-gestiona todo (Persona). Ninguno de los dos ejes avanza si el otro no se mueve a 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trata de bajarle a nuestro tambo el manual de una empresa de 200 personas. Se trata de sacar UNA decisión de la cabeza del dueño 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hoy se llevan una sola acción de esta charla, que sea esta: alguien, con nombre y apellido, ocupándose de la 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Elegí una sola de estas cinco herramientas para arrancar la semana que viene. ¿Cuál es la que más falta te hace hoy?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las preguntas espejo, en silencio unos segundos antes de pasar a preguntas del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2.png"/><Relationship Id="rId7" Type="http://schemas.openxmlformats.org/officeDocument/2006/relationships/image" Target="../media/image-12-2.png"/><Relationship Id="rId8" Type="http://schemas.openxmlformats.org/officeDocument/2006/relationships/image" Target="../media/image-12-2.png"/><Relationship Id="rId9" Type="http://schemas.openxmlformats.org/officeDocument/2006/relationships/image" Target="../media/image-12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49981083/a3287cd6-0684-5a32-9225-3b9542fafbeb/scratchpad/apsavet_deck/photos/portada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B1E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B2B1E">
              <a:alpha val="5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06240" y="0"/>
            <a:ext cx="2651760" cy="6858000"/>
          </a:xfrm>
          <a:prstGeom prst="rect">
            <a:avLst/>
          </a:prstGeom>
          <a:solidFill>
            <a:srgbClr val="3B2B1E">
              <a:alpha val="3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858000" y="0"/>
            <a:ext cx="1828800" cy="6858000"/>
          </a:xfrm>
          <a:prstGeom prst="rect">
            <a:avLst/>
          </a:prstGeom>
          <a:solidFill>
            <a:srgbClr val="3B2B1E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686800" y="0"/>
            <a:ext cx="1463040" cy="6858000"/>
          </a:xfrm>
          <a:prstGeom prst="rect">
            <a:avLst/>
          </a:prstGeom>
          <a:solidFill>
            <a:srgbClr val="3B2B1E">
              <a:alpha val="12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APSAVET  ·  DÍA DE LA ACTIVIDAD  ·  SEPTIEMBRE 2026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Techo invisible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está en la gente: gestión de personas en el tambo, diagnóstico y hoja de ruta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22960" y="5806440"/>
            <a:ext cx="1005840" cy="0"/>
          </a:xfrm>
          <a:prstGeom prst="line">
            <a:avLst/>
          </a:prstGeom>
          <a:noFill/>
          <a:ln w="31750">
            <a:solidFill>
              <a:srgbClr val="DDA4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Preumayr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6236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Escala Humana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techo invisible de la producción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EFE3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Genética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792224" y="1207008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EFE3C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29384" y="120700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27248" y="1207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EFE3C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64408" y="120700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74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genética, nutrición e instalaciones venimos invirtiendo hace rato.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que queda es otro.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agotamiento de la gestión de personas es el techo invisible del tambo.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160520"/>
            <a:ext cx="64008" cy="205740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" y="4160520"/>
            <a:ext cx="6062472" cy="2057400"/>
          </a:xfrm>
          <a:prstGeom prst="rect">
            <a:avLst/>
          </a:prstGeom>
          <a:solidFill>
            <a:srgbClr val="EFE3C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TECHO OPERATIVO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7091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rara vez se frena por vacas, tierra o tecnología. Se frena cuando el sistema productivo sigue dependiendo, todos los días, de la presencia física del dueño y de esquemas informales para gestionar a la gente.</a:t>
            </a:r>
            <a:endParaRPr lang="en-US" sz="1200" dirty="0"/>
          </a:p>
        </p:txBody>
      </p:sp>
      <p:pic>
        <p:nvPicPr>
          <p:cNvPr id="15" name="Image 0" descr="/tmp/claude-0/-home-user-49981083/a3287cd6-0684-5a32-9225-3b9542fafbeb/scratchpad/apsavet_deck/photos/corral_ta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diagnóstico del tambo promedio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de 15 empresas tamberas del grupo APSAVET · Escala Humana, sept. 2026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160520"/>
          </a:xfrm>
          <a:prstGeom prst="rect">
            <a:avLst/>
          </a:prstGeom>
          <a:solidFill>
            <a:srgbClr val="EFE3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15875">
            <a:solidFill>
              <a:srgbClr val="DCC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5.0 · Nivel Definido, en la frontera con el nivel Estratégico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e hitos de producción consolidados; sigue pendiente estructurar la gestión de personas.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2F55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328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Estructura y Resultados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brecha: falta responsable formal de personas.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4F7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5328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Gestión de Procesos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rutina funciona; el saber técnico no siempre está escrito.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3977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C740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7274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Desarrollo del Equipo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principal: disposición a formar al equipo.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0" y="3977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E3B0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7274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Proyección, Incentivos y Cultura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comprometido, con bonos aún desligados de métricas.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dimensiones de la Escala Humana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marco para leer cualquier tambo, de 6 a 60 colaboradores.</a:t>
            </a:r>
            <a:endParaRPr lang="en-US" sz="1400" dirty="0"/>
          </a:p>
        </p:txBody>
      </p:sp>
      <p:pic>
        <p:nvPicPr>
          <p:cNvPr id="4" name="Image 0" descr="/tmp/claude-0/-home-user-49981083/a3287cd6-0684-5a32-9225-3b9542fafbeb/scratchpad/apsavet_deck/photos/tall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301752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178308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2F5596"/>
            </a:solidFill>
            <a:prstDash val="solid"/>
          </a:ln>
        </p:spPr>
      </p:sp>
      <p:pic>
        <p:nvPicPr>
          <p:cNvPr id="6" name="Image 1" descr="/tmp/claude-0/-home-user-49981083/a3287cd6-0684-5a32-9225-3b9542fafbeb/scratchpad/apsavet_deck/icons_terracotta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002536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87952" y="244144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Resultados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4187952" y="289864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decide qué. Roles claros e indicadores mínimos que ya se miran, aunque sean pocos.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046720" y="178308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4F7A2E"/>
            </a:solidFill>
            <a:prstDash val="solid"/>
          </a:ln>
        </p:spPr>
      </p:sp>
      <p:pic>
        <p:nvPicPr>
          <p:cNvPr id="10" name="Image 2" descr="/tmp/claude-0/-home-user-49981083/a3287cd6-0684-5a32-9225-3b9542fafbeb/scratchpad/apsavet_deck/icons_terracotta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002536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02752" y="244144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Procesos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8302752" y="289864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saber hacer de la fosa, el mixer y la guachera, puesto en protocolos simples y escritos.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931920" y="397764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C7402E"/>
            </a:solidFill>
            <a:prstDash val="solid"/>
          </a:ln>
        </p:spPr>
      </p:sp>
      <p:pic>
        <p:nvPicPr>
          <p:cNvPr id="14" name="Image 3" descr="/tmp/claude-0/-home-user-49981083/a3287cd6-0684-5a32-9225-3b9542fafbeb/scratchpad/apsavet_deck/icons_terracotta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419709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187952" y="463600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Equipo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4187952" y="509320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tamberos, mixeristas y encargados; delegar tareas completas, no solo instrucciones.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046720" y="397764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E3B04E"/>
            </a:solidFill>
            <a:prstDash val="solid"/>
          </a:ln>
        </p:spPr>
      </p:sp>
      <p:pic>
        <p:nvPicPr>
          <p:cNvPr id="18" name="Image 4" descr="/tmp/claude-0/-home-user-49981083/a3287cd6-0684-5a32-9225-3b9542fafbeb/scratchpad/apsavet_deck/icons_terracotta/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4197096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02752" y="463600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Proyección, Incentivos y Cultura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8302752" y="509320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rumbo creíble, reconocimiento a tiempo e incentivos atados a indicadores.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estamos parados como sector?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madurez en gestión de personas, y dónde se ubica hoy el tambo promedio.</a:t>
            </a:r>
            <a:endParaRPr lang="en-US" sz="1350" dirty="0"/>
          </a:p>
        </p:txBody>
      </p:sp>
      <p:pic>
        <p:nvPicPr>
          <p:cNvPr id="4" name="Image 0" descr="/tmp/claude-0/-home-user-49981083/a3287cd6-0684-5a32-9225-3b9542fafbeb/scratchpad/apsavet_deck/photos/corral_ta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0" y="6199632"/>
            <a:ext cx="37307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 de buenas prácticas en el corral · grupo APSAVET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7589520" cy="1143000"/>
          </a:xfrm>
          <a:prstGeom prst="roundRect">
            <a:avLst>
              <a:gd name="adj" fmla="val 6400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482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2.5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15798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apagan incendios. La gestión de personas opera en modo emergencia.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227832"/>
            <a:ext cx="7589520" cy="1143000"/>
          </a:xfrm>
          <a:prstGeom prst="roundRect">
            <a:avLst>
              <a:gd name="adj" fmla="val 6400"/>
            </a:avLst>
          </a:prstGeom>
          <a:solidFill>
            <a:srgbClr val="B5572F"/>
          </a:solidFill>
          <a:ln w="19050">
            <a:solidFill>
              <a:srgbClr val="B557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355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· AQUÍ ESTAMOS (3.3)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– 3.6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346557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reconocibles. Funciona, pero depende de las personas clave.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535424"/>
            <a:ext cx="7589520" cy="1143000"/>
          </a:xfrm>
          <a:prstGeom prst="roundRect">
            <a:avLst>
              <a:gd name="adj" fmla="val 6400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9469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3.6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47731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del equipo es un plan, con datos, autonomía y desarrollo sostenido.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81558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desarrollo del equipo hoy va delante del resto: el riesgo es que la estructura no lo sostenga.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15 tambos del grupo, uno por uno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general de madurez por empresa (distribución ilustrativa del patrón grupal) · escala 0–5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00200" y="1888236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888236"/>
            <a:ext cx="3725266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2144268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2144268"/>
            <a:ext cx="4257446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2400300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2400300"/>
            <a:ext cx="4789627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2656332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1" name="Shape 9"/>
          <p:cNvSpPr/>
          <p:nvPr/>
        </p:nvSpPr>
        <p:spPr>
          <a:xfrm>
            <a:off x="1600200" y="2656332"/>
            <a:ext cx="5144414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0200" y="2912364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2912364"/>
            <a:ext cx="5321808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3168396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0200" y="3168396"/>
            <a:ext cx="5499202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" y="3424428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3424428"/>
            <a:ext cx="5676595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3680460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3680460"/>
            <a:ext cx="5853989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20" name="Shape 18"/>
          <p:cNvSpPr/>
          <p:nvPr/>
        </p:nvSpPr>
        <p:spPr>
          <a:xfrm>
            <a:off x="1600200" y="3936492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3936492"/>
            <a:ext cx="5853989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4192524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4192524"/>
            <a:ext cx="6031382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00200" y="4448556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5" name="Shape 23"/>
          <p:cNvSpPr/>
          <p:nvPr/>
        </p:nvSpPr>
        <p:spPr>
          <a:xfrm>
            <a:off x="1600200" y="4448556"/>
            <a:ext cx="6208776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26" name="Shape 24"/>
          <p:cNvSpPr/>
          <p:nvPr/>
        </p:nvSpPr>
        <p:spPr>
          <a:xfrm>
            <a:off x="1600200" y="4704588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7" name="Shape 25"/>
          <p:cNvSpPr/>
          <p:nvPr/>
        </p:nvSpPr>
        <p:spPr>
          <a:xfrm>
            <a:off x="1600200" y="4704588"/>
            <a:ext cx="6386170" cy="13716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28" name="Shape 26"/>
          <p:cNvSpPr/>
          <p:nvPr/>
        </p:nvSpPr>
        <p:spPr>
          <a:xfrm>
            <a:off x="1600200" y="4960620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9" name="Shape 27"/>
          <p:cNvSpPr/>
          <p:nvPr/>
        </p:nvSpPr>
        <p:spPr>
          <a:xfrm>
            <a:off x="1600200" y="4960620"/>
            <a:ext cx="6563563" cy="13716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30" name="Shape 28"/>
          <p:cNvSpPr/>
          <p:nvPr/>
        </p:nvSpPr>
        <p:spPr>
          <a:xfrm>
            <a:off x="1600200" y="5216652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31" name="Shape 29"/>
          <p:cNvSpPr/>
          <p:nvPr/>
        </p:nvSpPr>
        <p:spPr>
          <a:xfrm>
            <a:off x="1600200" y="5216652"/>
            <a:ext cx="6918350" cy="13716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32" name="Shape 30"/>
          <p:cNvSpPr/>
          <p:nvPr/>
        </p:nvSpPr>
        <p:spPr>
          <a:xfrm>
            <a:off x="1600200" y="5472684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33" name="Shape 31"/>
          <p:cNvSpPr/>
          <p:nvPr/>
        </p:nvSpPr>
        <p:spPr>
          <a:xfrm>
            <a:off x="1600200" y="5472684"/>
            <a:ext cx="7450531" cy="13716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34" name="Shape 32"/>
          <p:cNvSpPr/>
          <p:nvPr/>
        </p:nvSpPr>
        <p:spPr>
          <a:xfrm>
            <a:off x="7454189" y="1371600"/>
            <a:ext cx="0" cy="4297680"/>
          </a:xfrm>
          <a:prstGeom prst="line">
            <a:avLst/>
          </a:prstGeom>
          <a:noFill/>
          <a:ln w="22225">
            <a:solidFill>
              <a:srgbClr val="DDA44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631229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· 3.3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405518" y="1371600"/>
            <a:ext cx="0" cy="4297680"/>
          </a:xfrm>
          <a:prstGeom prst="line">
            <a:avLst/>
          </a:prstGeom>
          <a:noFill/>
          <a:ln w="22225">
            <a:solidFill>
              <a:srgbClr val="3B2B1E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8582558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4.4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1810512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029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98618" y="1810512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398618" y="1810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2066544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029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30798" y="2066544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930798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2322576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02920" y="2322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62979" y="2322576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62979" y="2322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2578608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02920" y="2578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17766" y="2578608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817766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2834640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02920" y="28346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95160" y="2834640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995160" y="2834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3090672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02920" y="3090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06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172554" y="3090672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172554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3346704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02920" y="33467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349947" y="3346704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349947" y="3346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3602736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502920" y="36027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08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527341" y="3602736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527341" y="36027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3858768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02920" y="3858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09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527341" y="3858768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527341" y="3858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57200" y="4114800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502920" y="4114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704734" y="4114800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7704734" y="4114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" y="4370832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502920" y="43708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11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882128" y="4370832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7882128" y="43708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57200" y="4626864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502920" y="46268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12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059522" y="4626864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8059522" y="46268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57200" y="4882896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502920" y="48828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13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8236915" y="4882896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8236915" y="4882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57200" y="5138928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502920" y="5138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14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591702" y="5138928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8591702" y="5138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7200" y="5394960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502920" y="5394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15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9123883" y="5394960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9123883" y="5394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1600200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371600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374136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145536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148072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919472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922008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693408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8695944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467344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0469880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0241280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mayoría ya estandarizó rutinas básicas. Lo que falta es sostenerlas sin el dueño arriba del mixer.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se abre la brecha, dimensión por dimensión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25% de tambos con menor puntaje contra el 25% con mayor puntaje del grupo · datos ilustrativos sobre el mismo patrón del diagnóstico real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0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71800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36592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7992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72784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44184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08976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0376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345168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16568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881360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52760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88366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Resultados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65546" y="2295144"/>
            <a:ext cx="2918765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83250" y="2212848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02014" y="2212848"/>
            <a:ext cx="164592" cy="164592"/>
          </a:xfrm>
          <a:prstGeom prst="ellipse">
            <a:avLst/>
          </a:prstGeom>
          <a:solidFill>
            <a:srgbClr val="B5572F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08346" y="2404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27110" y="1947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018520" y="2148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2491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Procesos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0022" y="3136392"/>
            <a:ext cx="2457907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7726" y="3054096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55634" y="3054096"/>
            <a:ext cx="164592" cy="164592"/>
          </a:xfrm>
          <a:prstGeom prst="ellipse">
            <a:avLst/>
          </a:prstGeom>
          <a:solidFill>
            <a:srgbClr val="B5572F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2822" y="32461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80730" y="2788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18520" y="2990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y Cultura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01738" y="3977640"/>
            <a:ext cx="1689811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19442" y="3895344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09253" y="3895344"/>
            <a:ext cx="164592" cy="164592"/>
          </a:xfrm>
          <a:prstGeom prst="ellipse">
            <a:avLst/>
          </a:prstGeom>
          <a:solidFill>
            <a:srgbClr val="B5572F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44538" y="40873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734349" y="3630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018520" y="38313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+1.1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40740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Equipo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16214" y="4818888"/>
            <a:ext cx="1228954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3918" y="4736592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62872" y="4736592"/>
            <a:ext cx="164592" cy="164592"/>
          </a:xfrm>
          <a:prstGeom prst="ellipse">
            <a:avLst/>
          </a:prstGeom>
          <a:solidFill>
            <a:srgbClr val="B5572F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59014" y="4928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887968" y="4471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018520" y="4672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+0.8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200400" y="1572768"/>
            <a:ext cx="128016" cy="128016"/>
          </a:xfrm>
          <a:prstGeom prst="ellipse">
            <a:avLst/>
          </a:prstGeom>
          <a:solidFill>
            <a:srgbClr val="5A463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40156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Cuartil inferior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937760" y="1572768"/>
            <a:ext cx="128016" cy="128016"/>
          </a:xfrm>
          <a:prstGeom prst="ellipse">
            <a:avLst/>
          </a:prstGeom>
          <a:solidFill>
            <a:srgbClr val="B5572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13892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Cuartil superior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1018520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49554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QUE QUEDA A LA VISTA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7698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separa al 25% de arriba del 25% de abajo no es si forman gente —eso lo hace casi todo el mundo, por eso ahí la brecha es chica— sino si tienen estructura.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tambo promedio frente al tambo benchmark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partieron del mismo punto de partida. La diferencia está en lo que decidieron instalar.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931920"/>
          </a:xfrm>
          <a:prstGeom prst="rect">
            <a:avLst/>
          </a:prstGeom>
          <a:solidFill>
            <a:srgbClr val="EFE3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019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PROMEDIO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Definido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017520"/>
            <a:ext cx="4480560" cy="0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004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depende de la presencia diaria del dueño.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136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rutina se transmite de palabra; casi nada está escrito.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268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bonos premian el resultado, sin indicador que lo explique.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645920"/>
            <a:ext cx="5349240" cy="3931920"/>
          </a:xfrm>
          <a:prstGeom prst="rect">
            <a:avLst/>
          </a:prstGeom>
          <a:solidFill>
            <a:srgbClr val="3B2B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9019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BENCHMARK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Estratégico / Optimizado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3017520"/>
            <a:ext cx="4480560" cy="0"/>
          </a:xfrm>
          <a:prstGeom prst="line">
            <a:avLst/>
          </a:prstGeom>
          <a:noFill/>
          <a:ln w="12700">
            <a:solidFill>
              <a:srgbClr val="5A46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2004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 tiene descripción de puesto, procedimientos escritos y reglas claras de delegación.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9136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procesos todos los meses, tambo por tambo, con una escala simple de desempeño.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6268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rotación y hace entrevista de egreso a cada persona que se va, por decisión propia o no.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referencia: empresa familiar agropecuaria de 5 tambos, 2.500 vacas en ordeñe y 18.500.000 litros/año, con arquitectura organizacional que desacopló el crecimiento de la presencia física del dueño.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 un tambo que ya cruzó el techo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de un tambo del sector en nivel Estratégico: ninguna requiere más plata, requieren método.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3EAF4"/>
          </a:solidFill>
          <a:ln/>
        </p:spPr>
      </p:sp>
      <p:pic>
        <p:nvPicPr>
          <p:cNvPr id="5" name="Image 0" descr="/tmp/claude-0/-home-user-49981083/a3287cd6-0684-5a32-9225-3b9542fafbeb/scratchpad/apsavet_deck/icons_terracotta/use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18488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8096" y="20116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y retiene talento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4231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a cada persona en el rol correcto y trabaja activamente para no perderla.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6EDDC"/>
          </a:solidFill>
          <a:ln/>
        </p:spPr>
      </p:sp>
      <p:pic>
        <p:nvPicPr>
          <p:cNvPr id="9" name="Image 1" descr="/tmp/claude-0/-home-user-49981083/a3287cd6-0684-5a32-9225-3b9542fafbeb/scratchpad/apsavet_deck/icons_terracotta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6184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62856" y="20116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 cada rol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4562856" y="24231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puesto, procedimientos escritos y reglas claras de delegación, tarea por tarea.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38160" y="1417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E7E3"/>
          </a:solidFill>
          <a:ln/>
        </p:spPr>
      </p:sp>
      <p:pic>
        <p:nvPicPr>
          <p:cNvPr id="13" name="Image 2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61848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57616" y="20116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todos los meses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8357616" y="24231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mensual por tambo: óptimo, satisfactorio, aceptable o deficiente, rutina por rutina.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474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5E3DA"/>
          </a:solidFill>
          <a:ln/>
        </p:spPr>
      </p:sp>
      <p:pic>
        <p:nvPicPr>
          <p:cNvPr id="17" name="Image 3" descr="/tmp/claude-0/-home-user-49981083/a3287cd6-0684-5a32-9225-3b9542fafbeb/scratchpad/apsavet_deck/icons_terracotta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6758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8096" y="40690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con un plan anual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768096" y="44805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capacitaciones salen de la evaluación de desempeño real, no de la moda del momento.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343400" y="3474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4E7EA"/>
          </a:solidFill>
          <a:ln/>
        </p:spPr>
      </p:sp>
      <p:pic>
        <p:nvPicPr>
          <p:cNvPr id="21" name="Image 4" descr="/tmp/claude-0/-home-user-49981083/a3287cd6-0684-5a32-9225-3b9542fafbeb/scratchpad/apsavet_deck/icons_terracotta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367588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62856" y="40690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también a sus líderes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4562856" y="44805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mirada no se detiene en el operario de base: los encargados también rinden cuentas.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138160" y="3474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6EFDF"/>
          </a:solidFill>
          <a:ln/>
        </p:spPr>
      </p:sp>
      <p:pic>
        <p:nvPicPr>
          <p:cNvPr id="25" name="Image 5" descr="/tmp/claude-0/-home-user-49981083/a3287cd6-0684-5a32-9225-3b9542fafbeb/scratchpad/apsavet_deck/icons_terracotta/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3675888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57616" y="40690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por qué se va la gente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8357616" y="44805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de egreso —voluntario o no— y rotación medida como indicador de gestión.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por debajo de todo eso, un ritmo de comunicación: celebran los logros, comparten resultados cada mes y buscan la participación de la gente.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prueba: la rotación, antes y después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rotación del mismo tambo del sector, año a año, desde que instaló estas prácticas.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4800600"/>
            <a:ext cx="9692640" cy="0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4690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88720" y="3794760"/>
            <a:ext cx="9692640" cy="0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685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88720" y="2788920"/>
            <a:ext cx="9692640" cy="0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6791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88720" y="1783080"/>
            <a:ext cx="9692640" cy="0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6733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V="1">
            <a:off x="1188720" y="3442716"/>
            <a:ext cx="1615440" cy="251460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4160" y="3442716"/>
            <a:ext cx="1615440" cy="301752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9600" y="3744468"/>
            <a:ext cx="1615440" cy="336956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4081424"/>
            <a:ext cx="1615440" cy="95555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50480" y="4176979"/>
            <a:ext cx="1615440" cy="186080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265920" y="4136746"/>
            <a:ext cx="1615440" cy="226314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9284" y="3634740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85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4724" y="3383280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0164" y="3685032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75604" y="4021988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91044" y="4117543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6484" y="4303624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21924" y="4077310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24160" y="422818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flipV="1">
            <a:off x="1188720" y="1898752"/>
            <a:ext cx="1615440" cy="804672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04160" y="1898752"/>
            <a:ext cx="1615440" cy="568300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19600" y="2467051"/>
            <a:ext cx="1615440" cy="1629461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96512"/>
            <a:ext cx="1615440" cy="186080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650480" y="4106570"/>
            <a:ext cx="1615440" cy="176022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65920" y="4106570"/>
            <a:ext cx="1615440" cy="25146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9284" y="2643988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2355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4724" y="1839316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60164" y="2407615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75604" y="4037076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91044" y="4223156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06484" y="4047134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21924" y="4072280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424160" y="37842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19-20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243840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20-21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05384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21-22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22-23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28472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23-24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90016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24-25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25-26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1627632"/>
            <a:ext cx="320040" cy="0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03920" y="15179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en tambo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332720" y="1627632"/>
            <a:ext cx="320040" cy="0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698480" y="1517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general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42% a 13% en el tambo. La entrevista de egreso y la medición mensual no evitan que alguien se vaya: evitan que se repita sin que nadie se entere por qué.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incoherencias que se repiten en el tambo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que se siente en el día a día, al cruce que lo explica, a la brecha que hay que cerrar.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3520440" cy="4663440"/>
          </a:xfrm>
          <a:prstGeom prst="roundRect">
            <a:avLst>
              <a:gd name="adj" fmla="val 2597"/>
            </a:avLst>
          </a:prstGeom>
          <a:solidFill>
            <a:srgbClr val="7C7B7A"/>
          </a:solidFill>
          <a:ln w="15875">
            <a:solidFill>
              <a:srgbClr val="DDA448"/>
            </a:solidFill>
            <a:prstDash val="solid"/>
          </a:ln>
        </p:spPr>
      </p:sp>
      <p:pic>
        <p:nvPicPr>
          <p:cNvPr id="5" name="Image 0" descr="/tmp/claude-0/-home-user-49981083/a3287cd6-0684-5a32-9225-3b9542fafbeb/scratchpad/apsavet_deck/icons_white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276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011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 fuerte sin estructura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761488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DDA44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7614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y Desarrollo (3.5) vs. Estructura (3.0)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9300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carisma del líder sostiene la operación. Si el dueño se ausenta o se enferma, las decisiones en la fosa o el patio de comidas quedan paralizadas.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5001768"/>
            <a:ext cx="2971800" cy="0"/>
          </a:xfrm>
          <a:prstGeom prst="line">
            <a:avLst/>
          </a:prstGeom>
          <a:noFill/>
          <a:ln w="12700">
            <a:solidFill>
              <a:srgbClr val="FCF3EA">
                <a:alpha val="3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1389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gente se pone la camiseta, pero si me voy un mes, el tambo se cae a pedazos.”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43400" y="1389888"/>
            <a:ext cx="3520440" cy="4663440"/>
          </a:xfrm>
          <a:prstGeom prst="roundRect">
            <a:avLst>
              <a:gd name="adj" fmla="val 2597"/>
            </a:avLst>
          </a:prstGeom>
          <a:solidFill>
            <a:srgbClr val="2F5596"/>
          </a:solidFill>
          <a:ln w="15875">
            <a:solidFill>
              <a:srgbClr val="DDA448"/>
            </a:solidFill>
            <a:prstDash val="solid"/>
          </a:ln>
        </p:spPr>
      </p:sp>
      <p:pic>
        <p:nvPicPr>
          <p:cNvPr id="13" name="Image 1" descr="/tmp/claude-0/-home-user-49981083/a3287cd6-0684-5a32-9225-3b9542fafbeb/scratchpad/apsavet_deck/icons_white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2763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2011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sin sistema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617720" y="2761488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DDA44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754880" y="27614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(3.6) vs. Procesos (3.2)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349300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forma al tambero y al mixerista, pero el conocimiento no queda documentado. Si un operario clave se va, la receta operativa se va con él.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17720" y="5001768"/>
            <a:ext cx="2971800" cy="0"/>
          </a:xfrm>
          <a:prstGeom prst="line">
            <a:avLst/>
          </a:prstGeom>
          <a:noFill/>
          <a:ln w="12700">
            <a:solidFill>
              <a:srgbClr val="FCF3EA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617720" y="51389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rutina funciona bien, pero nadie sabe quién es responsable si cae la producción.”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138160" y="1389888"/>
            <a:ext cx="3520440" cy="4663440"/>
          </a:xfrm>
          <a:prstGeom prst="roundRect">
            <a:avLst>
              <a:gd name="adj" fmla="val 2597"/>
            </a:avLst>
          </a:prstGeom>
          <a:solidFill>
            <a:srgbClr val="395723"/>
          </a:solidFill>
          <a:ln w="15875">
            <a:solidFill>
              <a:srgbClr val="DDA448"/>
            </a:solidFill>
            <a:prstDash val="solid"/>
          </a:ln>
        </p:spPr>
      </p:sp>
      <p:pic>
        <p:nvPicPr>
          <p:cNvPr id="21" name="Image 2" descr="/tmp/claude-0/-home-user-49981083/a3287cd6-0684-5a32-9225-3b9542fafbeb/scratchpad/apsavet_deck/icons_white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2763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12480" y="2011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Incentivo a ciegas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412480" y="2761488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DDA44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549640" y="27614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altos vs. Indicadores (1.0–2.0)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8412480" y="349300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premia el resultado final sin un tablero de seguimiento diario, sin medir si se cumple la rutina que lo sostiene.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412480" y="5001768"/>
            <a:ext cx="2971800" cy="0"/>
          </a:xfrm>
          <a:prstGeom prst="line">
            <a:avLst/>
          </a:prstGeom>
          <a:noFill/>
          <a:ln w="12700">
            <a:solidFill>
              <a:srgbClr val="FCF3EA">
                <a:alpha val="3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412480" y="51389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“Pagamos bonos por litros, pero si me preguntan qué estamos premiando en realidad, no tengo una respuesta clara.”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del cambio: doble eje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dimensión avanza si no se mueven, a la vez, sus dos planos.</a:t>
            </a:r>
            <a:endParaRPr lang="en-US" sz="1500" dirty="0"/>
          </a:p>
        </p:txBody>
      </p:sp>
      <p:pic>
        <p:nvPicPr>
          <p:cNvPr id="4" name="Image 0" descr="/tmp/claude-0/-home-user-49981083/a3287cd6-0684-5a32-9225-3b9542fafbeb/scratchpad/apsavet_deck/icons_terracotta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32004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9496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 vez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4754880" cy="4160520"/>
          </a:xfrm>
          <a:prstGeom prst="roundRect">
            <a:avLst>
              <a:gd name="adj" fmla="val 1978"/>
            </a:avLst>
          </a:prstGeom>
          <a:solidFill>
            <a:srgbClr val="FFFAF4"/>
          </a:solidFill>
          <a:ln w="31750">
            <a:solidFill>
              <a:srgbClr val="B557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PERSONA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ejercita en quien lidera</a:t>
            </a:r>
            <a:endParaRPr lang="en-US" sz="1500" dirty="0"/>
          </a:p>
        </p:txBody>
      </p:sp>
      <p:pic>
        <p:nvPicPr>
          <p:cNvPr id="9" name="Image 1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8152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autoridad real, no solo tareas.</a:t>
            </a:r>
            <a:endParaRPr lang="en-US" sz="1250" dirty="0"/>
          </a:p>
        </p:txBody>
      </p:sp>
      <p:pic>
        <p:nvPicPr>
          <p:cNvPr id="11" name="Image 2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6732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por datos objetivos antes que por intuición.</a:t>
            </a:r>
            <a:endParaRPr lang="en-US" sz="1250" dirty="0"/>
          </a:p>
        </p:txBody>
      </p:sp>
      <p:pic>
        <p:nvPicPr>
          <p:cNvPr id="13" name="Image 3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45312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434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límites claros al propio rol, y sostenerlos.</a:t>
            </a:r>
            <a:endParaRPr lang="en-US" sz="1250" dirty="0"/>
          </a:p>
        </p:txBody>
      </p:sp>
      <p:pic>
        <p:nvPicPr>
          <p:cNvPr id="15" name="Image 4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13892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43000" y="5120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activamente antes de suponer.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858000" y="1920240"/>
            <a:ext cx="4754880" cy="4160520"/>
          </a:xfrm>
          <a:prstGeom prst="roundRect">
            <a:avLst>
              <a:gd name="adj" fmla="val 1978"/>
            </a:avLst>
          </a:prstGeom>
          <a:solidFill>
            <a:srgbClr val="EFE3CC"/>
          </a:solidFill>
          <a:ln w="31750">
            <a:solidFill>
              <a:srgbClr val="DDA448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713232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SISTEMA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7132320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instala por escrito en la empresa</a:t>
            </a:r>
            <a:endParaRPr lang="en-US" sz="1500" dirty="0"/>
          </a:p>
        </p:txBody>
      </p:sp>
      <p:pic>
        <p:nvPicPr>
          <p:cNvPr id="20" name="Image 5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308152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45236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funcional real, en 1 página.</a:t>
            </a:r>
            <a:endParaRPr lang="en-US" sz="1250" dirty="0"/>
          </a:p>
        </p:txBody>
      </p:sp>
      <p:pic>
        <p:nvPicPr>
          <p:cNvPr id="22" name="Image 6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376732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45236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mínimo de indicadores mensuales.</a:t>
            </a:r>
            <a:endParaRPr lang="en-US" sz="1250" dirty="0"/>
          </a:p>
        </p:txBody>
      </p:sp>
      <p:pic>
        <p:nvPicPr>
          <p:cNvPr id="24" name="Image 7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608" y="445312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452360" y="4434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escritos de tareas críticas.</a:t>
            </a:r>
            <a:endParaRPr lang="en-US" sz="1250" dirty="0"/>
          </a:p>
        </p:txBody>
      </p:sp>
      <p:pic>
        <p:nvPicPr>
          <p:cNvPr id="26" name="Image 8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0608" y="5138928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7452360" y="5120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de delegación con límites de autonomía.</a:t>
            </a:r>
            <a:endParaRPr lang="en-US" sz="1250" dirty="0"/>
          </a:p>
        </p:txBody>
      </p:sp>
      <p:sp>
        <p:nvSpPr>
          <p:cNvPr id="28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9" name="Text 18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Círculo de Confianza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6 a 15: la escala en la que vive la mayoría de los tambos de este grupo.</a:t>
            </a:r>
            <a:endParaRPr lang="en-US" sz="1400" dirty="0"/>
          </a:p>
        </p:txBody>
      </p:sp>
      <p:pic>
        <p:nvPicPr>
          <p:cNvPr id="4" name="Image 0" descr="/tmp/claude-0/-home-user-49981083/a3287cd6-0684-5a32-9225-3b9542fafbeb/scratchpad/apsavet_deck/photos/tall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6199632"/>
            <a:ext cx="52852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diagnóstico con el equipo · grupo APSAVET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escala, la estructura, los procesos y las decisiones se apoyan directamente en el saber hacer y en la presencia física del propietario.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principal es la fragilidad: en un tambo de 8 a 12 operarios, la salida no planificada de un tambero o mixerista estrella paraliza un proceso entero.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5943600" cy="2148840"/>
          </a:xfrm>
          <a:prstGeom prst="rect">
            <a:avLst/>
          </a:prstGeom>
          <a:solidFill>
            <a:srgbClr val="3B2B1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5537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METODOLÓGICO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646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“Antes de profesionalizar, simplificar.”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6235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la estructura de una empresa grande —o sobredocumentar— es la causa más frecuente de fracaso en equipos chicos.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49981083/a3287cd6-0684-5a32-9225-3b9542fafbeb/scratchpad/apsavet_deck/photos/team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B1E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3B2B1E">
              <a:alpha val="95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PRÓXIMO PASO CONCRETO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82880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Designar un responsable formal de la gestión de personas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sea part-time, o asignando horas específicas de la administración.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206240"/>
            <a:ext cx="10332720" cy="0"/>
          </a:xfrm>
          <a:prstGeom prst="line">
            <a:avLst/>
          </a:prstGeom>
          <a:noFill/>
          <a:ln w="12700">
            <a:solidFill>
              <a:srgbClr val="DDA448">
                <a:alpha val="6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4805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responsable claro, la gestión del equipo siempre va a quedar en segundo plano frente a la urgencia productiva del día a día.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DA4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alcanza con sostener: hay que hacer crecer.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de herramientas: entregables a 60 días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deja un entregable físico o una rutina instalada, verificable en el terreno.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5" name="Image 0" descr="/tmp/claude-0/-home-user-49981083/a3287cd6-0684-5a32-9225-3b9542fafbeb/scratchpad/apsavet_deck/icons_terracotta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194560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real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roles pegada en la oficina o el galpón.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98064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9" name="Image 1" descr="/tmp/claude-0/-home-user-49981083/a3287cd6-0684-5a32-9225-3b9542fafbeb/scratchpad/apsavet_deck/icons_terracotta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19456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35224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mínimo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962656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indicador que el dueño ya mira mentalmente, ahora escrito.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47488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13" name="Image 2" descr="/tmp/claude-0/-home-user-49981083/a3287cd6-0684-5a32-9225-3b9542fafbeb/scratchpad/apsavet_deck/icons_terracotta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19456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84648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crítico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212080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1 página sobre la rutina de fosa o el mixer.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296912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17" name="Image 3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19456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34072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Inducción de 30 días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461504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de bienvenida y seguimiento por cada ingreso.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546336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21" name="Image 4" descr="/tmp/claude-0/-home-user-49981083/a3287cd6-0684-5a32-9225-3b9542fafbeb/scratchpad/apsavet_deck/icons_terracotta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4" y="2194560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83496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delegación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9710928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escrito entre el dueño y el encargado.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herramienta que nadie usa a los dos meses no fue una mala herramienta: fue una mala elección.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49981083/a3287cd6-0684-5a32-9225-3b9542fafbeb/scratchpad/apsavet_deck/photos/portada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B1E">
              <a:alpha val="8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1965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diferencia está en la gente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394960" y="3063240"/>
            <a:ext cx="1371600" cy="0"/>
          </a:xfrm>
          <a:prstGeom prst="line">
            <a:avLst/>
          </a:prstGeom>
          <a:noFill/>
          <a:ln w="25400">
            <a:solidFill>
              <a:srgbClr val="DDA4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33375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en tu tambo se ocupa hoy de la gente? ¿Qué pasa el día que vos no estás?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39319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DDA4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vas a mover, a partir de mañana?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Preumayr  ·  Metodología Escala Humana  ·  APSAVET, Día de la Actividad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2026-10-16T22:22:28Z</dcterms:created>
  <dcterms:modified xsi:type="dcterms:W3CDTF">2026-10-16T22:22:28Z</dcterms:modified>
</cp:coreProperties>
</file>